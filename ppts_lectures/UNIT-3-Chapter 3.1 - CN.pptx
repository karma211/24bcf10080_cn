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6"/>
  </p:notesMasterIdLst>
  <p:sldIdLst>
    <p:sldId id="256" r:id="rId2"/>
    <p:sldId id="257" r:id="rId3"/>
    <p:sldId id="403" r:id="rId4"/>
    <p:sldId id="404" r:id="rId5"/>
    <p:sldId id="258" r:id="rId6"/>
    <p:sldId id="337" r:id="rId7"/>
    <p:sldId id="259" r:id="rId8"/>
    <p:sldId id="260" r:id="rId9"/>
    <p:sldId id="338" r:id="rId10"/>
    <p:sldId id="339" r:id="rId11"/>
    <p:sldId id="261" r:id="rId12"/>
    <p:sldId id="340" r:id="rId13"/>
    <p:sldId id="341" r:id="rId14"/>
    <p:sldId id="262" r:id="rId15"/>
    <p:sldId id="263" r:id="rId16"/>
    <p:sldId id="342" r:id="rId17"/>
    <p:sldId id="343" r:id="rId18"/>
    <p:sldId id="264" r:id="rId19"/>
    <p:sldId id="265" r:id="rId20"/>
    <p:sldId id="344" r:id="rId21"/>
    <p:sldId id="266" r:id="rId22"/>
    <p:sldId id="345" r:id="rId23"/>
    <p:sldId id="346" r:id="rId24"/>
    <p:sldId id="267" r:id="rId25"/>
    <p:sldId id="268" r:id="rId26"/>
    <p:sldId id="269" r:id="rId27"/>
    <p:sldId id="270" r:id="rId28"/>
    <p:sldId id="271" r:id="rId29"/>
    <p:sldId id="272" r:id="rId30"/>
    <p:sldId id="273" r:id="rId31"/>
    <p:sldId id="347" r:id="rId32"/>
    <p:sldId id="274" r:id="rId33"/>
    <p:sldId id="275" r:id="rId34"/>
    <p:sldId id="276" r:id="rId35"/>
    <p:sldId id="348" r:id="rId36"/>
    <p:sldId id="277" r:id="rId37"/>
    <p:sldId id="278" r:id="rId38"/>
    <p:sldId id="349" r:id="rId39"/>
    <p:sldId id="350" r:id="rId40"/>
    <p:sldId id="351" r:id="rId41"/>
    <p:sldId id="355" r:id="rId42"/>
    <p:sldId id="356" r:id="rId43"/>
    <p:sldId id="357" r:id="rId44"/>
    <p:sldId id="279" r:id="rId45"/>
    <p:sldId id="280" r:id="rId46"/>
    <p:sldId id="281" r:id="rId47"/>
    <p:sldId id="352" r:id="rId48"/>
    <p:sldId id="353" r:id="rId49"/>
    <p:sldId id="282" r:id="rId50"/>
    <p:sldId id="283" r:id="rId51"/>
    <p:sldId id="284" r:id="rId52"/>
    <p:sldId id="285" r:id="rId53"/>
    <p:sldId id="354" r:id="rId54"/>
    <p:sldId id="286" r:id="rId55"/>
    <p:sldId id="358" r:id="rId56"/>
    <p:sldId id="359" r:id="rId57"/>
    <p:sldId id="360" r:id="rId58"/>
    <p:sldId id="361" r:id="rId59"/>
    <p:sldId id="362" r:id="rId60"/>
    <p:sldId id="363" r:id="rId61"/>
    <p:sldId id="287" r:id="rId62"/>
    <p:sldId id="364" r:id="rId63"/>
    <p:sldId id="288" r:id="rId64"/>
    <p:sldId id="365" r:id="rId65"/>
    <p:sldId id="366" r:id="rId66"/>
    <p:sldId id="289" r:id="rId67"/>
    <p:sldId id="290" r:id="rId68"/>
    <p:sldId id="291" r:id="rId69"/>
    <p:sldId id="367" r:id="rId70"/>
    <p:sldId id="292" r:id="rId71"/>
    <p:sldId id="368" r:id="rId72"/>
    <p:sldId id="369" r:id="rId73"/>
    <p:sldId id="370" r:id="rId74"/>
    <p:sldId id="371" r:id="rId75"/>
    <p:sldId id="372" r:id="rId76"/>
    <p:sldId id="373" r:id="rId77"/>
    <p:sldId id="374" r:id="rId78"/>
    <p:sldId id="293" r:id="rId79"/>
    <p:sldId id="375" r:id="rId80"/>
    <p:sldId id="294" r:id="rId81"/>
    <p:sldId id="295" r:id="rId82"/>
    <p:sldId id="296" r:id="rId83"/>
    <p:sldId id="297" r:id="rId84"/>
    <p:sldId id="298" r:id="rId85"/>
    <p:sldId id="376" r:id="rId86"/>
    <p:sldId id="377" r:id="rId87"/>
    <p:sldId id="378" r:id="rId88"/>
    <p:sldId id="379" r:id="rId89"/>
    <p:sldId id="380" r:id="rId90"/>
    <p:sldId id="381" r:id="rId91"/>
    <p:sldId id="382" r:id="rId92"/>
    <p:sldId id="383" r:id="rId93"/>
    <p:sldId id="384" r:id="rId94"/>
    <p:sldId id="385" r:id="rId95"/>
    <p:sldId id="386" r:id="rId96"/>
    <p:sldId id="387" r:id="rId97"/>
    <p:sldId id="388" r:id="rId98"/>
    <p:sldId id="389" r:id="rId99"/>
    <p:sldId id="390" r:id="rId100"/>
    <p:sldId id="391" r:id="rId101"/>
    <p:sldId id="392" r:id="rId102"/>
    <p:sldId id="299" r:id="rId103"/>
    <p:sldId id="393" r:id="rId104"/>
    <p:sldId id="394" r:id="rId105"/>
    <p:sldId id="395" r:id="rId106"/>
    <p:sldId id="300" r:id="rId107"/>
    <p:sldId id="396" r:id="rId108"/>
    <p:sldId id="397" r:id="rId109"/>
    <p:sldId id="301" r:id="rId110"/>
    <p:sldId id="302" r:id="rId111"/>
    <p:sldId id="398" r:id="rId112"/>
    <p:sldId id="303" r:id="rId113"/>
    <p:sldId id="304" r:id="rId114"/>
    <p:sldId id="305" r:id="rId115"/>
    <p:sldId id="306" r:id="rId116"/>
    <p:sldId id="399" r:id="rId117"/>
    <p:sldId id="400" r:id="rId118"/>
    <p:sldId id="307" r:id="rId119"/>
    <p:sldId id="308" r:id="rId120"/>
    <p:sldId id="401" r:id="rId121"/>
    <p:sldId id="402" r:id="rId122"/>
    <p:sldId id="309" r:id="rId123"/>
    <p:sldId id="310" r:id="rId124"/>
    <p:sldId id="311" r:id="rId125"/>
    <p:sldId id="405" r:id="rId126"/>
    <p:sldId id="312" r:id="rId127"/>
    <p:sldId id="406" r:id="rId128"/>
    <p:sldId id="407" r:id="rId129"/>
    <p:sldId id="313" r:id="rId130"/>
    <p:sldId id="314" r:id="rId131"/>
    <p:sldId id="408" r:id="rId132"/>
    <p:sldId id="409" r:id="rId133"/>
    <p:sldId id="315" r:id="rId134"/>
    <p:sldId id="410"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7" d="100"/>
          <a:sy n="117" d="100"/>
        </p:scale>
        <p:origin x="31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E88FC-87BE-46CE-836A-C8987EAE8DEA}" type="datetimeFigureOut">
              <a:rPr lang="en-IN" smtClean="0"/>
              <a:t>24-09-2026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DE74C0-1AE9-48A8-B904-F99FA88A970F}" type="slidenum">
              <a:rPr lang="en-IN" smtClean="0"/>
              <a:t>‹#›</a:t>
            </a:fld>
            <a:endParaRPr lang="en-IN"/>
          </a:p>
        </p:txBody>
      </p:sp>
    </p:spTree>
    <p:extLst>
      <p:ext uri="{BB962C8B-B14F-4D97-AF65-F5344CB8AC3E}">
        <p14:creationId xmlns:p14="http://schemas.microsoft.com/office/powerpoint/2010/main" val="3922281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CDE74C0-1AE9-48A8-B904-F99FA88A970F}" type="slidenum">
              <a:rPr lang="en-IN" smtClean="0"/>
              <a:t>36</a:t>
            </a:fld>
            <a:endParaRPr lang="en-IN"/>
          </a:p>
        </p:txBody>
      </p:sp>
    </p:spTree>
    <p:extLst>
      <p:ext uri="{BB962C8B-B14F-4D97-AF65-F5344CB8AC3E}">
        <p14:creationId xmlns:p14="http://schemas.microsoft.com/office/powerpoint/2010/main" val="3387061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35B0-2E11-C739-69DB-364B50BC4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87A682-50E1-D718-98BB-0C03CDEB4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E5C3F3-5A4E-2CA7-F0D3-1E368F1325BC}"/>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5" name="Footer Placeholder 4">
            <a:extLst>
              <a:ext uri="{FF2B5EF4-FFF2-40B4-BE49-F238E27FC236}">
                <a16:creationId xmlns:a16="http://schemas.microsoft.com/office/drawing/2014/main" id="{E74371E8-D93E-C2FF-CFBA-894890D4DF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FCED8-5C15-079E-5683-4F4A63796AA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5282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165B-2DD9-C21D-9E4B-088A359845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2A5AD-2FF5-E1F8-9931-4285120FC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8FA393-9C5E-1CAD-F178-46E249C77534}"/>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5" name="Footer Placeholder 4">
            <a:extLst>
              <a:ext uri="{FF2B5EF4-FFF2-40B4-BE49-F238E27FC236}">
                <a16:creationId xmlns:a16="http://schemas.microsoft.com/office/drawing/2014/main" id="{FCDED7A9-F787-B9BD-5A26-DB0D5849D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438EA-0CBA-3E52-9115-778AD438944B}"/>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43821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6E5D-98F1-37C7-FC25-CCB699F9B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62DC34-E631-12FA-549C-E52BEBBD99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53A9A-7129-18CF-AAB2-D839585474A6}"/>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5" name="Footer Placeholder 4">
            <a:extLst>
              <a:ext uri="{FF2B5EF4-FFF2-40B4-BE49-F238E27FC236}">
                <a16:creationId xmlns:a16="http://schemas.microsoft.com/office/drawing/2014/main" id="{08DE5574-9C57-B457-E05A-77C66C673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17AD6-B667-E2B4-D2E5-710323E5AEC6}"/>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310582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BC63-7456-D1F9-A162-78594A30A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9CC7F6-A474-AC27-613F-B48A7AAD8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7829F0-327A-2F26-9F9B-0B312F1A95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F87326-1987-B189-28DE-A090D08D8D14}"/>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6" name="Footer Placeholder 5">
            <a:extLst>
              <a:ext uri="{FF2B5EF4-FFF2-40B4-BE49-F238E27FC236}">
                <a16:creationId xmlns:a16="http://schemas.microsoft.com/office/drawing/2014/main" id="{3DDD356B-9C9E-BDC0-DAEC-E972AE539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2B52F5-53DD-D223-CE59-66255741BC5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226830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C4C7-14EC-4BB0-E0DC-AB13AD286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9C2B95-E867-D870-7C7F-CA0903AB7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45D53E-3BA6-8B31-AFF3-D0EDE9D705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D6DBE8-84D2-5E9A-371C-AB768F4E2D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B7287E-4DA7-20FD-B7C1-37509F0F7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CBF527-5D51-4795-2713-056103C2ED9B}"/>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8" name="Footer Placeholder 7">
            <a:extLst>
              <a:ext uri="{FF2B5EF4-FFF2-40B4-BE49-F238E27FC236}">
                <a16:creationId xmlns:a16="http://schemas.microsoft.com/office/drawing/2014/main" id="{E037B607-5F54-9092-0C4D-CCD410446E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3AE7A-0B5F-B4FC-70F0-1E87A92E206A}"/>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81486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4A22-D351-DF7C-00FF-B94A6EFDD7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9F6709-02AC-CA33-E808-586F5E8529EA}"/>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4" name="Footer Placeholder 3">
            <a:extLst>
              <a:ext uri="{FF2B5EF4-FFF2-40B4-BE49-F238E27FC236}">
                <a16:creationId xmlns:a16="http://schemas.microsoft.com/office/drawing/2014/main" id="{A0A60254-780D-7B92-0902-421F461CCF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CDF8FF-41B4-3716-C394-EE0159FDDABC}"/>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06058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7B3BD-D617-3C35-1AB6-6C6A4E44E2EF}"/>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3" name="Footer Placeholder 2">
            <a:extLst>
              <a:ext uri="{FF2B5EF4-FFF2-40B4-BE49-F238E27FC236}">
                <a16:creationId xmlns:a16="http://schemas.microsoft.com/office/drawing/2014/main" id="{8F060D8F-3B0A-6713-FDD1-2537105CB9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9A2E4-0DFD-D51C-6B82-6C14A169EC23}"/>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66208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D0AE-FA26-BFCE-5B03-7D92BD27D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1E4246-2740-AF92-4924-2AC4B2FE1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60E825-8180-0E22-1F76-6C71A0ED9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EF12-4D15-0E18-B33E-F1E50CB2D729}"/>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6" name="Footer Placeholder 5">
            <a:extLst>
              <a:ext uri="{FF2B5EF4-FFF2-40B4-BE49-F238E27FC236}">
                <a16:creationId xmlns:a16="http://schemas.microsoft.com/office/drawing/2014/main" id="{00060264-ABCF-9739-E5C5-6FC0E4A1A1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1ADC3-C221-91B1-DF01-C4839B44A944}"/>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79333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A673-9EFF-961A-B81C-4BEB57BE7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A5C82A-3DD1-B7D0-C4FB-6E2E9CBCC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B84FB1-2EE9-7A86-3114-329876C28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A6D42-E88E-3A27-5384-50319FAD310A}"/>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6" name="Footer Placeholder 5">
            <a:extLst>
              <a:ext uri="{FF2B5EF4-FFF2-40B4-BE49-F238E27FC236}">
                <a16:creationId xmlns:a16="http://schemas.microsoft.com/office/drawing/2014/main" id="{5BB7F436-1513-6D61-E222-645EFA478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1E9D6-0990-5804-1808-BD85CFEC903D}"/>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816207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2D2B-210E-8CCD-C1B7-690B8B0787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AE3B0-5D83-7159-2547-F9770F73D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2A936-1387-088C-2B2E-6C9C7D3A85F3}"/>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5" name="Footer Placeholder 4">
            <a:extLst>
              <a:ext uri="{FF2B5EF4-FFF2-40B4-BE49-F238E27FC236}">
                <a16:creationId xmlns:a16="http://schemas.microsoft.com/office/drawing/2014/main" id="{D06F6D25-0002-D4B1-11BD-6EB85C6CE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5D986-C532-24B9-4B76-4466D0DD4547}"/>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8605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13FA5-C7CD-0413-1726-170EBEC241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7AB966-7617-A5E8-BE31-2072AB8075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D02B28-064F-861F-B8F9-E8ABDFB9C1E6}"/>
              </a:ext>
            </a:extLst>
          </p:cNvPr>
          <p:cNvSpPr>
            <a:spLocks noGrp="1"/>
          </p:cNvSpPr>
          <p:nvPr>
            <p:ph type="dt" sz="half" idx="10"/>
          </p:nvPr>
        </p:nvSpPr>
        <p:spPr/>
        <p:txBody>
          <a:bodyPr/>
          <a:lstStyle/>
          <a:p>
            <a:fld id="{76D1D44E-AB28-4CBC-A39C-24E65F43CAF0}" type="datetimeFigureOut">
              <a:rPr lang="en-IN" smtClean="0"/>
              <a:t>23-09-2026</a:t>
            </a:fld>
            <a:endParaRPr lang="en-IN"/>
          </a:p>
        </p:txBody>
      </p:sp>
      <p:sp>
        <p:nvSpPr>
          <p:cNvPr id="5" name="Footer Placeholder 4">
            <a:extLst>
              <a:ext uri="{FF2B5EF4-FFF2-40B4-BE49-F238E27FC236}">
                <a16:creationId xmlns:a16="http://schemas.microsoft.com/office/drawing/2014/main" id="{5F301644-CEEF-85C2-108C-FDD7804D3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0FC37-4F38-9433-D755-3B53E82279A1}"/>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7340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2FEC6-FDE4-5248-150B-C0D1D84B9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1ED9D89-6AD7-5F4F-E83D-1D646A846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C4029-7543-0447-F921-F388371633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D1D44E-AB28-4CBC-A39C-24E65F43CAF0}" type="datetimeFigureOut">
              <a:rPr lang="en-IN" smtClean="0"/>
              <a:t>23-09-2026</a:t>
            </a:fld>
            <a:endParaRPr lang="en-IN"/>
          </a:p>
        </p:txBody>
      </p:sp>
      <p:sp>
        <p:nvSpPr>
          <p:cNvPr id="5" name="Footer Placeholder 4">
            <a:extLst>
              <a:ext uri="{FF2B5EF4-FFF2-40B4-BE49-F238E27FC236}">
                <a16:creationId xmlns:a16="http://schemas.microsoft.com/office/drawing/2014/main" id="{84A3F134-11C7-5AA3-F3BB-52B4D224B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FDA509-422C-EE10-B291-6D7B469A5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51036-C248-445B-92C7-3B36FDACE25D}" type="slidenum">
              <a:rPr lang="en-IN" smtClean="0"/>
              <a:t>‹#›</a:t>
            </a:fld>
            <a:endParaRPr lang="en-IN"/>
          </a:p>
        </p:txBody>
      </p:sp>
      <p:pic>
        <p:nvPicPr>
          <p:cNvPr id="8" name="Picture 7">
            <a:extLst>
              <a:ext uri="{FF2B5EF4-FFF2-40B4-BE49-F238E27FC236}">
                <a16:creationId xmlns:a16="http://schemas.microsoft.com/office/drawing/2014/main" id="{BC7FC92D-6EC7-3DCB-B94C-619543D8C54E}"/>
              </a:ext>
            </a:extLst>
          </p:cNvPr>
          <p:cNvPicPr>
            <a:picLocks noChangeAspect="1"/>
          </p:cNvPicPr>
          <p:nvPr userDrawn="1"/>
        </p:nvPicPr>
        <p:blipFill>
          <a:blip r:embed="rId13"/>
          <a:stretch>
            <a:fillRect/>
          </a:stretch>
        </p:blipFill>
        <p:spPr>
          <a:xfrm>
            <a:off x="120770" y="60385"/>
            <a:ext cx="11904453" cy="500332"/>
          </a:xfrm>
          <a:prstGeom prst="rect">
            <a:avLst/>
          </a:prstGeom>
        </p:spPr>
      </p:pic>
    </p:spTree>
    <p:extLst>
      <p:ext uri="{BB962C8B-B14F-4D97-AF65-F5344CB8AC3E}">
        <p14:creationId xmlns:p14="http://schemas.microsoft.com/office/powerpoint/2010/main" val="3051297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6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8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9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9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9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8BC5-2CDF-002D-43CC-10F2FB6378A5}"/>
              </a:ext>
            </a:extLst>
          </p:cNvPr>
          <p:cNvSpPr>
            <a:spLocks noGrp="1"/>
          </p:cNvSpPr>
          <p:nvPr>
            <p:ph type="ctrTitle"/>
          </p:nvPr>
        </p:nvSpPr>
        <p:spPr/>
        <p:txBody>
          <a:bodyPr/>
          <a:lstStyle/>
          <a:p>
            <a:r>
              <a:rPr lang="en-US" dirty="0"/>
              <a:t>Computer Networks</a:t>
            </a:r>
            <a:endParaRPr lang="en-IN" dirty="0"/>
          </a:p>
        </p:txBody>
      </p:sp>
      <p:sp>
        <p:nvSpPr>
          <p:cNvPr id="3" name="Subtitle 2">
            <a:extLst>
              <a:ext uri="{FF2B5EF4-FFF2-40B4-BE49-F238E27FC236}">
                <a16:creationId xmlns:a16="http://schemas.microsoft.com/office/drawing/2014/main" id="{39C0DBBC-FF82-56F1-2B4E-AF7B9BF0BFF7}"/>
              </a:ext>
            </a:extLst>
          </p:cNvPr>
          <p:cNvSpPr>
            <a:spLocks noGrp="1"/>
          </p:cNvSpPr>
          <p:nvPr>
            <p:ph type="subTitle" idx="1"/>
          </p:nvPr>
        </p:nvSpPr>
        <p:spPr/>
        <p:txBody>
          <a:bodyPr/>
          <a:lstStyle/>
          <a:p>
            <a:r>
              <a:rPr lang="en-US" dirty="0"/>
              <a:t>CSE-AIT</a:t>
            </a:r>
          </a:p>
          <a:p>
            <a:r>
              <a:rPr lang="en-US" dirty="0"/>
              <a:t>Chapter 3.1</a:t>
            </a:r>
            <a:endParaRPr lang="en-IN" dirty="0"/>
          </a:p>
        </p:txBody>
      </p:sp>
      <p:sp>
        <p:nvSpPr>
          <p:cNvPr id="4" name="TextBox 3">
            <a:extLst>
              <a:ext uri="{FF2B5EF4-FFF2-40B4-BE49-F238E27FC236}">
                <a16:creationId xmlns:a16="http://schemas.microsoft.com/office/drawing/2014/main" id="{D17E4571-81D3-3F2E-A57B-5EBD74A8A0B7}"/>
              </a:ext>
            </a:extLst>
          </p:cNvPr>
          <p:cNvSpPr txBox="1"/>
          <p:nvPr/>
        </p:nvSpPr>
        <p:spPr>
          <a:xfrm>
            <a:off x="2385883" y="6092518"/>
            <a:ext cx="7735171" cy="646331"/>
          </a:xfrm>
          <a:prstGeom prst="rect">
            <a:avLst/>
          </a:prstGeom>
          <a:noFill/>
        </p:spPr>
        <p:txBody>
          <a:bodyPr wrap="square" rtlCol="0">
            <a:spAutoFit/>
          </a:bodyPr>
          <a:lstStyle/>
          <a:p>
            <a:pPr algn="ctr"/>
            <a:r>
              <a:rPr lang="en-US" dirty="0"/>
              <a:t>ALOK KUMAR – ASSISTANT PROFESSOR &amp; KARGIL TECHINCAL TRAINER (DCPD) </a:t>
            </a:r>
            <a:br>
              <a:rPr lang="en-US" dirty="0"/>
            </a:br>
            <a:r>
              <a:rPr lang="en-US" dirty="0"/>
              <a:t>EMAIL: DCPD.KARGILT1@CUMAIL.IN</a:t>
            </a:r>
            <a:endParaRPr lang="en-IN" dirty="0"/>
          </a:p>
        </p:txBody>
      </p:sp>
    </p:spTree>
    <p:extLst>
      <p:ext uri="{BB962C8B-B14F-4D97-AF65-F5344CB8AC3E}">
        <p14:creationId xmlns:p14="http://schemas.microsoft.com/office/powerpoint/2010/main" val="286648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EA74-A973-F2A5-CD14-1B7EFD8F2811}"/>
              </a:ext>
            </a:extLst>
          </p:cNvPr>
          <p:cNvSpPr>
            <a:spLocks noGrp="1"/>
          </p:cNvSpPr>
          <p:nvPr>
            <p:ph type="title"/>
          </p:nvPr>
        </p:nvSpPr>
        <p:spPr>
          <a:xfrm>
            <a:off x="208547" y="477421"/>
            <a:ext cx="11806990" cy="549275"/>
          </a:xfrm>
        </p:spPr>
        <p:txBody>
          <a:bodyPr>
            <a:normAutofit/>
          </a:bodyPr>
          <a:lstStyle/>
          <a:p>
            <a:r>
              <a:rPr lang="en-US" sz="3200" b="1" dirty="0"/>
              <a:t>Contents</a:t>
            </a:r>
            <a:endParaRPr lang="en-IN" sz="3200" b="1" dirty="0"/>
          </a:p>
        </p:txBody>
      </p:sp>
      <p:sp>
        <p:nvSpPr>
          <p:cNvPr id="3" name="Content Placeholder 2">
            <a:extLst>
              <a:ext uri="{FF2B5EF4-FFF2-40B4-BE49-F238E27FC236}">
                <a16:creationId xmlns:a16="http://schemas.microsoft.com/office/drawing/2014/main" id="{9529EDEE-0AED-5107-CD8E-199C43709E6A}"/>
              </a:ext>
            </a:extLst>
          </p:cNvPr>
          <p:cNvSpPr>
            <a:spLocks noGrp="1"/>
          </p:cNvSpPr>
          <p:nvPr>
            <p:ph idx="1"/>
          </p:nvPr>
        </p:nvSpPr>
        <p:spPr>
          <a:xfrm>
            <a:off x="208547" y="1026696"/>
            <a:ext cx="11678653" cy="5150268"/>
          </a:xfrm>
        </p:spPr>
        <p:txBody>
          <a:bodyPr>
            <a:normAutofit/>
          </a:bodyPr>
          <a:lstStyle/>
          <a:p>
            <a:r>
              <a:rPr lang="en-US" sz="2400" dirty="0"/>
              <a:t>Introduction to transport layer [Need, Process-to-process delivery, Transport Layer vs Network layer, Services of transport layer]</a:t>
            </a:r>
          </a:p>
          <a:p>
            <a:r>
              <a:rPr lang="en-US" sz="2400" dirty="0"/>
              <a:t>TCP </a:t>
            </a:r>
          </a:p>
          <a:p>
            <a:r>
              <a:rPr lang="en-US" sz="2400" dirty="0"/>
              <a:t>UDP</a:t>
            </a:r>
            <a:endParaRPr lang="en-IN" sz="2400" dirty="0"/>
          </a:p>
        </p:txBody>
      </p:sp>
    </p:spTree>
    <p:extLst>
      <p:ext uri="{BB962C8B-B14F-4D97-AF65-F5344CB8AC3E}">
        <p14:creationId xmlns:p14="http://schemas.microsoft.com/office/powerpoint/2010/main" val="2790243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000A6-9506-ED59-2C46-5A1602A17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6FE258-4726-DF38-FB00-F361DD8EF6E5}"/>
              </a:ext>
            </a:extLst>
          </p:cNvPr>
          <p:cNvSpPr>
            <a:spLocks noGrp="1"/>
          </p:cNvSpPr>
          <p:nvPr>
            <p:ph type="title"/>
          </p:nvPr>
        </p:nvSpPr>
        <p:spPr>
          <a:xfrm>
            <a:off x="208547" y="477421"/>
            <a:ext cx="11806990" cy="549275"/>
          </a:xfrm>
        </p:spPr>
        <p:txBody>
          <a:bodyPr>
            <a:normAutofit/>
          </a:bodyPr>
          <a:lstStyle/>
          <a:p>
            <a:r>
              <a:rPr lang="en-US" sz="3200" b="1" dirty="0"/>
              <a:t>Responsibilities of Transport Layer</a:t>
            </a:r>
            <a:endParaRPr lang="en-IN" sz="3200" b="1" dirty="0"/>
          </a:p>
        </p:txBody>
      </p:sp>
      <p:graphicFrame>
        <p:nvGraphicFramePr>
          <p:cNvPr id="6" name="Table 5">
            <a:extLst>
              <a:ext uri="{FF2B5EF4-FFF2-40B4-BE49-F238E27FC236}">
                <a16:creationId xmlns:a16="http://schemas.microsoft.com/office/drawing/2014/main" id="{5A7502EA-0643-BF85-DE4F-F4C865ABEE76}"/>
              </a:ext>
            </a:extLst>
          </p:cNvPr>
          <p:cNvGraphicFramePr>
            <a:graphicFrameLocks noGrp="1"/>
          </p:cNvGraphicFramePr>
          <p:nvPr>
            <p:extLst>
              <p:ext uri="{D42A27DB-BD31-4B8C-83A1-F6EECF244321}">
                <p14:modId xmlns:p14="http://schemas.microsoft.com/office/powerpoint/2010/main" val="1098452196"/>
              </p:ext>
            </p:extLst>
          </p:nvPr>
        </p:nvGraphicFramePr>
        <p:xfrm>
          <a:off x="288757" y="1071979"/>
          <a:ext cx="11646570" cy="5308600"/>
        </p:xfrm>
        <a:graphic>
          <a:graphicData uri="http://schemas.openxmlformats.org/drawingml/2006/table">
            <a:tbl>
              <a:tblPr firstRow="1" bandRow="1">
                <a:tableStyleId>{5C22544A-7EE6-4342-B048-85BDC9FD1C3A}</a:tableStyleId>
              </a:tblPr>
              <a:tblGrid>
                <a:gridCol w="3882190">
                  <a:extLst>
                    <a:ext uri="{9D8B030D-6E8A-4147-A177-3AD203B41FA5}">
                      <a16:colId xmlns:a16="http://schemas.microsoft.com/office/drawing/2014/main" val="3081073239"/>
                    </a:ext>
                  </a:extLst>
                </a:gridCol>
                <a:gridCol w="3882190">
                  <a:extLst>
                    <a:ext uri="{9D8B030D-6E8A-4147-A177-3AD203B41FA5}">
                      <a16:colId xmlns:a16="http://schemas.microsoft.com/office/drawing/2014/main" val="627167833"/>
                    </a:ext>
                  </a:extLst>
                </a:gridCol>
                <a:gridCol w="3882190">
                  <a:extLst>
                    <a:ext uri="{9D8B030D-6E8A-4147-A177-3AD203B41FA5}">
                      <a16:colId xmlns:a16="http://schemas.microsoft.com/office/drawing/2014/main" val="3108415450"/>
                    </a:ext>
                  </a:extLst>
                </a:gridCol>
              </a:tblGrid>
              <a:tr h="370840">
                <a:tc>
                  <a:txBody>
                    <a:bodyPr/>
                    <a:lstStyle/>
                    <a:p>
                      <a:pPr>
                        <a:buNone/>
                      </a:pPr>
                      <a:r>
                        <a:rPr lang="en-IN" dirty="0"/>
                        <a:t>Functionality</a:t>
                      </a:r>
                    </a:p>
                  </a:txBody>
                  <a:tcPr anchor="ctr"/>
                </a:tc>
                <a:tc>
                  <a:txBody>
                    <a:bodyPr/>
                    <a:lstStyle/>
                    <a:p>
                      <a:pPr>
                        <a:buNone/>
                      </a:pPr>
                      <a:r>
                        <a:rPr lang="en-IN"/>
                        <a:t>Simple Explanation</a:t>
                      </a:r>
                    </a:p>
                  </a:txBody>
                  <a:tcPr anchor="ctr"/>
                </a:tc>
                <a:tc>
                  <a:txBody>
                    <a:bodyPr/>
                    <a:lstStyle/>
                    <a:p>
                      <a:pPr>
                        <a:buNone/>
                      </a:pPr>
                      <a:r>
                        <a:rPr lang="en-IN" dirty="0"/>
                        <a:t>Example</a:t>
                      </a:r>
                    </a:p>
                  </a:txBody>
                  <a:tcPr anchor="ctr"/>
                </a:tc>
                <a:extLst>
                  <a:ext uri="{0D108BD9-81ED-4DB2-BD59-A6C34878D82A}">
                    <a16:rowId xmlns:a16="http://schemas.microsoft.com/office/drawing/2014/main" val="3888365217"/>
                  </a:ext>
                </a:extLst>
              </a:tr>
              <a:tr h="370840">
                <a:tc>
                  <a:txBody>
                    <a:bodyPr/>
                    <a:lstStyle/>
                    <a:p>
                      <a:pPr>
                        <a:buNone/>
                      </a:pPr>
                      <a:r>
                        <a:rPr lang="en-IN" b="1"/>
                        <a:t>Process-to-Process Delivery</a:t>
                      </a:r>
                      <a:endParaRPr lang="en-IN"/>
                    </a:p>
                  </a:txBody>
                  <a:tcPr anchor="ctr"/>
                </a:tc>
                <a:tc>
                  <a:txBody>
                    <a:bodyPr/>
                    <a:lstStyle/>
                    <a:p>
                      <a:pPr>
                        <a:buNone/>
                      </a:pPr>
                      <a:r>
                        <a:rPr lang="en-IN"/>
                        <a:t>Delivers data to the </a:t>
                      </a:r>
                      <a:r>
                        <a:rPr lang="en-IN" b="1"/>
                        <a:t>correct application/process</a:t>
                      </a:r>
                      <a:r>
                        <a:rPr lang="en-IN"/>
                        <a:t> on the destination computer.</a:t>
                      </a:r>
                    </a:p>
                  </a:txBody>
                  <a:tcPr anchor="ctr"/>
                </a:tc>
                <a:tc>
                  <a:txBody>
                    <a:bodyPr/>
                    <a:lstStyle/>
                    <a:p>
                      <a:pPr>
                        <a:buNone/>
                      </a:pPr>
                      <a:r>
                        <a:rPr lang="en-IN"/>
                        <a:t>Data meant for a </a:t>
                      </a:r>
                      <a:r>
                        <a:rPr lang="en-IN" b="1"/>
                        <a:t>web browser</a:t>
                      </a:r>
                      <a:r>
                        <a:rPr lang="en-IN"/>
                        <a:t> should reach the browser, not another application.</a:t>
                      </a:r>
                    </a:p>
                  </a:txBody>
                  <a:tcPr anchor="ctr"/>
                </a:tc>
                <a:extLst>
                  <a:ext uri="{0D108BD9-81ED-4DB2-BD59-A6C34878D82A}">
                    <a16:rowId xmlns:a16="http://schemas.microsoft.com/office/drawing/2014/main" val="1094559799"/>
                  </a:ext>
                </a:extLst>
              </a:tr>
              <a:tr h="370840">
                <a:tc>
                  <a:txBody>
                    <a:bodyPr/>
                    <a:lstStyle/>
                    <a:p>
                      <a:pPr>
                        <a:buNone/>
                      </a:pPr>
                      <a:r>
                        <a:rPr lang="en-IN" b="1"/>
                        <a:t>Port Addressing</a:t>
                      </a:r>
                      <a:endParaRPr lang="en-IN"/>
                    </a:p>
                  </a:txBody>
                  <a:tcPr anchor="ctr"/>
                </a:tc>
                <a:tc>
                  <a:txBody>
                    <a:bodyPr/>
                    <a:lstStyle/>
                    <a:p>
                      <a:pPr>
                        <a:buNone/>
                      </a:pPr>
                      <a:r>
                        <a:rPr lang="en-IN"/>
                        <a:t>Uses </a:t>
                      </a:r>
                      <a:r>
                        <a:rPr lang="en-IN" b="1"/>
                        <a:t>port numbers</a:t>
                      </a:r>
                      <a:r>
                        <a:rPr lang="en-IN"/>
                        <a:t> to identify the sending and receiving applications.</a:t>
                      </a:r>
                    </a:p>
                  </a:txBody>
                  <a:tcPr anchor="ctr"/>
                </a:tc>
                <a:tc>
                  <a:txBody>
                    <a:bodyPr/>
                    <a:lstStyle/>
                    <a:p>
                      <a:pPr>
                        <a:buNone/>
                      </a:pPr>
                      <a:r>
                        <a:rPr lang="en-IN"/>
                        <a:t>A web server may use </a:t>
                      </a:r>
                      <a:r>
                        <a:rPr lang="en-IN" b="1"/>
                        <a:t>Port 80 (HTTP)</a:t>
                      </a:r>
                      <a:r>
                        <a:rPr lang="en-IN"/>
                        <a:t> or </a:t>
                      </a:r>
                      <a:r>
                        <a:rPr lang="en-IN" b="1"/>
                        <a:t>443 (HTTPS)</a:t>
                      </a:r>
                      <a:r>
                        <a:rPr lang="en-IN"/>
                        <a:t>.</a:t>
                      </a:r>
                    </a:p>
                  </a:txBody>
                  <a:tcPr anchor="ctr"/>
                </a:tc>
                <a:extLst>
                  <a:ext uri="{0D108BD9-81ED-4DB2-BD59-A6C34878D82A}">
                    <a16:rowId xmlns:a16="http://schemas.microsoft.com/office/drawing/2014/main" val="160850075"/>
                  </a:ext>
                </a:extLst>
              </a:tr>
              <a:tr h="370840">
                <a:tc>
                  <a:txBody>
                    <a:bodyPr/>
                    <a:lstStyle/>
                    <a:p>
                      <a:pPr>
                        <a:buNone/>
                      </a:pPr>
                      <a:r>
                        <a:rPr lang="en-IN" b="1"/>
                        <a:t>Segmentation &amp; Reassembly</a:t>
                      </a:r>
                      <a:endParaRPr lang="en-IN"/>
                    </a:p>
                  </a:txBody>
                  <a:tcPr anchor="ctr"/>
                </a:tc>
                <a:tc>
                  <a:txBody>
                    <a:bodyPr/>
                    <a:lstStyle/>
                    <a:p>
                      <a:pPr>
                        <a:buNone/>
                      </a:pPr>
                      <a:r>
                        <a:rPr lang="en-IN"/>
                        <a:t>Breaks large application data into </a:t>
                      </a:r>
                      <a:r>
                        <a:rPr lang="en-IN" b="1"/>
                        <a:t>smaller pieces</a:t>
                      </a:r>
                      <a:r>
                        <a:rPr lang="en-IN"/>
                        <a:t> for transmission and combines them again at the receiver.</a:t>
                      </a:r>
                    </a:p>
                  </a:txBody>
                  <a:tcPr anchor="ctr"/>
                </a:tc>
                <a:tc>
                  <a:txBody>
                    <a:bodyPr/>
                    <a:lstStyle/>
                    <a:p>
                      <a:pPr>
                        <a:buNone/>
                      </a:pPr>
                      <a:r>
                        <a:rPr lang="en-IN"/>
                        <a:t>A large file is divided into smaller TCP segments before being sent.</a:t>
                      </a:r>
                    </a:p>
                  </a:txBody>
                  <a:tcPr anchor="ctr"/>
                </a:tc>
                <a:extLst>
                  <a:ext uri="{0D108BD9-81ED-4DB2-BD59-A6C34878D82A}">
                    <a16:rowId xmlns:a16="http://schemas.microsoft.com/office/drawing/2014/main" val="1005080733"/>
                  </a:ext>
                </a:extLst>
              </a:tr>
              <a:tr h="370840">
                <a:tc>
                  <a:txBody>
                    <a:bodyPr/>
                    <a:lstStyle/>
                    <a:p>
                      <a:pPr>
                        <a:buNone/>
                      </a:pPr>
                      <a:r>
                        <a:rPr lang="en-IN" b="1"/>
                        <a:t>Multiplexing</a:t>
                      </a:r>
                      <a:endParaRPr lang="en-IN"/>
                    </a:p>
                  </a:txBody>
                  <a:tcPr anchor="ctr"/>
                </a:tc>
                <a:tc>
                  <a:txBody>
                    <a:bodyPr/>
                    <a:lstStyle/>
                    <a:p>
                      <a:pPr>
                        <a:buNone/>
                      </a:pPr>
                      <a:r>
                        <a:rPr lang="en-IN"/>
                        <a:t>Allows data from </a:t>
                      </a:r>
                      <a:r>
                        <a:rPr lang="en-IN" b="1"/>
                        <a:t>multiple applications</a:t>
                      </a:r>
                      <a:r>
                        <a:rPr lang="en-IN"/>
                        <a:t> to use the network at the same time.</a:t>
                      </a:r>
                    </a:p>
                  </a:txBody>
                  <a:tcPr anchor="ctr"/>
                </a:tc>
                <a:tc>
                  <a:txBody>
                    <a:bodyPr/>
                    <a:lstStyle/>
                    <a:p>
                      <a:pPr>
                        <a:buNone/>
                      </a:pPr>
                      <a:r>
                        <a:rPr lang="en-IN"/>
                        <a:t>Browser, email and another app can send data simultaneously.</a:t>
                      </a:r>
                    </a:p>
                  </a:txBody>
                  <a:tcPr anchor="ctr"/>
                </a:tc>
                <a:extLst>
                  <a:ext uri="{0D108BD9-81ED-4DB2-BD59-A6C34878D82A}">
                    <a16:rowId xmlns:a16="http://schemas.microsoft.com/office/drawing/2014/main" val="2436345855"/>
                  </a:ext>
                </a:extLst>
              </a:tr>
              <a:tr h="370840">
                <a:tc>
                  <a:txBody>
                    <a:bodyPr/>
                    <a:lstStyle/>
                    <a:p>
                      <a:pPr>
                        <a:buNone/>
                      </a:pPr>
                      <a:r>
                        <a:rPr lang="en-IN" b="1"/>
                        <a:t>Demultiplexing</a:t>
                      </a:r>
                      <a:endParaRPr lang="en-IN"/>
                    </a:p>
                  </a:txBody>
                  <a:tcPr anchor="ctr"/>
                </a:tc>
                <a:tc>
                  <a:txBody>
                    <a:bodyPr/>
                    <a:lstStyle/>
                    <a:p>
                      <a:pPr>
                        <a:buNone/>
                      </a:pPr>
                      <a:r>
                        <a:rPr lang="en-IN"/>
                        <a:t>At the receiver, delivers incoming data to the </a:t>
                      </a:r>
                      <a:r>
                        <a:rPr lang="en-IN" b="1"/>
                        <a:t>correct application</a:t>
                      </a:r>
                      <a:r>
                        <a:rPr lang="en-IN"/>
                        <a:t> using port information.</a:t>
                      </a:r>
                    </a:p>
                  </a:txBody>
                  <a:tcPr anchor="ctr"/>
                </a:tc>
                <a:tc>
                  <a:txBody>
                    <a:bodyPr/>
                    <a:lstStyle/>
                    <a:p>
                      <a:pPr>
                        <a:buNone/>
                      </a:pPr>
                      <a:r>
                        <a:rPr lang="en-IN"/>
                        <a:t>Data arriving for Port 443 is delivered to the application/socket using that port.</a:t>
                      </a:r>
                    </a:p>
                  </a:txBody>
                  <a:tcPr anchor="ctr"/>
                </a:tc>
                <a:extLst>
                  <a:ext uri="{0D108BD9-81ED-4DB2-BD59-A6C34878D82A}">
                    <a16:rowId xmlns:a16="http://schemas.microsoft.com/office/drawing/2014/main" val="98134801"/>
                  </a:ext>
                </a:extLst>
              </a:tr>
              <a:tr h="370840">
                <a:tc>
                  <a:txBody>
                    <a:bodyPr/>
                    <a:lstStyle/>
                    <a:p>
                      <a:pPr>
                        <a:buNone/>
                      </a:pPr>
                      <a:r>
                        <a:rPr lang="en-IN" b="1"/>
                        <a:t>Connection Establishment</a:t>
                      </a:r>
                      <a:endParaRPr lang="en-IN"/>
                    </a:p>
                  </a:txBody>
                  <a:tcPr anchor="ctr"/>
                </a:tc>
                <a:tc>
                  <a:txBody>
                    <a:bodyPr/>
                    <a:lstStyle/>
                    <a:p>
                      <a:pPr>
                        <a:buNone/>
                      </a:pPr>
                      <a:r>
                        <a:rPr lang="en-IN"/>
                        <a:t>A connection-oriented protocol such as TCP establishes a connection before normal data transfer.</a:t>
                      </a:r>
                    </a:p>
                  </a:txBody>
                  <a:tcPr anchor="ctr"/>
                </a:tc>
                <a:tc>
                  <a:txBody>
                    <a:bodyPr/>
                    <a:lstStyle/>
                    <a:p>
                      <a:pPr>
                        <a:buNone/>
                      </a:pPr>
                      <a:r>
                        <a:rPr lang="en-IN" dirty="0"/>
                        <a:t>TCP uses the </a:t>
                      </a:r>
                      <a:r>
                        <a:rPr lang="en-IN" b="1" dirty="0"/>
                        <a:t>3-way handshake: SYN → SYN+ACK → ACK</a:t>
                      </a:r>
                      <a:r>
                        <a:rPr lang="en-IN" dirty="0"/>
                        <a:t>.</a:t>
                      </a:r>
                    </a:p>
                  </a:txBody>
                  <a:tcPr anchor="ctr"/>
                </a:tc>
                <a:extLst>
                  <a:ext uri="{0D108BD9-81ED-4DB2-BD59-A6C34878D82A}">
                    <a16:rowId xmlns:a16="http://schemas.microsoft.com/office/drawing/2014/main" val="943033645"/>
                  </a:ext>
                </a:extLst>
              </a:tr>
            </a:tbl>
          </a:graphicData>
        </a:graphic>
      </p:graphicFrame>
    </p:spTree>
    <p:extLst>
      <p:ext uri="{BB962C8B-B14F-4D97-AF65-F5344CB8AC3E}">
        <p14:creationId xmlns:p14="http://schemas.microsoft.com/office/powerpoint/2010/main" val="2748145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FAAEE-F8EB-F702-7194-E58A59F74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41CFC-30F8-E946-A5B2-A3F2F5FA6E53}"/>
              </a:ext>
            </a:extLst>
          </p:cNvPr>
          <p:cNvSpPr>
            <a:spLocks noGrp="1"/>
          </p:cNvSpPr>
          <p:nvPr>
            <p:ph type="title"/>
          </p:nvPr>
        </p:nvSpPr>
        <p:spPr>
          <a:xfrm>
            <a:off x="208547" y="477421"/>
            <a:ext cx="11806990" cy="549275"/>
          </a:xfrm>
        </p:spPr>
        <p:txBody>
          <a:bodyPr>
            <a:normAutofit/>
          </a:bodyPr>
          <a:lstStyle/>
          <a:p>
            <a:r>
              <a:rPr lang="en-US" sz="3200" b="1" dirty="0"/>
              <a:t>Responsibilities of Transport Layer</a:t>
            </a:r>
            <a:endParaRPr lang="en-IN" sz="3200" b="1" dirty="0"/>
          </a:p>
        </p:txBody>
      </p:sp>
      <p:graphicFrame>
        <p:nvGraphicFramePr>
          <p:cNvPr id="6" name="Table 5">
            <a:extLst>
              <a:ext uri="{FF2B5EF4-FFF2-40B4-BE49-F238E27FC236}">
                <a16:creationId xmlns:a16="http://schemas.microsoft.com/office/drawing/2014/main" id="{37CB6C40-EDE0-ECBA-1AA8-E4C2F381B6DD}"/>
              </a:ext>
            </a:extLst>
          </p:cNvPr>
          <p:cNvGraphicFramePr>
            <a:graphicFrameLocks noGrp="1"/>
          </p:cNvGraphicFramePr>
          <p:nvPr>
            <p:extLst>
              <p:ext uri="{D42A27DB-BD31-4B8C-83A1-F6EECF244321}">
                <p14:modId xmlns:p14="http://schemas.microsoft.com/office/powerpoint/2010/main" val="553416214"/>
              </p:ext>
            </p:extLst>
          </p:nvPr>
        </p:nvGraphicFramePr>
        <p:xfrm>
          <a:off x="288757" y="1071979"/>
          <a:ext cx="11646570" cy="5582920"/>
        </p:xfrm>
        <a:graphic>
          <a:graphicData uri="http://schemas.openxmlformats.org/drawingml/2006/table">
            <a:tbl>
              <a:tblPr firstRow="1" bandRow="1">
                <a:tableStyleId>{5C22544A-7EE6-4342-B048-85BDC9FD1C3A}</a:tableStyleId>
              </a:tblPr>
              <a:tblGrid>
                <a:gridCol w="3882190">
                  <a:extLst>
                    <a:ext uri="{9D8B030D-6E8A-4147-A177-3AD203B41FA5}">
                      <a16:colId xmlns:a16="http://schemas.microsoft.com/office/drawing/2014/main" val="3081073239"/>
                    </a:ext>
                  </a:extLst>
                </a:gridCol>
                <a:gridCol w="3882190">
                  <a:extLst>
                    <a:ext uri="{9D8B030D-6E8A-4147-A177-3AD203B41FA5}">
                      <a16:colId xmlns:a16="http://schemas.microsoft.com/office/drawing/2014/main" val="627167833"/>
                    </a:ext>
                  </a:extLst>
                </a:gridCol>
                <a:gridCol w="3882190">
                  <a:extLst>
                    <a:ext uri="{9D8B030D-6E8A-4147-A177-3AD203B41FA5}">
                      <a16:colId xmlns:a16="http://schemas.microsoft.com/office/drawing/2014/main" val="3108415450"/>
                    </a:ext>
                  </a:extLst>
                </a:gridCol>
              </a:tblGrid>
              <a:tr h="370840">
                <a:tc>
                  <a:txBody>
                    <a:bodyPr/>
                    <a:lstStyle/>
                    <a:p>
                      <a:pPr>
                        <a:buNone/>
                      </a:pPr>
                      <a:r>
                        <a:rPr lang="en-IN" dirty="0"/>
                        <a:t>Functionality</a:t>
                      </a:r>
                    </a:p>
                  </a:txBody>
                  <a:tcPr anchor="ctr"/>
                </a:tc>
                <a:tc>
                  <a:txBody>
                    <a:bodyPr/>
                    <a:lstStyle/>
                    <a:p>
                      <a:pPr>
                        <a:buNone/>
                      </a:pPr>
                      <a:r>
                        <a:rPr lang="en-IN"/>
                        <a:t>Simple Explanation</a:t>
                      </a:r>
                    </a:p>
                  </a:txBody>
                  <a:tcPr anchor="ctr"/>
                </a:tc>
                <a:tc>
                  <a:txBody>
                    <a:bodyPr/>
                    <a:lstStyle/>
                    <a:p>
                      <a:pPr>
                        <a:buNone/>
                      </a:pPr>
                      <a:r>
                        <a:rPr lang="en-IN" dirty="0"/>
                        <a:t>Example</a:t>
                      </a:r>
                    </a:p>
                  </a:txBody>
                  <a:tcPr anchor="ctr"/>
                </a:tc>
                <a:extLst>
                  <a:ext uri="{0D108BD9-81ED-4DB2-BD59-A6C34878D82A}">
                    <a16:rowId xmlns:a16="http://schemas.microsoft.com/office/drawing/2014/main" val="3888365217"/>
                  </a:ext>
                </a:extLst>
              </a:tr>
              <a:tr h="370840">
                <a:tc>
                  <a:txBody>
                    <a:bodyPr/>
                    <a:lstStyle/>
                    <a:p>
                      <a:pPr>
                        <a:buNone/>
                      </a:pPr>
                      <a:r>
                        <a:rPr lang="en-IN" b="1" dirty="0"/>
                        <a:t>Connection Release</a:t>
                      </a:r>
                      <a:endParaRPr lang="en-IN" dirty="0"/>
                    </a:p>
                  </a:txBody>
                  <a:tcPr anchor="ctr"/>
                </a:tc>
                <a:tc>
                  <a:txBody>
                    <a:bodyPr/>
                    <a:lstStyle/>
                    <a:p>
                      <a:pPr>
                        <a:buNone/>
                      </a:pPr>
                      <a:r>
                        <a:rPr lang="en-IN" dirty="0"/>
                        <a:t>Properly closes an established TCP connection after communication is finished.</a:t>
                      </a:r>
                    </a:p>
                  </a:txBody>
                  <a:tcPr anchor="ctr"/>
                </a:tc>
                <a:tc>
                  <a:txBody>
                    <a:bodyPr/>
                    <a:lstStyle/>
                    <a:p>
                      <a:pPr>
                        <a:buNone/>
                      </a:pPr>
                      <a:r>
                        <a:rPr lang="en-IN" dirty="0"/>
                        <a:t>TCP can use </a:t>
                      </a:r>
                      <a:r>
                        <a:rPr lang="en-IN" b="1" dirty="0"/>
                        <a:t>FIN and ACK</a:t>
                      </a:r>
                      <a:r>
                        <a:rPr lang="en-IN" dirty="0"/>
                        <a:t> messages to close the connection.</a:t>
                      </a:r>
                    </a:p>
                  </a:txBody>
                  <a:tcPr anchor="ctr"/>
                </a:tc>
                <a:extLst>
                  <a:ext uri="{0D108BD9-81ED-4DB2-BD59-A6C34878D82A}">
                    <a16:rowId xmlns:a16="http://schemas.microsoft.com/office/drawing/2014/main" val="1094559799"/>
                  </a:ext>
                </a:extLst>
              </a:tr>
              <a:tr h="370840">
                <a:tc>
                  <a:txBody>
                    <a:bodyPr/>
                    <a:lstStyle/>
                    <a:p>
                      <a:pPr>
                        <a:buNone/>
                      </a:pPr>
                      <a:r>
                        <a:rPr lang="en-IN" b="1"/>
                        <a:t>Reliable Data Transfer</a:t>
                      </a:r>
                      <a:endParaRPr lang="en-IN"/>
                    </a:p>
                  </a:txBody>
                  <a:tcPr anchor="ctr"/>
                </a:tc>
                <a:tc>
                  <a:txBody>
                    <a:bodyPr/>
                    <a:lstStyle/>
                    <a:p>
                      <a:pPr>
                        <a:buNone/>
                      </a:pPr>
                      <a:r>
                        <a:rPr lang="en-IN"/>
                        <a:t>Ensures data can be delivered correctly using mechanisms such as ACKs and retransmission.</a:t>
                      </a:r>
                    </a:p>
                  </a:txBody>
                  <a:tcPr anchor="ctr"/>
                </a:tc>
                <a:tc>
                  <a:txBody>
                    <a:bodyPr/>
                    <a:lstStyle/>
                    <a:p>
                      <a:pPr>
                        <a:buNone/>
                      </a:pPr>
                      <a:r>
                        <a:rPr lang="en-IN" dirty="0"/>
                        <a:t>If a TCP segment is lost, it can be </a:t>
                      </a:r>
                      <a:r>
                        <a:rPr lang="en-IN" b="1" dirty="0"/>
                        <a:t>sent again</a:t>
                      </a:r>
                      <a:r>
                        <a:rPr lang="en-IN" dirty="0"/>
                        <a:t>.</a:t>
                      </a:r>
                    </a:p>
                  </a:txBody>
                  <a:tcPr anchor="ctr"/>
                </a:tc>
                <a:extLst>
                  <a:ext uri="{0D108BD9-81ED-4DB2-BD59-A6C34878D82A}">
                    <a16:rowId xmlns:a16="http://schemas.microsoft.com/office/drawing/2014/main" val="160850075"/>
                  </a:ext>
                </a:extLst>
              </a:tr>
              <a:tr h="370840">
                <a:tc>
                  <a:txBody>
                    <a:bodyPr/>
                    <a:lstStyle/>
                    <a:p>
                      <a:pPr>
                        <a:buNone/>
                      </a:pPr>
                      <a:r>
                        <a:rPr lang="en-IN" b="1"/>
                        <a:t>Ordered Delivery</a:t>
                      </a:r>
                      <a:endParaRPr lang="en-IN"/>
                    </a:p>
                  </a:txBody>
                  <a:tcPr anchor="ctr"/>
                </a:tc>
                <a:tc>
                  <a:txBody>
                    <a:bodyPr/>
                    <a:lstStyle/>
                    <a:p>
                      <a:pPr>
                        <a:buNone/>
                      </a:pPr>
                      <a:r>
                        <a:rPr lang="en-IN"/>
                        <a:t>Makes sure data is provided to the application in the </a:t>
                      </a:r>
                      <a:r>
                        <a:rPr lang="en-IN" b="1"/>
                        <a:t>correct order</a:t>
                      </a:r>
                      <a:r>
                        <a:rPr lang="en-IN"/>
                        <a:t>.</a:t>
                      </a:r>
                    </a:p>
                  </a:txBody>
                  <a:tcPr anchor="ctr"/>
                </a:tc>
                <a:tc>
                  <a:txBody>
                    <a:bodyPr/>
                    <a:lstStyle/>
                    <a:p>
                      <a:pPr>
                        <a:buNone/>
                      </a:pPr>
                      <a:r>
                        <a:rPr lang="en-IN" dirty="0"/>
                        <a:t>If TCP data arrives out of order, sequence numbers help restore the correct order.</a:t>
                      </a:r>
                    </a:p>
                  </a:txBody>
                  <a:tcPr anchor="ctr"/>
                </a:tc>
                <a:extLst>
                  <a:ext uri="{0D108BD9-81ED-4DB2-BD59-A6C34878D82A}">
                    <a16:rowId xmlns:a16="http://schemas.microsoft.com/office/drawing/2014/main" val="1005080733"/>
                  </a:ext>
                </a:extLst>
              </a:tr>
              <a:tr h="370840">
                <a:tc>
                  <a:txBody>
                    <a:bodyPr/>
                    <a:lstStyle/>
                    <a:p>
                      <a:pPr>
                        <a:buNone/>
                      </a:pPr>
                      <a:r>
                        <a:rPr lang="en-IN" b="1"/>
                        <a:t>Error Detection</a:t>
                      </a:r>
                      <a:endParaRPr lang="en-IN"/>
                    </a:p>
                  </a:txBody>
                  <a:tcPr anchor="ctr"/>
                </a:tc>
                <a:tc>
                  <a:txBody>
                    <a:bodyPr/>
                    <a:lstStyle/>
                    <a:p>
                      <a:pPr>
                        <a:buNone/>
                      </a:pPr>
                      <a:r>
                        <a:rPr lang="en-IN"/>
                        <a:t>Detects whether data was corrupted during transmission.</a:t>
                      </a:r>
                    </a:p>
                  </a:txBody>
                  <a:tcPr anchor="ctr"/>
                </a:tc>
                <a:tc>
                  <a:txBody>
                    <a:bodyPr/>
                    <a:lstStyle/>
                    <a:p>
                      <a:pPr>
                        <a:buNone/>
                      </a:pPr>
                      <a:r>
                        <a:rPr lang="en-IN" dirty="0"/>
                        <a:t>TCP and UDP use a </a:t>
                      </a:r>
                      <a:r>
                        <a:rPr lang="en-IN" b="1" dirty="0"/>
                        <a:t>checksum</a:t>
                      </a:r>
                      <a:r>
                        <a:rPr lang="en-IN" dirty="0"/>
                        <a:t> to detect errors.</a:t>
                      </a:r>
                    </a:p>
                  </a:txBody>
                  <a:tcPr anchor="ctr"/>
                </a:tc>
                <a:extLst>
                  <a:ext uri="{0D108BD9-81ED-4DB2-BD59-A6C34878D82A}">
                    <a16:rowId xmlns:a16="http://schemas.microsoft.com/office/drawing/2014/main" val="2436345855"/>
                  </a:ext>
                </a:extLst>
              </a:tr>
              <a:tr h="370840">
                <a:tc>
                  <a:txBody>
                    <a:bodyPr/>
                    <a:lstStyle/>
                    <a:p>
                      <a:pPr>
                        <a:buNone/>
                      </a:pPr>
                      <a:r>
                        <a:rPr lang="en-IN" b="1"/>
                        <a:t>Flow Control</a:t>
                      </a:r>
                      <a:endParaRPr lang="en-IN"/>
                    </a:p>
                  </a:txBody>
                  <a:tcPr anchor="ctr"/>
                </a:tc>
                <a:tc>
                  <a:txBody>
                    <a:bodyPr/>
                    <a:lstStyle/>
                    <a:p>
                      <a:pPr>
                        <a:buNone/>
                      </a:pPr>
                      <a:r>
                        <a:rPr lang="en-IN"/>
                        <a:t>Prevents a fast sender from sending more data than the receiver can handle.</a:t>
                      </a:r>
                    </a:p>
                  </a:txBody>
                  <a:tcPr anchor="ctr"/>
                </a:tc>
                <a:tc>
                  <a:txBody>
                    <a:bodyPr/>
                    <a:lstStyle/>
                    <a:p>
                      <a:pPr>
                        <a:buNone/>
                      </a:pPr>
                      <a:r>
                        <a:rPr lang="en-IN" dirty="0"/>
                        <a:t>If the receiver has only </a:t>
                      </a:r>
                      <a:r>
                        <a:rPr lang="en-IN" b="1" dirty="0"/>
                        <a:t>4000 bytes</a:t>
                      </a:r>
                      <a:r>
                        <a:rPr lang="en-IN" dirty="0"/>
                        <a:t> of buffer space available, TCP can advertise a 4000-byte window.</a:t>
                      </a:r>
                    </a:p>
                  </a:txBody>
                  <a:tcPr anchor="ctr"/>
                </a:tc>
                <a:extLst>
                  <a:ext uri="{0D108BD9-81ED-4DB2-BD59-A6C34878D82A}">
                    <a16:rowId xmlns:a16="http://schemas.microsoft.com/office/drawing/2014/main" val="98134801"/>
                  </a:ext>
                </a:extLst>
              </a:tr>
              <a:tr h="370840">
                <a:tc>
                  <a:txBody>
                    <a:bodyPr/>
                    <a:lstStyle/>
                    <a:p>
                      <a:pPr>
                        <a:buNone/>
                      </a:pPr>
                      <a:r>
                        <a:rPr lang="en-IN" b="1"/>
                        <a:t>Connection Management</a:t>
                      </a:r>
                      <a:endParaRPr lang="en-IN"/>
                    </a:p>
                  </a:txBody>
                  <a:tcPr anchor="ctr"/>
                </a:tc>
                <a:tc>
                  <a:txBody>
                    <a:bodyPr/>
                    <a:lstStyle/>
                    <a:p>
                      <a:pPr>
                        <a:buNone/>
                      </a:pPr>
                      <a:r>
                        <a:rPr lang="en-IN"/>
                        <a:t>Manages the complete TCP communication from starting the connection to closing it.</a:t>
                      </a:r>
                    </a:p>
                  </a:txBody>
                  <a:tcPr anchor="ctr"/>
                </a:tc>
                <a:tc>
                  <a:txBody>
                    <a:bodyPr/>
                    <a:lstStyle/>
                    <a:p>
                      <a:pPr>
                        <a:buNone/>
                      </a:pPr>
                      <a:r>
                        <a:rPr lang="en-IN" b="1" dirty="0"/>
                        <a:t>Establish connection → Transfer data → Release connection.</a:t>
                      </a:r>
                      <a:endParaRPr lang="en-IN" dirty="0"/>
                    </a:p>
                  </a:txBody>
                  <a:tcPr anchor="ctr"/>
                </a:tc>
                <a:extLst>
                  <a:ext uri="{0D108BD9-81ED-4DB2-BD59-A6C34878D82A}">
                    <a16:rowId xmlns:a16="http://schemas.microsoft.com/office/drawing/2014/main" val="943033645"/>
                  </a:ext>
                </a:extLst>
              </a:tr>
            </a:tbl>
          </a:graphicData>
        </a:graphic>
      </p:graphicFrame>
    </p:spTree>
    <p:extLst>
      <p:ext uri="{BB962C8B-B14F-4D97-AF65-F5344CB8AC3E}">
        <p14:creationId xmlns:p14="http://schemas.microsoft.com/office/powerpoint/2010/main" val="1949953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ADF57-E88A-764A-8151-18A866FE02F2}"/>
              </a:ext>
            </a:extLst>
          </p:cNvPr>
          <p:cNvSpPr>
            <a:spLocks noGrp="1"/>
          </p:cNvSpPr>
          <p:nvPr>
            <p:ph type="title"/>
          </p:nvPr>
        </p:nvSpPr>
        <p:spPr>
          <a:xfrm>
            <a:off x="275844" y="495220"/>
            <a:ext cx="11640312" cy="464900"/>
          </a:xfrm>
        </p:spPr>
        <p:txBody>
          <a:bodyPr>
            <a:normAutofit/>
          </a:bodyPr>
          <a:lstStyle/>
          <a:p>
            <a:r>
              <a:rPr lang="en-US" sz="2400" b="1" dirty="0"/>
              <a:t>Introduction to Transport Layer</a:t>
            </a:r>
            <a:endParaRPr lang="en-IN" sz="2400" b="1" dirty="0"/>
          </a:p>
        </p:txBody>
      </p:sp>
      <p:sp>
        <p:nvSpPr>
          <p:cNvPr id="7" name="TextBox 6">
            <a:extLst>
              <a:ext uri="{FF2B5EF4-FFF2-40B4-BE49-F238E27FC236}">
                <a16:creationId xmlns:a16="http://schemas.microsoft.com/office/drawing/2014/main" id="{938035F0-F121-18AF-122D-7BAF01FB3695}"/>
              </a:ext>
            </a:extLst>
          </p:cNvPr>
          <p:cNvSpPr txBox="1"/>
          <p:nvPr/>
        </p:nvSpPr>
        <p:spPr>
          <a:xfrm>
            <a:off x="275844" y="960120"/>
            <a:ext cx="11049882" cy="369332"/>
          </a:xfrm>
          <a:prstGeom prst="rect">
            <a:avLst/>
          </a:prstGeom>
          <a:noFill/>
        </p:spPr>
        <p:txBody>
          <a:bodyPr wrap="square">
            <a:spAutoFit/>
          </a:bodyPr>
          <a:lstStyle/>
          <a:p>
            <a:r>
              <a:rPr lang="en-IN" b="1" dirty="0"/>
              <a:t>Why do we need a Transport Layer when the Network Layer already sends packets from source to destination?</a:t>
            </a:r>
          </a:p>
        </p:txBody>
      </p:sp>
      <p:sp>
        <p:nvSpPr>
          <p:cNvPr id="9" name="TextBox 8">
            <a:extLst>
              <a:ext uri="{FF2B5EF4-FFF2-40B4-BE49-F238E27FC236}">
                <a16:creationId xmlns:a16="http://schemas.microsoft.com/office/drawing/2014/main" id="{D645B342-A399-6EB9-D2BD-ADC7C52F02E4}"/>
              </a:ext>
            </a:extLst>
          </p:cNvPr>
          <p:cNvSpPr txBox="1"/>
          <p:nvPr/>
        </p:nvSpPr>
        <p:spPr>
          <a:xfrm>
            <a:off x="275844" y="1425020"/>
            <a:ext cx="11213431" cy="2308324"/>
          </a:xfrm>
          <a:prstGeom prst="rect">
            <a:avLst/>
          </a:prstGeom>
          <a:noFill/>
        </p:spPr>
        <p:txBody>
          <a:bodyPr wrap="square">
            <a:spAutoFit/>
          </a:bodyPr>
          <a:lstStyle/>
          <a:p>
            <a:pPr>
              <a:buNone/>
            </a:pPr>
            <a:r>
              <a:rPr lang="en-IN" dirty="0"/>
              <a:t>we have studied that the </a:t>
            </a:r>
            <a:r>
              <a:rPr lang="en-IN" b="1" dirty="0"/>
              <a:t>Network Layer provides host-to-host delivery</a:t>
            </a:r>
            <a:r>
              <a:rPr lang="en-IN" dirty="0"/>
              <a:t>.</a:t>
            </a:r>
          </a:p>
          <a:p>
            <a:pPr>
              <a:buNone/>
            </a:pPr>
            <a:endParaRPr lang="en-IN" dirty="0"/>
          </a:p>
          <a:p>
            <a:pPr>
              <a:buNone/>
            </a:pPr>
            <a:r>
              <a:rPr lang="en-IN" dirty="0"/>
              <a:t>Suppose:</a:t>
            </a:r>
          </a:p>
          <a:p>
            <a:pPr rtl="0">
              <a:buNone/>
            </a:pPr>
            <a:endParaRPr lang="en-IN" dirty="0">
              <a:latin typeface="+mn-lt"/>
            </a:endParaRPr>
          </a:p>
          <a:p>
            <a:pPr rtl="0">
              <a:buNone/>
            </a:pPr>
            <a:r>
              <a:rPr lang="en-IN" dirty="0">
                <a:latin typeface="+mn-lt"/>
              </a:rPr>
              <a:t>Computer A  ----------------------&gt;  Computer B</a:t>
            </a:r>
          </a:p>
          <a:p>
            <a:pPr rtl="0">
              <a:buNone/>
            </a:pPr>
            <a:r>
              <a:rPr lang="en-IN" dirty="0">
                <a:latin typeface="+mn-lt"/>
              </a:rPr>
              <a:t>10.0.0.1                                           20.0.0.1</a:t>
            </a:r>
          </a:p>
          <a:p>
            <a:pPr>
              <a:buNone/>
            </a:pPr>
            <a:endParaRPr lang="en-IN" dirty="0"/>
          </a:p>
          <a:p>
            <a:pPr>
              <a:buNone/>
            </a:pPr>
            <a:r>
              <a:rPr lang="en-IN" dirty="0"/>
              <a:t>The Network Layer uses </a:t>
            </a:r>
            <a:r>
              <a:rPr lang="en-IN" b="1" dirty="0"/>
              <a:t>IP addresses</a:t>
            </a:r>
            <a:r>
              <a:rPr lang="en-IN" dirty="0"/>
              <a:t> to deliver the packet to the correct computer.</a:t>
            </a:r>
          </a:p>
        </p:txBody>
      </p:sp>
      <p:sp>
        <p:nvSpPr>
          <p:cNvPr id="12" name="TextBox 11">
            <a:extLst>
              <a:ext uri="{FF2B5EF4-FFF2-40B4-BE49-F238E27FC236}">
                <a16:creationId xmlns:a16="http://schemas.microsoft.com/office/drawing/2014/main" id="{B8FCAF00-8654-9568-79B1-3EFF65768415}"/>
              </a:ext>
            </a:extLst>
          </p:cNvPr>
          <p:cNvSpPr txBox="1"/>
          <p:nvPr/>
        </p:nvSpPr>
        <p:spPr>
          <a:xfrm>
            <a:off x="275844" y="3949913"/>
            <a:ext cx="10712998" cy="646331"/>
          </a:xfrm>
          <a:prstGeom prst="rect">
            <a:avLst/>
          </a:prstGeom>
          <a:noFill/>
        </p:spPr>
        <p:txBody>
          <a:bodyPr wrap="square">
            <a:spAutoFit/>
          </a:bodyPr>
          <a:lstStyle/>
          <a:p>
            <a:pPr>
              <a:buNone/>
            </a:pPr>
            <a:r>
              <a:rPr lang="en-IN" b="1" dirty="0">
                <a:highlight>
                  <a:srgbClr val="FFFF00"/>
                </a:highlight>
              </a:rPr>
              <a:t>Reaching the computer is not enough</a:t>
            </a:r>
          </a:p>
          <a:p>
            <a:pPr>
              <a:buNone/>
            </a:pPr>
            <a:r>
              <a:rPr lang="en-IN" dirty="0"/>
              <a:t>Computer B may be running many applications at the same time:</a:t>
            </a:r>
          </a:p>
        </p:txBody>
      </p:sp>
      <p:pic>
        <p:nvPicPr>
          <p:cNvPr id="14" name="Picture 13">
            <a:extLst>
              <a:ext uri="{FF2B5EF4-FFF2-40B4-BE49-F238E27FC236}">
                <a16:creationId xmlns:a16="http://schemas.microsoft.com/office/drawing/2014/main" id="{8EC81B03-000D-AAF5-C374-681A84018AC3}"/>
              </a:ext>
            </a:extLst>
          </p:cNvPr>
          <p:cNvPicPr>
            <a:picLocks noChangeAspect="1"/>
          </p:cNvPicPr>
          <p:nvPr/>
        </p:nvPicPr>
        <p:blipFill>
          <a:blip r:embed="rId2"/>
          <a:stretch>
            <a:fillRect/>
          </a:stretch>
        </p:blipFill>
        <p:spPr>
          <a:xfrm>
            <a:off x="275843" y="4697562"/>
            <a:ext cx="4456577" cy="1991996"/>
          </a:xfrm>
          <a:prstGeom prst="rect">
            <a:avLst/>
          </a:prstGeom>
        </p:spPr>
      </p:pic>
      <p:sp>
        <p:nvSpPr>
          <p:cNvPr id="16" name="TextBox 15">
            <a:extLst>
              <a:ext uri="{FF2B5EF4-FFF2-40B4-BE49-F238E27FC236}">
                <a16:creationId xmlns:a16="http://schemas.microsoft.com/office/drawing/2014/main" id="{1067CBC6-428E-5956-5509-3926C98656EF}"/>
              </a:ext>
            </a:extLst>
          </p:cNvPr>
          <p:cNvSpPr txBox="1"/>
          <p:nvPr/>
        </p:nvSpPr>
        <p:spPr>
          <a:xfrm>
            <a:off x="4908883" y="4596244"/>
            <a:ext cx="7122695" cy="2308324"/>
          </a:xfrm>
          <a:prstGeom prst="rect">
            <a:avLst/>
          </a:prstGeom>
          <a:noFill/>
        </p:spPr>
        <p:txBody>
          <a:bodyPr wrap="square">
            <a:spAutoFit/>
          </a:bodyPr>
          <a:lstStyle/>
          <a:p>
            <a:pPr>
              <a:buNone/>
            </a:pPr>
            <a:r>
              <a:rPr lang="en-IN" dirty="0"/>
              <a:t>Suppose a packet reaches:</a:t>
            </a:r>
          </a:p>
          <a:p>
            <a:pPr rtl="0">
              <a:buNone/>
            </a:pPr>
            <a:r>
              <a:rPr lang="en-IN" dirty="0">
                <a:latin typeface="+mn-lt"/>
              </a:rPr>
              <a:t>20.0.0.1</a:t>
            </a:r>
          </a:p>
          <a:p>
            <a:pPr>
              <a:buNone/>
            </a:pPr>
            <a:r>
              <a:rPr lang="en-IN" dirty="0"/>
              <a:t>The Network Layer has successfully answered: </a:t>
            </a:r>
            <a:r>
              <a:rPr lang="en-IN" b="1" dirty="0"/>
              <a:t>"Which computer should receive this packet?"</a:t>
            </a:r>
            <a:endParaRPr lang="en-IN" dirty="0"/>
          </a:p>
          <a:p>
            <a:pPr>
              <a:buNone/>
            </a:pPr>
            <a:endParaRPr lang="en-IN" dirty="0"/>
          </a:p>
          <a:p>
            <a:pPr>
              <a:buNone/>
            </a:pPr>
            <a:r>
              <a:rPr lang="en-IN" dirty="0"/>
              <a:t>But now the computer needs to know: </a:t>
            </a:r>
            <a:r>
              <a:rPr lang="en-IN" b="1" dirty="0"/>
              <a:t>"Which application/process inside this computer should receive it?"</a:t>
            </a:r>
            <a:endParaRPr lang="en-IN" dirty="0"/>
          </a:p>
          <a:p>
            <a:pPr>
              <a:buNone/>
            </a:pPr>
            <a:r>
              <a:rPr lang="en-IN" dirty="0">
                <a:highlight>
                  <a:srgbClr val="FFFF00"/>
                </a:highlight>
              </a:rPr>
              <a:t>This is where the </a:t>
            </a:r>
            <a:r>
              <a:rPr lang="en-IN" b="1" dirty="0">
                <a:highlight>
                  <a:srgbClr val="FFFF00"/>
                </a:highlight>
              </a:rPr>
              <a:t>Transport Layer</a:t>
            </a:r>
            <a:r>
              <a:rPr lang="en-IN" dirty="0">
                <a:highlight>
                  <a:srgbClr val="FFFF00"/>
                </a:highlight>
              </a:rPr>
              <a:t> becomes important.</a:t>
            </a:r>
          </a:p>
        </p:txBody>
      </p:sp>
    </p:spTree>
    <p:extLst>
      <p:ext uri="{BB962C8B-B14F-4D97-AF65-F5344CB8AC3E}">
        <p14:creationId xmlns:p14="http://schemas.microsoft.com/office/powerpoint/2010/main" val="1061777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C0896-69E9-FCB0-7D60-9C808380C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09D7A-2F03-377B-4799-8A9F4A58E3C3}"/>
              </a:ext>
            </a:extLst>
          </p:cNvPr>
          <p:cNvSpPr>
            <a:spLocks noGrp="1"/>
          </p:cNvSpPr>
          <p:nvPr>
            <p:ph type="title"/>
          </p:nvPr>
        </p:nvSpPr>
        <p:spPr>
          <a:xfrm>
            <a:off x="275844" y="495220"/>
            <a:ext cx="11640312" cy="464900"/>
          </a:xfrm>
        </p:spPr>
        <p:txBody>
          <a:bodyPr>
            <a:normAutofit/>
          </a:bodyPr>
          <a:lstStyle/>
          <a:p>
            <a:r>
              <a:rPr lang="en-US" sz="2400" b="1" dirty="0"/>
              <a:t>What is Transport Layer</a:t>
            </a:r>
            <a:endParaRPr lang="en-IN" sz="2400" b="1" dirty="0"/>
          </a:p>
        </p:txBody>
      </p:sp>
      <p:sp>
        <p:nvSpPr>
          <p:cNvPr id="4" name="TextBox 3">
            <a:extLst>
              <a:ext uri="{FF2B5EF4-FFF2-40B4-BE49-F238E27FC236}">
                <a16:creationId xmlns:a16="http://schemas.microsoft.com/office/drawing/2014/main" id="{953A97BE-57BD-4F89-F14D-794D9CD6DF75}"/>
              </a:ext>
            </a:extLst>
          </p:cNvPr>
          <p:cNvSpPr txBox="1"/>
          <p:nvPr/>
        </p:nvSpPr>
        <p:spPr>
          <a:xfrm>
            <a:off x="275844" y="960120"/>
            <a:ext cx="11117179" cy="646331"/>
          </a:xfrm>
          <a:prstGeom prst="rect">
            <a:avLst/>
          </a:prstGeom>
          <a:noFill/>
        </p:spPr>
        <p:txBody>
          <a:bodyPr wrap="square">
            <a:spAutoFit/>
          </a:bodyPr>
          <a:lstStyle/>
          <a:p>
            <a:pPr>
              <a:buNone/>
            </a:pPr>
            <a:r>
              <a:rPr lang="en-IN" dirty="0"/>
              <a:t>The </a:t>
            </a:r>
            <a:r>
              <a:rPr lang="en-IN" b="1" dirty="0"/>
              <a:t>Transport Layer is Layer 4 of the OSI model</a:t>
            </a:r>
            <a:r>
              <a:rPr lang="en-IN" dirty="0"/>
              <a:t>.</a:t>
            </a:r>
          </a:p>
          <a:p>
            <a:pPr>
              <a:buNone/>
            </a:pPr>
            <a:r>
              <a:rPr lang="en-IN" dirty="0"/>
              <a:t>Its main purpose is to provide communication between </a:t>
            </a:r>
            <a:r>
              <a:rPr lang="en-IN" b="1" dirty="0"/>
              <a:t>application processes running on different hosts</a:t>
            </a:r>
            <a:r>
              <a:rPr lang="en-IN" dirty="0"/>
              <a:t>.</a:t>
            </a:r>
          </a:p>
        </p:txBody>
      </p:sp>
      <p:sp>
        <p:nvSpPr>
          <p:cNvPr id="6" name="TextBox 5">
            <a:extLst>
              <a:ext uri="{FF2B5EF4-FFF2-40B4-BE49-F238E27FC236}">
                <a16:creationId xmlns:a16="http://schemas.microsoft.com/office/drawing/2014/main" id="{49FEC419-9AFA-6628-319C-7C8494358954}"/>
              </a:ext>
            </a:extLst>
          </p:cNvPr>
          <p:cNvSpPr txBox="1"/>
          <p:nvPr/>
        </p:nvSpPr>
        <p:spPr>
          <a:xfrm>
            <a:off x="275844" y="1606451"/>
            <a:ext cx="11117179" cy="369332"/>
          </a:xfrm>
          <a:prstGeom prst="rect">
            <a:avLst/>
          </a:prstGeom>
          <a:noFill/>
        </p:spPr>
        <p:txBody>
          <a:bodyPr wrap="square">
            <a:spAutoFit/>
          </a:bodyPr>
          <a:lstStyle/>
          <a:p>
            <a:r>
              <a:rPr lang="en-IN" dirty="0"/>
              <a:t>Transport Layer provides process-to-process communication between applications running on different devices.</a:t>
            </a:r>
          </a:p>
        </p:txBody>
      </p:sp>
      <p:sp>
        <p:nvSpPr>
          <p:cNvPr id="7" name="TextBox 6">
            <a:extLst>
              <a:ext uri="{FF2B5EF4-FFF2-40B4-BE49-F238E27FC236}">
                <a16:creationId xmlns:a16="http://schemas.microsoft.com/office/drawing/2014/main" id="{46E5180F-47BF-2744-80F6-0F8FEEF9FF56}"/>
              </a:ext>
            </a:extLst>
          </p:cNvPr>
          <p:cNvSpPr txBox="1"/>
          <p:nvPr/>
        </p:nvSpPr>
        <p:spPr>
          <a:xfrm>
            <a:off x="275844" y="2252782"/>
            <a:ext cx="7861576" cy="923330"/>
          </a:xfrm>
          <a:prstGeom prst="rect">
            <a:avLst/>
          </a:prstGeom>
          <a:noFill/>
        </p:spPr>
        <p:txBody>
          <a:bodyPr wrap="none" rtlCol="0">
            <a:spAutoFit/>
          </a:bodyPr>
          <a:lstStyle/>
          <a:p>
            <a:r>
              <a:rPr lang="en-IN" b="1" dirty="0">
                <a:highlight>
                  <a:srgbClr val="FFFF00"/>
                </a:highlight>
              </a:rPr>
              <a:t>What is a Process?</a:t>
            </a:r>
          </a:p>
          <a:p>
            <a:r>
              <a:rPr lang="en-IN" dirty="0"/>
              <a:t>A </a:t>
            </a:r>
            <a:r>
              <a:rPr lang="en-IN" b="1" dirty="0"/>
              <a:t>process</a:t>
            </a:r>
            <a:r>
              <a:rPr lang="en-IN" dirty="0"/>
              <a:t> is simply a program/application that is currently running on a computer.</a:t>
            </a:r>
          </a:p>
          <a:p>
            <a:endParaRPr lang="en-IN" dirty="0"/>
          </a:p>
        </p:txBody>
      </p:sp>
      <p:sp>
        <p:nvSpPr>
          <p:cNvPr id="9" name="TextBox 8">
            <a:extLst>
              <a:ext uri="{FF2B5EF4-FFF2-40B4-BE49-F238E27FC236}">
                <a16:creationId xmlns:a16="http://schemas.microsoft.com/office/drawing/2014/main" id="{81FC529F-97F4-DE1C-25B1-86F6D258FA91}"/>
              </a:ext>
            </a:extLst>
          </p:cNvPr>
          <p:cNvSpPr txBox="1"/>
          <p:nvPr/>
        </p:nvSpPr>
        <p:spPr>
          <a:xfrm>
            <a:off x="275844" y="2943225"/>
            <a:ext cx="6096000" cy="2308324"/>
          </a:xfrm>
          <a:prstGeom prst="rect">
            <a:avLst/>
          </a:prstGeom>
          <a:noFill/>
        </p:spPr>
        <p:txBody>
          <a:bodyPr wrap="square">
            <a:spAutoFit/>
          </a:bodyPr>
          <a:lstStyle/>
          <a:p>
            <a:pPr>
              <a:buNone/>
            </a:pPr>
            <a:r>
              <a:rPr lang="en-IN" dirty="0"/>
              <a:t>So when two applications communicate over a network, ultimately we want:</a:t>
            </a:r>
          </a:p>
          <a:p>
            <a:pPr rtl="0">
              <a:buNone/>
            </a:pPr>
            <a:r>
              <a:rPr lang="en-IN" dirty="0">
                <a:latin typeface="+mn-lt"/>
              </a:rPr>
              <a:t>Application on Computer A</a:t>
            </a:r>
          </a:p>
          <a:p>
            <a:pPr rtl="0">
              <a:buNone/>
            </a:pPr>
            <a:r>
              <a:rPr lang="en-IN" dirty="0">
                <a:latin typeface="+mn-lt"/>
              </a:rPr>
              <a:t>          ↓</a:t>
            </a:r>
          </a:p>
          <a:p>
            <a:pPr rtl="0">
              <a:buNone/>
            </a:pPr>
            <a:r>
              <a:rPr lang="en-IN" dirty="0">
                <a:latin typeface="+mn-lt"/>
              </a:rPr>
              <a:t>          ↓</a:t>
            </a:r>
          </a:p>
          <a:p>
            <a:pPr rtl="0">
              <a:buNone/>
            </a:pPr>
            <a:r>
              <a:rPr lang="en-IN" dirty="0">
                <a:latin typeface="+mn-lt"/>
              </a:rPr>
              <a:t>Application on Computer B</a:t>
            </a:r>
          </a:p>
          <a:p>
            <a:pPr>
              <a:buNone/>
            </a:pPr>
            <a:r>
              <a:rPr lang="en-IN" dirty="0"/>
              <a:t>not merely:</a:t>
            </a:r>
          </a:p>
          <a:p>
            <a:pPr rtl="0">
              <a:buNone/>
            </a:pPr>
            <a:r>
              <a:rPr lang="en-IN" dirty="0">
                <a:latin typeface="+mn-lt"/>
              </a:rPr>
              <a:t>Computer A → Computer B</a:t>
            </a:r>
            <a:endParaRPr lang="en-IN" dirty="0">
              <a:latin typeface="Courier New" panose="02070309020205020404" pitchFamily="49" charset="0"/>
            </a:endParaRPr>
          </a:p>
        </p:txBody>
      </p:sp>
    </p:spTree>
    <p:extLst>
      <p:ext uri="{BB962C8B-B14F-4D97-AF65-F5344CB8AC3E}">
        <p14:creationId xmlns:p14="http://schemas.microsoft.com/office/powerpoint/2010/main" val="972791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24057-AE55-6A3F-15DC-27A3F1DFD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61247-DF9F-7D03-74A0-E972A397A503}"/>
              </a:ext>
            </a:extLst>
          </p:cNvPr>
          <p:cNvSpPr>
            <a:spLocks noGrp="1"/>
          </p:cNvSpPr>
          <p:nvPr>
            <p:ph type="title"/>
          </p:nvPr>
        </p:nvSpPr>
        <p:spPr>
          <a:xfrm>
            <a:off x="275844" y="495220"/>
            <a:ext cx="11640312" cy="464900"/>
          </a:xfrm>
        </p:spPr>
        <p:txBody>
          <a:bodyPr>
            <a:normAutofit/>
          </a:bodyPr>
          <a:lstStyle/>
          <a:p>
            <a:r>
              <a:rPr lang="en-US" sz="2400" b="1" dirty="0"/>
              <a:t>Host to Host vs Process-to-Process</a:t>
            </a:r>
            <a:endParaRPr lang="en-IN" sz="2400" b="1" dirty="0"/>
          </a:p>
        </p:txBody>
      </p:sp>
      <p:pic>
        <p:nvPicPr>
          <p:cNvPr id="4" name="Picture 3">
            <a:extLst>
              <a:ext uri="{FF2B5EF4-FFF2-40B4-BE49-F238E27FC236}">
                <a16:creationId xmlns:a16="http://schemas.microsoft.com/office/drawing/2014/main" id="{7C6D2814-C1E2-C5CB-5483-3A32313411DA}"/>
              </a:ext>
            </a:extLst>
          </p:cNvPr>
          <p:cNvPicPr>
            <a:picLocks noChangeAspect="1"/>
          </p:cNvPicPr>
          <p:nvPr/>
        </p:nvPicPr>
        <p:blipFill>
          <a:blip r:embed="rId2"/>
          <a:stretch>
            <a:fillRect/>
          </a:stretch>
        </p:blipFill>
        <p:spPr>
          <a:xfrm>
            <a:off x="275843" y="1220996"/>
            <a:ext cx="5707861" cy="5003341"/>
          </a:xfrm>
          <a:prstGeom prst="rect">
            <a:avLst/>
          </a:prstGeom>
        </p:spPr>
      </p:pic>
      <p:graphicFrame>
        <p:nvGraphicFramePr>
          <p:cNvPr id="5" name="Table 4">
            <a:extLst>
              <a:ext uri="{FF2B5EF4-FFF2-40B4-BE49-F238E27FC236}">
                <a16:creationId xmlns:a16="http://schemas.microsoft.com/office/drawing/2014/main" id="{39DB027A-B6AA-6F6B-19C2-14683304456A}"/>
              </a:ext>
            </a:extLst>
          </p:cNvPr>
          <p:cNvGraphicFramePr>
            <a:graphicFrameLocks noGrp="1"/>
          </p:cNvGraphicFramePr>
          <p:nvPr>
            <p:extLst>
              <p:ext uri="{D42A27DB-BD31-4B8C-83A1-F6EECF244321}">
                <p14:modId xmlns:p14="http://schemas.microsoft.com/office/powerpoint/2010/main" val="3784551395"/>
              </p:ext>
            </p:extLst>
          </p:nvPr>
        </p:nvGraphicFramePr>
        <p:xfrm>
          <a:off x="6096000" y="1432427"/>
          <a:ext cx="5235075" cy="1651000"/>
        </p:xfrm>
        <a:graphic>
          <a:graphicData uri="http://schemas.openxmlformats.org/drawingml/2006/table">
            <a:tbl>
              <a:tblPr firstRow="1" bandRow="1">
                <a:tableStyleId>{5C22544A-7EE6-4342-B048-85BDC9FD1C3A}</a:tableStyleId>
              </a:tblPr>
              <a:tblGrid>
                <a:gridCol w="1745025">
                  <a:extLst>
                    <a:ext uri="{9D8B030D-6E8A-4147-A177-3AD203B41FA5}">
                      <a16:colId xmlns:a16="http://schemas.microsoft.com/office/drawing/2014/main" val="1006109662"/>
                    </a:ext>
                  </a:extLst>
                </a:gridCol>
                <a:gridCol w="1745025">
                  <a:extLst>
                    <a:ext uri="{9D8B030D-6E8A-4147-A177-3AD203B41FA5}">
                      <a16:colId xmlns:a16="http://schemas.microsoft.com/office/drawing/2014/main" val="677099559"/>
                    </a:ext>
                  </a:extLst>
                </a:gridCol>
                <a:gridCol w="1745025">
                  <a:extLst>
                    <a:ext uri="{9D8B030D-6E8A-4147-A177-3AD203B41FA5}">
                      <a16:colId xmlns:a16="http://schemas.microsoft.com/office/drawing/2014/main" val="3119267007"/>
                    </a:ext>
                  </a:extLst>
                </a:gridCol>
              </a:tblGrid>
              <a:tr h="370840">
                <a:tc>
                  <a:txBody>
                    <a:bodyPr/>
                    <a:lstStyle/>
                    <a:p>
                      <a:pPr algn="ctr">
                        <a:buNone/>
                      </a:pPr>
                      <a:r>
                        <a:rPr lang="en-IN" dirty="0"/>
                        <a:t>Layer</a:t>
                      </a:r>
                    </a:p>
                  </a:txBody>
                  <a:tcPr anchor="ctr"/>
                </a:tc>
                <a:tc>
                  <a:txBody>
                    <a:bodyPr/>
                    <a:lstStyle/>
                    <a:p>
                      <a:pPr algn="ctr">
                        <a:buNone/>
                      </a:pPr>
                      <a:r>
                        <a:rPr lang="en-IN" dirty="0"/>
                        <a:t>Type of Delivery</a:t>
                      </a:r>
                    </a:p>
                  </a:txBody>
                  <a:tcPr anchor="ctr"/>
                </a:tc>
                <a:tc>
                  <a:txBody>
                    <a:bodyPr/>
                    <a:lstStyle/>
                    <a:p>
                      <a:pPr algn="ctr">
                        <a:buNone/>
                      </a:pPr>
                      <a:r>
                        <a:rPr lang="en-IN"/>
                        <a:t>Main Identification</a:t>
                      </a:r>
                    </a:p>
                  </a:txBody>
                  <a:tcPr anchor="ctr"/>
                </a:tc>
                <a:extLst>
                  <a:ext uri="{0D108BD9-81ED-4DB2-BD59-A6C34878D82A}">
                    <a16:rowId xmlns:a16="http://schemas.microsoft.com/office/drawing/2014/main" val="4015079514"/>
                  </a:ext>
                </a:extLst>
              </a:tr>
              <a:tr h="370840">
                <a:tc>
                  <a:txBody>
                    <a:bodyPr/>
                    <a:lstStyle/>
                    <a:p>
                      <a:pPr algn="ctr">
                        <a:buNone/>
                      </a:pPr>
                      <a:r>
                        <a:rPr lang="en-IN" b="1"/>
                        <a:t>Network Layer</a:t>
                      </a:r>
                      <a:endParaRPr lang="en-IN"/>
                    </a:p>
                  </a:txBody>
                  <a:tcPr anchor="ctr"/>
                </a:tc>
                <a:tc>
                  <a:txBody>
                    <a:bodyPr/>
                    <a:lstStyle/>
                    <a:p>
                      <a:pPr algn="ctr">
                        <a:buNone/>
                      </a:pPr>
                      <a:r>
                        <a:rPr lang="en-IN"/>
                        <a:t>Host-to-Host</a:t>
                      </a:r>
                    </a:p>
                  </a:txBody>
                  <a:tcPr anchor="ctr"/>
                </a:tc>
                <a:tc>
                  <a:txBody>
                    <a:bodyPr/>
                    <a:lstStyle/>
                    <a:p>
                      <a:pPr algn="ctr">
                        <a:buNone/>
                      </a:pPr>
                      <a:r>
                        <a:rPr lang="en-IN"/>
                        <a:t>IP Address</a:t>
                      </a:r>
                    </a:p>
                  </a:txBody>
                  <a:tcPr anchor="ctr"/>
                </a:tc>
                <a:extLst>
                  <a:ext uri="{0D108BD9-81ED-4DB2-BD59-A6C34878D82A}">
                    <a16:rowId xmlns:a16="http://schemas.microsoft.com/office/drawing/2014/main" val="3429170031"/>
                  </a:ext>
                </a:extLst>
              </a:tr>
              <a:tr h="370840">
                <a:tc>
                  <a:txBody>
                    <a:bodyPr/>
                    <a:lstStyle/>
                    <a:p>
                      <a:pPr algn="ctr">
                        <a:buNone/>
                      </a:pPr>
                      <a:r>
                        <a:rPr lang="en-IN" b="1"/>
                        <a:t>Transport Layer</a:t>
                      </a:r>
                      <a:endParaRPr lang="en-IN"/>
                    </a:p>
                  </a:txBody>
                  <a:tcPr anchor="ctr"/>
                </a:tc>
                <a:tc>
                  <a:txBody>
                    <a:bodyPr/>
                    <a:lstStyle/>
                    <a:p>
                      <a:pPr algn="ctr">
                        <a:buNone/>
                      </a:pPr>
                      <a:r>
                        <a:rPr lang="en-IN" dirty="0"/>
                        <a:t>Process-to-Process</a:t>
                      </a:r>
                    </a:p>
                  </a:txBody>
                  <a:tcPr anchor="ctr"/>
                </a:tc>
                <a:tc>
                  <a:txBody>
                    <a:bodyPr/>
                    <a:lstStyle/>
                    <a:p>
                      <a:pPr algn="ctr">
                        <a:buNone/>
                      </a:pPr>
                      <a:r>
                        <a:rPr lang="en-IN" dirty="0"/>
                        <a:t>Port Number</a:t>
                      </a:r>
                    </a:p>
                  </a:txBody>
                  <a:tcPr anchor="ctr"/>
                </a:tc>
                <a:extLst>
                  <a:ext uri="{0D108BD9-81ED-4DB2-BD59-A6C34878D82A}">
                    <a16:rowId xmlns:a16="http://schemas.microsoft.com/office/drawing/2014/main" val="3536940681"/>
                  </a:ext>
                </a:extLst>
              </a:tr>
            </a:tbl>
          </a:graphicData>
        </a:graphic>
      </p:graphicFrame>
      <p:pic>
        <p:nvPicPr>
          <p:cNvPr id="7" name="Picture 6">
            <a:extLst>
              <a:ext uri="{FF2B5EF4-FFF2-40B4-BE49-F238E27FC236}">
                <a16:creationId xmlns:a16="http://schemas.microsoft.com/office/drawing/2014/main" id="{70B525AD-80B8-03B7-1D0F-5DCE869E9AF5}"/>
              </a:ext>
            </a:extLst>
          </p:cNvPr>
          <p:cNvPicPr>
            <a:picLocks noChangeAspect="1"/>
          </p:cNvPicPr>
          <p:nvPr/>
        </p:nvPicPr>
        <p:blipFill>
          <a:blip r:embed="rId3"/>
          <a:stretch>
            <a:fillRect/>
          </a:stretch>
        </p:blipFill>
        <p:spPr>
          <a:xfrm>
            <a:off x="7035852" y="4449767"/>
            <a:ext cx="3355370" cy="1951612"/>
          </a:xfrm>
          <a:prstGeom prst="rect">
            <a:avLst/>
          </a:prstGeom>
        </p:spPr>
      </p:pic>
      <p:sp>
        <p:nvSpPr>
          <p:cNvPr id="8" name="TextBox 7">
            <a:extLst>
              <a:ext uri="{FF2B5EF4-FFF2-40B4-BE49-F238E27FC236}">
                <a16:creationId xmlns:a16="http://schemas.microsoft.com/office/drawing/2014/main" id="{1C595DA9-4106-52D3-44D3-90D93EA9416F}"/>
              </a:ext>
            </a:extLst>
          </p:cNvPr>
          <p:cNvSpPr txBox="1"/>
          <p:nvPr/>
        </p:nvSpPr>
        <p:spPr>
          <a:xfrm>
            <a:off x="6657474" y="3818021"/>
            <a:ext cx="4688784" cy="369332"/>
          </a:xfrm>
          <a:prstGeom prst="rect">
            <a:avLst/>
          </a:prstGeom>
          <a:noFill/>
        </p:spPr>
        <p:txBody>
          <a:bodyPr wrap="none" rtlCol="0">
            <a:spAutoFit/>
          </a:bodyPr>
          <a:lstStyle/>
          <a:p>
            <a:r>
              <a:rPr lang="en-US" dirty="0"/>
              <a:t>The 2 important protocol in Transport Layer are:</a:t>
            </a:r>
            <a:endParaRPr lang="en-IN" dirty="0"/>
          </a:p>
        </p:txBody>
      </p:sp>
    </p:spTree>
    <p:extLst>
      <p:ext uri="{BB962C8B-B14F-4D97-AF65-F5344CB8AC3E}">
        <p14:creationId xmlns:p14="http://schemas.microsoft.com/office/powerpoint/2010/main" val="1795359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70EFF-2478-D8FC-547D-408AF099C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32A449-FD07-7F56-3C5F-FE12A8F79C1E}"/>
              </a:ext>
            </a:extLst>
          </p:cNvPr>
          <p:cNvSpPr>
            <a:spLocks noGrp="1"/>
          </p:cNvSpPr>
          <p:nvPr>
            <p:ph type="title"/>
          </p:nvPr>
        </p:nvSpPr>
        <p:spPr>
          <a:xfrm>
            <a:off x="275844" y="495220"/>
            <a:ext cx="11640312" cy="464900"/>
          </a:xfrm>
        </p:spPr>
        <p:txBody>
          <a:bodyPr>
            <a:normAutofit/>
          </a:bodyPr>
          <a:lstStyle/>
          <a:p>
            <a:r>
              <a:rPr lang="en-US" sz="2400" b="1" dirty="0"/>
              <a:t>What are the main responsibilities of Transport Layer</a:t>
            </a:r>
            <a:endParaRPr lang="en-IN" sz="2400" b="1" dirty="0"/>
          </a:p>
        </p:txBody>
      </p:sp>
      <p:graphicFrame>
        <p:nvGraphicFramePr>
          <p:cNvPr id="3" name="Table 2">
            <a:extLst>
              <a:ext uri="{FF2B5EF4-FFF2-40B4-BE49-F238E27FC236}">
                <a16:creationId xmlns:a16="http://schemas.microsoft.com/office/drawing/2014/main" id="{705F5D1D-17E0-D417-7A27-54C9D131BEF7}"/>
              </a:ext>
            </a:extLst>
          </p:cNvPr>
          <p:cNvGraphicFramePr>
            <a:graphicFrameLocks noGrp="1"/>
          </p:cNvGraphicFramePr>
          <p:nvPr>
            <p:extLst>
              <p:ext uri="{D42A27DB-BD31-4B8C-83A1-F6EECF244321}">
                <p14:modId xmlns:p14="http://schemas.microsoft.com/office/powerpoint/2010/main" val="1192457470"/>
              </p:ext>
            </p:extLst>
          </p:nvPr>
        </p:nvGraphicFramePr>
        <p:xfrm>
          <a:off x="275844" y="1137920"/>
          <a:ext cx="8128000" cy="45821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012922867"/>
                    </a:ext>
                  </a:extLst>
                </a:gridCol>
                <a:gridCol w="4064000">
                  <a:extLst>
                    <a:ext uri="{9D8B030D-6E8A-4147-A177-3AD203B41FA5}">
                      <a16:colId xmlns:a16="http://schemas.microsoft.com/office/drawing/2014/main" val="3531491083"/>
                    </a:ext>
                  </a:extLst>
                </a:gridCol>
              </a:tblGrid>
              <a:tr h="370840">
                <a:tc>
                  <a:txBody>
                    <a:bodyPr/>
                    <a:lstStyle/>
                    <a:p>
                      <a:pPr algn="ctr">
                        <a:buNone/>
                      </a:pPr>
                      <a:r>
                        <a:rPr lang="en-IN" dirty="0"/>
                        <a:t>Function</a:t>
                      </a:r>
                    </a:p>
                  </a:txBody>
                  <a:tcPr anchor="ctr"/>
                </a:tc>
                <a:tc>
                  <a:txBody>
                    <a:bodyPr/>
                    <a:lstStyle/>
                    <a:p>
                      <a:pPr algn="ctr">
                        <a:buNone/>
                      </a:pPr>
                      <a:r>
                        <a:rPr lang="en-IN"/>
                        <a:t>Simple Meaning</a:t>
                      </a:r>
                    </a:p>
                  </a:txBody>
                  <a:tcPr anchor="ctr"/>
                </a:tc>
                <a:extLst>
                  <a:ext uri="{0D108BD9-81ED-4DB2-BD59-A6C34878D82A}">
                    <a16:rowId xmlns:a16="http://schemas.microsoft.com/office/drawing/2014/main" val="1265672807"/>
                  </a:ext>
                </a:extLst>
              </a:tr>
              <a:tr h="370840">
                <a:tc>
                  <a:txBody>
                    <a:bodyPr/>
                    <a:lstStyle/>
                    <a:p>
                      <a:pPr algn="ctr">
                        <a:buNone/>
                      </a:pPr>
                      <a:r>
                        <a:rPr lang="en-IN" b="1"/>
                        <a:t>Process-to-Process Delivery</a:t>
                      </a:r>
                      <a:endParaRPr lang="en-IN"/>
                    </a:p>
                  </a:txBody>
                  <a:tcPr anchor="ctr"/>
                </a:tc>
                <a:tc>
                  <a:txBody>
                    <a:bodyPr/>
                    <a:lstStyle/>
                    <a:p>
                      <a:pPr algn="ctr">
                        <a:buNone/>
                      </a:pPr>
                      <a:r>
                        <a:rPr lang="en-IN"/>
                        <a:t>Delivers data to the correct application</a:t>
                      </a:r>
                    </a:p>
                  </a:txBody>
                  <a:tcPr anchor="ctr"/>
                </a:tc>
                <a:extLst>
                  <a:ext uri="{0D108BD9-81ED-4DB2-BD59-A6C34878D82A}">
                    <a16:rowId xmlns:a16="http://schemas.microsoft.com/office/drawing/2014/main" val="2150425743"/>
                  </a:ext>
                </a:extLst>
              </a:tr>
              <a:tr h="370840">
                <a:tc>
                  <a:txBody>
                    <a:bodyPr/>
                    <a:lstStyle/>
                    <a:p>
                      <a:pPr algn="ctr">
                        <a:buNone/>
                      </a:pPr>
                      <a:r>
                        <a:rPr lang="en-IN" b="1"/>
                        <a:t>Addressing using Port Numbers</a:t>
                      </a:r>
                      <a:endParaRPr lang="en-IN"/>
                    </a:p>
                  </a:txBody>
                  <a:tcPr anchor="ctr"/>
                </a:tc>
                <a:tc>
                  <a:txBody>
                    <a:bodyPr/>
                    <a:lstStyle/>
                    <a:p>
                      <a:pPr algn="ctr">
                        <a:buNone/>
                      </a:pPr>
                      <a:r>
                        <a:rPr lang="en-IN"/>
                        <a:t>Identifies sending and receiving processes</a:t>
                      </a:r>
                    </a:p>
                  </a:txBody>
                  <a:tcPr anchor="ctr"/>
                </a:tc>
                <a:extLst>
                  <a:ext uri="{0D108BD9-81ED-4DB2-BD59-A6C34878D82A}">
                    <a16:rowId xmlns:a16="http://schemas.microsoft.com/office/drawing/2014/main" val="1918143932"/>
                  </a:ext>
                </a:extLst>
              </a:tr>
              <a:tr h="370840">
                <a:tc>
                  <a:txBody>
                    <a:bodyPr/>
                    <a:lstStyle/>
                    <a:p>
                      <a:pPr algn="ctr">
                        <a:buNone/>
                      </a:pPr>
                      <a:r>
                        <a:rPr lang="en-IN" b="1"/>
                        <a:t>Segmentation</a:t>
                      </a:r>
                      <a:endParaRPr lang="en-IN"/>
                    </a:p>
                  </a:txBody>
                  <a:tcPr anchor="ctr"/>
                </a:tc>
                <a:tc>
                  <a:txBody>
                    <a:bodyPr/>
                    <a:lstStyle/>
                    <a:p>
                      <a:pPr algn="ctr">
                        <a:buNone/>
                      </a:pPr>
                      <a:r>
                        <a:rPr lang="en-IN"/>
                        <a:t>Helps handle application data in suitable units for transport</a:t>
                      </a:r>
                    </a:p>
                  </a:txBody>
                  <a:tcPr anchor="ctr"/>
                </a:tc>
                <a:extLst>
                  <a:ext uri="{0D108BD9-81ED-4DB2-BD59-A6C34878D82A}">
                    <a16:rowId xmlns:a16="http://schemas.microsoft.com/office/drawing/2014/main" val="1770368687"/>
                  </a:ext>
                </a:extLst>
              </a:tr>
              <a:tr h="370840">
                <a:tc>
                  <a:txBody>
                    <a:bodyPr/>
                    <a:lstStyle/>
                    <a:p>
                      <a:pPr algn="ctr">
                        <a:buNone/>
                      </a:pPr>
                      <a:r>
                        <a:rPr lang="en-IN" b="1"/>
                        <a:t>Multiplexing / Demultiplexing</a:t>
                      </a:r>
                      <a:endParaRPr lang="en-IN"/>
                    </a:p>
                  </a:txBody>
                  <a:tcPr anchor="ctr"/>
                </a:tc>
                <a:tc>
                  <a:txBody>
                    <a:bodyPr/>
                    <a:lstStyle/>
                    <a:p>
                      <a:pPr algn="ctr">
                        <a:buNone/>
                      </a:pPr>
                      <a:r>
                        <a:rPr lang="en-IN"/>
                        <a:t>Allows many applications to use network communication</a:t>
                      </a:r>
                    </a:p>
                  </a:txBody>
                  <a:tcPr anchor="ctr"/>
                </a:tc>
                <a:extLst>
                  <a:ext uri="{0D108BD9-81ED-4DB2-BD59-A6C34878D82A}">
                    <a16:rowId xmlns:a16="http://schemas.microsoft.com/office/drawing/2014/main" val="2620498020"/>
                  </a:ext>
                </a:extLst>
              </a:tr>
              <a:tr h="370840">
                <a:tc>
                  <a:txBody>
                    <a:bodyPr/>
                    <a:lstStyle/>
                    <a:p>
                      <a:pPr algn="ctr">
                        <a:buNone/>
                      </a:pPr>
                      <a:r>
                        <a:rPr lang="en-IN" b="1"/>
                        <a:t>Connection Management</a:t>
                      </a:r>
                      <a:endParaRPr lang="en-IN"/>
                    </a:p>
                  </a:txBody>
                  <a:tcPr anchor="ctr"/>
                </a:tc>
                <a:tc>
                  <a:txBody>
                    <a:bodyPr/>
                    <a:lstStyle/>
                    <a:p>
                      <a:pPr algn="ctr">
                        <a:buNone/>
                      </a:pPr>
                      <a:r>
                        <a:rPr lang="en-IN"/>
                        <a:t>TCP can establish and release connections</a:t>
                      </a:r>
                    </a:p>
                  </a:txBody>
                  <a:tcPr anchor="ctr"/>
                </a:tc>
                <a:extLst>
                  <a:ext uri="{0D108BD9-81ED-4DB2-BD59-A6C34878D82A}">
                    <a16:rowId xmlns:a16="http://schemas.microsoft.com/office/drawing/2014/main" val="3439128836"/>
                  </a:ext>
                </a:extLst>
              </a:tr>
              <a:tr h="370840">
                <a:tc>
                  <a:txBody>
                    <a:bodyPr/>
                    <a:lstStyle/>
                    <a:p>
                      <a:pPr algn="ctr">
                        <a:buNone/>
                      </a:pPr>
                      <a:r>
                        <a:rPr lang="en-IN" b="1"/>
                        <a:t>Flow Control</a:t>
                      </a:r>
                      <a:endParaRPr lang="en-IN"/>
                    </a:p>
                  </a:txBody>
                  <a:tcPr anchor="ctr"/>
                </a:tc>
                <a:tc>
                  <a:txBody>
                    <a:bodyPr/>
                    <a:lstStyle/>
                    <a:p>
                      <a:pPr algn="ctr">
                        <a:buNone/>
                      </a:pPr>
                      <a:r>
                        <a:rPr lang="en-IN"/>
                        <a:t>Prevents a fast sender from overwhelming a slow receiver</a:t>
                      </a:r>
                    </a:p>
                  </a:txBody>
                  <a:tcPr anchor="ctr"/>
                </a:tc>
                <a:extLst>
                  <a:ext uri="{0D108BD9-81ED-4DB2-BD59-A6C34878D82A}">
                    <a16:rowId xmlns:a16="http://schemas.microsoft.com/office/drawing/2014/main" val="3223365985"/>
                  </a:ext>
                </a:extLst>
              </a:tr>
              <a:tr h="370840">
                <a:tc>
                  <a:txBody>
                    <a:bodyPr/>
                    <a:lstStyle/>
                    <a:p>
                      <a:pPr algn="ctr">
                        <a:buNone/>
                      </a:pPr>
                      <a:r>
                        <a:rPr lang="en-IN" b="1"/>
                        <a:t>Reliability</a:t>
                      </a:r>
                      <a:endParaRPr lang="en-IN"/>
                    </a:p>
                  </a:txBody>
                  <a:tcPr anchor="ctr"/>
                </a:tc>
                <a:tc>
                  <a:txBody>
                    <a:bodyPr/>
                    <a:lstStyle/>
                    <a:p>
                      <a:pPr algn="ctr">
                        <a:buNone/>
                      </a:pPr>
                      <a:r>
                        <a:rPr lang="en-IN" dirty="0"/>
                        <a:t>TCP provides mechanisms for reliable delivery</a:t>
                      </a:r>
                    </a:p>
                  </a:txBody>
                  <a:tcPr anchor="ctr"/>
                </a:tc>
                <a:extLst>
                  <a:ext uri="{0D108BD9-81ED-4DB2-BD59-A6C34878D82A}">
                    <a16:rowId xmlns:a16="http://schemas.microsoft.com/office/drawing/2014/main" val="101224817"/>
                  </a:ext>
                </a:extLst>
              </a:tr>
            </a:tbl>
          </a:graphicData>
        </a:graphic>
      </p:graphicFrame>
      <p:sp>
        <p:nvSpPr>
          <p:cNvPr id="5" name="TextBox 4">
            <a:extLst>
              <a:ext uri="{FF2B5EF4-FFF2-40B4-BE49-F238E27FC236}">
                <a16:creationId xmlns:a16="http://schemas.microsoft.com/office/drawing/2014/main" id="{98864A8B-7C35-4D41-AA39-8D78F42A8F5B}"/>
              </a:ext>
            </a:extLst>
          </p:cNvPr>
          <p:cNvSpPr txBox="1"/>
          <p:nvPr/>
        </p:nvSpPr>
        <p:spPr>
          <a:xfrm>
            <a:off x="8951494" y="2551837"/>
            <a:ext cx="2390274" cy="2031325"/>
          </a:xfrm>
          <a:prstGeom prst="rect">
            <a:avLst/>
          </a:prstGeom>
          <a:noFill/>
        </p:spPr>
        <p:txBody>
          <a:bodyPr wrap="square">
            <a:spAutoFit/>
          </a:bodyPr>
          <a:lstStyle/>
          <a:p>
            <a:r>
              <a:rPr lang="en-IN" b="1" dirty="0"/>
              <a:t>IP Address tells WHERE the computer is.</a:t>
            </a:r>
            <a:br>
              <a:rPr lang="en-IN" dirty="0"/>
            </a:br>
            <a:endParaRPr lang="en-IN" dirty="0"/>
          </a:p>
          <a:p>
            <a:r>
              <a:rPr lang="en-IN" b="1" dirty="0"/>
              <a:t>Port Number tells WHICH application should receive the data.</a:t>
            </a:r>
            <a:endParaRPr lang="en-IN" dirty="0"/>
          </a:p>
        </p:txBody>
      </p:sp>
    </p:spTree>
    <p:extLst>
      <p:ext uri="{BB962C8B-B14F-4D97-AF65-F5344CB8AC3E}">
        <p14:creationId xmlns:p14="http://schemas.microsoft.com/office/powerpoint/2010/main" val="390793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3A494-997F-F47D-3873-9650C86D7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127949-C382-AC14-D68B-D25CA07A2B6D}"/>
              </a:ext>
            </a:extLst>
          </p:cNvPr>
          <p:cNvSpPr>
            <a:spLocks noGrp="1"/>
          </p:cNvSpPr>
          <p:nvPr>
            <p:ph type="title"/>
          </p:nvPr>
        </p:nvSpPr>
        <p:spPr>
          <a:xfrm>
            <a:off x="275844" y="495220"/>
            <a:ext cx="11640312" cy="464900"/>
          </a:xfrm>
        </p:spPr>
        <p:txBody>
          <a:bodyPr>
            <a:normAutofit/>
          </a:bodyPr>
          <a:lstStyle/>
          <a:p>
            <a:r>
              <a:rPr lang="en-IN" sz="2400" b="1" dirty="0"/>
              <a:t>Port Numbers and Process Identification</a:t>
            </a:r>
          </a:p>
        </p:txBody>
      </p:sp>
      <p:sp>
        <p:nvSpPr>
          <p:cNvPr id="6" name="TextBox 5">
            <a:extLst>
              <a:ext uri="{FF2B5EF4-FFF2-40B4-BE49-F238E27FC236}">
                <a16:creationId xmlns:a16="http://schemas.microsoft.com/office/drawing/2014/main" id="{43801D01-A2B4-0914-7AB3-A6B705B3E531}"/>
              </a:ext>
            </a:extLst>
          </p:cNvPr>
          <p:cNvSpPr txBox="1"/>
          <p:nvPr/>
        </p:nvSpPr>
        <p:spPr>
          <a:xfrm>
            <a:off x="401052" y="1136081"/>
            <a:ext cx="9833811" cy="5632311"/>
          </a:xfrm>
          <a:prstGeom prst="rect">
            <a:avLst/>
          </a:prstGeom>
          <a:noFill/>
        </p:spPr>
        <p:txBody>
          <a:bodyPr wrap="square">
            <a:spAutoFit/>
          </a:bodyPr>
          <a:lstStyle/>
          <a:p>
            <a:pPr>
              <a:buNone/>
            </a:pPr>
            <a:r>
              <a:rPr lang="en-IN" b="1" dirty="0">
                <a:highlight>
                  <a:srgbClr val="FFFF00"/>
                </a:highlight>
              </a:rPr>
              <a:t>Why do we need Port Numbers?</a:t>
            </a:r>
          </a:p>
          <a:p>
            <a:pPr>
              <a:buNone/>
            </a:pPr>
            <a:r>
              <a:rPr lang="en-IN" dirty="0"/>
              <a:t>Suppose your laptop has IP address:</a:t>
            </a:r>
          </a:p>
          <a:p>
            <a:pPr rtl="0">
              <a:buNone/>
            </a:pPr>
            <a:r>
              <a:rPr lang="en-IN" dirty="0">
                <a:latin typeface="+mn-lt"/>
              </a:rPr>
              <a:t>192.168.1.10</a:t>
            </a:r>
          </a:p>
          <a:p>
            <a:pPr>
              <a:buNone/>
            </a:pPr>
            <a:r>
              <a:rPr lang="en-IN" dirty="0"/>
              <a:t>At the same time, you may be using several network applications:</a:t>
            </a:r>
          </a:p>
          <a:p>
            <a:pPr rtl="0">
              <a:buNone/>
            </a:pPr>
            <a:r>
              <a:rPr lang="en-IN" dirty="0">
                <a:latin typeface="+mn-lt"/>
              </a:rPr>
              <a:t>Laptop: 192.168.1.10</a:t>
            </a:r>
          </a:p>
          <a:p>
            <a:pPr rtl="0">
              <a:buNone/>
            </a:pPr>
            <a:endParaRPr lang="en-IN" dirty="0">
              <a:latin typeface="+mn-lt"/>
            </a:endParaRPr>
          </a:p>
          <a:p>
            <a:pPr rtl="0">
              <a:buNone/>
            </a:pPr>
            <a:r>
              <a:rPr lang="en-IN" dirty="0">
                <a:latin typeface="+mn-lt"/>
              </a:rPr>
              <a:t>├── Web Browser</a:t>
            </a:r>
          </a:p>
          <a:p>
            <a:pPr rtl="0">
              <a:buNone/>
            </a:pPr>
            <a:r>
              <a:rPr lang="en-IN" dirty="0">
                <a:latin typeface="+mn-lt"/>
              </a:rPr>
              <a:t>├── Email Application</a:t>
            </a:r>
          </a:p>
          <a:p>
            <a:pPr rtl="0">
              <a:buNone/>
            </a:pPr>
            <a:r>
              <a:rPr lang="en-IN" dirty="0">
                <a:latin typeface="+mn-lt"/>
              </a:rPr>
              <a:t>├── Video Call</a:t>
            </a:r>
          </a:p>
          <a:p>
            <a:pPr rtl="0">
              <a:buNone/>
            </a:pPr>
            <a:r>
              <a:rPr lang="en-IN" dirty="0">
                <a:latin typeface="+mn-lt"/>
              </a:rPr>
              <a:t>└── Some other network application</a:t>
            </a:r>
          </a:p>
          <a:p>
            <a:pPr>
              <a:buNone/>
            </a:pPr>
            <a:endParaRPr lang="en-IN" dirty="0"/>
          </a:p>
          <a:p>
            <a:pPr>
              <a:buNone/>
            </a:pPr>
            <a:r>
              <a:rPr lang="en-IN" dirty="0"/>
              <a:t>Now suppose some data comes from the Internet and reaches: </a:t>
            </a:r>
            <a:r>
              <a:rPr lang="en-IN" dirty="0">
                <a:latin typeface="+mn-lt"/>
              </a:rPr>
              <a:t>192.168.1.10</a:t>
            </a:r>
          </a:p>
          <a:p>
            <a:pPr>
              <a:buNone/>
            </a:pPr>
            <a:endParaRPr lang="en-IN" dirty="0"/>
          </a:p>
          <a:p>
            <a:pPr>
              <a:buNone/>
            </a:pPr>
            <a:r>
              <a:rPr lang="en-IN" dirty="0"/>
              <a:t>The </a:t>
            </a:r>
            <a:r>
              <a:rPr lang="en-IN" b="1" dirty="0"/>
              <a:t>IP address has done its job</a:t>
            </a:r>
            <a:r>
              <a:rPr lang="en-IN" dirty="0"/>
              <a:t>. It brought the data to the correct laptop.</a:t>
            </a:r>
          </a:p>
          <a:p>
            <a:pPr>
              <a:buNone/>
            </a:pPr>
            <a:r>
              <a:rPr lang="en-IN" dirty="0"/>
              <a:t>But the operating system still has a question:</a:t>
            </a:r>
          </a:p>
          <a:p>
            <a:pPr>
              <a:buNone/>
            </a:pPr>
            <a:endParaRPr lang="en-IN" b="1" dirty="0"/>
          </a:p>
          <a:p>
            <a:pPr>
              <a:buNone/>
            </a:pPr>
            <a:r>
              <a:rPr lang="en-IN" b="1" dirty="0"/>
              <a:t>Which application should receive this data?</a:t>
            </a:r>
            <a:endParaRPr lang="en-IN" dirty="0"/>
          </a:p>
          <a:p>
            <a:pPr>
              <a:buNone/>
            </a:pPr>
            <a:r>
              <a:rPr lang="en-IN" dirty="0"/>
              <a:t>Should it go to the browser? Email application? Some other program?</a:t>
            </a:r>
          </a:p>
          <a:p>
            <a:pPr>
              <a:buNone/>
            </a:pPr>
            <a:r>
              <a:rPr lang="en-IN" dirty="0"/>
              <a:t>Therefore, we need another number.</a:t>
            </a:r>
          </a:p>
          <a:p>
            <a:pPr>
              <a:buNone/>
            </a:pPr>
            <a:r>
              <a:rPr lang="en-IN" dirty="0"/>
              <a:t>That number is the </a:t>
            </a:r>
            <a:r>
              <a:rPr lang="en-IN" b="1" dirty="0"/>
              <a:t>Port Number</a:t>
            </a:r>
            <a:r>
              <a:rPr lang="en-IN" dirty="0"/>
              <a:t>.</a:t>
            </a:r>
          </a:p>
        </p:txBody>
      </p:sp>
    </p:spTree>
    <p:extLst>
      <p:ext uri="{BB962C8B-B14F-4D97-AF65-F5344CB8AC3E}">
        <p14:creationId xmlns:p14="http://schemas.microsoft.com/office/powerpoint/2010/main" val="19285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3B074-1CA4-2F87-470B-7EA5DF5B2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9B1B4-1B31-2985-58C7-46982B3EB46F}"/>
              </a:ext>
            </a:extLst>
          </p:cNvPr>
          <p:cNvSpPr>
            <a:spLocks noGrp="1"/>
          </p:cNvSpPr>
          <p:nvPr>
            <p:ph type="title"/>
          </p:nvPr>
        </p:nvSpPr>
        <p:spPr>
          <a:xfrm>
            <a:off x="275844" y="495220"/>
            <a:ext cx="11640312" cy="464900"/>
          </a:xfrm>
        </p:spPr>
        <p:txBody>
          <a:bodyPr>
            <a:normAutofit/>
          </a:bodyPr>
          <a:lstStyle/>
          <a:p>
            <a:r>
              <a:rPr lang="en-IN" sz="2400" b="1" dirty="0"/>
              <a:t>Port Numbers and Process Identification</a:t>
            </a:r>
          </a:p>
        </p:txBody>
      </p:sp>
      <p:sp>
        <p:nvSpPr>
          <p:cNvPr id="4" name="TextBox 3">
            <a:extLst>
              <a:ext uri="{FF2B5EF4-FFF2-40B4-BE49-F238E27FC236}">
                <a16:creationId xmlns:a16="http://schemas.microsoft.com/office/drawing/2014/main" id="{1A1DB829-9354-BB6A-B6E3-08B5CAE2E095}"/>
              </a:ext>
            </a:extLst>
          </p:cNvPr>
          <p:cNvSpPr txBox="1"/>
          <p:nvPr/>
        </p:nvSpPr>
        <p:spPr>
          <a:xfrm>
            <a:off x="115422" y="960120"/>
            <a:ext cx="11418851" cy="369332"/>
          </a:xfrm>
          <a:prstGeom prst="rect">
            <a:avLst/>
          </a:prstGeom>
          <a:noFill/>
        </p:spPr>
        <p:txBody>
          <a:bodyPr wrap="square">
            <a:spAutoFit/>
          </a:bodyPr>
          <a:lstStyle/>
          <a:p>
            <a:r>
              <a:rPr lang="en-IN" dirty="0"/>
              <a:t>A Port Number is a numerical identifier used by the Transport Layer to identify a specific application/process on a device.</a:t>
            </a:r>
          </a:p>
        </p:txBody>
      </p:sp>
      <p:pic>
        <p:nvPicPr>
          <p:cNvPr id="7" name="Picture 6">
            <a:extLst>
              <a:ext uri="{FF2B5EF4-FFF2-40B4-BE49-F238E27FC236}">
                <a16:creationId xmlns:a16="http://schemas.microsoft.com/office/drawing/2014/main" id="{1B09A903-A9A1-A821-CFD4-9082D20F482B}"/>
              </a:ext>
            </a:extLst>
          </p:cNvPr>
          <p:cNvPicPr>
            <a:picLocks noChangeAspect="1"/>
          </p:cNvPicPr>
          <p:nvPr/>
        </p:nvPicPr>
        <p:blipFill>
          <a:blip r:embed="rId2"/>
          <a:stretch>
            <a:fillRect/>
          </a:stretch>
        </p:blipFill>
        <p:spPr>
          <a:xfrm>
            <a:off x="275843" y="1577655"/>
            <a:ext cx="6237251" cy="4320225"/>
          </a:xfrm>
          <a:prstGeom prst="rect">
            <a:avLst/>
          </a:prstGeom>
        </p:spPr>
      </p:pic>
      <p:sp>
        <p:nvSpPr>
          <p:cNvPr id="9" name="TextBox 8">
            <a:extLst>
              <a:ext uri="{FF2B5EF4-FFF2-40B4-BE49-F238E27FC236}">
                <a16:creationId xmlns:a16="http://schemas.microsoft.com/office/drawing/2014/main" id="{35C47D28-C515-38FA-0AEA-D0F1C30BFF74}"/>
              </a:ext>
            </a:extLst>
          </p:cNvPr>
          <p:cNvSpPr txBox="1"/>
          <p:nvPr/>
        </p:nvSpPr>
        <p:spPr>
          <a:xfrm>
            <a:off x="6737684" y="1577655"/>
            <a:ext cx="5178471" cy="923330"/>
          </a:xfrm>
          <a:prstGeom prst="rect">
            <a:avLst/>
          </a:prstGeom>
          <a:noFill/>
        </p:spPr>
        <p:txBody>
          <a:bodyPr wrap="square">
            <a:spAutoFit/>
          </a:bodyPr>
          <a:lstStyle/>
          <a:p>
            <a:pPr>
              <a:buNone/>
            </a:pPr>
            <a:r>
              <a:rPr lang="en-IN" b="1" dirty="0">
                <a:highlight>
                  <a:srgbClr val="FFFF00"/>
                </a:highlight>
              </a:rPr>
              <a:t>Source Port and Destination Port</a:t>
            </a:r>
          </a:p>
          <a:p>
            <a:pPr>
              <a:buNone/>
            </a:pPr>
            <a:r>
              <a:rPr lang="en-IN" dirty="0"/>
              <a:t>When two applications communicate, we normally have </a:t>
            </a:r>
            <a:r>
              <a:rPr lang="en-IN" b="1" dirty="0"/>
              <a:t>two port numbers</a:t>
            </a:r>
            <a:r>
              <a:rPr lang="en-IN" dirty="0"/>
              <a:t>:</a:t>
            </a:r>
          </a:p>
        </p:txBody>
      </p:sp>
      <p:sp>
        <p:nvSpPr>
          <p:cNvPr id="11" name="TextBox 10">
            <a:extLst>
              <a:ext uri="{FF2B5EF4-FFF2-40B4-BE49-F238E27FC236}">
                <a16:creationId xmlns:a16="http://schemas.microsoft.com/office/drawing/2014/main" id="{7D9213EB-AA35-4156-C4A7-722FA8ACBB7D}"/>
              </a:ext>
            </a:extLst>
          </p:cNvPr>
          <p:cNvSpPr txBox="1"/>
          <p:nvPr/>
        </p:nvSpPr>
        <p:spPr>
          <a:xfrm>
            <a:off x="6737684" y="2656855"/>
            <a:ext cx="4924927" cy="1754326"/>
          </a:xfrm>
          <a:prstGeom prst="rect">
            <a:avLst/>
          </a:prstGeom>
          <a:noFill/>
        </p:spPr>
        <p:txBody>
          <a:bodyPr wrap="square">
            <a:spAutoFit/>
          </a:bodyPr>
          <a:lstStyle/>
          <a:p>
            <a:r>
              <a:rPr lang="en-IN" dirty="0"/>
              <a:t>CLIENT                                          SERVER</a:t>
            </a:r>
          </a:p>
          <a:p>
            <a:r>
              <a:rPr lang="en-IN" dirty="0"/>
              <a:t>192.168.1.10                            203.0.113.5</a:t>
            </a:r>
          </a:p>
          <a:p>
            <a:endParaRPr lang="en-IN" dirty="0"/>
          </a:p>
          <a:p>
            <a:r>
              <a:rPr lang="en-IN" dirty="0"/>
              <a:t>Source Port No: 50000</a:t>
            </a:r>
          </a:p>
          <a:p>
            <a:r>
              <a:rPr lang="en-IN" dirty="0"/>
              <a:t>Destination Port No: 80</a:t>
            </a:r>
          </a:p>
          <a:p>
            <a:endParaRPr lang="en-IN" dirty="0"/>
          </a:p>
        </p:txBody>
      </p:sp>
      <p:sp>
        <p:nvSpPr>
          <p:cNvPr id="13" name="TextBox 12">
            <a:extLst>
              <a:ext uri="{FF2B5EF4-FFF2-40B4-BE49-F238E27FC236}">
                <a16:creationId xmlns:a16="http://schemas.microsoft.com/office/drawing/2014/main" id="{E6310C21-DA31-6F0A-795A-6697A347A4D8}"/>
              </a:ext>
            </a:extLst>
          </p:cNvPr>
          <p:cNvSpPr txBox="1"/>
          <p:nvPr/>
        </p:nvSpPr>
        <p:spPr>
          <a:xfrm>
            <a:off x="6882063" y="4276636"/>
            <a:ext cx="5034091" cy="2031325"/>
          </a:xfrm>
          <a:prstGeom prst="rect">
            <a:avLst/>
          </a:prstGeom>
          <a:noFill/>
        </p:spPr>
        <p:txBody>
          <a:bodyPr wrap="square">
            <a:spAutoFit/>
          </a:bodyPr>
          <a:lstStyle/>
          <a:p>
            <a:pPr>
              <a:buNone/>
            </a:pPr>
            <a:r>
              <a:rPr lang="en-IN" b="1" dirty="0">
                <a:highlight>
                  <a:srgbClr val="FFFF00"/>
                </a:highlight>
              </a:rPr>
              <a:t>Source Port</a:t>
            </a:r>
          </a:p>
          <a:p>
            <a:pPr>
              <a:buNone/>
            </a:pPr>
            <a:r>
              <a:rPr lang="en-IN" b="1" dirty="0"/>
              <a:t>Source Port identifies the sending application/process.</a:t>
            </a:r>
            <a:endParaRPr lang="en-IN" dirty="0"/>
          </a:p>
          <a:p>
            <a:pPr>
              <a:buNone/>
            </a:pPr>
            <a:endParaRPr lang="en-IN" b="1" dirty="0"/>
          </a:p>
          <a:p>
            <a:pPr>
              <a:buNone/>
            </a:pPr>
            <a:r>
              <a:rPr lang="en-IN" b="1" dirty="0">
                <a:highlight>
                  <a:srgbClr val="FFFF00"/>
                </a:highlight>
              </a:rPr>
              <a:t>Destination Port</a:t>
            </a:r>
          </a:p>
          <a:p>
            <a:pPr>
              <a:buNone/>
            </a:pPr>
            <a:r>
              <a:rPr lang="en-IN" b="1" dirty="0"/>
              <a:t>Destination Port identifies the receiving application/process.</a:t>
            </a:r>
            <a:endParaRPr lang="en-IN" dirty="0"/>
          </a:p>
        </p:txBody>
      </p:sp>
    </p:spTree>
    <p:extLst>
      <p:ext uri="{BB962C8B-B14F-4D97-AF65-F5344CB8AC3E}">
        <p14:creationId xmlns:p14="http://schemas.microsoft.com/office/powerpoint/2010/main" val="336830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15232-2E5E-02AA-7B47-C6587925F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9A799-0E59-D581-3AF1-E8FE2BD84994}"/>
              </a:ext>
            </a:extLst>
          </p:cNvPr>
          <p:cNvSpPr>
            <a:spLocks noGrp="1"/>
          </p:cNvSpPr>
          <p:nvPr>
            <p:ph type="title"/>
          </p:nvPr>
        </p:nvSpPr>
        <p:spPr>
          <a:xfrm>
            <a:off x="275844" y="495220"/>
            <a:ext cx="11640312" cy="464900"/>
          </a:xfrm>
        </p:spPr>
        <p:txBody>
          <a:bodyPr>
            <a:normAutofit/>
          </a:bodyPr>
          <a:lstStyle/>
          <a:p>
            <a:r>
              <a:rPr lang="en-US" sz="2400" b="1" dirty="0"/>
              <a:t>How large is a Port Number?</a:t>
            </a:r>
            <a:endParaRPr lang="en-IN" sz="2400" b="1" dirty="0"/>
          </a:p>
        </p:txBody>
      </p:sp>
      <p:pic>
        <p:nvPicPr>
          <p:cNvPr id="4" name="Picture 3">
            <a:extLst>
              <a:ext uri="{FF2B5EF4-FFF2-40B4-BE49-F238E27FC236}">
                <a16:creationId xmlns:a16="http://schemas.microsoft.com/office/drawing/2014/main" id="{D865AE92-091C-EA2F-7837-2F2C8EE2A25E}"/>
              </a:ext>
            </a:extLst>
          </p:cNvPr>
          <p:cNvPicPr>
            <a:picLocks noChangeAspect="1"/>
          </p:cNvPicPr>
          <p:nvPr/>
        </p:nvPicPr>
        <p:blipFill>
          <a:blip r:embed="rId2"/>
          <a:stretch>
            <a:fillRect/>
          </a:stretch>
        </p:blipFill>
        <p:spPr>
          <a:xfrm>
            <a:off x="420527" y="1158850"/>
            <a:ext cx="7472189" cy="4584224"/>
          </a:xfrm>
          <a:prstGeom prst="rect">
            <a:avLst/>
          </a:prstGeom>
        </p:spPr>
      </p:pic>
    </p:spTree>
    <p:extLst>
      <p:ext uri="{BB962C8B-B14F-4D97-AF65-F5344CB8AC3E}">
        <p14:creationId xmlns:p14="http://schemas.microsoft.com/office/powerpoint/2010/main" val="554009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08FE1-45FE-D4A1-D487-471F271FE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E48C2C-ACD0-EDFB-91C7-DC9A14792E7C}"/>
              </a:ext>
            </a:extLst>
          </p:cNvPr>
          <p:cNvSpPr>
            <a:spLocks noGrp="1"/>
          </p:cNvSpPr>
          <p:nvPr>
            <p:ph type="title"/>
          </p:nvPr>
        </p:nvSpPr>
        <p:spPr>
          <a:xfrm>
            <a:off x="275844" y="495220"/>
            <a:ext cx="11640312" cy="464900"/>
          </a:xfrm>
        </p:spPr>
        <p:txBody>
          <a:bodyPr>
            <a:normAutofit/>
          </a:bodyPr>
          <a:lstStyle/>
          <a:p>
            <a:r>
              <a:rPr lang="en-US" sz="2400" b="1" dirty="0"/>
              <a:t>Port Number Categories</a:t>
            </a:r>
            <a:endParaRPr lang="en-IN" sz="2400" b="1" dirty="0"/>
          </a:p>
        </p:txBody>
      </p:sp>
      <p:sp>
        <p:nvSpPr>
          <p:cNvPr id="5" name="TextBox 4">
            <a:extLst>
              <a:ext uri="{FF2B5EF4-FFF2-40B4-BE49-F238E27FC236}">
                <a16:creationId xmlns:a16="http://schemas.microsoft.com/office/drawing/2014/main" id="{A96176E8-D37E-F3BD-CE6F-33FEA795ED02}"/>
              </a:ext>
            </a:extLst>
          </p:cNvPr>
          <p:cNvSpPr txBox="1"/>
          <p:nvPr/>
        </p:nvSpPr>
        <p:spPr>
          <a:xfrm>
            <a:off x="275844" y="960120"/>
            <a:ext cx="6096000" cy="369332"/>
          </a:xfrm>
          <a:prstGeom prst="rect">
            <a:avLst/>
          </a:prstGeom>
          <a:noFill/>
        </p:spPr>
        <p:txBody>
          <a:bodyPr wrap="square">
            <a:spAutoFit/>
          </a:bodyPr>
          <a:lstStyle/>
          <a:p>
            <a:r>
              <a:rPr lang="en-IN" dirty="0"/>
              <a:t>Port numbers are divided into three important ranges</a:t>
            </a:r>
          </a:p>
        </p:txBody>
      </p:sp>
      <p:graphicFrame>
        <p:nvGraphicFramePr>
          <p:cNvPr id="6" name="Table 5">
            <a:extLst>
              <a:ext uri="{FF2B5EF4-FFF2-40B4-BE49-F238E27FC236}">
                <a16:creationId xmlns:a16="http://schemas.microsoft.com/office/drawing/2014/main" id="{4BB014D6-E400-896B-59A5-F57D06CD0B19}"/>
              </a:ext>
            </a:extLst>
          </p:cNvPr>
          <p:cNvGraphicFramePr>
            <a:graphicFrameLocks noGrp="1"/>
          </p:cNvGraphicFramePr>
          <p:nvPr>
            <p:extLst>
              <p:ext uri="{D42A27DB-BD31-4B8C-83A1-F6EECF244321}">
                <p14:modId xmlns:p14="http://schemas.microsoft.com/office/powerpoint/2010/main" val="2684074730"/>
              </p:ext>
            </p:extLst>
          </p:nvPr>
        </p:nvGraphicFramePr>
        <p:xfrm>
          <a:off x="275844" y="1425020"/>
          <a:ext cx="5306808" cy="2839720"/>
        </p:xfrm>
        <a:graphic>
          <a:graphicData uri="http://schemas.openxmlformats.org/drawingml/2006/table">
            <a:tbl>
              <a:tblPr firstRow="1" bandRow="1">
                <a:tableStyleId>{5C22544A-7EE6-4342-B048-85BDC9FD1C3A}</a:tableStyleId>
              </a:tblPr>
              <a:tblGrid>
                <a:gridCol w="1440661">
                  <a:extLst>
                    <a:ext uri="{9D8B030D-6E8A-4147-A177-3AD203B41FA5}">
                      <a16:colId xmlns:a16="http://schemas.microsoft.com/office/drawing/2014/main" val="4233551833"/>
                    </a:ext>
                  </a:extLst>
                </a:gridCol>
                <a:gridCol w="1572127">
                  <a:extLst>
                    <a:ext uri="{9D8B030D-6E8A-4147-A177-3AD203B41FA5}">
                      <a16:colId xmlns:a16="http://schemas.microsoft.com/office/drawing/2014/main" val="2432919524"/>
                    </a:ext>
                  </a:extLst>
                </a:gridCol>
                <a:gridCol w="2294020">
                  <a:extLst>
                    <a:ext uri="{9D8B030D-6E8A-4147-A177-3AD203B41FA5}">
                      <a16:colId xmlns:a16="http://schemas.microsoft.com/office/drawing/2014/main" val="3768502229"/>
                    </a:ext>
                  </a:extLst>
                </a:gridCol>
              </a:tblGrid>
              <a:tr h="370840">
                <a:tc>
                  <a:txBody>
                    <a:bodyPr/>
                    <a:lstStyle/>
                    <a:p>
                      <a:pPr algn="ctr">
                        <a:buNone/>
                      </a:pPr>
                      <a:r>
                        <a:rPr lang="en-IN" dirty="0"/>
                        <a:t>Category</a:t>
                      </a:r>
                    </a:p>
                  </a:txBody>
                  <a:tcPr anchor="ctr"/>
                </a:tc>
                <a:tc>
                  <a:txBody>
                    <a:bodyPr/>
                    <a:lstStyle/>
                    <a:p>
                      <a:pPr algn="ctr">
                        <a:buNone/>
                      </a:pPr>
                      <a:r>
                        <a:rPr lang="en-IN"/>
                        <a:t>Range</a:t>
                      </a:r>
                    </a:p>
                  </a:txBody>
                  <a:tcPr anchor="ctr"/>
                </a:tc>
                <a:tc>
                  <a:txBody>
                    <a:bodyPr/>
                    <a:lstStyle/>
                    <a:p>
                      <a:pPr algn="ctr">
                        <a:buNone/>
                      </a:pPr>
                      <a:r>
                        <a:rPr lang="en-IN"/>
                        <a:t>Simple Meaning</a:t>
                      </a:r>
                    </a:p>
                  </a:txBody>
                  <a:tcPr anchor="ctr"/>
                </a:tc>
                <a:extLst>
                  <a:ext uri="{0D108BD9-81ED-4DB2-BD59-A6C34878D82A}">
                    <a16:rowId xmlns:a16="http://schemas.microsoft.com/office/drawing/2014/main" val="1901275513"/>
                  </a:ext>
                </a:extLst>
              </a:tr>
              <a:tr h="370840">
                <a:tc>
                  <a:txBody>
                    <a:bodyPr/>
                    <a:lstStyle/>
                    <a:p>
                      <a:pPr algn="ctr">
                        <a:buNone/>
                      </a:pPr>
                      <a:r>
                        <a:rPr lang="en-IN" b="1"/>
                        <a:t>Well-Known Ports</a:t>
                      </a:r>
                      <a:endParaRPr lang="en-IN"/>
                    </a:p>
                  </a:txBody>
                  <a:tcPr anchor="ctr"/>
                </a:tc>
                <a:tc>
                  <a:txBody>
                    <a:bodyPr/>
                    <a:lstStyle/>
                    <a:p>
                      <a:pPr algn="ctr">
                        <a:buNone/>
                      </a:pPr>
                      <a:r>
                        <a:rPr lang="en-IN" b="1"/>
                        <a:t>0–1023</a:t>
                      </a:r>
                      <a:endParaRPr lang="en-IN"/>
                    </a:p>
                  </a:txBody>
                  <a:tcPr anchor="ctr"/>
                </a:tc>
                <a:tc>
                  <a:txBody>
                    <a:bodyPr/>
                    <a:lstStyle/>
                    <a:p>
                      <a:pPr algn="ctr">
                        <a:buNone/>
                      </a:pPr>
                      <a:r>
                        <a:rPr lang="en-IN"/>
                        <a:t>Used by standard/common services</a:t>
                      </a:r>
                    </a:p>
                  </a:txBody>
                  <a:tcPr anchor="ctr"/>
                </a:tc>
                <a:extLst>
                  <a:ext uri="{0D108BD9-81ED-4DB2-BD59-A6C34878D82A}">
                    <a16:rowId xmlns:a16="http://schemas.microsoft.com/office/drawing/2014/main" val="3603211473"/>
                  </a:ext>
                </a:extLst>
              </a:tr>
              <a:tr h="370840">
                <a:tc>
                  <a:txBody>
                    <a:bodyPr/>
                    <a:lstStyle/>
                    <a:p>
                      <a:pPr algn="ctr">
                        <a:buNone/>
                      </a:pPr>
                      <a:r>
                        <a:rPr lang="en-IN" b="1"/>
                        <a:t>Registered Ports</a:t>
                      </a:r>
                      <a:endParaRPr lang="en-IN"/>
                    </a:p>
                  </a:txBody>
                  <a:tcPr anchor="ctr"/>
                </a:tc>
                <a:tc>
                  <a:txBody>
                    <a:bodyPr/>
                    <a:lstStyle/>
                    <a:p>
                      <a:pPr algn="ctr">
                        <a:buNone/>
                      </a:pPr>
                      <a:r>
                        <a:rPr lang="en-IN" b="1" dirty="0"/>
                        <a:t>1024–49151</a:t>
                      </a:r>
                      <a:endParaRPr lang="en-IN" dirty="0"/>
                    </a:p>
                  </a:txBody>
                  <a:tcPr anchor="ctr"/>
                </a:tc>
                <a:tc>
                  <a:txBody>
                    <a:bodyPr/>
                    <a:lstStyle/>
                    <a:p>
                      <a:pPr algn="ctr">
                        <a:buNone/>
                      </a:pPr>
                      <a:r>
                        <a:rPr lang="en-IN" dirty="0"/>
                        <a:t>Assigned/registered for applications/services</a:t>
                      </a:r>
                    </a:p>
                  </a:txBody>
                  <a:tcPr anchor="ctr"/>
                </a:tc>
                <a:extLst>
                  <a:ext uri="{0D108BD9-81ED-4DB2-BD59-A6C34878D82A}">
                    <a16:rowId xmlns:a16="http://schemas.microsoft.com/office/drawing/2014/main" val="492670175"/>
                  </a:ext>
                </a:extLst>
              </a:tr>
              <a:tr h="370840">
                <a:tc>
                  <a:txBody>
                    <a:bodyPr/>
                    <a:lstStyle/>
                    <a:p>
                      <a:pPr algn="ctr">
                        <a:buNone/>
                      </a:pPr>
                      <a:r>
                        <a:rPr lang="en-IN" b="1"/>
                        <a:t>Dynamic / Private Ports</a:t>
                      </a:r>
                      <a:endParaRPr lang="en-IN"/>
                    </a:p>
                  </a:txBody>
                  <a:tcPr anchor="ctr"/>
                </a:tc>
                <a:tc>
                  <a:txBody>
                    <a:bodyPr/>
                    <a:lstStyle/>
                    <a:p>
                      <a:pPr algn="ctr">
                        <a:buNone/>
                      </a:pPr>
                      <a:r>
                        <a:rPr lang="en-IN" b="1"/>
                        <a:t>49152–65535</a:t>
                      </a:r>
                      <a:endParaRPr lang="en-IN"/>
                    </a:p>
                  </a:txBody>
                  <a:tcPr anchor="ctr"/>
                </a:tc>
                <a:tc>
                  <a:txBody>
                    <a:bodyPr/>
                    <a:lstStyle/>
                    <a:p>
                      <a:pPr algn="ctr">
                        <a:buNone/>
                      </a:pPr>
                      <a:r>
                        <a:rPr lang="en-IN" dirty="0"/>
                        <a:t>Commonly used temporarily by clients</a:t>
                      </a:r>
                    </a:p>
                  </a:txBody>
                  <a:tcPr anchor="ctr"/>
                </a:tc>
                <a:extLst>
                  <a:ext uri="{0D108BD9-81ED-4DB2-BD59-A6C34878D82A}">
                    <a16:rowId xmlns:a16="http://schemas.microsoft.com/office/drawing/2014/main" val="1791275157"/>
                  </a:ext>
                </a:extLst>
              </a:tr>
            </a:tbl>
          </a:graphicData>
        </a:graphic>
      </p:graphicFrame>
      <p:sp>
        <p:nvSpPr>
          <p:cNvPr id="10" name="TextBox 9">
            <a:extLst>
              <a:ext uri="{FF2B5EF4-FFF2-40B4-BE49-F238E27FC236}">
                <a16:creationId xmlns:a16="http://schemas.microsoft.com/office/drawing/2014/main" id="{70BC90B8-679B-59A8-3AE6-B8BCA1C493C2}"/>
              </a:ext>
            </a:extLst>
          </p:cNvPr>
          <p:cNvSpPr txBox="1"/>
          <p:nvPr/>
        </p:nvSpPr>
        <p:spPr>
          <a:xfrm>
            <a:off x="6753726" y="775454"/>
            <a:ext cx="3105850" cy="369332"/>
          </a:xfrm>
          <a:prstGeom prst="rect">
            <a:avLst/>
          </a:prstGeom>
          <a:noFill/>
        </p:spPr>
        <p:txBody>
          <a:bodyPr wrap="none" rtlCol="0">
            <a:spAutoFit/>
          </a:bodyPr>
          <a:lstStyle/>
          <a:p>
            <a:r>
              <a:rPr lang="en-IN" b="1" dirty="0">
                <a:highlight>
                  <a:srgbClr val="FFFF00"/>
                </a:highlight>
              </a:rPr>
              <a:t>Well-Known Ports — 0 to 1023</a:t>
            </a:r>
          </a:p>
        </p:txBody>
      </p:sp>
      <p:graphicFrame>
        <p:nvGraphicFramePr>
          <p:cNvPr id="11" name="Table 10">
            <a:extLst>
              <a:ext uri="{FF2B5EF4-FFF2-40B4-BE49-F238E27FC236}">
                <a16:creationId xmlns:a16="http://schemas.microsoft.com/office/drawing/2014/main" id="{4B3646A1-16C3-DE23-6BBF-F3321B8121C8}"/>
              </a:ext>
            </a:extLst>
          </p:cNvPr>
          <p:cNvGraphicFramePr>
            <a:graphicFrameLocks noGrp="1"/>
          </p:cNvGraphicFramePr>
          <p:nvPr>
            <p:extLst>
              <p:ext uri="{D42A27DB-BD31-4B8C-83A1-F6EECF244321}">
                <p14:modId xmlns:p14="http://schemas.microsoft.com/office/powerpoint/2010/main" val="496735777"/>
              </p:ext>
            </p:extLst>
          </p:nvPr>
        </p:nvGraphicFramePr>
        <p:xfrm>
          <a:off x="6609350" y="1240354"/>
          <a:ext cx="3788156" cy="2590800"/>
        </p:xfrm>
        <a:graphic>
          <a:graphicData uri="http://schemas.openxmlformats.org/drawingml/2006/table">
            <a:tbl>
              <a:tblPr firstRow="1" bandRow="1">
                <a:tableStyleId>{5C22544A-7EE6-4342-B048-85BDC9FD1C3A}</a:tableStyleId>
              </a:tblPr>
              <a:tblGrid>
                <a:gridCol w="1894078">
                  <a:extLst>
                    <a:ext uri="{9D8B030D-6E8A-4147-A177-3AD203B41FA5}">
                      <a16:colId xmlns:a16="http://schemas.microsoft.com/office/drawing/2014/main" val="408884563"/>
                    </a:ext>
                  </a:extLst>
                </a:gridCol>
                <a:gridCol w="1894078">
                  <a:extLst>
                    <a:ext uri="{9D8B030D-6E8A-4147-A177-3AD203B41FA5}">
                      <a16:colId xmlns:a16="http://schemas.microsoft.com/office/drawing/2014/main" val="3414323253"/>
                    </a:ext>
                  </a:extLst>
                </a:gridCol>
              </a:tblGrid>
              <a:tr h="265443">
                <a:tc>
                  <a:txBody>
                    <a:bodyPr/>
                    <a:lstStyle/>
                    <a:p>
                      <a:pPr algn="ctr">
                        <a:buNone/>
                      </a:pPr>
                      <a:r>
                        <a:rPr lang="en-IN" dirty="0"/>
                        <a:t>Service/Protocol</a:t>
                      </a:r>
                    </a:p>
                  </a:txBody>
                  <a:tcPr anchor="ctr"/>
                </a:tc>
                <a:tc>
                  <a:txBody>
                    <a:bodyPr/>
                    <a:lstStyle/>
                    <a:p>
                      <a:pPr algn="ctr">
                        <a:buNone/>
                      </a:pPr>
                      <a:r>
                        <a:rPr lang="en-IN"/>
                        <a:t>Common Port</a:t>
                      </a:r>
                    </a:p>
                  </a:txBody>
                  <a:tcPr anchor="ctr"/>
                </a:tc>
                <a:extLst>
                  <a:ext uri="{0D108BD9-81ED-4DB2-BD59-A6C34878D82A}">
                    <a16:rowId xmlns:a16="http://schemas.microsoft.com/office/drawing/2014/main" val="3846086752"/>
                  </a:ext>
                </a:extLst>
              </a:tr>
              <a:tr h="370840">
                <a:tc>
                  <a:txBody>
                    <a:bodyPr/>
                    <a:lstStyle/>
                    <a:p>
                      <a:pPr algn="ctr">
                        <a:buNone/>
                      </a:pPr>
                      <a:r>
                        <a:rPr lang="en-IN"/>
                        <a:t>FTP Data</a:t>
                      </a:r>
                    </a:p>
                  </a:txBody>
                  <a:tcPr anchor="ctr"/>
                </a:tc>
                <a:tc>
                  <a:txBody>
                    <a:bodyPr/>
                    <a:lstStyle/>
                    <a:p>
                      <a:pPr algn="ctr">
                        <a:buNone/>
                      </a:pPr>
                      <a:r>
                        <a:rPr lang="en-IN"/>
                        <a:t>20</a:t>
                      </a:r>
                    </a:p>
                  </a:txBody>
                  <a:tcPr anchor="ctr"/>
                </a:tc>
                <a:extLst>
                  <a:ext uri="{0D108BD9-81ED-4DB2-BD59-A6C34878D82A}">
                    <a16:rowId xmlns:a16="http://schemas.microsoft.com/office/drawing/2014/main" val="2600994470"/>
                  </a:ext>
                </a:extLst>
              </a:tr>
              <a:tr h="370840">
                <a:tc>
                  <a:txBody>
                    <a:bodyPr/>
                    <a:lstStyle/>
                    <a:p>
                      <a:pPr algn="ctr">
                        <a:buNone/>
                      </a:pPr>
                      <a:r>
                        <a:rPr lang="en-IN"/>
                        <a:t>FTP Control</a:t>
                      </a:r>
                    </a:p>
                  </a:txBody>
                  <a:tcPr anchor="ctr"/>
                </a:tc>
                <a:tc>
                  <a:txBody>
                    <a:bodyPr/>
                    <a:lstStyle/>
                    <a:p>
                      <a:pPr algn="ctr">
                        <a:buNone/>
                      </a:pPr>
                      <a:r>
                        <a:rPr lang="en-IN"/>
                        <a:t>21</a:t>
                      </a:r>
                    </a:p>
                  </a:txBody>
                  <a:tcPr anchor="ctr"/>
                </a:tc>
                <a:extLst>
                  <a:ext uri="{0D108BD9-81ED-4DB2-BD59-A6C34878D82A}">
                    <a16:rowId xmlns:a16="http://schemas.microsoft.com/office/drawing/2014/main" val="3955625999"/>
                  </a:ext>
                </a:extLst>
              </a:tr>
              <a:tr h="370840">
                <a:tc>
                  <a:txBody>
                    <a:bodyPr/>
                    <a:lstStyle/>
                    <a:p>
                      <a:pPr algn="ctr">
                        <a:buNone/>
                      </a:pPr>
                      <a:r>
                        <a:rPr lang="en-IN"/>
                        <a:t>SSH</a:t>
                      </a:r>
                    </a:p>
                  </a:txBody>
                  <a:tcPr anchor="ctr"/>
                </a:tc>
                <a:tc>
                  <a:txBody>
                    <a:bodyPr/>
                    <a:lstStyle/>
                    <a:p>
                      <a:pPr algn="ctr">
                        <a:buNone/>
                      </a:pPr>
                      <a:r>
                        <a:rPr lang="en-IN"/>
                        <a:t>22</a:t>
                      </a:r>
                    </a:p>
                  </a:txBody>
                  <a:tcPr anchor="ctr"/>
                </a:tc>
                <a:extLst>
                  <a:ext uri="{0D108BD9-81ED-4DB2-BD59-A6C34878D82A}">
                    <a16:rowId xmlns:a16="http://schemas.microsoft.com/office/drawing/2014/main" val="2370304259"/>
                  </a:ext>
                </a:extLst>
              </a:tr>
              <a:tr h="370840">
                <a:tc>
                  <a:txBody>
                    <a:bodyPr/>
                    <a:lstStyle/>
                    <a:p>
                      <a:pPr algn="ctr">
                        <a:buNone/>
                      </a:pPr>
                      <a:r>
                        <a:rPr lang="en-IN"/>
                        <a:t>DNS</a:t>
                      </a:r>
                    </a:p>
                  </a:txBody>
                  <a:tcPr anchor="ctr"/>
                </a:tc>
                <a:tc>
                  <a:txBody>
                    <a:bodyPr/>
                    <a:lstStyle/>
                    <a:p>
                      <a:pPr algn="ctr">
                        <a:buNone/>
                      </a:pPr>
                      <a:r>
                        <a:rPr lang="en-IN"/>
                        <a:t>53</a:t>
                      </a:r>
                    </a:p>
                  </a:txBody>
                  <a:tcPr anchor="ctr"/>
                </a:tc>
                <a:extLst>
                  <a:ext uri="{0D108BD9-81ED-4DB2-BD59-A6C34878D82A}">
                    <a16:rowId xmlns:a16="http://schemas.microsoft.com/office/drawing/2014/main" val="2983411419"/>
                  </a:ext>
                </a:extLst>
              </a:tr>
              <a:tr h="370840">
                <a:tc>
                  <a:txBody>
                    <a:bodyPr/>
                    <a:lstStyle/>
                    <a:p>
                      <a:pPr algn="ctr">
                        <a:buNone/>
                      </a:pPr>
                      <a:r>
                        <a:rPr lang="en-IN"/>
                        <a:t>HTTP</a:t>
                      </a:r>
                    </a:p>
                  </a:txBody>
                  <a:tcPr anchor="ctr"/>
                </a:tc>
                <a:tc>
                  <a:txBody>
                    <a:bodyPr/>
                    <a:lstStyle/>
                    <a:p>
                      <a:pPr algn="ctr">
                        <a:buNone/>
                      </a:pPr>
                      <a:r>
                        <a:rPr lang="en-IN"/>
                        <a:t>80</a:t>
                      </a:r>
                    </a:p>
                  </a:txBody>
                  <a:tcPr anchor="ctr"/>
                </a:tc>
                <a:extLst>
                  <a:ext uri="{0D108BD9-81ED-4DB2-BD59-A6C34878D82A}">
                    <a16:rowId xmlns:a16="http://schemas.microsoft.com/office/drawing/2014/main" val="4119371232"/>
                  </a:ext>
                </a:extLst>
              </a:tr>
              <a:tr h="370840">
                <a:tc>
                  <a:txBody>
                    <a:bodyPr/>
                    <a:lstStyle/>
                    <a:p>
                      <a:pPr algn="ctr">
                        <a:buNone/>
                      </a:pPr>
                      <a:r>
                        <a:rPr lang="en-IN" dirty="0"/>
                        <a:t>HTTPS</a:t>
                      </a:r>
                    </a:p>
                  </a:txBody>
                  <a:tcPr anchor="ctr"/>
                </a:tc>
                <a:tc>
                  <a:txBody>
                    <a:bodyPr/>
                    <a:lstStyle/>
                    <a:p>
                      <a:pPr algn="ctr">
                        <a:buNone/>
                      </a:pPr>
                      <a:r>
                        <a:rPr lang="en-IN" dirty="0"/>
                        <a:t>443</a:t>
                      </a:r>
                    </a:p>
                  </a:txBody>
                  <a:tcPr anchor="ctr"/>
                </a:tc>
                <a:extLst>
                  <a:ext uri="{0D108BD9-81ED-4DB2-BD59-A6C34878D82A}">
                    <a16:rowId xmlns:a16="http://schemas.microsoft.com/office/drawing/2014/main" val="3145342867"/>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AD52220-EE20-5063-A15B-9824368CAB6B}"/>
                  </a:ext>
                </a:extLst>
              </p:cNvPr>
              <p:cNvSpPr txBox="1"/>
              <p:nvPr/>
            </p:nvSpPr>
            <p:spPr>
              <a:xfrm>
                <a:off x="418674" y="4580663"/>
                <a:ext cx="10327956" cy="2350965"/>
              </a:xfrm>
              <a:prstGeom prst="rect">
                <a:avLst/>
              </a:prstGeom>
              <a:noFill/>
            </p:spPr>
            <p:txBody>
              <a:bodyPr wrap="square">
                <a:spAutoFit/>
              </a:bodyPr>
              <a:lstStyle/>
              <a:p>
                <a:pPr>
                  <a:buNone/>
                </a:pPr>
                <a:r>
                  <a:rPr lang="en-IN" b="1" dirty="0">
                    <a:highlight>
                      <a:srgbClr val="FFFF00"/>
                    </a:highlight>
                  </a:rPr>
                  <a:t>Registered Ports — 1024 to 49151</a:t>
                </a:r>
              </a:p>
              <a:p>
                <a:pPr>
                  <a:buNone/>
                </a:pPr>
                <a:r>
                  <a:rPr lang="en-IN" dirty="0"/>
                  <a:t>Registered ports are:</a:t>
                </a:r>
              </a:p>
              <a:p>
                <a:pPr>
                  <a:buNone/>
                </a:pPr>
                <a14:m>
                  <m:oMathPara xmlns:m="http://schemas.openxmlformats.org/officeDocument/2006/math">
                    <m:oMath>
                      <m:borderBox>
                        <m:borderBoxPr>
                          <m:ctrlPr>
                            <a:rPr lang="en-IN">
                              <a:latin typeface="Cambria Math" panose="02040503050406030204" pitchFamily="18" charset="0"/>
                            </a:rPr>
                          </m:ctrlPr>
                        </m:borderBoxPr>
                        <m:e>
                          <m:r>
                            <a:rPr lang="en-IN">
                              <a:latin typeface="Cambria Math" panose="02040503050406030204" pitchFamily="18" charset="0"/>
                            </a:rPr>
                            <m:t>1024</m:t>
                          </m:r>
                          <m:r>
                            <a:rPr lang="en-IN" i="0">
                              <a:latin typeface="Cambria Math" panose="02040503050406030204" pitchFamily="18" charset="0"/>
                            </a:rPr>
                            <m:t>−49151</m:t>
                          </m:r>
                        </m:e>
                      </m:borderBox>
                    </m:oMath>
                  </m:oMathPara>
                </a14:m>
                <a:endParaRPr lang="en-IN" dirty="0"/>
              </a:p>
              <a:p>
                <a:pPr>
                  <a:buNone/>
                </a:pPr>
                <a:r>
                  <a:rPr lang="en-IN" dirty="0"/>
                  <a:t>These ports can be </a:t>
                </a:r>
                <a:r>
                  <a:rPr lang="en-IN" b="1" dirty="0"/>
                  <a:t>registered with IANA for particular applications/services</a:t>
                </a:r>
                <a:r>
                  <a:rPr lang="en-IN" dirty="0"/>
                  <a:t>.</a:t>
                </a:r>
              </a:p>
              <a:p>
                <a:pPr>
                  <a:buNone/>
                </a:pPr>
                <a:r>
                  <a:rPr lang="en-IN" dirty="0"/>
                  <a:t>They are useful when an application wants a recognizable port assignment but does not use one of the reserved well-known numbers below 1024.</a:t>
                </a:r>
                <a:br>
                  <a:rPr lang="en-IN" dirty="0"/>
                </a:br>
                <a:br>
                  <a:rPr lang="en-IN" dirty="0"/>
                </a:br>
                <a:r>
                  <a:rPr lang="en-IN" dirty="0"/>
                  <a:t>Eg: MySQL Server port is: 3306 which is      1024 &lt; 3306  &lt; 49151</a:t>
                </a:r>
              </a:p>
            </p:txBody>
          </p:sp>
        </mc:Choice>
        <mc:Fallback xmlns="">
          <p:sp>
            <p:nvSpPr>
              <p:cNvPr id="13" name="TextBox 12">
                <a:extLst>
                  <a:ext uri="{FF2B5EF4-FFF2-40B4-BE49-F238E27FC236}">
                    <a16:creationId xmlns:a16="http://schemas.microsoft.com/office/drawing/2014/main" id="{FAD52220-EE20-5063-A15B-9824368CAB6B}"/>
                  </a:ext>
                </a:extLst>
              </p:cNvPr>
              <p:cNvSpPr txBox="1">
                <a:spLocks noRot="1" noChangeAspect="1" noMove="1" noResize="1" noEditPoints="1" noAdjustHandles="1" noChangeArrowheads="1" noChangeShapeType="1" noTextEdit="1"/>
              </p:cNvSpPr>
              <p:nvPr/>
            </p:nvSpPr>
            <p:spPr>
              <a:xfrm>
                <a:off x="418674" y="4580663"/>
                <a:ext cx="10327956" cy="2350965"/>
              </a:xfrm>
              <a:prstGeom prst="rect">
                <a:avLst/>
              </a:prstGeom>
              <a:blipFill>
                <a:blip r:embed="rId2"/>
                <a:stretch>
                  <a:fillRect l="-531" t="-1295" b="-3109"/>
                </a:stretch>
              </a:blipFill>
            </p:spPr>
            <p:txBody>
              <a:bodyPr/>
              <a:lstStyle/>
              <a:p>
                <a:r>
                  <a:rPr lang="en-IN">
                    <a:noFill/>
                  </a:rPr>
                  <a:t> </a:t>
                </a:r>
              </a:p>
            </p:txBody>
          </p:sp>
        </mc:Fallback>
      </mc:AlternateContent>
    </p:spTree>
    <p:extLst>
      <p:ext uri="{BB962C8B-B14F-4D97-AF65-F5344CB8AC3E}">
        <p14:creationId xmlns:p14="http://schemas.microsoft.com/office/powerpoint/2010/main" val="2437143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F0162-8548-8176-BBCA-AE4743873A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FF714-7851-7A4B-3726-FFF0DC79A06E}"/>
              </a:ext>
            </a:extLst>
          </p:cNvPr>
          <p:cNvSpPr>
            <a:spLocks noGrp="1"/>
          </p:cNvSpPr>
          <p:nvPr>
            <p:ph type="title"/>
          </p:nvPr>
        </p:nvSpPr>
        <p:spPr>
          <a:xfrm>
            <a:off x="275844" y="495220"/>
            <a:ext cx="11640312" cy="464900"/>
          </a:xfrm>
        </p:spPr>
        <p:txBody>
          <a:bodyPr>
            <a:normAutofit/>
          </a:bodyPr>
          <a:lstStyle/>
          <a:p>
            <a:r>
              <a:rPr lang="en-US" sz="2400" b="1" dirty="0"/>
              <a:t>Port Number Categories</a:t>
            </a:r>
            <a:endParaRPr lang="en-IN" sz="2400" b="1"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BB625D8-1A25-C50A-EDFE-65B1ECDA6564}"/>
                  </a:ext>
                </a:extLst>
              </p:cNvPr>
              <p:cNvSpPr txBox="1"/>
              <p:nvPr/>
            </p:nvSpPr>
            <p:spPr>
              <a:xfrm>
                <a:off x="275844" y="960120"/>
                <a:ext cx="8357937" cy="2350965"/>
              </a:xfrm>
              <a:prstGeom prst="rect">
                <a:avLst/>
              </a:prstGeom>
              <a:noFill/>
            </p:spPr>
            <p:txBody>
              <a:bodyPr wrap="square">
                <a:spAutoFit/>
              </a:bodyPr>
              <a:lstStyle/>
              <a:p>
                <a:pPr>
                  <a:buNone/>
                </a:pPr>
                <a:r>
                  <a:rPr lang="en-IN" b="1" dirty="0">
                    <a:highlight>
                      <a:srgbClr val="FFFF00"/>
                    </a:highlight>
                  </a:rPr>
                  <a:t>Dynamic / Private Ports — 49152 to 65535</a:t>
                </a:r>
              </a:p>
              <a:p>
                <a:pPr>
                  <a:buNone/>
                </a:pPr>
                <a:r>
                  <a:rPr lang="en-IN" dirty="0"/>
                  <a:t>Now this category is particularly important for understanding </a:t>
                </a:r>
                <a:r>
                  <a:rPr lang="en-IN" b="1" dirty="0"/>
                  <a:t>clients</a:t>
                </a:r>
                <a:r>
                  <a:rPr lang="en-IN" dirty="0"/>
                  <a:t>.</a:t>
                </a:r>
              </a:p>
              <a:p>
                <a:pPr>
                  <a:buNone/>
                </a:pPr>
                <a:r>
                  <a:rPr lang="en-IN" dirty="0"/>
                  <a:t>Range:</a:t>
                </a:r>
              </a:p>
              <a:p>
                <a:pPr>
                  <a:buNone/>
                </a:pPr>
                <a14:m>
                  <m:oMathPara xmlns:m="http://schemas.openxmlformats.org/officeDocument/2006/math">
                    <m:oMath>
                      <m:borderBox>
                        <m:borderBoxPr>
                          <m:ctrlPr>
                            <a:rPr lang="en-IN">
                              <a:latin typeface="Cambria Math" panose="02040503050406030204" pitchFamily="18" charset="0"/>
                            </a:rPr>
                          </m:ctrlPr>
                        </m:borderBoxPr>
                        <m:e>
                          <m:r>
                            <a:rPr lang="en-IN">
                              <a:latin typeface="Cambria Math" panose="02040503050406030204" pitchFamily="18" charset="0"/>
                            </a:rPr>
                            <m:t>49152</m:t>
                          </m:r>
                          <m:r>
                            <a:rPr lang="en-IN" i="0">
                              <a:latin typeface="Cambria Math" panose="02040503050406030204" pitchFamily="18" charset="0"/>
                            </a:rPr>
                            <m:t>−65535</m:t>
                          </m:r>
                        </m:e>
                      </m:borderBox>
                    </m:oMath>
                  </m:oMathPara>
                </a14:m>
                <a:endParaRPr lang="en-IN" dirty="0"/>
              </a:p>
              <a:p>
                <a:pPr>
                  <a:buNone/>
                </a:pPr>
                <a:r>
                  <a:rPr lang="en-IN" dirty="0"/>
                  <a:t>These are often called:</a:t>
                </a:r>
              </a:p>
              <a:p>
                <a:pPr marL="342900" lvl="0" indent="-342900">
                  <a:buFont typeface="Arial" panose="020B0604020202020204" pitchFamily="34" charset="0"/>
                  <a:buChar char="•"/>
                </a:pPr>
                <a:r>
                  <a:rPr lang="en-IN" b="1" dirty="0"/>
                  <a:t>Dynamic Ports</a:t>
                </a:r>
                <a:r>
                  <a:rPr lang="en-IN" dirty="0"/>
                  <a:t> </a:t>
                </a:r>
              </a:p>
              <a:p>
                <a:pPr marL="342900" lvl="0" indent="-342900">
                  <a:buFont typeface="Arial" panose="020B0604020202020204" pitchFamily="34" charset="0"/>
                  <a:buChar char="•"/>
                </a:pPr>
                <a:r>
                  <a:rPr lang="en-IN" b="1" dirty="0"/>
                  <a:t>Private Ports</a:t>
                </a:r>
                <a:r>
                  <a:rPr lang="en-IN" dirty="0"/>
                  <a:t> </a:t>
                </a:r>
              </a:p>
              <a:p>
                <a:pPr marL="342900" lvl="0" indent="-342900">
                  <a:buFont typeface="Arial" panose="020B0604020202020204" pitchFamily="34" charset="0"/>
                  <a:buChar char="•"/>
                </a:pPr>
                <a:r>
                  <a:rPr lang="en-IN" dirty="0"/>
                  <a:t>and temporary client ports are often called </a:t>
                </a:r>
                <a:r>
                  <a:rPr lang="en-IN" b="1" dirty="0"/>
                  <a:t>Ephemeral Ports</a:t>
                </a:r>
                <a:endParaRPr lang="en-IN" dirty="0"/>
              </a:p>
            </p:txBody>
          </p:sp>
        </mc:Choice>
        <mc:Fallback xmlns="">
          <p:sp>
            <p:nvSpPr>
              <p:cNvPr id="4" name="TextBox 3">
                <a:extLst>
                  <a:ext uri="{FF2B5EF4-FFF2-40B4-BE49-F238E27FC236}">
                    <a16:creationId xmlns:a16="http://schemas.microsoft.com/office/drawing/2014/main" id="{3BB625D8-1A25-C50A-EDFE-65B1ECDA6564}"/>
                  </a:ext>
                </a:extLst>
              </p:cNvPr>
              <p:cNvSpPr txBox="1">
                <a:spLocks noRot="1" noChangeAspect="1" noMove="1" noResize="1" noEditPoints="1" noAdjustHandles="1" noChangeArrowheads="1" noChangeShapeType="1" noTextEdit="1"/>
              </p:cNvSpPr>
              <p:nvPr/>
            </p:nvSpPr>
            <p:spPr>
              <a:xfrm>
                <a:off x="275844" y="960120"/>
                <a:ext cx="8357937" cy="2350965"/>
              </a:xfrm>
              <a:prstGeom prst="rect">
                <a:avLst/>
              </a:prstGeom>
              <a:blipFill>
                <a:blip r:embed="rId2"/>
                <a:stretch>
                  <a:fillRect l="-584" t="-1558" b="-3117"/>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B6A2EA07-BB88-C5F2-6996-59E5F965759E}"/>
              </a:ext>
            </a:extLst>
          </p:cNvPr>
          <p:cNvSpPr txBox="1"/>
          <p:nvPr/>
        </p:nvSpPr>
        <p:spPr>
          <a:xfrm>
            <a:off x="275844" y="3617630"/>
            <a:ext cx="4010526" cy="2308324"/>
          </a:xfrm>
          <a:prstGeom prst="rect">
            <a:avLst/>
          </a:prstGeom>
          <a:noFill/>
        </p:spPr>
        <p:txBody>
          <a:bodyPr wrap="square">
            <a:spAutoFit/>
          </a:bodyPr>
          <a:lstStyle/>
          <a:p>
            <a:pPr>
              <a:buNone/>
            </a:pPr>
            <a:r>
              <a:rPr lang="en-IN" dirty="0"/>
              <a:t>Suppose you open your browser and connect to: </a:t>
            </a:r>
            <a:r>
              <a:rPr lang="en-IN" dirty="0">
                <a:latin typeface="+mn-lt"/>
              </a:rPr>
              <a:t>Web Server → Port 443</a:t>
            </a:r>
          </a:p>
          <a:p>
            <a:pPr>
              <a:buNone/>
            </a:pPr>
            <a:endParaRPr lang="en-IN" dirty="0"/>
          </a:p>
          <a:p>
            <a:pPr>
              <a:buNone/>
            </a:pPr>
            <a:r>
              <a:rPr lang="en-IN" dirty="0"/>
              <a:t>The browser also needs a local port for its side of the communication.</a:t>
            </a:r>
          </a:p>
          <a:p>
            <a:pPr>
              <a:buNone/>
            </a:pPr>
            <a:endParaRPr lang="en-IN" dirty="0"/>
          </a:p>
          <a:p>
            <a:pPr>
              <a:buNone/>
            </a:pPr>
            <a:r>
              <a:rPr lang="en-IN" dirty="0"/>
              <a:t>The operating system may temporarily assign something like: </a:t>
            </a:r>
            <a:r>
              <a:rPr lang="en-IN" b="1" dirty="0">
                <a:latin typeface="+mn-lt"/>
              </a:rPr>
              <a:t>52000</a:t>
            </a:r>
            <a:endParaRPr lang="en-IN" b="1" dirty="0">
              <a:latin typeface="Courier New" panose="02070309020205020404" pitchFamily="49" charset="0"/>
            </a:endParaRPr>
          </a:p>
        </p:txBody>
      </p:sp>
      <p:pic>
        <p:nvPicPr>
          <p:cNvPr id="12" name="Picture 11">
            <a:extLst>
              <a:ext uri="{FF2B5EF4-FFF2-40B4-BE49-F238E27FC236}">
                <a16:creationId xmlns:a16="http://schemas.microsoft.com/office/drawing/2014/main" id="{CB5C7D3D-A1CE-FEFE-8088-107658C097B5}"/>
              </a:ext>
            </a:extLst>
          </p:cNvPr>
          <p:cNvPicPr>
            <a:picLocks noChangeAspect="1"/>
          </p:cNvPicPr>
          <p:nvPr/>
        </p:nvPicPr>
        <p:blipFill>
          <a:blip r:embed="rId3"/>
          <a:stretch>
            <a:fillRect/>
          </a:stretch>
        </p:blipFill>
        <p:spPr>
          <a:xfrm>
            <a:off x="6432883" y="1682320"/>
            <a:ext cx="5290767" cy="3564075"/>
          </a:xfrm>
          <a:prstGeom prst="rect">
            <a:avLst/>
          </a:prstGeom>
        </p:spPr>
      </p:pic>
      <p:sp>
        <p:nvSpPr>
          <p:cNvPr id="15" name="TextBox 14">
            <a:extLst>
              <a:ext uri="{FF2B5EF4-FFF2-40B4-BE49-F238E27FC236}">
                <a16:creationId xmlns:a16="http://schemas.microsoft.com/office/drawing/2014/main" id="{CE163E0C-43CE-9325-4510-660FCDF9AA1E}"/>
              </a:ext>
            </a:extLst>
          </p:cNvPr>
          <p:cNvSpPr txBox="1"/>
          <p:nvPr/>
        </p:nvSpPr>
        <p:spPr>
          <a:xfrm>
            <a:off x="5820156" y="5506930"/>
            <a:ext cx="6096000" cy="923330"/>
          </a:xfrm>
          <a:prstGeom prst="rect">
            <a:avLst/>
          </a:prstGeom>
          <a:noFill/>
        </p:spPr>
        <p:txBody>
          <a:bodyPr wrap="square">
            <a:spAutoFit/>
          </a:bodyPr>
          <a:lstStyle/>
          <a:p>
            <a:r>
              <a:rPr lang="en-IN" dirty="0"/>
              <a:t>After that communication is finished, that temporary port is no longer permanently tied to that browser-server session and can eventually be reused.</a:t>
            </a:r>
          </a:p>
        </p:txBody>
      </p:sp>
    </p:spTree>
    <p:extLst>
      <p:ext uri="{BB962C8B-B14F-4D97-AF65-F5344CB8AC3E}">
        <p14:creationId xmlns:p14="http://schemas.microsoft.com/office/powerpoint/2010/main" val="390219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DE0C1-2321-9C6C-8F02-CD8DCE20E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4B2E49-99B3-A800-E222-3F7CD718F1A4}"/>
              </a:ext>
            </a:extLst>
          </p:cNvPr>
          <p:cNvSpPr>
            <a:spLocks noGrp="1"/>
          </p:cNvSpPr>
          <p:nvPr>
            <p:ph type="title"/>
          </p:nvPr>
        </p:nvSpPr>
        <p:spPr>
          <a:xfrm>
            <a:off x="275844" y="495220"/>
            <a:ext cx="11640312" cy="464900"/>
          </a:xfrm>
        </p:spPr>
        <p:txBody>
          <a:bodyPr>
            <a:normAutofit/>
          </a:bodyPr>
          <a:lstStyle/>
          <a:p>
            <a:r>
              <a:rPr lang="en-US" sz="2400" b="1" dirty="0"/>
              <a:t>Server Port vs Client Port</a:t>
            </a:r>
            <a:endParaRPr lang="en-IN" sz="2400" b="1" dirty="0"/>
          </a:p>
        </p:txBody>
      </p:sp>
      <p:graphicFrame>
        <p:nvGraphicFramePr>
          <p:cNvPr id="3" name="Table 2">
            <a:extLst>
              <a:ext uri="{FF2B5EF4-FFF2-40B4-BE49-F238E27FC236}">
                <a16:creationId xmlns:a16="http://schemas.microsoft.com/office/drawing/2014/main" id="{D8141DF1-C631-3540-6207-064F1CF58925}"/>
              </a:ext>
            </a:extLst>
          </p:cNvPr>
          <p:cNvGraphicFramePr>
            <a:graphicFrameLocks noGrp="1"/>
          </p:cNvGraphicFramePr>
          <p:nvPr>
            <p:extLst>
              <p:ext uri="{D42A27DB-BD31-4B8C-83A1-F6EECF244321}">
                <p14:modId xmlns:p14="http://schemas.microsoft.com/office/powerpoint/2010/main" val="2855187489"/>
              </p:ext>
            </p:extLst>
          </p:nvPr>
        </p:nvGraphicFramePr>
        <p:xfrm>
          <a:off x="275844" y="1305560"/>
          <a:ext cx="8128000" cy="21234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596761369"/>
                    </a:ext>
                  </a:extLst>
                </a:gridCol>
                <a:gridCol w="4064000">
                  <a:extLst>
                    <a:ext uri="{9D8B030D-6E8A-4147-A177-3AD203B41FA5}">
                      <a16:colId xmlns:a16="http://schemas.microsoft.com/office/drawing/2014/main" val="805475160"/>
                    </a:ext>
                  </a:extLst>
                </a:gridCol>
              </a:tblGrid>
              <a:tr h="370840">
                <a:tc>
                  <a:txBody>
                    <a:bodyPr/>
                    <a:lstStyle/>
                    <a:p>
                      <a:pPr>
                        <a:buNone/>
                      </a:pPr>
                      <a:r>
                        <a:rPr lang="en-IN" dirty="0"/>
                        <a:t>Client Side</a:t>
                      </a:r>
                    </a:p>
                  </a:txBody>
                  <a:tcPr anchor="ctr"/>
                </a:tc>
                <a:tc>
                  <a:txBody>
                    <a:bodyPr/>
                    <a:lstStyle/>
                    <a:p>
                      <a:pPr>
                        <a:buNone/>
                      </a:pPr>
                      <a:r>
                        <a:rPr lang="en-IN"/>
                        <a:t>Server Side</a:t>
                      </a:r>
                    </a:p>
                  </a:txBody>
                  <a:tcPr anchor="ctr"/>
                </a:tc>
                <a:extLst>
                  <a:ext uri="{0D108BD9-81ED-4DB2-BD59-A6C34878D82A}">
                    <a16:rowId xmlns:a16="http://schemas.microsoft.com/office/drawing/2014/main" val="3915961881"/>
                  </a:ext>
                </a:extLst>
              </a:tr>
              <a:tr h="370840">
                <a:tc>
                  <a:txBody>
                    <a:bodyPr/>
                    <a:lstStyle/>
                    <a:p>
                      <a:pPr>
                        <a:buNone/>
                      </a:pPr>
                      <a:r>
                        <a:rPr lang="en-IN"/>
                        <a:t>Often uses a temporary/ephemeral port</a:t>
                      </a:r>
                    </a:p>
                  </a:txBody>
                  <a:tcPr anchor="ctr"/>
                </a:tc>
                <a:tc>
                  <a:txBody>
                    <a:bodyPr/>
                    <a:lstStyle/>
                    <a:p>
                      <a:pPr>
                        <a:buNone/>
                      </a:pPr>
                      <a:r>
                        <a:rPr lang="en-IN"/>
                        <a:t>Commonly listens on a known/configured service port</a:t>
                      </a:r>
                    </a:p>
                  </a:txBody>
                  <a:tcPr anchor="ctr"/>
                </a:tc>
                <a:extLst>
                  <a:ext uri="{0D108BD9-81ED-4DB2-BD59-A6C34878D82A}">
                    <a16:rowId xmlns:a16="http://schemas.microsoft.com/office/drawing/2014/main" val="3657899877"/>
                  </a:ext>
                </a:extLst>
              </a:tr>
              <a:tr h="370840">
                <a:tc>
                  <a:txBody>
                    <a:bodyPr/>
                    <a:lstStyle/>
                    <a:p>
                      <a:pPr>
                        <a:buNone/>
                      </a:pPr>
                      <a:r>
                        <a:rPr lang="en-IN"/>
                        <a:t>Example: 52000</a:t>
                      </a:r>
                    </a:p>
                  </a:txBody>
                  <a:tcPr anchor="ctr"/>
                </a:tc>
                <a:tc>
                  <a:txBody>
                    <a:bodyPr/>
                    <a:lstStyle/>
                    <a:p>
                      <a:pPr>
                        <a:buNone/>
                      </a:pPr>
                      <a:r>
                        <a:rPr lang="en-IN"/>
                        <a:t>Example: HTTP 80</a:t>
                      </a:r>
                    </a:p>
                  </a:txBody>
                  <a:tcPr anchor="ctr"/>
                </a:tc>
                <a:extLst>
                  <a:ext uri="{0D108BD9-81ED-4DB2-BD59-A6C34878D82A}">
                    <a16:rowId xmlns:a16="http://schemas.microsoft.com/office/drawing/2014/main" val="589495017"/>
                  </a:ext>
                </a:extLst>
              </a:tr>
              <a:tr h="370840">
                <a:tc>
                  <a:txBody>
                    <a:bodyPr/>
                    <a:lstStyle/>
                    <a:p>
                      <a:pPr>
                        <a:buNone/>
                      </a:pPr>
                      <a:r>
                        <a:rPr lang="en-IN"/>
                        <a:t>Chosen for a client communication</a:t>
                      </a:r>
                    </a:p>
                  </a:txBody>
                  <a:tcPr anchor="ctr"/>
                </a:tc>
                <a:tc>
                  <a:txBody>
                    <a:bodyPr/>
                    <a:lstStyle/>
                    <a:p>
                      <a:pPr>
                        <a:buNone/>
                      </a:pPr>
                      <a:r>
                        <a:rPr lang="en-IN"/>
                        <a:t>Service waits for incoming requests</a:t>
                      </a:r>
                    </a:p>
                  </a:txBody>
                  <a:tcPr anchor="ctr"/>
                </a:tc>
                <a:extLst>
                  <a:ext uri="{0D108BD9-81ED-4DB2-BD59-A6C34878D82A}">
                    <a16:rowId xmlns:a16="http://schemas.microsoft.com/office/drawing/2014/main" val="1458113869"/>
                  </a:ext>
                </a:extLst>
              </a:tr>
              <a:tr h="370840">
                <a:tc>
                  <a:txBody>
                    <a:bodyPr/>
                    <a:lstStyle/>
                    <a:p>
                      <a:pPr>
                        <a:buNone/>
                      </a:pPr>
                      <a:r>
                        <a:rPr lang="en-IN"/>
                        <a:t>May change between connections</a:t>
                      </a:r>
                    </a:p>
                  </a:txBody>
                  <a:tcPr anchor="ctr"/>
                </a:tc>
                <a:tc>
                  <a:txBody>
                    <a:bodyPr/>
                    <a:lstStyle/>
                    <a:p>
                      <a:pPr>
                        <a:buNone/>
                      </a:pPr>
                      <a:r>
                        <a:rPr lang="en-IN" dirty="0"/>
                        <a:t>Usually kept predictable for the service</a:t>
                      </a:r>
                    </a:p>
                  </a:txBody>
                  <a:tcPr anchor="ctr"/>
                </a:tc>
                <a:extLst>
                  <a:ext uri="{0D108BD9-81ED-4DB2-BD59-A6C34878D82A}">
                    <a16:rowId xmlns:a16="http://schemas.microsoft.com/office/drawing/2014/main" val="3897298872"/>
                  </a:ext>
                </a:extLst>
              </a:tr>
            </a:tbl>
          </a:graphicData>
        </a:graphic>
      </p:graphicFrame>
    </p:spTree>
    <p:extLst>
      <p:ext uri="{BB962C8B-B14F-4D97-AF65-F5344CB8AC3E}">
        <p14:creationId xmlns:p14="http://schemas.microsoft.com/office/powerpoint/2010/main" val="536373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1A5B-83A9-9085-4236-0B24691FE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7820B-445E-B389-8FB1-2835FFB0BF2D}"/>
              </a:ext>
            </a:extLst>
          </p:cNvPr>
          <p:cNvSpPr>
            <a:spLocks noGrp="1"/>
          </p:cNvSpPr>
          <p:nvPr>
            <p:ph type="title"/>
          </p:nvPr>
        </p:nvSpPr>
        <p:spPr>
          <a:xfrm>
            <a:off x="275844" y="495220"/>
            <a:ext cx="11640312" cy="464900"/>
          </a:xfrm>
        </p:spPr>
        <p:txBody>
          <a:bodyPr>
            <a:normAutofit/>
          </a:bodyPr>
          <a:lstStyle/>
          <a:p>
            <a:r>
              <a:rPr lang="en-IN" sz="2400" b="1" dirty="0"/>
              <a:t>What is a Socket Address?</a:t>
            </a:r>
          </a:p>
        </p:txBody>
      </p:sp>
      <p:sp>
        <p:nvSpPr>
          <p:cNvPr id="4" name="TextBox 3">
            <a:extLst>
              <a:ext uri="{FF2B5EF4-FFF2-40B4-BE49-F238E27FC236}">
                <a16:creationId xmlns:a16="http://schemas.microsoft.com/office/drawing/2014/main" id="{A06A7E80-0711-6C03-768A-B8F9DAF09149}"/>
              </a:ext>
            </a:extLst>
          </p:cNvPr>
          <p:cNvSpPr txBox="1"/>
          <p:nvPr/>
        </p:nvSpPr>
        <p:spPr>
          <a:xfrm>
            <a:off x="275844" y="960120"/>
            <a:ext cx="11306556" cy="646331"/>
          </a:xfrm>
          <a:prstGeom prst="rect">
            <a:avLst/>
          </a:prstGeom>
          <a:noFill/>
        </p:spPr>
        <p:txBody>
          <a:bodyPr wrap="square">
            <a:spAutoFit/>
          </a:bodyPr>
          <a:lstStyle/>
          <a:p>
            <a:r>
              <a:rPr lang="en-IN" dirty="0"/>
              <a:t>A Socket Address is the combination of an IP address and a port number used to identify one communication endpoint in a network.</a:t>
            </a:r>
          </a:p>
        </p:txBody>
      </p:sp>
      <p:pic>
        <p:nvPicPr>
          <p:cNvPr id="6" name="Picture 5">
            <a:extLst>
              <a:ext uri="{FF2B5EF4-FFF2-40B4-BE49-F238E27FC236}">
                <a16:creationId xmlns:a16="http://schemas.microsoft.com/office/drawing/2014/main" id="{E680A0DE-076F-4686-3782-2A6DB4B4D655}"/>
              </a:ext>
            </a:extLst>
          </p:cNvPr>
          <p:cNvPicPr>
            <a:picLocks noChangeAspect="1"/>
          </p:cNvPicPr>
          <p:nvPr/>
        </p:nvPicPr>
        <p:blipFill>
          <a:blip r:embed="rId2"/>
          <a:stretch>
            <a:fillRect/>
          </a:stretch>
        </p:blipFill>
        <p:spPr>
          <a:xfrm>
            <a:off x="157735" y="1864972"/>
            <a:ext cx="3708412" cy="3412881"/>
          </a:xfrm>
          <a:prstGeom prst="rect">
            <a:avLst/>
          </a:prstGeom>
        </p:spPr>
      </p:pic>
      <p:sp>
        <p:nvSpPr>
          <p:cNvPr id="8" name="TextBox 7">
            <a:extLst>
              <a:ext uri="{FF2B5EF4-FFF2-40B4-BE49-F238E27FC236}">
                <a16:creationId xmlns:a16="http://schemas.microsoft.com/office/drawing/2014/main" id="{77B6CB6C-8F12-0A59-7B93-6000950AC3C5}"/>
              </a:ext>
            </a:extLst>
          </p:cNvPr>
          <p:cNvSpPr txBox="1"/>
          <p:nvPr/>
        </p:nvSpPr>
        <p:spPr>
          <a:xfrm>
            <a:off x="3866146" y="1862566"/>
            <a:ext cx="8050009" cy="3970318"/>
          </a:xfrm>
          <a:prstGeom prst="rect">
            <a:avLst/>
          </a:prstGeom>
          <a:noFill/>
        </p:spPr>
        <p:txBody>
          <a:bodyPr wrap="square">
            <a:spAutoFit/>
          </a:bodyPr>
          <a:lstStyle/>
          <a:p>
            <a:pPr>
              <a:buNone/>
            </a:pPr>
            <a:r>
              <a:rPr lang="en-IN" dirty="0"/>
              <a:t>Suppose I only tell you: </a:t>
            </a:r>
            <a:r>
              <a:rPr lang="en-IN" dirty="0">
                <a:latin typeface="+mn-lt"/>
              </a:rPr>
              <a:t>192.168.1.10</a:t>
            </a:r>
          </a:p>
          <a:p>
            <a:pPr>
              <a:buNone/>
            </a:pPr>
            <a:r>
              <a:rPr lang="en-IN" dirty="0"/>
              <a:t>You know </a:t>
            </a:r>
            <a:r>
              <a:rPr lang="en-IN" b="1" dirty="0"/>
              <a:t>which computer</a:t>
            </a:r>
            <a:r>
              <a:rPr lang="en-IN" dirty="0"/>
              <a:t>, but not which application/process endpoint.</a:t>
            </a:r>
          </a:p>
          <a:p>
            <a:pPr>
              <a:buNone/>
            </a:pPr>
            <a:endParaRPr lang="en-IN" dirty="0"/>
          </a:p>
          <a:p>
            <a:pPr>
              <a:buNone/>
            </a:pPr>
            <a:r>
              <a:rPr lang="en-IN" dirty="0"/>
              <a:t>If I only tell you: </a:t>
            </a:r>
            <a:r>
              <a:rPr lang="en-IN" dirty="0">
                <a:latin typeface="+mn-lt"/>
              </a:rPr>
              <a:t>52000</a:t>
            </a:r>
          </a:p>
          <a:p>
            <a:pPr>
              <a:buNone/>
            </a:pPr>
            <a:r>
              <a:rPr lang="en-IN" dirty="0"/>
              <a:t>you know a port number, but not </a:t>
            </a:r>
            <a:r>
              <a:rPr lang="en-IN" b="1" dirty="0"/>
              <a:t>which computer</a:t>
            </a:r>
            <a:r>
              <a:rPr lang="en-IN" dirty="0"/>
              <a:t> it belongs to.</a:t>
            </a:r>
          </a:p>
          <a:p>
            <a:pPr>
              <a:buNone/>
            </a:pPr>
            <a:endParaRPr lang="en-IN" dirty="0"/>
          </a:p>
          <a:p>
            <a:pPr>
              <a:buNone/>
            </a:pPr>
            <a:r>
              <a:rPr lang="en-IN" dirty="0"/>
              <a:t>Combine them: </a:t>
            </a:r>
            <a:r>
              <a:rPr lang="en-IN" dirty="0">
                <a:latin typeface="+mn-lt"/>
              </a:rPr>
              <a:t>192.168.1.10 : 52000</a:t>
            </a:r>
          </a:p>
          <a:p>
            <a:pPr>
              <a:buNone/>
            </a:pPr>
            <a:r>
              <a:rPr lang="en-IN" dirty="0"/>
              <a:t>Now we know both:</a:t>
            </a:r>
          </a:p>
          <a:p>
            <a:pPr rtl="0">
              <a:buNone/>
            </a:pPr>
            <a:r>
              <a:rPr lang="en-IN" dirty="0">
                <a:latin typeface="+mn-lt"/>
              </a:rPr>
              <a:t>192.168.1.10  → Which Host?</a:t>
            </a:r>
          </a:p>
          <a:p>
            <a:pPr rtl="0">
              <a:buNone/>
            </a:pPr>
            <a:r>
              <a:rPr lang="en-IN" dirty="0">
                <a:latin typeface="+mn-lt"/>
              </a:rPr>
              <a:t>52000         → Which Port/Endpoint?</a:t>
            </a:r>
          </a:p>
          <a:p>
            <a:pPr>
              <a:buNone/>
            </a:pPr>
            <a:endParaRPr lang="en-IN" dirty="0"/>
          </a:p>
          <a:p>
            <a:pPr>
              <a:buNone/>
            </a:pPr>
            <a:r>
              <a:rPr lang="en-IN" dirty="0"/>
              <a:t>Therefore:</a:t>
            </a:r>
          </a:p>
          <a:p>
            <a:pPr>
              <a:buNone/>
            </a:pPr>
            <a:r>
              <a:rPr lang="en-IN" b="1" dirty="0"/>
              <a:t>IP alone is incomplete for process-to-process communication. Port alone is also incomplete. Together they form a Socket Address</a:t>
            </a:r>
            <a:endParaRPr lang="en-IN" dirty="0"/>
          </a:p>
        </p:txBody>
      </p:sp>
    </p:spTree>
    <p:extLst>
      <p:ext uri="{BB962C8B-B14F-4D97-AF65-F5344CB8AC3E}">
        <p14:creationId xmlns:p14="http://schemas.microsoft.com/office/powerpoint/2010/main" val="4142322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7CB85-B753-A472-3241-A5105DCDC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231B8C-01EA-01DD-B880-40B266EC92A4}"/>
              </a:ext>
            </a:extLst>
          </p:cNvPr>
          <p:cNvSpPr>
            <a:spLocks noGrp="1"/>
          </p:cNvSpPr>
          <p:nvPr>
            <p:ph type="title"/>
          </p:nvPr>
        </p:nvSpPr>
        <p:spPr>
          <a:xfrm>
            <a:off x="275844" y="495220"/>
            <a:ext cx="11640312" cy="464900"/>
          </a:xfrm>
        </p:spPr>
        <p:txBody>
          <a:bodyPr>
            <a:normAutofit/>
          </a:bodyPr>
          <a:lstStyle/>
          <a:p>
            <a:r>
              <a:rPr lang="en-IN" sz="2400" b="1" dirty="0"/>
              <a:t>What is a Socket Address?</a:t>
            </a:r>
          </a:p>
        </p:txBody>
      </p:sp>
      <p:sp>
        <p:nvSpPr>
          <p:cNvPr id="5" name="TextBox 4">
            <a:extLst>
              <a:ext uri="{FF2B5EF4-FFF2-40B4-BE49-F238E27FC236}">
                <a16:creationId xmlns:a16="http://schemas.microsoft.com/office/drawing/2014/main" id="{EC2340DF-2E2E-698F-591B-D43F32C5037D}"/>
              </a:ext>
            </a:extLst>
          </p:cNvPr>
          <p:cNvSpPr txBox="1"/>
          <p:nvPr/>
        </p:nvSpPr>
        <p:spPr>
          <a:xfrm>
            <a:off x="275844" y="1082660"/>
            <a:ext cx="6096000" cy="369332"/>
          </a:xfrm>
          <a:prstGeom prst="rect">
            <a:avLst/>
          </a:prstGeom>
          <a:noFill/>
        </p:spPr>
        <p:txBody>
          <a:bodyPr wrap="square">
            <a:spAutoFit/>
          </a:bodyPr>
          <a:lstStyle/>
          <a:p>
            <a:r>
              <a:rPr lang="en-IN" b="1" dirty="0"/>
              <a:t>Communication requires TWO Socket Addresses</a:t>
            </a:r>
          </a:p>
        </p:txBody>
      </p:sp>
      <p:pic>
        <p:nvPicPr>
          <p:cNvPr id="9" name="Picture 8">
            <a:extLst>
              <a:ext uri="{FF2B5EF4-FFF2-40B4-BE49-F238E27FC236}">
                <a16:creationId xmlns:a16="http://schemas.microsoft.com/office/drawing/2014/main" id="{A45B82AE-BA6B-4A76-184B-15659D66502D}"/>
              </a:ext>
            </a:extLst>
          </p:cNvPr>
          <p:cNvPicPr>
            <a:picLocks noChangeAspect="1"/>
          </p:cNvPicPr>
          <p:nvPr/>
        </p:nvPicPr>
        <p:blipFill>
          <a:blip r:embed="rId2"/>
          <a:stretch>
            <a:fillRect/>
          </a:stretch>
        </p:blipFill>
        <p:spPr>
          <a:xfrm>
            <a:off x="275844" y="1574532"/>
            <a:ext cx="4985967" cy="2403910"/>
          </a:xfrm>
          <a:prstGeom prst="rect">
            <a:avLst/>
          </a:prstGeom>
        </p:spPr>
      </p:pic>
      <p:sp>
        <p:nvSpPr>
          <p:cNvPr id="11" name="TextBox 10">
            <a:extLst>
              <a:ext uri="{FF2B5EF4-FFF2-40B4-BE49-F238E27FC236}">
                <a16:creationId xmlns:a16="http://schemas.microsoft.com/office/drawing/2014/main" id="{242C9063-2BE7-8B82-5FBD-3BDB87D9B0F9}"/>
              </a:ext>
            </a:extLst>
          </p:cNvPr>
          <p:cNvSpPr txBox="1"/>
          <p:nvPr/>
        </p:nvSpPr>
        <p:spPr>
          <a:xfrm>
            <a:off x="275844" y="4291080"/>
            <a:ext cx="4713251" cy="646331"/>
          </a:xfrm>
          <a:prstGeom prst="rect">
            <a:avLst/>
          </a:prstGeom>
          <a:noFill/>
        </p:spPr>
        <p:txBody>
          <a:bodyPr wrap="square">
            <a:spAutoFit/>
          </a:bodyPr>
          <a:lstStyle/>
          <a:p>
            <a:r>
              <a:rPr lang="en-IN" dirty="0"/>
              <a:t>The communication takes place between these two endpoints.</a:t>
            </a:r>
          </a:p>
        </p:txBody>
      </p:sp>
      <p:sp>
        <p:nvSpPr>
          <p:cNvPr id="13" name="TextBox 12">
            <a:extLst>
              <a:ext uri="{FF2B5EF4-FFF2-40B4-BE49-F238E27FC236}">
                <a16:creationId xmlns:a16="http://schemas.microsoft.com/office/drawing/2014/main" id="{170EAE0C-0C09-EC42-CC06-D0C921A9EE8B}"/>
              </a:ext>
            </a:extLst>
          </p:cNvPr>
          <p:cNvSpPr txBox="1"/>
          <p:nvPr/>
        </p:nvSpPr>
        <p:spPr>
          <a:xfrm>
            <a:off x="7668126" y="775454"/>
            <a:ext cx="2775284" cy="369332"/>
          </a:xfrm>
          <a:prstGeom prst="rect">
            <a:avLst/>
          </a:prstGeom>
          <a:noFill/>
        </p:spPr>
        <p:txBody>
          <a:bodyPr wrap="square">
            <a:spAutoFit/>
          </a:bodyPr>
          <a:lstStyle/>
          <a:p>
            <a:r>
              <a:rPr lang="en-IN" b="1" dirty="0">
                <a:highlight>
                  <a:srgbClr val="FFFF00"/>
                </a:highlight>
              </a:rPr>
              <a:t>What exactly is a Socket?</a:t>
            </a:r>
          </a:p>
        </p:txBody>
      </p:sp>
      <p:sp>
        <p:nvSpPr>
          <p:cNvPr id="15" name="TextBox 14">
            <a:extLst>
              <a:ext uri="{FF2B5EF4-FFF2-40B4-BE49-F238E27FC236}">
                <a16:creationId xmlns:a16="http://schemas.microsoft.com/office/drawing/2014/main" id="{B132F009-3E53-C711-8D70-FBE0801CB1F2}"/>
              </a:ext>
            </a:extLst>
          </p:cNvPr>
          <p:cNvSpPr txBox="1"/>
          <p:nvPr/>
        </p:nvSpPr>
        <p:spPr>
          <a:xfrm>
            <a:off x="5261810" y="1451992"/>
            <a:ext cx="6654345" cy="4247317"/>
          </a:xfrm>
          <a:prstGeom prst="rect">
            <a:avLst/>
          </a:prstGeom>
          <a:noFill/>
        </p:spPr>
        <p:txBody>
          <a:bodyPr wrap="square">
            <a:spAutoFit/>
          </a:bodyPr>
          <a:lstStyle/>
          <a:p>
            <a:pPr>
              <a:buNone/>
            </a:pPr>
            <a:r>
              <a:rPr lang="en-IN" b="1" dirty="0"/>
              <a:t>Socket</a:t>
            </a:r>
            <a:r>
              <a:rPr lang="en-IN" dirty="0"/>
              <a:t> and </a:t>
            </a:r>
            <a:r>
              <a:rPr lang="en-IN" b="1" dirty="0"/>
              <a:t>Socket Address</a:t>
            </a:r>
            <a:r>
              <a:rPr lang="en-IN" dirty="0"/>
              <a:t> are related, but they are not exactly the same thing.</a:t>
            </a:r>
          </a:p>
          <a:p>
            <a:pPr>
              <a:buNone/>
            </a:pPr>
            <a:endParaRPr lang="en-IN" b="1" dirty="0"/>
          </a:p>
          <a:p>
            <a:pPr>
              <a:buNone/>
            </a:pPr>
            <a:r>
              <a:rPr lang="en-IN" b="1" dirty="0">
                <a:highlight>
                  <a:srgbClr val="FFFF00"/>
                </a:highlight>
              </a:rPr>
              <a:t>Socket Address</a:t>
            </a:r>
          </a:p>
          <a:p>
            <a:pPr>
              <a:buNone/>
            </a:pPr>
            <a:r>
              <a:rPr lang="en-IN" b="1" dirty="0"/>
              <a:t>IP Address + Port Number that identifies an endpoint.</a:t>
            </a:r>
            <a:endParaRPr lang="en-IN" dirty="0"/>
          </a:p>
          <a:p>
            <a:pPr>
              <a:buNone/>
            </a:pPr>
            <a:r>
              <a:rPr lang="en-IN" dirty="0"/>
              <a:t>Example:</a:t>
            </a:r>
          </a:p>
          <a:p>
            <a:pPr rtl="0">
              <a:buNone/>
            </a:pPr>
            <a:r>
              <a:rPr lang="en-IN" dirty="0">
                <a:latin typeface="+mn-lt"/>
              </a:rPr>
              <a:t>192.168.1.10:52000</a:t>
            </a:r>
          </a:p>
          <a:p>
            <a:pPr>
              <a:buNone/>
            </a:pPr>
            <a:endParaRPr lang="en-IN" b="1" dirty="0"/>
          </a:p>
          <a:p>
            <a:pPr>
              <a:buNone/>
            </a:pPr>
            <a:r>
              <a:rPr lang="en-IN" b="1" dirty="0">
                <a:highlight>
                  <a:srgbClr val="FFFF00"/>
                </a:highlight>
              </a:rPr>
              <a:t>Socket</a:t>
            </a:r>
          </a:p>
          <a:p>
            <a:pPr>
              <a:buNone/>
            </a:pPr>
            <a:r>
              <a:rPr lang="en-IN" dirty="0"/>
              <a:t>A </a:t>
            </a:r>
            <a:r>
              <a:rPr lang="en-IN" b="1" dirty="0"/>
              <a:t>socket</a:t>
            </a:r>
            <a:r>
              <a:rPr lang="en-IN" dirty="0"/>
              <a:t> is a software communication endpoint that an application uses to send and receive data through the network.</a:t>
            </a:r>
          </a:p>
          <a:p>
            <a:pPr>
              <a:buNone/>
            </a:pPr>
            <a:endParaRPr lang="en-IN" dirty="0"/>
          </a:p>
          <a:p>
            <a:pPr>
              <a:buNone/>
            </a:pPr>
            <a:r>
              <a:rPr lang="en-IN" dirty="0"/>
              <a:t>In simple terms:</a:t>
            </a:r>
          </a:p>
          <a:p>
            <a:pPr>
              <a:buNone/>
            </a:pPr>
            <a:r>
              <a:rPr lang="en-IN" b="1" dirty="0"/>
              <a:t>A socket acts like a communication door between an application and the network.</a:t>
            </a:r>
            <a:endParaRPr lang="en-IN" dirty="0"/>
          </a:p>
        </p:txBody>
      </p:sp>
    </p:spTree>
    <p:extLst>
      <p:ext uri="{BB962C8B-B14F-4D97-AF65-F5344CB8AC3E}">
        <p14:creationId xmlns:p14="http://schemas.microsoft.com/office/powerpoint/2010/main" val="996065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77D91-347A-11C2-723F-23D2C2492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0D1996-63DC-5CA5-9322-E41D5C756F15}"/>
              </a:ext>
            </a:extLst>
          </p:cNvPr>
          <p:cNvSpPr>
            <a:spLocks noGrp="1"/>
          </p:cNvSpPr>
          <p:nvPr>
            <p:ph type="title"/>
          </p:nvPr>
        </p:nvSpPr>
        <p:spPr>
          <a:xfrm>
            <a:off x="275844" y="495220"/>
            <a:ext cx="11640312" cy="464900"/>
          </a:xfrm>
        </p:spPr>
        <p:txBody>
          <a:bodyPr>
            <a:normAutofit/>
          </a:bodyPr>
          <a:lstStyle/>
          <a:p>
            <a:r>
              <a:rPr lang="en-IN" sz="2400" b="1" dirty="0"/>
              <a:t>What is a Socket Address?</a:t>
            </a:r>
          </a:p>
        </p:txBody>
      </p:sp>
      <p:sp>
        <p:nvSpPr>
          <p:cNvPr id="13" name="TextBox 12">
            <a:extLst>
              <a:ext uri="{FF2B5EF4-FFF2-40B4-BE49-F238E27FC236}">
                <a16:creationId xmlns:a16="http://schemas.microsoft.com/office/drawing/2014/main" id="{368C5BF0-0B2B-D599-857F-54F2D1878C37}"/>
              </a:ext>
            </a:extLst>
          </p:cNvPr>
          <p:cNvSpPr txBox="1"/>
          <p:nvPr/>
        </p:nvSpPr>
        <p:spPr>
          <a:xfrm>
            <a:off x="275844" y="960120"/>
            <a:ext cx="2775284" cy="369332"/>
          </a:xfrm>
          <a:prstGeom prst="rect">
            <a:avLst/>
          </a:prstGeom>
          <a:noFill/>
        </p:spPr>
        <p:txBody>
          <a:bodyPr wrap="square">
            <a:spAutoFit/>
          </a:bodyPr>
          <a:lstStyle/>
          <a:p>
            <a:r>
              <a:rPr lang="en-IN" b="1" dirty="0">
                <a:highlight>
                  <a:srgbClr val="FFFF00"/>
                </a:highlight>
              </a:rPr>
              <a:t>What exactly is a Socket?</a:t>
            </a:r>
          </a:p>
        </p:txBody>
      </p:sp>
      <p:sp>
        <p:nvSpPr>
          <p:cNvPr id="15" name="TextBox 14">
            <a:extLst>
              <a:ext uri="{FF2B5EF4-FFF2-40B4-BE49-F238E27FC236}">
                <a16:creationId xmlns:a16="http://schemas.microsoft.com/office/drawing/2014/main" id="{5FBCCA5B-806F-BAB8-CAEA-60C154CBB182}"/>
              </a:ext>
            </a:extLst>
          </p:cNvPr>
          <p:cNvSpPr txBox="1"/>
          <p:nvPr/>
        </p:nvSpPr>
        <p:spPr>
          <a:xfrm>
            <a:off x="275844" y="1425020"/>
            <a:ext cx="5082219" cy="4801314"/>
          </a:xfrm>
          <a:prstGeom prst="rect">
            <a:avLst/>
          </a:prstGeom>
          <a:noFill/>
        </p:spPr>
        <p:txBody>
          <a:bodyPr wrap="square">
            <a:spAutoFit/>
          </a:bodyPr>
          <a:lstStyle/>
          <a:p>
            <a:pPr>
              <a:buNone/>
            </a:pPr>
            <a:r>
              <a:rPr lang="en-IN" b="1" dirty="0"/>
              <a:t>Socket</a:t>
            </a:r>
            <a:r>
              <a:rPr lang="en-IN" dirty="0"/>
              <a:t> and </a:t>
            </a:r>
            <a:r>
              <a:rPr lang="en-IN" b="1" dirty="0"/>
              <a:t>Socket Address</a:t>
            </a:r>
            <a:r>
              <a:rPr lang="en-IN" dirty="0"/>
              <a:t> are related, but they are not exactly the same thing.</a:t>
            </a:r>
          </a:p>
          <a:p>
            <a:pPr>
              <a:buNone/>
            </a:pPr>
            <a:endParaRPr lang="en-IN" b="1" dirty="0"/>
          </a:p>
          <a:p>
            <a:pPr>
              <a:buNone/>
            </a:pPr>
            <a:r>
              <a:rPr lang="en-IN" b="1" dirty="0">
                <a:highlight>
                  <a:srgbClr val="FFFF00"/>
                </a:highlight>
              </a:rPr>
              <a:t>Socket Address</a:t>
            </a:r>
          </a:p>
          <a:p>
            <a:pPr>
              <a:buNone/>
            </a:pPr>
            <a:r>
              <a:rPr lang="en-IN" b="1" dirty="0"/>
              <a:t>IP Address + Port Number that identifies an endpoint.</a:t>
            </a:r>
            <a:endParaRPr lang="en-IN" dirty="0"/>
          </a:p>
          <a:p>
            <a:pPr>
              <a:buNone/>
            </a:pPr>
            <a:r>
              <a:rPr lang="en-IN" dirty="0"/>
              <a:t>Example:</a:t>
            </a:r>
          </a:p>
          <a:p>
            <a:pPr rtl="0">
              <a:buNone/>
            </a:pPr>
            <a:r>
              <a:rPr lang="en-IN" dirty="0">
                <a:latin typeface="+mn-lt"/>
              </a:rPr>
              <a:t>192.168.1.10:52000</a:t>
            </a:r>
          </a:p>
          <a:p>
            <a:pPr>
              <a:buNone/>
            </a:pPr>
            <a:endParaRPr lang="en-IN" b="1" dirty="0"/>
          </a:p>
          <a:p>
            <a:pPr>
              <a:buNone/>
            </a:pPr>
            <a:r>
              <a:rPr lang="en-IN" b="1" dirty="0">
                <a:highlight>
                  <a:srgbClr val="FFFF00"/>
                </a:highlight>
              </a:rPr>
              <a:t>Socket</a:t>
            </a:r>
          </a:p>
          <a:p>
            <a:pPr>
              <a:buNone/>
            </a:pPr>
            <a:r>
              <a:rPr lang="en-IN" dirty="0"/>
              <a:t>A </a:t>
            </a:r>
            <a:r>
              <a:rPr lang="en-IN" b="1" dirty="0"/>
              <a:t>socket</a:t>
            </a:r>
            <a:r>
              <a:rPr lang="en-IN" dirty="0"/>
              <a:t> is a software communication endpoint that an application uses to send and receive data through the network.</a:t>
            </a:r>
          </a:p>
          <a:p>
            <a:pPr>
              <a:buNone/>
            </a:pPr>
            <a:endParaRPr lang="en-IN" dirty="0"/>
          </a:p>
          <a:p>
            <a:pPr>
              <a:buNone/>
            </a:pPr>
            <a:r>
              <a:rPr lang="en-IN" dirty="0"/>
              <a:t>In simple terms:</a:t>
            </a:r>
          </a:p>
          <a:p>
            <a:pPr>
              <a:buNone/>
            </a:pPr>
            <a:r>
              <a:rPr lang="en-IN" b="1" dirty="0"/>
              <a:t>A socket acts like a communication door between an application and the network.</a:t>
            </a:r>
            <a:endParaRPr lang="en-IN" dirty="0"/>
          </a:p>
        </p:txBody>
      </p:sp>
      <p:pic>
        <p:nvPicPr>
          <p:cNvPr id="4" name="Picture 3">
            <a:extLst>
              <a:ext uri="{FF2B5EF4-FFF2-40B4-BE49-F238E27FC236}">
                <a16:creationId xmlns:a16="http://schemas.microsoft.com/office/drawing/2014/main" id="{CB090616-9B22-41B7-6F2A-962AD8C9B496}"/>
              </a:ext>
            </a:extLst>
          </p:cNvPr>
          <p:cNvPicPr>
            <a:picLocks noChangeAspect="1"/>
          </p:cNvPicPr>
          <p:nvPr/>
        </p:nvPicPr>
        <p:blipFill>
          <a:blip r:embed="rId2"/>
          <a:stretch>
            <a:fillRect/>
          </a:stretch>
        </p:blipFill>
        <p:spPr>
          <a:xfrm>
            <a:off x="6560723" y="794477"/>
            <a:ext cx="4139362" cy="4076737"/>
          </a:xfrm>
          <a:prstGeom prst="rect">
            <a:avLst/>
          </a:prstGeom>
        </p:spPr>
      </p:pic>
      <p:sp>
        <p:nvSpPr>
          <p:cNvPr id="7" name="TextBox 6">
            <a:extLst>
              <a:ext uri="{FF2B5EF4-FFF2-40B4-BE49-F238E27FC236}">
                <a16:creationId xmlns:a16="http://schemas.microsoft.com/office/drawing/2014/main" id="{C6835989-19AA-64E2-A1A8-9CB1B39841F7}"/>
              </a:ext>
            </a:extLst>
          </p:cNvPr>
          <p:cNvSpPr txBox="1"/>
          <p:nvPr/>
        </p:nvSpPr>
        <p:spPr>
          <a:xfrm>
            <a:off x="5582404" y="5170471"/>
            <a:ext cx="6096000" cy="1754326"/>
          </a:xfrm>
          <a:prstGeom prst="rect">
            <a:avLst/>
          </a:prstGeom>
          <a:noFill/>
        </p:spPr>
        <p:txBody>
          <a:bodyPr wrap="square">
            <a:spAutoFit/>
          </a:bodyPr>
          <a:lstStyle/>
          <a:p>
            <a:pPr>
              <a:buNone/>
            </a:pPr>
            <a:r>
              <a:rPr lang="en-IN" dirty="0"/>
              <a:t>So the application doesn't directly put data onto the physical network.</a:t>
            </a:r>
          </a:p>
          <a:p>
            <a:pPr>
              <a:buNone/>
            </a:pPr>
            <a:r>
              <a:rPr lang="en-IN" dirty="0"/>
              <a:t>It communicates through a </a:t>
            </a:r>
            <a:r>
              <a:rPr lang="en-IN" b="1" dirty="0"/>
              <a:t>socket</a:t>
            </a:r>
            <a:r>
              <a:rPr lang="en-IN" dirty="0"/>
              <a:t> provided by the operating system/networking API.</a:t>
            </a:r>
          </a:p>
          <a:p>
            <a:pPr>
              <a:buNone/>
            </a:pPr>
            <a:endParaRPr lang="en-IN" dirty="0"/>
          </a:p>
          <a:p>
            <a:pPr>
              <a:buNone/>
            </a:pPr>
            <a:r>
              <a:rPr lang="en-IN" dirty="0"/>
              <a:t>Both client &amp; server has its own Sockets.</a:t>
            </a:r>
          </a:p>
        </p:txBody>
      </p:sp>
    </p:spTree>
    <p:extLst>
      <p:ext uri="{BB962C8B-B14F-4D97-AF65-F5344CB8AC3E}">
        <p14:creationId xmlns:p14="http://schemas.microsoft.com/office/powerpoint/2010/main" val="729428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FC26B-3C7E-6904-D588-C367F980E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97A63-F145-58AE-3813-7063C88A3440}"/>
              </a:ext>
            </a:extLst>
          </p:cNvPr>
          <p:cNvSpPr>
            <a:spLocks noGrp="1"/>
          </p:cNvSpPr>
          <p:nvPr>
            <p:ph type="title"/>
          </p:nvPr>
        </p:nvSpPr>
        <p:spPr>
          <a:xfrm>
            <a:off x="275844" y="495220"/>
            <a:ext cx="11640312" cy="464900"/>
          </a:xfrm>
        </p:spPr>
        <p:txBody>
          <a:bodyPr>
            <a:normAutofit/>
          </a:bodyPr>
          <a:lstStyle/>
          <a:p>
            <a:r>
              <a:rPr lang="en-IN" sz="2400" b="1" dirty="0"/>
              <a:t>Socket Address vs IP Address vs Port Number vs Socket</a:t>
            </a:r>
          </a:p>
        </p:txBody>
      </p:sp>
      <p:graphicFrame>
        <p:nvGraphicFramePr>
          <p:cNvPr id="3" name="Table 2">
            <a:extLst>
              <a:ext uri="{FF2B5EF4-FFF2-40B4-BE49-F238E27FC236}">
                <a16:creationId xmlns:a16="http://schemas.microsoft.com/office/drawing/2014/main" id="{41C0D951-3C7F-DFAC-3BC0-A1A38D540D9F}"/>
              </a:ext>
            </a:extLst>
          </p:cNvPr>
          <p:cNvGraphicFramePr>
            <a:graphicFrameLocks noGrp="1"/>
          </p:cNvGraphicFramePr>
          <p:nvPr>
            <p:extLst>
              <p:ext uri="{D42A27DB-BD31-4B8C-83A1-F6EECF244321}">
                <p14:modId xmlns:p14="http://schemas.microsoft.com/office/powerpoint/2010/main" val="2747813828"/>
              </p:ext>
            </p:extLst>
          </p:nvPr>
        </p:nvGraphicFramePr>
        <p:xfrm>
          <a:off x="427789" y="1021882"/>
          <a:ext cx="8127999" cy="32004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29734036"/>
                    </a:ext>
                  </a:extLst>
                </a:gridCol>
                <a:gridCol w="2709333">
                  <a:extLst>
                    <a:ext uri="{9D8B030D-6E8A-4147-A177-3AD203B41FA5}">
                      <a16:colId xmlns:a16="http://schemas.microsoft.com/office/drawing/2014/main" val="3828139394"/>
                    </a:ext>
                  </a:extLst>
                </a:gridCol>
                <a:gridCol w="2709333">
                  <a:extLst>
                    <a:ext uri="{9D8B030D-6E8A-4147-A177-3AD203B41FA5}">
                      <a16:colId xmlns:a16="http://schemas.microsoft.com/office/drawing/2014/main" val="302108807"/>
                    </a:ext>
                  </a:extLst>
                </a:gridCol>
              </a:tblGrid>
              <a:tr h="224232">
                <a:tc>
                  <a:txBody>
                    <a:bodyPr/>
                    <a:lstStyle/>
                    <a:p>
                      <a:pPr>
                        <a:buNone/>
                      </a:pPr>
                      <a:r>
                        <a:rPr lang="en-IN" dirty="0"/>
                        <a:t>Term</a:t>
                      </a:r>
                    </a:p>
                  </a:txBody>
                  <a:tcPr anchor="ctr"/>
                </a:tc>
                <a:tc>
                  <a:txBody>
                    <a:bodyPr/>
                    <a:lstStyle/>
                    <a:p>
                      <a:pPr>
                        <a:buNone/>
                      </a:pPr>
                      <a:r>
                        <a:rPr lang="en-IN"/>
                        <a:t>Meaning</a:t>
                      </a:r>
                    </a:p>
                  </a:txBody>
                  <a:tcPr anchor="ctr"/>
                </a:tc>
                <a:tc>
                  <a:txBody>
                    <a:bodyPr/>
                    <a:lstStyle/>
                    <a:p>
                      <a:pPr>
                        <a:buNone/>
                      </a:pPr>
                      <a:r>
                        <a:rPr lang="en-IN"/>
                        <a:t>Example</a:t>
                      </a:r>
                    </a:p>
                  </a:txBody>
                  <a:tcPr anchor="ctr"/>
                </a:tc>
                <a:extLst>
                  <a:ext uri="{0D108BD9-81ED-4DB2-BD59-A6C34878D82A}">
                    <a16:rowId xmlns:a16="http://schemas.microsoft.com/office/drawing/2014/main" val="4051018991"/>
                  </a:ext>
                </a:extLst>
              </a:tr>
              <a:tr h="224232">
                <a:tc>
                  <a:txBody>
                    <a:bodyPr/>
                    <a:lstStyle/>
                    <a:p>
                      <a:pPr>
                        <a:buNone/>
                      </a:pPr>
                      <a:r>
                        <a:rPr lang="en-IN" b="1"/>
                        <a:t>IP Address</a:t>
                      </a:r>
                      <a:endParaRPr lang="en-IN"/>
                    </a:p>
                  </a:txBody>
                  <a:tcPr anchor="ctr"/>
                </a:tc>
                <a:tc>
                  <a:txBody>
                    <a:bodyPr/>
                    <a:lstStyle/>
                    <a:p>
                      <a:pPr>
                        <a:buNone/>
                      </a:pPr>
                      <a:r>
                        <a:rPr lang="en-IN"/>
                        <a:t>Identifies a host/interface in the network</a:t>
                      </a:r>
                    </a:p>
                  </a:txBody>
                  <a:tcPr anchor="ctr"/>
                </a:tc>
                <a:tc>
                  <a:txBody>
                    <a:bodyPr/>
                    <a:lstStyle/>
                    <a:p>
                      <a:pPr>
                        <a:buNone/>
                      </a:pPr>
                      <a:r>
                        <a:rPr lang="en-IN">
                          <a:latin typeface="Courier New" panose="02070309020205020404" pitchFamily="49" charset="0"/>
                        </a:rPr>
                        <a:t>192.168.1.10</a:t>
                      </a:r>
                      <a:endParaRPr lang="en-IN"/>
                    </a:p>
                  </a:txBody>
                  <a:tcPr anchor="ctr"/>
                </a:tc>
                <a:extLst>
                  <a:ext uri="{0D108BD9-81ED-4DB2-BD59-A6C34878D82A}">
                    <a16:rowId xmlns:a16="http://schemas.microsoft.com/office/drawing/2014/main" val="2310572767"/>
                  </a:ext>
                </a:extLst>
              </a:tr>
              <a:tr h="224232">
                <a:tc>
                  <a:txBody>
                    <a:bodyPr/>
                    <a:lstStyle/>
                    <a:p>
                      <a:pPr>
                        <a:buNone/>
                      </a:pPr>
                      <a:r>
                        <a:rPr lang="en-IN" b="1"/>
                        <a:t>Port Number</a:t>
                      </a:r>
                      <a:endParaRPr lang="en-IN"/>
                    </a:p>
                  </a:txBody>
                  <a:tcPr anchor="ctr"/>
                </a:tc>
                <a:tc>
                  <a:txBody>
                    <a:bodyPr/>
                    <a:lstStyle/>
                    <a:p>
                      <a:pPr>
                        <a:buNone/>
                      </a:pPr>
                      <a:r>
                        <a:rPr lang="en-IN"/>
                        <a:t>Identifies a transport-layer application/process endpoint</a:t>
                      </a:r>
                    </a:p>
                  </a:txBody>
                  <a:tcPr anchor="ctr"/>
                </a:tc>
                <a:tc>
                  <a:txBody>
                    <a:bodyPr/>
                    <a:lstStyle/>
                    <a:p>
                      <a:pPr>
                        <a:buNone/>
                      </a:pPr>
                      <a:r>
                        <a:rPr lang="en-IN">
                          <a:latin typeface="Courier New" panose="02070309020205020404" pitchFamily="49" charset="0"/>
                        </a:rPr>
                        <a:t>52000</a:t>
                      </a:r>
                      <a:endParaRPr lang="en-IN"/>
                    </a:p>
                  </a:txBody>
                  <a:tcPr anchor="ctr"/>
                </a:tc>
                <a:extLst>
                  <a:ext uri="{0D108BD9-81ED-4DB2-BD59-A6C34878D82A}">
                    <a16:rowId xmlns:a16="http://schemas.microsoft.com/office/drawing/2014/main" val="121813474"/>
                  </a:ext>
                </a:extLst>
              </a:tr>
              <a:tr h="224232">
                <a:tc>
                  <a:txBody>
                    <a:bodyPr/>
                    <a:lstStyle/>
                    <a:p>
                      <a:pPr>
                        <a:buNone/>
                      </a:pPr>
                      <a:r>
                        <a:rPr lang="en-IN" b="1"/>
                        <a:t>Socket Address</a:t>
                      </a:r>
                      <a:endParaRPr lang="en-IN"/>
                    </a:p>
                  </a:txBody>
                  <a:tcPr anchor="ctr"/>
                </a:tc>
                <a:tc>
                  <a:txBody>
                    <a:bodyPr/>
                    <a:lstStyle/>
                    <a:p>
                      <a:pPr>
                        <a:buNone/>
                      </a:pPr>
                      <a:r>
                        <a:rPr lang="en-IN"/>
                        <a:t>IP Address + Port Number</a:t>
                      </a:r>
                    </a:p>
                  </a:txBody>
                  <a:tcPr anchor="ctr"/>
                </a:tc>
                <a:tc>
                  <a:txBody>
                    <a:bodyPr/>
                    <a:lstStyle/>
                    <a:p>
                      <a:pPr>
                        <a:buNone/>
                      </a:pPr>
                      <a:r>
                        <a:rPr lang="en-IN">
                          <a:latin typeface="Courier New" panose="02070309020205020404" pitchFamily="49" charset="0"/>
                        </a:rPr>
                        <a:t>192.168.1.10:52000</a:t>
                      </a:r>
                      <a:endParaRPr lang="en-IN"/>
                    </a:p>
                  </a:txBody>
                  <a:tcPr anchor="ctr"/>
                </a:tc>
                <a:extLst>
                  <a:ext uri="{0D108BD9-81ED-4DB2-BD59-A6C34878D82A}">
                    <a16:rowId xmlns:a16="http://schemas.microsoft.com/office/drawing/2014/main" val="438726512"/>
                  </a:ext>
                </a:extLst>
              </a:tr>
              <a:tr h="224232">
                <a:tc>
                  <a:txBody>
                    <a:bodyPr/>
                    <a:lstStyle/>
                    <a:p>
                      <a:pPr>
                        <a:buNone/>
                      </a:pPr>
                      <a:r>
                        <a:rPr lang="en-IN" b="1"/>
                        <a:t>Socket</a:t>
                      </a:r>
                      <a:endParaRPr lang="en-IN"/>
                    </a:p>
                  </a:txBody>
                  <a:tcPr anchor="ctr"/>
                </a:tc>
                <a:tc>
                  <a:txBody>
                    <a:bodyPr/>
                    <a:lstStyle/>
                    <a:p>
                      <a:pPr>
                        <a:buNone/>
                      </a:pPr>
                      <a:r>
                        <a:rPr lang="en-IN"/>
                        <a:t>Software communication endpoint used by an application</a:t>
                      </a:r>
                    </a:p>
                  </a:txBody>
                  <a:tcPr anchor="ctr"/>
                </a:tc>
                <a:tc>
                  <a:txBody>
                    <a:bodyPr/>
                    <a:lstStyle/>
                    <a:p>
                      <a:pPr>
                        <a:buNone/>
                      </a:pPr>
                      <a:r>
                        <a:rPr lang="en-IN" dirty="0"/>
                        <a:t>Client/Server socket</a:t>
                      </a:r>
                    </a:p>
                  </a:txBody>
                  <a:tcPr anchor="ctr"/>
                </a:tc>
                <a:extLst>
                  <a:ext uri="{0D108BD9-81ED-4DB2-BD59-A6C34878D82A}">
                    <a16:rowId xmlns:a16="http://schemas.microsoft.com/office/drawing/2014/main" val="3941602358"/>
                  </a:ext>
                </a:extLst>
              </a:tr>
            </a:tbl>
          </a:graphicData>
        </a:graphic>
      </p:graphicFrame>
      <p:sp>
        <p:nvSpPr>
          <p:cNvPr id="5" name="TextBox 4">
            <a:extLst>
              <a:ext uri="{FF2B5EF4-FFF2-40B4-BE49-F238E27FC236}">
                <a16:creationId xmlns:a16="http://schemas.microsoft.com/office/drawing/2014/main" id="{3943805F-43A5-53D6-616D-856510CC5353}"/>
              </a:ext>
            </a:extLst>
          </p:cNvPr>
          <p:cNvSpPr txBox="1"/>
          <p:nvPr/>
        </p:nvSpPr>
        <p:spPr>
          <a:xfrm>
            <a:off x="427789" y="4608454"/>
            <a:ext cx="6096000" cy="1754326"/>
          </a:xfrm>
          <a:prstGeom prst="rect">
            <a:avLst/>
          </a:prstGeom>
          <a:noFill/>
        </p:spPr>
        <p:txBody>
          <a:bodyPr wrap="square">
            <a:spAutoFit/>
          </a:bodyPr>
          <a:lstStyle/>
          <a:p>
            <a:pPr>
              <a:buNone/>
            </a:pPr>
            <a:r>
              <a:rPr lang="en-IN" dirty="0"/>
              <a:t>In TCP, a connection is commonly identified using the combination of:</a:t>
            </a:r>
          </a:p>
          <a:p>
            <a:pPr rtl="0">
              <a:buNone/>
            </a:pPr>
            <a:r>
              <a:rPr lang="en-IN" dirty="0">
                <a:latin typeface="+mn-lt"/>
              </a:rPr>
              <a:t>Source IP</a:t>
            </a:r>
          </a:p>
          <a:p>
            <a:pPr rtl="0">
              <a:buNone/>
            </a:pPr>
            <a:r>
              <a:rPr lang="en-IN" dirty="0">
                <a:latin typeface="+mn-lt"/>
              </a:rPr>
              <a:t>Source Port</a:t>
            </a:r>
          </a:p>
          <a:p>
            <a:pPr rtl="0">
              <a:buNone/>
            </a:pPr>
            <a:r>
              <a:rPr lang="en-IN" dirty="0">
                <a:latin typeface="+mn-lt"/>
              </a:rPr>
              <a:t>Destination IP</a:t>
            </a:r>
          </a:p>
          <a:p>
            <a:pPr rtl="0">
              <a:buNone/>
            </a:pPr>
            <a:r>
              <a:rPr lang="en-IN" dirty="0">
                <a:latin typeface="+mn-lt"/>
              </a:rPr>
              <a:t>Destination Port</a:t>
            </a:r>
            <a:endParaRPr lang="en-IN" dirty="0">
              <a:latin typeface="Courier New" panose="02070309020205020404" pitchFamily="49" charset="0"/>
            </a:endParaRPr>
          </a:p>
        </p:txBody>
      </p:sp>
    </p:spTree>
    <p:extLst>
      <p:ext uri="{BB962C8B-B14F-4D97-AF65-F5344CB8AC3E}">
        <p14:creationId xmlns:p14="http://schemas.microsoft.com/office/powerpoint/2010/main" val="3397725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D02AA-6111-B05C-9DF8-36A9A5D87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C9FBFD-E982-ADE2-C051-751EE2BC1614}"/>
              </a:ext>
            </a:extLst>
          </p:cNvPr>
          <p:cNvSpPr>
            <a:spLocks noGrp="1"/>
          </p:cNvSpPr>
          <p:nvPr>
            <p:ph type="title"/>
          </p:nvPr>
        </p:nvSpPr>
        <p:spPr>
          <a:xfrm>
            <a:off x="275844" y="495220"/>
            <a:ext cx="11640312" cy="464900"/>
          </a:xfrm>
        </p:spPr>
        <p:txBody>
          <a:bodyPr>
            <a:normAutofit/>
          </a:bodyPr>
          <a:lstStyle/>
          <a:p>
            <a:r>
              <a:rPr lang="en-IN" sz="2400" b="1" dirty="0"/>
              <a:t>Multiplexing &amp; Demultiplexing at the Transport Layer</a:t>
            </a:r>
          </a:p>
        </p:txBody>
      </p:sp>
      <p:sp>
        <p:nvSpPr>
          <p:cNvPr id="4" name="TextBox 3">
            <a:extLst>
              <a:ext uri="{FF2B5EF4-FFF2-40B4-BE49-F238E27FC236}">
                <a16:creationId xmlns:a16="http://schemas.microsoft.com/office/drawing/2014/main" id="{A6077F2B-7C44-86A4-013C-5AEF49CC0989}"/>
              </a:ext>
            </a:extLst>
          </p:cNvPr>
          <p:cNvSpPr txBox="1"/>
          <p:nvPr/>
        </p:nvSpPr>
        <p:spPr>
          <a:xfrm>
            <a:off x="275844" y="1096015"/>
            <a:ext cx="11640311" cy="1754326"/>
          </a:xfrm>
          <a:prstGeom prst="rect">
            <a:avLst/>
          </a:prstGeom>
          <a:noFill/>
        </p:spPr>
        <p:txBody>
          <a:bodyPr wrap="square">
            <a:spAutoFit/>
          </a:bodyPr>
          <a:lstStyle/>
          <a:p>
            <a:pPr>
              <a:buNone/>
            </a:pPr>
            <a:r>
              <a:rPr lang="en-IN" dirty="0"/>
              <a:t>The main question is:</a:t>
            </a:r>
          </a:p>
          <a:p>
            <a:pPr>
              <a:buNone/>
            </a:pPr>
            <a:r>
              <a:rPr lang="en-IN" b="1" dirty="0"/>
              <a:t>A computer can run Chrome, Teams, email, Spotify, etc. at the same time. All of them use the same network connection. So how does the Transport Layer handle data from all these applications and deliver incoming data back to the correct application?</a:t>
            </a:r>
            <a:br>
              <a:rPr lang="en-IN" b="1" dirty="0"/>
            </a:br>
            <a:br>
              <a:rPr lang="en-IN" b="1" dirty="0"/>
            </a:br>
            <a:r>
              <a:rPr lang="en-IN" dirty="0"/>
              <a:t>The answer is: </a:t>
            </a:r>
            <a:r>
              <a:rPr lang="en-IN" b="1" dirty="0"/>
              <a:t>Multiplexing &amp; Demultiplexing.</a:t>
            </a:r>
          </a:p>
        </p:txBody>
      </p:sp>
      <p:sp>
        <p:nvSpPr>
          <p:cNvPr id="8" name="TextBox 7">
            <a:extLst>
              <a:ext uri="{FF2B5EF4-FFF2-40B4-BE49-F238E27FC236}">
                <a16:creationId xmlns:a16="http://schemas.microsoft.com/office/drawing/2014/main" id="{0626DB19-AB09-349B-CE29-6859BA227472}"/>
              </a:ext>
            </a:extLst>
          </p:cNvPr>
          <p:cNvSpPr txBox="1"/>
          <p:nvPr/>
        </p:nvSpPr>
        <p:spPr>
          <a:xfrm>
            <a:off x="275844" y="2900872"/>
            <a:ext cx="11640310" cy="646331"/>
          </a:xfrm>
          <a:prstGeom prst="rect">
            <a:avLst/>
          </a:prstGeom>
          <a:noFill/>
        </p:spPr>
        <p:txBody>
          <a:bodyPr wrap="square">
            <a:spAutoFit/>
          </a:bodyPr>
          <a:lstStyle/>
          <a:p>
            <a:pPr>
              <a:buNone/>
            </a:pPr>
            <a:r>
              <a:rPr lang="en-IN" dirty="0"/>
              <a:t>Suppose one laptop has:</a:t>
            </a:r>
          </a:p>
          <a:p>
            <a:pPr rtl="0">
              <a:buNone/>
            </a:pPr>
            <a:r>
              <a:rPr lang="en-IN" dirty="0">
                <a:latin typeface="+mn-lt"/>
              </a:rPr>
              <a:t>IP Address = 192.168.1.10 </a:t>
            </a:r>
            <a:r>
              <a:rPr lang="en-IN" dirty="0"/>
              <a:t>and four applications are communicating over the network:</a:t>
            </a:r>
          </a:p>
        </p:txBody>
      </p:sp>
      <p:pic>
        <p:nvPicPr>
          <p:cNvPr id="10" name="Picture 9">
            <a:extLst>
              <a:ext uri="{FF2B5EF4-FFF2-40B4-BE49-F238E27FC236}">
                <a16:creationId xmlns:a16="http://schemas.microsoft.com/office/drawing/2014/main" id="{0760538C-56BD-3D63-03F4-6889EF9CDBFE}"/>
              </a:ext>
            </a:extLst>
          </p:cNvPr>
          <p:cNvPicPr>
            <a:picLocks noChangeAspect="1"/>
          </p:cNvPicPr>
          <p:nvPr/>
        </p:nvPicPr>
        <p:blipFill>
          <a:blip r:embed="rId2"/>
          <a:stretch>
            <a:fillRect/>
          </a:stretch>
        </p:blipFill>
        <p:spPr>
          <a:xfrm>
            <a:off x="275844" y="3597734"/>
            <a:ext cx="2210682" cy="3030060"/>
          </a:xfrm>
          <a:prstGeom prst="rect">
            <a:avLst/>
          </a:prstGeom>
        </p:spPr>
      </p:pic>
      <p:sp>
        <p:nvSpPr>
          <p:cNvPr id="12" name="TextBox 11">
            <a:extLst>
              <a:ext uri="{FF2B5EF4-FFF2-40B4-BE49-F238E27FC236}">
                <a16:creationId xmlns:a16="http://schemas.microsoft.com/office/drawing/2014/main" id="{9CB616AF-5A8C-D797-A661-10E0F05B06E1}"/>
              </a:ext>
            </a:extLst>
          </p:cNvPr>
          <p:cNvSpPr txBox="1"/>
          <p:nvPr/>
        </p:nvSpPr>
        <p:spPr>
          <a:xfrm>
            <a:off x="2919662" y="4284657"/>
            <a:ext cx="8996491" cy="923330"/>
          </a:xfrm>
          <a:prstGeom prst="rect">
            <a:avLst/>
          </a:prstGeom>
          <a:noFill/>
        </p:spPr>
        <p:txBody>
          <a:bodyPr wrap="square">
            <a:spAutoFit/>
          </a:bodyPr>
          <a:lstStyle/>
          <a:p>
            <a:pPr>
              <a:buNone/>
            </a:pPr>
            <a:r>
              <a:rPr lang="en-IN" dirty="0"/>
              <a:t>All four applications need to send data.</a:t>
            </a:r>
          </a:p>
          <a:p>
            <a:pPr>
              <a:buNone/>
            </a:pPr>
            <a:r>
              <a:rPr lang="en-IN" dirty="0"/>
              <a:t>But the laptop does not have a completely separate Internet connection for every application.</a:t>
            </a:r>
          </a:p>
          <a:p>
            <a:pPr>
              <a:buNone/>
            </a:pPr>
            <a:r>
              <a:rPr lang="en-IN" dirty="0"/>
              <a:t>Instead, the Transport Layer has to handle data from </a:t>
            </a:r>
            <a:r>
              <a:rPr lang="en-IN" b="1" dirty="0"/>
              <a:t>multiple application processes</a:t>
            </a:r>
            <a:r>
              <a:rPr lang="en-IN" dirty="0"/>
              <a:t>.</a:t>
            </a:r>
          </a:p>
        </p:txBody>
      </p:sp>
    </p:spTree>
    <p:extLst>
      <p:ext uri="{BB962C8B-B14F-4D97-AF65-F5344CB8AC3E}">
        <p14:creationId xmlns:p14="http://schemas.microsoft.com/office/powerpoint/2010/main" val="635661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B37A3-D9AF-D447-D3E2-1438458519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838AC-8573-BC53-FCAB-447AAEDDFA09}"/>
              </a:ext>
            </a:extLst>
          </p:cNvPr>
          <p:cNvSpPr>
            <a:spLocks noGrp="1"/>
          </p:cNvSpPr>
          <p:nvPr>
            <p:ph type="title"/>
          </p:nvPr>
        </p:nvSpPr>
        <p:spPr>
          <a:xfrm>
            <a:off x="275844" y="495220"/>
            <a:ext cx="11640312" cy="464900"/>
          </a:xfrm>
        </p:spPr>
        <p:txBody>
          <a:bodyPr>
            <a:normAutofit/>
          </a:bodyPr>
          <a:lstStyle/>
          <a:p>
            <a:r>
              <a:rPr lang="en-IN" sz="2400" b="1" dirty="0"/>
              <a:t>Multiplexing &amp; Demultiplexing at the Transport Layer</a:t>
            </a:r>
          </a:p>
        </p:txBody>
      </p:sp>
      <p:sp>
        <p:nvSpPr>
          <p:cNvPr id="5" name="TextBox 4">
            <a:extLst>
              <a:ext uri="{FF2B5EF4-FFF2-40B4-BE49-F238E27FC236}">
                <a16:creationId xmlns:a16="http://schemas.microsoft.com/office/drawing/2014/main" id="{B000A18E-AF8D-8D70-C425-8B4EDD4E4E46}"/>
              </a:ext>
            </a:extLst>
          </p:cNvPr>
          <p:cNvSpPr txBox="1"/>
          <p:nvPr/>
        </p:nvSpPr>
        <p:spPr>
          <a:xfrm>
            <a:off x="275844" y="960120"/>
            <a:ext cx="11640311" cy="646331"/>
          </a:xfrm>
          <a:prstGeom prst="rect">
            <a:avLst/>
          </a:prstGeom>
          <a:noFill/>
        </p:spPr>
        <p:txBody>
          <a:bodyPr wrap="square">
            <a:spAutoFit/>
          </a:bodyPr>
          <a:lstStyle/>
          <a:p>
            <a:r>
              <a:rPr lang="en-IN" dirty="0"/>
              <a:t>Multiplexing is the process in which the Transport Layer collects data from multiple application processes/sockets and prepares it for transmission through the network.</a:t>
            </a:r>
          </a:p>
        </p:txBody>
      </p:sp>
      <p:sp>
        <p:nvSpPr>
          <p:cNvPr id="7" name="TextBox 6">
            <a:extLst>
              <a:ext uri="{FF2B5EF4-FFF2-40B4-BE49-F238E27FC236}">
                <a16:creationId xmlns:a16="http://schemas.microsoft.com/office/drawing/2014/main" id="{C5C4DCB3-48E8-18DE-EADB-4B8471427A46}"/>
              </a:ext>
            </a:extLst>
          </p:cNvPr>
          <p:cNvSpPr txBox="1"/>
          <p:nvPr/>
        </p:nvSpPr>
        <p:spPr>
          <a:xfrm>
            <a:off x="275844" y="1748185"/>
            <a:ext cx="8454189" cy="646331"/>
          </a:xfrm>
          <a:prstGeom prst="rect">
            <a:avLst/>
          </a:prstGeom>
          <a:noFill/>
        </p:spPr>
        <p:txBody>
          <a:bodyPr wrap="square">
            <a:spAutoFit/>
          </a:bodyPr>
          <a:lstStyle/>
          <a:p>
            <a:pPr>
              <a:buNone/>
            </a:pPr>
            <a:r>
              <a:rPr lang="en-IN" dirty="0"/>
              <a:t>In very simple words:</a:t>
            </a:r>
          </a:p>
          <a:p>
            <a:pPr>
              <a:buNone/>
            </a:pPr>
            <a:r>
              <a:rPr lang="en-IN" b="1" dirty="0"/>
              <a:t>Many applications → One Transport/Network system</a:t>
            </a:r>
            <a:endParaRPr lang="en-IN" dirty="0"/>
          </a:p>
        </p:txBody>
      </p:sp>
      <p:pic>
        <p:nvPicPr>
          <p:cNvPr id="11" name="Picture 10">
            <a:extLst>
              <a:ext uri="{FF2B5EF4-FFF2-40B4-BE49-F238E27FC236}">
                <a16:creationId xmlns:a16="http://schemas.microsoft.com/office/drawing/2014/main" id="{5A469E5C-A55A-9881-0815-8C7A1D702678}"/>
              </a:ext>
            </a:extLst>
          </p:cNvPr>
          <p:cNvPicPr>
            <a:picLocks noChangeAspect="1"/>
          </p:cNvPicPr>
          <p:nvPr/>
        </p:nvPicPr>
        <p:blipFill>
          <a:blip r:embed="rId2"/>
          <a:stretch>
            <a:fillRect/>
          </a:stretch>
        </p:blipFill>
        <p:spPr>
          <a:xfrm>
            <a:off x="275843" y="2536250"/>
            <a:ext cx="2355061" cy="4321750"/>
          </a:xfrm>
          <a:prstGeom prst="rect">
            <a:avLst/>
          </a:prstGeom>
        </p:spPr>
      </p:pic>
      <p:sp>
        <p:nvSpPr>
          <p:cNvPr id="14" name="TextBox 13">
            <a:extLst>
              <a:ext uri="{FF2B5EF4-FFF2-40B4-BE49-F238E27FC236}">
                <a16:creationId xmlns:a16="http://schemas.microsoft.com/office/drawing/2014/main" id="{216D6E69-EF8D-8433-2EB0-7D4C7CA6420C}"/>
              </a:ext>
            </a:extLst>
          </p:cNvPr>
          <p:cNvSpPr txBox="1"/>
          <p:nvPr/>
        </p:nvSpPr>
        <p:spPr>
          <a:xfrm>
            <a:off x="3160295" y="2828835"/>
            <a:ext cx="6096000" cy="1754326"/>
          </a:xfrm>
          <a:prstGeom prst="rect">
            <a:avLst/>
          </a:prstGeom>
          <a:noFill/>
        </p:spPr>
        <p:txBody>
          <a:bodyPr wrap="square">
            <a:spAutoFit/>
          </a:bodyPr>
          <a:lstStyle/>
          <a:p>
            <a:pPr>
              <a:buNone/>
            </a:pPr>
            <a:r>
              <a:rPr lang="en-IN" dirty="0"/>
              <a:t>The Transport Layer is receiving data from </a:t>
            </a:r>
            <a:r>
              <a:rPr lang="en-IN" b="1" dirty="0"/>
              <a:t>many different applications</a:t>
            </a:r>
            <a:r>
              <a:rPr lang="en-IN" dirty="0"/>
              <a:t>.</a:t>
            </a:r>
          </a:p>
          <a:p>
            <a:pPr>
              <a:buNone/>
            </a:pPr>
            <a:endParaRPr lang="en-IN" dirty="0"/>
          </a:p>
          <a:p>
            <a:pPr>
              <a:buNone/>
            </a:pPr>
            <a:r>
              <a:rPr lang="en-IN" dirty="0"/>
              <a:t>It must keep their communications distinguishable.</a:t>
            </a:r>
          </a:p>
          <a:p>
            <a:pPr>
              <a:buNone/>
            </a:pPr>
            <a:endParaRPr lang="en-IN" dirty="0"/>
          </a:p>
          <a:p>
            <a:pPr>
              <a:buNone/>
            </a:pPr>
            <a:r>
              <a:rPr lang="en-IN" dirty="0"/>
              <a:t>This is where </a:t>
            </a:r>
            <a:r>
              <a:rPr lang="en-IN" b="1" dirty="0"/>
              <a:t>port numbers</a:t>
            </a:r>
            <a:r>
              <a:rPr lang="en-IN" dirty="0"/>
              <a:t> become extremely important.</a:t>
            </a:r>
          </a:p>
        </p:txBody>
      </p:sp>
    </p:spTree>
    <p:extLst>
      <p:ext uri="{BB962C8B-B14F-4D97-AF65-F5344CB8AC3E}">
        <p14:creationId xmlns:p14="http://schemas.microsoft.com/office/powerpoint/2010/main" val="3719289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68637-063F-3D02-7E3F-326326E57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396F4-5BA3-15C2-4065-E29F5D88C235}"/>
              </a:ext>
            </a:extLst>
          </p:cNvPr>
          <p:cNvSpPr>
            <a:spLocks noGrp="1"/>
          </p:cNvSpPr>
          <p:nvPr>
            <p:ph type="title"/>
          </p:nvPr>
        </p:nvSpPr>
        <p:spPr>
          <a:xfrm>
            <a:off x="275844" y="495220"/>
            <a:ext cx="11640312" cy="464900"/>
          </a:xfrm>
        </p:spPr>
        <p:txBody>
          <a:bodyPr>
            <a:normAutofit/>
          </a:bodyPr>
          <a:lstStyle/>
          <a:p>
            <a:r>
              <a:rPr lang="en-US" sz="2400" b="1" dirty="0"/>
              <a:t>How does Multiplexing Works?</a:t>
            </a:r>
            <a:endParaRPr lang="en-IN" sz="2400" b="1" dirty="0"/>
          </a:p>
        </p:txBody>
      </p:sp>
      <p:sp>
        <p:nvSpPr>
          <p:cNvPr id="4" name="TextBox 3">
            <a:extLst>
              <a:ext uri="{FF2B5EF4-FFF2-40B4-BE49-F238E27FC236}">
                <a16:creationId xmlns:a16="http://schemas.microsoft.com/office/drawing/2014/main" id="{2A6AF4AB-FDB2-5B85-64F0-CDFD068B0F30}"/>
              </a:ext>
            </a:extLst>
          </p:cNvPr>
          <p:cNvSpPr txBox="1"/>
          <p:nvPr/>
        </p:nvSpPr>
        <p:spPr>
          <a:xfrm>
            <a:off x="275844" y="960120"/>
            <a:ext cx="6096000" cy="369332"/>
          </a:xfrm>
          <a:prstGeom prst="rect">
            <a:avLst/>
          </a:prstGeom>
          <a:noFill/>
        </p:spPr>
        <p:txBody>
          <a:bodyPr wrap="square">
            <a:spAutoFit/>
          </a:bodyPr>
          <a:lstStyle/>
          <a:p>
            <a:r>
              <a:rPr lang="en-IN" dirty="0"/>
              <a:t>Suppose three applications are communicating:</a:t>
            </a:r>
          </a:p>
        </p:txBody>
      </p:sp>
      <p:graphicFrame>
        <p:nvGraphicFramePr>
          <p:cNvPr id="5" name="Table 4">
            <a:extLst>
              <a:ext uri="{FF2B5EF4-FFF2-40B4-BE49-F238E27FC236}">
                <a16:creationId xmlns:a16="http://schemas.microsoft.com/office/drawing/2014/main" id="{5C827758-F082-399A-0E6A-0613A366E5F1}"/>
              </a:ext>
            </a:extLst>
          </p:cNvPr>
          <p:cNvGraphicFramePr>
            <a:graphicFrameLocks noGrp="1"/>
          </p:cNvGraphicFramePr>
          <p:nvPr>
            <p:extLst>
              <p:ext uri="{D42A27DB-BD31-4B8C-83A1-F6EECF244321}">
                <p14:modId xmlns:p14="http://schemas.microsoft.com/office/powerpoint/2010/main" val="3647739980"/>
              </p:ext>
            </p:extLst>
          </p:nvPr>
        </p:nvGraphicFramePr>
        <p:xfrm>
          <a:off x="459874" y="1446837"/>
          <a:ext cx="3887538" cy="1483360"/>
        </p:xfrm>
        <a:graphic>
          <a:graphicData uri="http://schemas.openxmlformats.org/drawingml/2006/table">
            <a:tbl>
              <a:tblPr firstRow="1" bandRow="1">
                <a:tableStyleId>{5C22544A-7EE6-4342-B048-85BDC9FD1C3A}</a:tableStyleId>
              </a:tblPr>
              <a:tblGrid>
                <a:gridCol w="1943769">
                  <a:extLst>
                    <a:ext uri="{9D8B030D-6E8A-4147-A177-3AD203B41FA5}">
                      <a16:colId xmlns:a16="http://schemas.microsoft.com/office/drawing/2014/main" val="2130395083"/>
                    </a:ext>
                  </a:extLst>
                </a:gridCol>
                <a:gridCol w="1943769">
                  <a:extLst>
                    <a:ext uri="{9D8B030D-6E8A-4147-A177-3AD203B41FA5}">
                      <a16:colId xmlns:a16="http://schemas.microsoft.com/office/drawing/2014/main" val="1067608823"/>
                    </a:ext>
                  </a:extLst>
                </a:gridCol>
              </a:tblGrid>
              <a:tr h="370840">
                <a:tc>
                  <a:txBody>
                    <a:bodyPr/>
                    <a:lstStyle/>
                    <a:p>
                      <a:pPr algn="ctr">
                        <a:buNone/>
                      </a:pPr>
                      <a:r>
                        <a:rPr lang="en-IN" dirty="0"/>
                        <a:t>Application</a:t>
                      </a:r>
                    </a:p>
                  </a:txBody>
                  <a:tcPr anchor="ctr"/>
                </a:tc>
                <a:tc>
                  <a:txBody>
                    <a:bodyPr/>
                    <a:lstStyle/>
                    <a:p>
                      <a:pPr algn="ctr">
                        <a:buNone/>
                      </a:pPr>
                      <a:r>
                        <a:rPr lang="en-IN"/>
                        <a:t>Local Port</a:t>
                      </a:r>
                    </a:p>
                  </a:txBody>
                  <a:tcPr anchor="ctr"/>
                </a:tc>
                <a:extLst>
                  <a:ext uri="{0D108BD9-81ED-4DB2-BD59-A6C34878D82A}">
                    <a16:rowId xmlns:a16="http://schemas.microsoft.com/office/drawing/2014/main" val="1403897524"/>
                  </a:ext>
                </a:extLst>
              </a:tr>
              <a:tr h="370840">
                <a:tc>
                  <a:txBody>
                    <a:bodyPr/>
                    <a:lstStyle/>
                    <a:p>
                      <a:pPr algn="ctr">
                        <a:buNone/>
                      </a:pPr>
                      <a:r>
                        <a:rPr lang="en-IN"/>
                        <a:t>Browser</a:t>
                      </a:r>
                    </a:p>
                  </a:txBody>
                  <a:tcPr anchor="ctr"/>
                </a:tc>
                <a:tc>
                  <a:txBody>
                    <a:bodyPr/>
                    <a:lstStyle/>
                    <a:p>
                      <a:pPr algn="ctr">
                        <a:buNone/>
                      </a:pPr>
                      <a:r>
                        <a:rPr lang="en-IN"/>
                        <a:t>52000</a:t>
                      </a:r>
                    </a:p>
                  </a:txBody>
                  <a:tcPr anchor="ctr"/>
                </a:tc>
                <a:extLst>
                  <a:ext uri="{0D108BD9-81ED-4DB2-BD59-A6C34878D82A}">
                    <a16:rowId xmlns:a16="http://schemas.microsoft.com/office/drawing/2014/main" val="912486497"/>
                  </a:ext>
                </a:extLst>
              </a:tr>
              <a:tr h="370840">
                <a:tc>
                  <a:txBody>
                    <a:bodyPr/>
                    <a:lstStyle/>
                    <a:p>
                      <a:pPr algn="ctr">
                        <a:buNone/>
                      </a:pPr>
                      <a:r>
                        <a:rPr lang="en-IN"/>
                        <a:t>Email App</a:t>
                      </a:r>
                    </a:p>
                  </a:txBody>
                  <a:tcPr anchor="ctr"/>
                </a:tc>
                <a:tc>
                  <a:txBody>
                    <a:bodyPr/>
                    <a:lstStyle/>
                    <a:p>
                      <a:pPr algn="ctr">
                        <a:buNone/>
                      </a:pPr>
                      <a:r>
                        <a:rPr lang="en-IN"/>
                        <a:t>52001</a:t>
                      </a:r>
                    </a:p>
                  </a:txBody>
                  <a:tcPr anchor="ctr"/>
                </a:tc>
                <a:extLst>
                  <a:ext uri="{0D108BD9-81ED-4DB2-BD59-A6C34878D82A}">
                    <a16:rowId xmlns:a16="http://schemas.microsoft.com/office/drawing/2014/main" val="2121200612"/>
                  </a:ext>
                </a:extLst>
              </a:tr>
              <a:tr h="370840">
                <a:tc>
                  <a:txBody>
                    <a:bodyPr/>
                    <a:lstStyle/>
                    <a:p>
                      <a:pPr algn="ctr">
                        <a:buNone/>
                      </a:pPr>
                      <a:r>
                        <a:rPr lang="en-IN"/>
                        <a:t>Another App</a:t>
                      </a:r>
                    </a:p>
                  </a:txBody>
                  <a:tcPr anchor="ctr"/>
                </a:tc>
                <a:tc>
                  <a:txBody>
                    <a:bodyPr/>
                    <a:lstStyle/>
                    <a:p>
                      <a:pPr algn="ctr">
                        <a:buNone/>
                      </a:pPr>
                      <a:r>
                        <a:rPr lang="en-IN" dirty="0"/>
                        <a:t>52002</a:t>
                      </a:r>
                    </a:p>
                  </a:txBody>
                  <a:tcPr anchor="ctr"/>
                </a:tc>
                <a:extLst>
                  <a:ext uri="{0D108BD9-81ED-4DB2-BD59-A6C34878D82A}">
                    <a16:rowId xmlns:a16="http://schemas.microsoft.com/office/drawing/2014/main" val="1728702385"/>
                  </a:ext>
                </a:extLst>
              </a:tr>
            </a:tbl>
          </a:graphicData>
        </a:graphic>
      </p:graphicFrame>
      <p:pic>
        <p:nvPicPr>
          <p:cNvPr id="7" name="Picture 6">
            <a:extLst>
              <a:ext uri="{FF2B5EF4-FFF2-40B4-BE49-F238E27FC236}">
                <a16:creationId xmlns:a16="http://schemas.microsoft.com/office/drawing/2014/main" id="{3608F93B-95B4-6862-BB7B-6FE647D75748}"/>
              </a:ext>
            </a:extLst>
          </p:cNvPr>
          <p:cNvPicPr>
            <a:picLocks noChangeAspect="1"/>
          </p:cNvPicPr>
          <p:nvPr/>
        </p:nvPicPr>
        <p:blipFill>
          <a:blip r:embed="rId2"/>
          <a:stretch>
            <a:fillRect/>
          </a:stretch>
        </p:blipFill>
        <p:spPr>
          <a:xfrm>
            <a:off x="275843" y="3192402"/>
            <a:ext cx="4071569" cy="3449030"/>
          </a:xfrm>
          <a:prstGeom prst="rect">
            <a:avLst/>
          </a:prstGeom>
        </p:spPr>
      </p:pic>
      <p:sp>
        <p:nvSpPr>
          <p:cNvPr id="9" name="TextBox 8">
            <a:extLst>
              <a:ext uri="{FF2B5EF4-FFF2-40B4-BE49-F238E27FC236}">
                <a16:creationId xmlns:a16="http://schemas.microsoft.com/office/drawing/2014/main" id="{CA10AB9C-E67F-64D9-6994-15AA5DDE6BD4}"/>
              </a:ext>
            </a:extLst>
          </p:cNvPr>
          <p:cNvSpPr txBox="1"/>
          <p:nvPr/>
        </p:nvSpPr>
        <p:spPr>
          <a:xfrm>
            <a:off x="5181600" y="821621"/>
            <a:ext cx="6096000" cy="646331"/>
          </a:xfrm>
          <a:prstGeom prst="rect">
            <a:avLst/>
          </a:prstGeom>
          <a:noFill/>
        </p:spPr>
        <p:txBody>
          <a:bodyPr wrap="square">
            <a:spAutoFit/>
          </a:bodyPr>
          <a:lstStyle/>
          <a:p>
            <a:r>
              <a:rPr lang="en-IN" dirty="0"/>
              <a:t>When the Transport Layer handles their data, the appropriate </a:t>
            </a:r>
            <a:r>
              <a:rPr lang="en-IN" b="1" dirty="0"/>
              <a:t>transport header</a:t>
            </a:r>
            <a:r>
              <a:rPr lang="en-IN" dirty="0"/>
              <a:t> carries port information.</a:t>
            </a:r>
          </a:p>
        </p:txBody>
      </p:sp>
      <p:pic>
        <p:nvPicPr>
          <p:cNvPr id="11" name="Picture 10">
            <a:extLst>
              <a:ext uri="{FF2B5EF4-FFF2-40B4-BE49-F238E27FC236}">
                <a16:creationId xmlns:a16="http://schemas.microsoft.com/office/drawing/2014/main" id="{6E7E1E45-65B6-30DC-6F86-1117A71AB96D}"/>
              </a:ext>
            </a:extLst>
          </p:cNvPr>
          <p:cNvPicPr>
            <a:picLocks noChangeAspect="1"/>
          </p:cNvPicPr>
          <p:nvPr/>
        </p:nvPicPr>
        <p:blipFill>
          <a:blip r:embed="rId3"/>
          <a:stretch>
            <a:fillRect/>
          </a:stretch>
        </p:blipFill>
        <p:spPr>
          <a:xfrm>
            <a:off x="5133543" y="1606451"/>
            <a:ext cx="4491720" cy="2740960"/>
          </a:xfrm>
          <a:prstGeom prst="rect">
            <a:avLst/>
          </a:prstGeom>
        </p:spPr>
      </p:pic>
      <p:sp>
        <p:nvSpPr>
          <p:cNvPr id="13" name="TextBox 12">
            <a:extLst>
              <a:ext uri="{FF2B5EF4-FFF2-40B4-BE49-F238E27FC236}">
                <a16:creationId xmlns:a16="http://schemas.microsoft.com/office/drawing/2014/main" id="{0D9AF381-CA94-1DFF-47C1-360BDCDA91CD}"/>
              </a:ext>
            </a:extLst>
          </p:cNvPr>
          <p:cNvSpPr txBox="1"/>
          <p:nvPr/>
        </p:nvSpPr>
        <p:spPr>
          <a:xfrm>
            <a:off x="5181600" y="4836050"/>
            <a:ext cx="6096000" cy="1200329"/>
          </a:xfrm>
          <a:prstGeom prst="rect">
            <a:avLst/>
          </a:prstGeom>
          <a:noFill/>
        </p:spPr>
        <p:txBody>
          <a:bodyPr wrap="square">
            <a:spAutoFit/>
          </a:bodyPr>
          <a:lstStyle/>
          <a:p>
            <a:pPr>
              <a:buNone/>
            </a:pPr>
            <a:r>
              <a:rPr lang="en-IN" dirty="0"/>
              <a:t>Therefore, data from different applications does not simply become indistinguishable.</a:t>
            </a:r>
          </a:p>
          <a:p>
            <a:pPr>
              <a:buNone/>
            </a:pPr>
            <a:r>
              <a:rPr lang="en-IN" dirty="0"/>
              <a:t>The port information helps identify the relevant communication endpoints.</a:t>
            </a:r>
          </a:p>
        </p:txBody>
      </p:sp>
    </p:spTree>
    <p:extLst>
      <p:ext uri="{BB962C8B-B14F-4D97-AF65-F5344CB8AC3E}">
        <p14:creationId xmlns:p14="http://schemas.microsoft.com/office/powerpoint/2010/main" val="6871602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26958-253A-AE58-6F5E-F59DDE4A2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2B5C1-2043-D23B-346B-4399B9BB8392}"/>
              </a:ext>
            </a:extLst>
          </p:cNvPr>
          <p:cNvSpPr>
            <a:spLocks noGrp="1"/>
          </p:cNvSpPr>
          <p:nvPr>
            <p:ph type="title"/>
          </p:nvPr>
        </p:nvSpPr>
        <p:spPr>
          <a:xfrm>
            <a:off x="275844" y="495220"/>
            <a:ext cx="11640312" cy="464900"/>
          </a:xfrm>
        </p:spPr>
        <p:txBody>
          <a:bodyPr>
            <a:normAutofit/>
          </a:bodyPr>
          <a:lstStyle/>
          <a:p>
            <a:r>
              <a:rPr lang="en-IN" sz="2400" b="1" dirty="0"/>
              <a:t>Now what happens at the Receiver?</a:t>
            </a:r>
          </a:p>
        </p:txBody>
      </p:sp>
      <p:pic>
        <p:nvPicPr>
          <p:cNvPr id="6" name="Picture 5">
            <a:extLst>
              <a:ext uri="{FF2B5EF4-FFF2-40B4-BE49-F238E27FC236}">
                <a16:creationId xmlns:a16="http://schemas.microsoft.com/office/drawing/2014/main" id="{C2C36B16-9DD1-6DDE-2B54-89432548B5D8}"/>
              </a:ext>
            </a:extLst>
          </p:cNvPr>
          <p:cNvPicPr>
            <a:picLocks noChangeAspect="1"/>
          </p:cNvPicPr>
          <p:nvPr/>
        </p:nvPicPr>
        <p:blipFill>
          <a:blip r:embed="rId2"/>
          <a:stretch>
            <a:fillRect/>
          </a:stretch>
        </p:blipFill>
        <p:spPr>
          <a:xfrm>
            <a:off x="275844" y="1231654"/>
            <a:ext cx="6798724" cy="5473946"/>
          </a:xfrm>
          <a:prstGeom prst="rect">
            <a:avLst/>
          </a:prstGeom>
        </p:spPr>
      </p:pic>
      <p:sp>
        <p:nvSpPr>
          <p:cNvPr id="10" name="TextBox 9">
            <a:extLst>
              <a:ext uri="{FF2B5EF4-FFF2-40B4-BE49-F238E27FC236}">
                <a16:creationId xmlns:a16="http://schemas.microsoft.com/office/drawing/2014/main" id="{11E15B05-F11B-E72B-52DA-CEE97CCC8E9B}"/>
              </a:ext>
            </a:extLst>
          </p:cNvPr>
          <p:cNvSpPr txBox="1"/>
          <p:nvPr/>
        </p:nvSpPr>
        <p:spPr>
          <a:xfrm>
            <a:off x="7684167" y="1660303"/>
            <a:ext cx="4231989" cy="1754326"/>
          </a:xfrm>
          <a:prstGeom prst="rect">
            <a:avLst/>
          </a:prstGeom>
          <a:noFill/>
        </p:spPr>
        <p:txBody>
          <a:bodyPr wrap="square">
            <a:spAutoFit/>
          </a:bodyPr>
          <a:lstStyle/>
          <a:p>
            <a:r>
              <a:rPr lang="en-IN" b="1" dirty="0"/>
              <a:t>Demultiplexing is the process in which the receiving Transport Layer examines transport information, especially port information, and delivers incoming data to the appropriate socket/application process.</a:t>
            </a:r>
          </a:p>
        </p:txBody>
      </p:sp>
    </p:spTree>
    <p:extLst>
      <p:ext uri="{BB962C8B-B14F-4D97-AF65-F5344CB8AC3E}">
        <p14:creationId xmlns:p14="http://schemas.microsoft.com/office/powerpoint/2010/main" val="3194003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7D2E2-48CF-03B3-BDDF-2C82541FF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C85EC-18F7-C584-AFEC-DFF6C18E4280}"/>
              </a:ext>
            </a:extLst>
          </p:cNvPr>
          <p:cNvSpPr>
            <a:spLocks noGrp="1"/>
          </p:cNvSpPr>
          <p:nvPr>
            <p:ph type="title"/>
          </p:nvPr>
        </p:nvSpPr>
        <p:spPr>
          <a:xfrm>
            <a:off x="275844" y="495220"/>
            <a:ext cx="11640312" cy="464900"/>
          </a:xfrm>
        </p:spPr>
        <p:txBody>
          <a:bodyPr>
            <a:normAutofit/>
          </a:bodyPr>
          <a:lstStyle/>
          <a:p>
            <a:r>
              <a:rPr lang="en-IN" sz="2400" b="1" dirty="0"/>
              <a:t>Demultiplexing</a:t>
            </a:r>
          </a:p>
        </p:txBody>
      </p:sp>
      <p:sp>
        <p:nvSpPr>
          <p:cNvPr id="4" name="TextBox 3">
            <a:extLst>
              <a:ext uri="{FF2B5EF4-FFF2-40B4-BE49-F238E27FC236}">
                <a16:creationId xmlns:a16="http://schemas.microsoft.com/office/drawing/2014/main" id="{C0AB812D-4164-0292-B755-F98ACB76F3CB}"/>
              </a:ext>
            </a:extLst>
          </p:cNvPr>
          <p:cNvSpPr txBox="1"/>
          <p:nvPr/>
        </p:nvSpPr>
        <p:spPr>
          <a:xfrm>
            <a:off x="275844" y="960120"/>
            <a:ext cx="6096000" cy="369332"/>
          </a:xfrm>
          <a:prstGeom prst="rect">
            <a:avLst/>
          </a:prstGeom>
          <a:noFill/>
        </p:spPr>
        <p:txBody>
          <a:bodyPr wrap="square">
            <a:spAutoFit/>
          </a:bodyPr>
          <a:lstStyle/>
          <a:p>
            <a:r>
              <a:rPr lang="en-IN" dirty="0"/>
              <a:t>Incoming data → Correct application</a:t>
            </a:r>
          </a:p>
        </p:txBody>
      </p:sp>
      <p:pic>
        <p:nvPicPr>
          <p:cNvPr id="7" name="Picture 6">
            <a:extLst>
              <a:ext uri="{FF2B5EF4-FFF2-40B4-BE49-F238E27FC236}">
                <a16:creationId xmlns:a16="http://schemas.microsoft.com/office/drawing/2014/main" id="{BE28D349-C4E9-9147-19E2-6F212D9F0B61}"/>
              </a:ext>
            </a:extLst>
          </p:cNvPr>
          <p:cNvPicPr>
            <a:picLocks noChangeAspect="1"/>
          </p:cNvPicPr>
          <p:nvPr/>
        </p:nvPicPr>
        <p:blipFill>
          <a:blip r:embed="rId2"/>
          <a:stretch>
            <a:fillRect/>
          </a:stretch>
        </p:blipFill>
        <p:spPr>
          <a:xfrm>
            <a:off x="317524" y="1515767"/>
            <a:ext cx="4463023" cy="5045453"/>
          </a:xfrm>
          <a:prstGeom prst="rect">
            <a:avLst/>
          </a:prstGeom>
        </p:spPr>
      </p:pic>
      <p:sp>
        <p:nvSpPr>
          <p:cNvPr id="9" name="TextBox 8">
            <a:extLst>
              <a:ext uri="{FF2B5EF4-FFF2-40B4-BE49-F238E27FC236}">
                <a16:creationId xmlns:a16="http://schemas.microsoft.com/office/drawing/2014/main" id="{423CCF5E-04A2-4B1D-9F38-1F8D7B34C1DF}"/>
              </a:ext>
            </a:extLst>
          </p:cNvPr>
          <p:cNvSpPr txBox="1"/>
          <p:nvPr/>
        </p:nvSpPr>
        <p:spPr>
          <a:xfrm>
            <a:off x="4989094" y="805838"/>
            <a:ext cx="6885382" cy="1754326"/>
          </a:xfrm>
          <a:prstGeom prst="rect">
            <a:avLst/>
          </a:prstGeom>
          <a:noFill/>
        </p:spPr>
        <p:txBody>
          <a:bodyPr wrap="square">
            <a:spAutoFit/>
          </a:bodyPr>
          <a:lstStyle/>
          <a:p>
            <a:pPr>
              <a:buNone/>
            </a:pPr>
            <a:r>
              <a:rPr lang="en-IN" dirty="0"/>
              <a:t>So:</a:t>
            </a:r>
          </a:p>
          <a:p>
            <a:pPr>
              <a:buNone/>
            </a:pPr>
            <a:r>
              <a:rPr lang="en-IN" b="1" dirty="0"/>
              <a:t>Multiplexing happens when handling data from multiple applications for sending.</a:t>
            </a:r>
          </a:p>
          <a:p>
            <a:pPr>
              <a:buNone/>
            </a:pPr>
            <a:endParaRPr lang="en-IN" dirty="0"/>
          </a:p>
          <a:p>
            <a:pPr>
              <a:buNone/>
            </a:pPr>
            <a:r>
              <a:rPr lang="en-IN" b="1" dirty="0"/>
              <a:t>Demultiplexing happens when delivering received data to the appropriate application/socket.</a:t>
            </a:r>
            <a:endParaRPr lang="en-IN" dirty="0"/>
          </a:p>
        </p:txBody>
      </p:sp>
      <p:pic>
        <p:nvPicPr>
          <p:cNvPr id="12" name="Picture 11">
            <a:extLst>
              <a:ext uri="{FF2B5EF4-FFF2-40B4-BE49-F238E27FC236}">
                <a16:creationId xmlns:a16="http://schemas.microsoft.com/office/drawing/2014/main" id="{A6B3A227-2B61-1E1F-24D7-EE927D86CFF7}"/>
              </a:ext>
            </a:extLst>
          </p:cNvPr>
          <p:cNvPicPr>
            <a:picLocks noChangeAspect="1"/>
          </p:cNvPicPr>
          <p:nvPr/>
        </p:nvPicPr>
        <p:blipFill>
          <a:blip r:embed="rId3"/>
          <a:stretch>
            <a:fillRect/>
          </a:stretch>
        </p:blipFill>
        <p:spPr>
          <a:xfrm>
            <a:off x="4989094" y="2902229"/>
            <a:ext cx="6885382" cy="3658991"/>
          </a:xfrm>
          <a:prstGeom prst="rect">
            <a:avLst/>
          </a:prstGeom>
        </p:spPr>
      </p:pic>
    </p:spTree>
    <p:extLst>
      <p:ext uri="{BB962C8B-B14F-4D97-AF65-F5344CB8AC3E}">
        <p14:creationId xmlns:p14="http://schemas.microsoft.com/office/powerpoint/2010/main" val="1626139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6684C-E8AF-6AC0-744D-2B1AB5F0A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03D19-2C85-DD55-159D-58A32B3A65BE}"/>
              </a:ext>
            </a:extLst>
          </p:cNvPr>
          <p:cNvSpPr>
            <a:spLocks noGrp="1"/>
          </p:cNvSpPr>
          <p:nvPr>
            <p:ph type="title"/>
          </p:nvPr>
        </p:nvSpPr>
        <p:spPr>
          <a:xfrm>
            <a:off x="275844" y="495220"/>
            <a:ext cx="11640312" cy="464900"/>
          </a:xfrm>
        </p:spPr>
        <p:txBody>
          <a:bodyPr>
            <a:normAutofit/>
          </a:bodyPr>
          <a:lstStyle/>
          <a:p>
            <a:r>
              <a:rPr lang="en-US" sz="2400" b="1" dirty="0"/>
              <a:t>Introduction to TCP &amp; TCP Service Model</a:t>
            </a:r>
            <a:endParaRPr lang="en-IN" sz="2400" b="1" dirty="0"/>
          </a:p>
        </p:txBody>
      </p:sp>
      <p:sp>
        <p:nvSpPr>
          <p:cNvPr id="3" name="TextBox 2">
            <a:extLst>
              <a:ext uri="{FF2B5EF4-FFF2-40B4-BE49-F238E27FC236}">
                <a16:creationId xmlns:a16="http://schemas.microsoft.com/office/drawing/2014/main" id="{B5E20651-7719-663D-98EE-5F8D44E5A3D5}"/>
              </a:ext>
            </a:extLst>
          </p:cNvPr>
          <p:cNvSpPr txBox="1"/>
          <p:nvPr/>
        </p:nvSpPr>
        <p:spPr>
          <a:xfrm>
            <a:off x="275844" y="960120"/>
            <a:ext cx="4424609" cy="369332"/>
          </a:xfrm>
          <a:prstGeom prst="rect">
            <a:avLst/>
          </a:prstGeom>
          <a:noFill/>
        </p:spPr>
        <p:txBody>
          <a:bodyPr wrap="none" rtlCol="0">
            <a:spAutoFit/>
          </a:bodyPr>
          <a:lstStyle/>
          <a:p>
            <a:r>
              <a:rPr lang="en-IN" b="1" dirty="0"/>
              <a:t>TCP</a:t>
            </a:r>
            <a:r>
              <a:rPr lang="en-IN" dirty="0"/>
              <a:t> stands for: Transmission Control Protocol</a:t>
            </a:r>
          </a:p>
        </p:txBody>
      </p:sp>
      <p:sp>
        <p:nvSpPr>
          <p:cNvPr id="5" name="TextBox 4">
            <a:extLst>
              <a:ext uri="{FF2B5EF4-FFF2-40B4-BE49-F238E27FC236}">
                <a16:creationId xmlns:a16="http://schemas.microsoft.com/office/drawing/2014/main" id="{CE45C9D8-898E-5AB5-57A3-84D3CA48EFA3}"/>
              </a:ext>
            </a:extLst>
          </p:cNvPr>
          <p:cNvSpPr txBox="1"/>
          <p:nvPr/>
        </p:nvSpPr>
        <p:spPr>
          <a:xfrm>
            <a:off x="275844" y="1329452"/>
            <a:ext cx="11226345" cy="646331"/>
          </a:xfrm>
          <a:prstGeom prst="rect">
            <a:avLst/>
          </a:prstGeom>
          <a:noFill/>
        </p:spPr>
        <p:txBody>
          <a:bodyPr wrap="square">
            <a:spAutoFit/>
          </a:bodyPr>
          <a:lstStyle/>
          <a:p>
            <a:r>
              <a:rPr lang="en-IN" dirty="0"/>
              <a:t>TCP is a </a:t>
            </a:r>
            <a:r>
              <a:rPr lang="en-IN" b="1" dirty="0"/>
              <a:t>Transport Layer protocol</a:t>
            </a:r>
            <a:r>
              <a:rPr lang="en-IN" dirty="0"/>
              <a:t> used to provide </a:t>
            </a:r>
            <a:r>
              <a:rPr lang="en-IN" b="1" dirty="0"/>
              <a:t>reliable, connection-oriented communication</a:t>
            </a:r>
            <a:r>
              <a:rPr lang="en-IN" dirty="0"/>
              <a:t> between applications running on different hosts.</a:t>
            </a:r>
          </a:p>
        </p:txBody>
      </p:sp>
      <p:pic>
        <p:nvPicPr>
          <p:cNvPr id="9" name="Picture 8">
            <a:extLst>
              <a:ext uri="{FF2B5EF4-FFF2-40B4-BE49-F238E27FC236}">
                <a16:creationId xmlns:a16="http://schemas.microsoft.com/office/drawing/2014/main" id="{62B2804D-8FA9-AE3B-5274-F14EF7A26CE1}"/>
              </a:ext>
            </a:extLst>
          </p:cNvPr>
          <p:cNvPicPr>
            <a:picLocks noChangeAspect="1"/>
          </p:cNvPicPr>
          <p:nvPr/>
        </p:nvPicPr>
        <p:blipFill>
          <a:blip r:embed="rId2"/>
          <a:stretch>
            <a:fillRect/>
          </a:stretch>
        </p:blipFill>
        <p:spPr>
          <a:xfrm>
            <a:off x="413334" y="1975783"/>
            <a:ext cx="3367327" cy="1826196"/>
          </a:xfrm>
          <a:prstGeom prst="rect">
            <a:avLst/>
          </a:prstGeom>
        </p:spPr>
      </p:pic>
      <p:sp>
        <p:nvSpPr>
          <p:cNvPr id="11" name="TextBox 10">
            <a:extLst>
              <a:ext uri="{FF2B5EF4-FFF2-40B4-BE49-F238E27FC236}">
                <a16:creationId xmlns:a16="http://schemas.microsoft.com/office/drawing/2014/main" id="{9D7E90FC-0A0C-444E-BBFF-360A3F3C3A04}"/>
              </a:ext>
            </a:extLst>
          </p:cNvPr>
          <p:cNvSpPr txBox="1"/>
          <p:nvPr/>
        </p:nvSpPr>
        <p:spPr>
          <a:xfrm>
            <a:off x="275844" y="3852662"/>
            <a:ext cx="6096000" cy="369332"/>
          </a:xfrm>
          <a:prstGeom prst="rect">
            <a:avLst/>
          </a:prstGeom>
          <a:noFill/>
        </p:spPr>
        <p:txBody>
          <a:bodyPr wrap="square">
            <a:spAutoFit/>
          </a:bodyPr>
          <a:lstStyle/>
          <a:p>
            <a:r>
              <a:rPr lang="en-IN" b="1" dirty="0">
                <a:highlight>
                  <a:srgbClr val="FFFF00"/>
                </a:highlight>
              </a:rPr>
              <a:t>Why do we need TCP?</a:t>
            </a:r>
          </a:p>
        </p:txBody>
      </p:sp>
      <p:sp>
        <p:nvSpPr>
          <p:cNvPr id="14" name="TextBox 13">
            <a:extLst>
              <a:ext uri="{FF2B5EF4-FFF2-40B4-BE49-F238E27FC236}">
                <a16:creationId xmlns:a16="http://schemas.microsoft.com/office/drawing/2014/main" id="{E4DF7EE1-46B4-54F8-B741-47A2A701141B}"/>
              </a:ext>
            </a:extLst>
          </p:cNvPr>
          <p:cNvSpPr txBox="1"/>
          <p:nvPr/>
        </p:nvSpPr>
        <p:spPr>
          <a:xfrm>
            <a:off x="531011" y="4272677"/>
            <a:ext cx="1957137" cy="2585323"/>
          </a:xfrm>
          <a:prstGeom prst="rect">
            <a:avLst/>
          </a:prstGeom>
          <a:noFill/>
        </p:spPr>
        <p:txBody>
          <a:bodyPr wrap="square">
            <a:spAutoFit/>
          </a:bodyPr>
          <a:lstStyle/>
          <a:p>
            <a:r>
              <a:rPr lang="en-IN" dirty="0"/>
              <a:t>Application</a:t>
            </a:r>
          </a:p>
          <a:p>
            <a:r>
              <a:rPr lang="en-IN" dirty="0"/>
              <a:t>     ↓</a:t>
            </a:r>
          </a:p>
          <a:p>
            <a:r>
              <a:rPr lang="en-IN" dirty="0"/>
              <a:t>Transport Layer</a:t>
            </a:r>
          </a:p>
          <a:p>
            <a:r>
              <a:rPr lang="en-IN" dirty="0"/>
              <a:t>     ↓</a:t>
            </a:r>
          </a:p>
          <a:p>
            <a:r>
              <a:rPr lang="en-IN" dirty="0"/>
              <a:t>Network Layer</a:t>
            </a:r>
          </a:p>
          <a:p>
            <a:r>
              <a:rPr lang="en-IN" dirty="0"/>
              <a:t>     ↓</a:t>
            </a:r>
          </a:p>
          <a:p>
            <a:r>
              <a:rPr lang="en-IN" dirty="0"/>
              <a:t>IP</a:t>
            </a:r>
          </a:p>
          <a:p>
            <a:r>
              <a:rPr lang="en-IN" dirty="0"/>
              <a:t>     ↓</a:t>
            </a:r>
          </a:p>
          <a:p>
            <a:r>
              <a:rPr lang="en-IN" dirty="0"/>
              <a:t>Network</a:t>
            </a:r>
          </a:p>
        </p:txBody>
      </p:sp>
      <p:sp>
        <p:nvSpPr>
          <p:cNvPr id="16" name="TextBox 15">
            <a:extLst>
              <a:ext uri="{FF2B5EF4-FFF2-40B4-BE49-F238E27FC236}">
                <a16:creationId xmlns:a16="http://schemas.microsoft.com/office/drawing/2014/main" id="{E6019190-3669-EEE1-F95D-68276A278A2D}"/>
              </a:ext>
            </a:extLst>
          </p:cNvPr>
          <p:cNvSpPr txBox="1"/>
          <p:nvPr/>
        </p:nvSpPr>
        <p:spPr>
          <a:xfrm>
            <a:off x="4700453" y="2345115"/>
            <a:ext cx="6096000" cy="2031325"/>
          </a:xfrm>
          <a:prstGeom prst="rect">
            <a:avLst/>
          </a:prstGeom>
          <a:noFill/>
        </p:spPr>
        <p:txBody>
          <a:bodyPr wrap="square">
            <a:spAutoFit/>
          </a:bodyPr>
          <a:lstStyle/>
          <a:p>
            <a:pPr>
              <a:buNone/>
            </a:pPr>
            <a:r>
              <a:rPr lang="en-IN" dirty="0"/>
              <a:t>IP helps packets travel from one host to another.</a:t>
            </a:r>
          </a:p>
          <a:p>
            <a:pPr>
              <a:buNone/>
            </a:pPr>
            <a:endParaRPr lang="en-IN" dirty="0"/>
          </a:p>
          <a:p>
            <a:pPr>
              <a:buNone/>
            </a:pPr>
            <a:r>
              <a:rPr lang="en-IN" dirty="0"/>
              <a:t>But IP itself does </a:t>
            </a:r>
            <a:r>
              <a:rPr lang="en-IN" b="1" dirty="0"/>
              <a:t>not guarantee</a:t>
            </a:r>
            <a:r>
              <a:rPr lang="en-IN" dirty="0"/>
              <a:t> that:</a:t>
            </a:r>
          </a:p>
          <a:p>
            <a:pPr marL="342900" lvl="0" indent="-342900">
              <a:buFont typeface="Arial" panose="020B0604020202020204" pitchFamily="34" charset="0"/>
              <a:buChar char="•"/>
            </a:pPr>
            <a:r>
              <a:rPr lang="en-IN" dirty="0"/>
              <a:t>every packet will arrive, </a:t>
            </a:r>
          </a:p>
          <a:p>
            <a:pPr marL="342900" lvl="0" indent="-342900">
              <a:buFont typeface="Arial" panose="020B0604020202020204" pitchFamily="34" charset="0"/>
              <a:buChar char="•"/>
            </a:pPr>
            <a:r>
              <a:rPr lang="en-IN" dirty="0"/>
              <a:t>packets will arrive in the correct order, </a:t>
            </a:r>
          </a:p>
          <a:p>
            <a:pPr marL="342900" lvl="0" indent="-342900">
              <a:buFont typeface="Arial" panose="020B0604020202020204" pitchFamily="34" charset="0"/>
              <a:buChar char="•"/>
            </a:pPr>
            <a:r>
              <a:rPr lang="en-IN" dirty="0"/>
              <a:t>duplicate delivery will never occur, </a:t>
            </a:r>
          </a:p>
          <a:p>
            <a:pPr marL="342900" lvl="0" indent="-342900">
              <a:buFont typeface="Arial" panose="020B0604020202020204" pitchFamily="34" charset="0"/>
              <a:buChar char="•"/>
            </a:pPr>
            <a:r>
              <a:rPr lang="en-IN" dirty="0"/>
              <a:t>a lost packet will automatically be retransmitted by IP.</a:t>
            </a:r>
          </a:p>
        </p:txBody>
      </p:sp>
      <p:sp>
        <p:nvSpPr>
          <p:cNvPr id="18" name="TextBox 17">
            <a:extLst>
              <a:ext uri="{FF2B5EF4-FFF2-40B4-BE49-F238E27FC236}">
                <a16:creationId xmlns:a16="http://schemas.microsoft.com/office/drawing/2014/main" id="{E180CD2B-F56F-B8CA-F1FB-4AF12A0577F9}"/>
              </a:ext>
            </a:extLst>
          </p:cNvPr>
          <p:cNvSpPr txBox="1"/>
          <p:nvPr/>
        </p:nvSpPr>
        <p:spPr>
          <a:xfrm>
            <a:off x="4700453" y="4642008"/>
            <a:ext cx="6960536" cy="1200329"/>
          </a:xfrm>
          <a:prstGeom prst="rect">
            <a:avLst/>
          </a:prstGeom>
          <a:noFill/>
        </p:spPr>
        <p:txBody>
          <a:bodyPr wrap="square">
            <a:spAutoFit/>
          </a:bodyPr>
          <a:lstStyle/>
          <a:p>
            <a:pPr>
              <a:buNone/>
            </a:pPr>
            <a:r>
              <a:rPr lang="en-IN" dirty="0"/>
              <a:t>For applications that require reliable delivery, the Transport Layer needs mechanisms to deal with such problems.</a:t>
            </a:r>
          </a:p>
          <a:p>
            <a:pPr>
              <a:buNone/>
            </a:pPr>
            <a:endParaRPr lang="en-IN" dirty="0"/>
          </a:p>
          <a:p>
            <a:pPr>
              <a:buNone/>
            </a:pPr>
            <a:r>
              <a:rPr lang="en-IN" dirty="0"/>
              <a:t>TCP provides those mechanisms.</a:t>
            </a:r>
          </a:p>
        </p:txBody>
      </p:sp>
    </p:spTree>
    <p:extLst>
      <p:ext uri="{BB962C8B-B14F-4D97-AF65-F5344CB8AC3E}">
        <p14:creationId xmlns:p14="http://schemas.microsoft.com/office/powerpoint/2010/main" val="31876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8DF5B-F56D-C832-FDF2-ACFB0363B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2866A-4BE7-F521-D867-DBC5E428C7B5}"/>
              </a:ext>
            </a:extLst>
          </p:cNvPr>
          <p:cNvSpPr>
            <a:spLocks noGrp="1"/>
          </p:cNvSpPr>
          <p:nvPr>
            <p:ph type="title"/>
          </p:nvPr>
        </p:nvSpPr>
        <p:spPr>
          <a:xfrm>
            <a:off x="275844" y="495220"/>
            <a:ext cx="11640312" cy="464900"/>
          </a:xfrm>
        </p:spPr>
        <p:txBody>
          <a:bodyPr>
            <a:normAutofit/>
          </a:bodyPr>
          <a:lstStyle/>
          <a:p>
            <a:r>
              <a:rPr lang="en-IN" sz="2400" b="1" dirty="0"/>
              <a:t>TCP is Connection-Oriented</a:t>
            </a:r>
          </a:p>
        </p:txBody>
      </p:sp>
      <p:sp>
        <p:nvSpPr>
          <p:cNvPr id="4" name="TextBox 3">
            <a:extLst>
              <a:ext uri="{FF2B5EF4-FFF2-40B4-BE49-F238E27FC236}">
                <a16:creationId xmlns:a16="http://schemas.microsoft.com/office/drawing/2014/main" id="{FB47D541-C09D-067A-67A2-EE9A881115C6}"/>
              </a:ext>
            </a:extLst>
          </p:cNvPr>
          <p:cNvSpPr txBox="1"/>
          <p:nvPr/>
        </p:nvSpPr>
        <p:spPr>
          <a:xfrm>
            <a:off x="275844" y="960120"/>
            <a:ext cx="11322598" cy="646331"/>
          </a:xfrm>
          <a:prstGeom prst="rect">
            <a:avLst/>
          </a:prstGeom>
          <a:noFill/>
        </p:spPr>
        <p:txBody>
          <a:bodyPr wrap="square">
            <a:spAutoFit/>
          </a:bodyPr>
          <a:lstStyle/>
          <a:p>
            <a:r>
              <a:rPr lang="en-IN" dirty="0"/>
              <a:t>Connection-oriented means TCP establishes a logical connection between the two endpoints before normal application data transfer begins.</a:t>
            </a:r>
          </a:p>
        </p:txBody>
      </p:sp>
      <p:pic>
        <p:nvPicPr>
          <p:cNvPr id="6" name="Picture 5">
            <a:extLst>
              <a:ext uri="{FF2B5EF4-FFF2-40B4-BE49-F238E27FC236}">
                <a16:creationId xmlns:a16="http://schemas.microsoft.com/office/drawing/2014/main" id="{08D215B4-D426-00A5-0529-FCDF30AC4984}"/>
              </a:ext>
            </a:extLst>
          </p:cNvPr>
          <p:cNvPicPr>
            <a:picLocks noChangeAspect="1"/>
          </p:cNvPicPr>
          <p:nvPr/>
        </p:nvPicPr>
        <p:blipFill>
          <a:blip r:embed="rId2"/>
          <a:stretch>
            <a:fillRect/>
          </a:stretch>
        </p:blipFill>
        <p:spPr>
          <a:xfrm>
            <a:off x="275843" y="1606451"/>
            <a:ext cx="3766767" cy="3061802"/>
          </a:xfrm>
          <a:prstGeom prst="rect">
            <a:avLst/>
          </a:prstGeom>
        </p:spPr>
      </p:pic>
      <p:sp>
        <p:nvSpPr>
          <p:cNvPr id="8" name="TextBox 7">
            <a:extLst>
              <a:ext uri="{FF2B5EF4-FFF2-40B4-BE49-F238E27FC236}">
                <a16:creationId xmlns:a16="http://schemas.microsoft.com/office/drawing/2014/main" id="{9C6DB280-B5C4-62C0-AB4F-DDD0F8587B25}"/>
              </a:ext>
            </a:extLst>
          </p:cNvPr>
          <p:cNvSpPr txBox="1"/>
          <p:nvPr/>
        </p:nvSpPr>
        <p:spPr>
          <a:xfrm>
            <a:off x="275843" y="4775235"/>
            <a:ext cx="6096000" cy="369332"/>
          </a:xfrm>
          <a:prstGeom prst="rect">
            <a:avLst/>
          </a:prstGeom>
          <a:noFill/>
        </p:spPr>
        <p:txBody>
          <a:bodyPr wrap="square">
            <a:spAutoFit/>
          </a:bodyPr>
          <a:lstStyle/>
          <a:p>
            <a:r>
              <a:rPr lang="en-IN" dirty="0"/>
              <a:t>So TCP communication broadly has three phases:</a:t>
            </a:r>
          </a:p>
        </p:txBody>
      </p:sp>
      <p:pic>
        <p:nvPicPr>
          <p:cNvPr id="10" name="Picture 9">
            <a:extLst>
              <a:ext uri="{FF2B5EF4-FFF2-40B4-BE49-F238E27FC236}">
                <a16:creationId xmlns:a16="http://schemas.microsoft.com/office/drawing/2014/main" id="{CE045E86-A9B9-90CF-D1FC-9A8CF1BD0474}"/>
              </a:ext>
            </a:extLst>
          </p:cNvPr>
          <p:cNvPicPr>
            <a:picLocks noChangeAspect="1"/>
          </p:cNvPicPr>
          <p:nvPr/>
        </p:nvPicPr>
        <p:blipFill>
          <a:blip r:embed="rId3"/>
          <a:stretch>
            <a:fillRect/>
          </a:stretch>
        </p:blipFill>
        <p:spPr>
          <a:xfrm>
            <a:off x="500145" y="5251550"/>
            <a:ext cx="3959560" cy="1356614"/>
          </a:xfrm>
          <a:prstGeom prst="rect">
            <a:avLst/>
          </a:prstGeom>
        </p:spPr>
      </p:pic>
      <p:sp>
        <p:nvSpPr>
          <p:cNvPr id="12" name="TextBox 11">
            <a:extLst>
              <a:ext uri="{FF2B5EF4-FFF2-40B4-BE49-F238E27FC236}">
                <a16:creationId xmlns:a16="http://schemas.microsoft.com/office/drawing/2014/main" id="{1608AC3A-AF92-ACBD-03F3-1E2321F4614E}"/>
              </a:ext>
            </a:extLst>
          </p:cNvPr>
          <p:cNvSpPr txBox="1"/>
          <p:nvPr/>
        </p:nvSpPr>
        <p:spPr>
          <a:xfrm>
            <a:off x="5937143" y="1713433"/>
            <a:ext cx="6096000" cy="369332"/>
          </a:xfrm>
          <a:prstGeom prst="rect">
            <a:avLst/>
          </a:prstGeom>
          <a:noFill/>
        </p:spPr>
        <p:txBody>
          <a:bodyPr wrap="square">
            <a:spAutoFit/>
          </a:bodyPr>
          <a:lstStyle/>
          <a:p>
            <a:r>
              <a:rPr lang="en-IN" b="1" dirty="0"/>
              <a:t>How does TCP establish the connection?</a:t>
            </a:r>
          </a:p>
        </p:txBody>
      </p:sp>
      <p:pic>
        <p:nvPicPr>
          <p:cNvPr id="14" name="Picture 13">
            <a:extLst>
              <a:ext uri="{FF2B5EF4-FFF2-40B4-BE49-F238E27FC236}">
                <a16:creationId xmlns:a16="http://schemas.microsoft.com/office/drawing/2014/main" id="{46E43FDB-DED3-E326-D788-919DE02B52BE}"/>
              </a:ext>
            </a:extLst>
          </p:cNvPr>
          <p:cNvPicPr>
            <a:picLocks noChangeAspect="1"/>
          </p:cNvPicPr>
          <p:nvPr/>
        </p:nvPicPr>
        <p:blipFill>
          <a:blip r:embed="rId4"/>
          <a:stretch>
            <a:fillRect/>
          </a:stretch>
        </p:blipFill>
        <p:spPr>
          <a:xfrm>
            <a:off x="6367761" y="2082765"/>
            <a:ext cx="3959560" cy="3612182"/>
          </a:xfrm>
          <a:prstGeom prst="rect">
            <a:avLst/>
          </a:prstGeom>
        </p:spPr>
      </p:pic>
      <p:sp>
        <p:nvSpPr>
          <p:cNvPr id="15" name="TextBox 14">
            <a:extLst>
              <a:ext uri="{FF2B5EF4-FFF2-40B4-BE49-F238E27FC236}">
                <a16:creationId xmlns:a16="http://schemas.microsoft.com/office/drawing/2014/main" id="{F66C0A8B-9806-9678-45C9-B760AFEEFF03}"/>
              </a:ext>
            </a:extLst>
          </p:cNvPr>
          <p:cNvSpPr txBox="1"/>
          <p:nvPr/>
        </p:nvSpPr>
        <p:spPr>
          <a:xfrm>
            <a:off x="7211012" y="6064279"/>
            <a:ext cx="2273058" cy="369332"/>
          </a:xfrm>
          <a:prstGeom prst="rect">
            <a:avLst/>
          </a:prstGeom>
          <a:noFill/>
        </p:spPr>
        <p:txBody>
          <a:bodyPr wrap="none" rtlCol="0">
            <a:spAutoFit/>
          </a:bodyPr>
          <a:lstStyle/>
          <a:p>
            <a:r>
              <a:rPr lang="en-US" dirty="0"/>
              <a:t>Three-Way Handshake</a:t>
            </a:r>
            <a:endParaRPr lang="en-IN" dirty="0"/>
          </a:p>
        </p:txBody>
      </p:sp>
    </p:spTree>
    <p:extLst>
      <p:ext uri="{BB962C8B-B14F-4D97-AF65-F5344CB8AC3E}">
        <p14:creationId xmlns:p14="http://schemas.microsoft.com/office/powerpoint/2010/main" val="2573522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4FCA1-70C4-7D2C-1F8E-EB718152C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1B199E-51FB-5455-E049-43E13A882F81}"/>
              </a:ext>
            </a:extLst>
          </p:cNvPr>
          <p:cNvSpPr>
            <a:spLocks noGrp="1"/>
          </p:cNvSpPr>
          <p:nvPr>
            <p:ph type="title"/>
          </p:nvPr>
        </p:nvSpPr>
        <p:spPr>
          <a:xfrm>
            <a:off x="275844" y="495220"/>
            <a:ext cx="11640312" cy="464900"/>
          </a:xfrm>
        </p:spPr>
        <p:txBody>
          <a:bodyPr>
            <a:normAutofit/>
          </a:bodyPr>
          <a:lstStyle/>
          <a:p>
            <a:r>
              <a:rPr lang="en-IN" sz="2400" b="1" dirty="0"/>
              <a:t>TCP provides Reliable Delivery</a:t>
            </a:r>
          </a:p>
        </p:txBody>
      </p:sp>
      <p:sp>
        <p:nvSpPr>
          <p:cNvPr id="4" name="TextBox 3">
            <a:extLst>
              <a:ext uri="{FF2B5EF4-FFF2-40B4-BE49-F238E27FC236}">
                <a16:creationId xmlns:a16="http://schemas.microsoft.com/office/drawing/2014/main" id="{76A2FB7A-0265-4BB1-D5D1-C62C9A744ED2}"/>
              </a:ext>
            </a:extLst>
          </p:cNvPr>
          <p:cNvSpPr txBox="1"/>
          <p:nvPr/>
        </p:nvSpPr>
        <p:spPr>
          <a:xfrm>
            <a:off x="275844" y="960120"/>
            <a:ext cx="11370725" cy="646331"/>
          </a:xfrm>
          <a:prstGeom prst="rect">
            <a:avLst/>
          </a:prstGeom>
          <a:noFill/>
        </p:spPr>
        <p:txBody>
          <a:bodyPr wrap="square">
            <a:spAutoFit/>
          </a:bodyPr>
          <a:lstStyle/>
          <a:p>
            <a:r>
              <a:rPr lang="en-IN" dirty="0"/>
              <a:t>Reliable delivery means TCP uses mechanisms to make sure the application receives the intended data correctly and in order, or detects/recover from losses as appropriate rather than simply ignoring them.</a:t>
            </a:r>
          </a:p>
        </p:txBody>
      </p:sp>
      <p:pic>
        <p:nvPicPr>
          <p:cNvPr id="6" name="Picture 5">
            <a:extLst>
              <a:ext uri="{FF2B5EF4-FFF2-40B4-BE49-F238E27FC236}">
                <a16:creationId xmlns:a16="http://schemas.microsoft.com/office/drawing/2014/main" id="{1EB54F56-014D-5BDE-C706-DAB3398386F9}"/>
              </a:ext>
            </a:extLst>
          </p:cNvPr>
          <p:cNvPicPr>
            <a:picLocks noChangeAspect="1"/>
          </p:cNvPicPr>
          <p:nvPr/>
        </p:nvPicPr>
        <p:blipFill>
          <a:blip r:embed="rId2"/>
          <a:stretch>
            <a:fillRect/>
          </a:stretch>
        </p:blipFill>
        <p:spPr>
          <a:xfrm>
            <a:off x="275844" y="1719250"/>
            <a:ext cx="5659735" cy="4360708"/>
          </a:xfrm>
          <a:prstGeom prst="rect">
            <a:avLst/>
          </a:prstGeom>
        </p:spPr>
      </p:pic>
      <p:pic>
        <p:nvPicPr>
          <p:cNvPr id="8" name="Picture 7">
            <a:extLst>
              <a:ext uri="{FF2B5EF4-FFF2-40B4-BE49-F238E27FC236}">
                <a16:creationId xmlns:a16="http://schemas.microsoft.com/office/drawing/2014/main" id="{3D68D032-D401-8C60-1B22-C7DD02ACD4D6}"/>
              </a:ext>
            </a:extLst>
          </p:cNvPr>
          <p:cNvPicPr>
            <a:picLocks noChangeAspect="1"/>
          </p:cNvPicPr>
          <p:nvPr/>
        </p:nvPicPr>
        <p:blipFill>
          <a:blip r:embed="rId3"/>
          <a:stretch>
            <a:fillRect/>
          </a:stretch>
        </p:blipFill>
        <p:spPr>
          <a:xfrm>
            <a:off x="6095999" y="1719250"/>
            <a:ext cx="4700337" cy="3590687"/>
          </a:xfrm>
          <a:prstGeom prst="rect">
            <a:avLst/>
          </a:prstGeom>
        </p:spPr>
      </p:pic>
    </p:spTree>
    <p:extLst>
      <p:ext uri="{BB962C8B-B14F-4D97-AF65-F5344CB8AC3E}">
        <p14:creationId xmlns:p14="http://schemas.microsoft.com/office/powerpoint/2010/main" val="30605633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DBE0-D2B3-F686-184A-B955A3306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193F3-6303-7372-6073-6FECBC85C7DD}"/>
              </a:ext>
            </a:extLst>
          </p:cNvPr>
          <p:cNvSpPr>
            <a:spLocks noGrp="1"/>
          </p:cNvSpPr>
          <p:nvPr>
            <p:ph type="title"/>
          </p:nvPr>
        </p:nvSpPr>
        <p:spPr>
          <a:xfrm>
            <a:off x="275844" y="495220"/>
            <a:ext cx="11640312" cy="464900"/>
          </a:xfrm>
        </p:spPr>
        <p:txBody>
          <a:bodyPr>
            <a:normAutofit/>
          </a:bodyPr>
          <a:lstStyle/>
          <a:p>
            <a:r>
              <a:rPr lang="en-IN" sz="2400" b="1" dirty="0"/>
              <a:t>Acknowledgment — Basic Idea</a:t>
            </a:r>
          </a:p>
        </p:txBody>
      </p:sp>
      <p:sp>
        <p:nvSpPr>
          <p:cNvPr id="5" name="TextBox 4">
            <a:extLst>
              <a:ext uri="{FF2B5EF4-FFF2-40B4-BE49-F238E27FC236}">
                <a16:creationId xmlns:a16="http://schemas.microsoft.com/office/drawing/2014/main" id="{124485EC-E735-5E9F-729D-3E46572BB444}"/>
              </a:ext>
            </a:extLst>
          </p:cNvPr>
          <p:cNvSpPr txBox="1"/>
          <p:nvPr/>
        </p:nvSpPr>
        <p:spPr>
          <a:xfrm>
            <a:off x="275844" y="960120"/>
            <a:ext cx="11640312" cy="646331"/>
          </a:xfrm>
          <a:prstGeom prst="rect">
            <a:avLst/>
          </a:prstGeom>
          <a:noFill/>
        </p:spPr>
        <p:txBody>
          <a:bodyPr wrap="square">
            <a:spAutoFit/>
          </a:bodyPr>
          <a:lstStyle/>
          <a:p>
            <a:pPr>
              <a:buNone/>
            </a:pPr>
            <a:r>
              <a:rPr lang="en-IN" dirty="0"/>
              <a:t>Suppose the sender transmits some data.</a:t>
            </a:r>
          </a:p>
          <a:p>
            <a:pPr>
              <a:buNone/>
            </a:pPr>
            <a:r>
              <a:rPr lang="en-IN" dirty="0"/>
              <a:t>The receiver can send an acknowledgment indicating what data it has successfully received / what byte it expects next.</a:t>
            </a:r>
          </a:p>
        </p:txBody>
      </p:sp>
      <p:pic>
        <p:nvPicPr>
          <p:cNvPr id="7" name="Picture 6">
            <a:extLst>
              <a:ext uri="{FF2B5EF4-FFF2-40B4-BE49-F238E27FC236}">
                <a16:creationId xmlns:a16="http://schemas.microsoft.com/office/drawing/2014/main" id="{80588EC5-C709-B282-FDE4-AE77637947BA}"/>
              </a:ext>
            </a:extLst>
          </p:cNvPr>
          <p:cNvPicPr>
            <a:picLocks noChangeAspect="1"/>
          </p:cNvPicPr>
          <p:nvPr/>
        </p:nvPicPr>
        <p:blipFill>
          <a:blip r:embed="rId2"/>
          <a:stretch>
            <a:fillRect/>
          </a:stretch>
        </p:blipFill>
        <p:spPr>
          <a:xfrm>
            <a:off x="434139" y="1695207"/>
            <a:ext cx="5790197" cy="2427613"/>
          </a:xfrm>
          <a:prstGeom prst="rect">
            <a:avLst/>
          </a:prstGeom>
        </p:spPr>
      </p:pic>
      <p:sp>
        <p:nvSpPr>
          <p:cNvPr id="9" name="TextBox 8">
            <a:extLst>
              <a:ext uri="{FF2B5EF4-FFF2-40B4-BE49-F238E27FC236}">
                <a16:creationId xmlns:a16="http://schemas.microsoft.com/office/drawing/2014/main" id="{A1553975-B414-6223-9D9F-A8619C6F496A}"/>
              </a:ext>
            </a:extLst>
          </p:cNvPr>
          <p:cNvSpPr txBox="1"/>
          <p:nvPr/>
        </p:nvSpPr>
        <p:spPr>
          <a:xfrm>
            <a:off x="577516" y="4463261"/>
            <a:ext cx="6096000" cy="923330"/>
          </a:xfrm>
          <a:prstGeom prst="rect">
            <a:avLst/>
          </a:prstGeom>
          <a:noFill/>
        </p:spPr>
        <p:txBody>
          <a:bodyPr wrap="square">
            <a:spAutoFit/>
          </a:bodyPr>
          <a:lstStyle/>
          <a:p>
            <a:pPr>
              <a:buNone/>
            </a:pPr>
            <a:r>
              <a:rPr lang="en-IN" b="1" dirty="0"/>
              <a:t>Acknowledgment</a:t>
            </a:r>
            <a:endParaRPr lang="en-IN" dirty="0"/>
          </a:p>
          <a:p>
            <a:pPr>
              <a:buNone/>
            </a:pPr>
            <a:r>
              <a:rPr lang="en-IN" dirty="0"/>
              <a:t>In simple terms, it provides feedback related to successful receipt.</a:t>
            </a:r>
          </a:p>
        </p:txBody>
      </p:sp>
    </p:spTree>
    <p:extLst>
      <p:ext uri="{BB962C8B-B14F-4D97-AF65-F5344CB8AC3E}">
        <p14:creationId xmlns:p14="http://schemas.microsoft.com/office/powerpoint/2010/main" val="1265050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0081D-D662-3D80-B792-12CA96216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4C15C7-9709-2475-CE80-2AF58527F3FC}"/>
              </a:ext>
            </a:extLst>
          </p:cNvPr>
          <p:cNvSpPr>
            <a:spLocks noGrp="1"/>
          </p:cNvSpPr>
          <p:nvPr>
            <p:ph type="title"/>
          </p:nvPr>
        </p:nvSpPr>
        <p:spPr>
          <a:xfrm>
            <a:off x="275844" y="495220"/>
            <a:ext cx="11640312" cy="464900"/>
          </a:xfrm>
        </p:spPr>
        <p:txBody>
          <a:bodyPr>
            <a:normAutofit/>
          </a:bodyPr>
          <a:lstStyle/>
          <a:p>
            <a:r>
              <a:rPr lang="en-IN" sz="2400" b="1" dirty="0"/>
              <a:t>What if TCP doesn't receive the required acknowledgment?</a:t>
            </a:r>
          </a:p>
        </p:txBody>
      </p:sp>
      <p:pic>
        <p:nvPicPr>
          <p:cNvPr id="5" name="Picture 4">
            <a:extLst>
              <a:ext uri="{FF2B5EF4-FFF2-40B4-BE49-F238E27FC236}">
                <a16:creationId xmlns:a16="http://schemas.microsoft.com/office/drawing/2014/main" id="{C1D1C104-EE83-08FB-2A70-D0FD34A1ECD1}"/>
              </a:ext>
            </a:extLst>
          </p:cNvPr>
          <p:cNvPicPr>
            <a:picLocks noChangeAspect="1"/>
          </p:cNvPicPr>
          <p:nvPr/>
        </p:nvPicPr>
        <p:blipFill>
          <a:blip r:embed="rId2"/>
          <a:stretch>
            <a:fillRect/>
          </a:stretch>
        </p:blipFill>
        <p:spPr>
          <a:xfrm>
            <a:off x="473008" y="960120"/>
            <a:ext cx="5061518" cy="5897880"/>
          </a:xfrm>
          <a:prstGeom prst="rect">
            <a:avLst/>
          </a:prstGeom>
        </p:spPr>
      </p:pic>
      <p:sp>
        <p:nvSpPr>
          <p:cNvPr id="6" name="TextBox 5">
            <a:extLst>
              <a:ext uri="{FF2B5EF4-FFF2-40B4-BE49-F238E27FC236}">
                <a16:creationId xmlns:a16="http://schemas.microsoft.com/office/drawing/2014/main" id="{02E2AA21-11E4-0623-C4F8-7CD0BE098B59}"/>
              </a:ext>
            </a:extLst>
          </p:cNvPr>
          <p:cNvSpPr txBox="1"/>
          <p:nvPr/>
        </p:nvSpPr>
        <p:spPr>
          <a:xfrm>
            <a:off x="6224337" y="3449053"/>
            <a:ext cx="5436488" cy="369332"/>
          </a:xfrm>
          <a:prstGeom prst="rect">
            <a:avLst/>
          </a:prstGeom>
          <a:noFill/>
        </p:spPr>
        <p:txBody>
          <a:bodyPr wrap="none" rtlCol="0">
            <a:spAutoFit/>
          </a:bodyPr>
          <a:lstStyle/>
          <a:p>
            <a:r>
              <a:rPr lang="en-IN" dirty="0"/>
              <a:t>We will study this TCP Timer Management in detail later.</a:t>
            </a:r>
          </a:p>
        </p:txBody>
      </p:sp>
    </p:spTree>
    <p:extLst>
      <p:ext uri="{BB962C8B-B14F-4D97-AF65-F5344CB8AC3E}">
        <p14:creationId xmlns:p14="http://schemas.microsoft.com/office/powerpoint/2010/main" val="4388048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4393F-EADD-1678-1CD4-7FF937177C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7AAEA-3A80-F26D-9B23-B7A4442CA15D}"/>
              </a:ext>
            </a:extLst>
          </p:cNvPr>
          <p:cNvSpPr>
            <a:spLocks noGrp="1"/>
          </p:cNvSpPr>
          <p:nvPr>
            <p:ph type="title"/>
          </p:nvPr>
        </p:nvSpPr>
        <p:spPr>
          <a:xfrm>
            <a:off x="275844" y="495220"/>
            <a:ext cx="11640312" cy="464900"/>
          </a:xfrm>
        </p:spPr>
        <p:txBody>
          <a:bodyPr>
            <a:normAutofit/>
          </a:bodyPr>
          <a:lstStyle/>
          <a:p>
            <a:r>
              <a:rPr lang="en-IN" sz="2400" b="1" dirty="0"/>
              <a:t>TCP provides Ordered Delivery</a:t>
            </a:r>
          </a:p>
        </p:txBody>
      </p:sp>
      <p:sp>
        <p:nvSpPr>
          <p:cNvPr id="4" name="TextBox 3">
            <a:extLst>
              <a:ext uri="{FF2B5EF4-FFF2-40B4-BE49-F238E27FC236}">
                <a16:creationId xmlns:a16="http://schemas.microsoft.com/office/drawing/2014/main" id="{72F0BE50-1809-EB2F-1681-2CC90FAFCB89}"/>
              </a:ext>
            </a:extLst>
          </p:cNvPr>
          <p:cNvSpPr txBox="1"/>
          <p:nvPr/>
        </p:nvSpPr>
        <p:spPr>
          <a:xfrm>
            <a:off x="275844" y="1166842"/>
            <a:ext cx="10331116" cy="4247317"/>
          </a:xfrm>
          <a:prstGeom prst="rect">
            <a:avLst/>
          </a:prstGeom>
          <a:noFill/>
        </p:spPr>
        <p:txBody>
          <a:bodyPr wrap="square">
            <a:spAutoFit/>
          </a:bodyPr>
          <a:lstStyle/>
          <a:p>
            <a:pPr>
              <a:buNone/>
            </a:pPr>
            <a:r>
              <a:rPr lang="en-IN" dirty="0"/>
              <a:t>Suppose the application data logically belongs in this order: </a:t>
            </a:r>
            <a:r>
              <a:rPr lang="en-IN" dirty="0">
                <a:latin typeface="+mn-lt"/>
              </a:rPr>
              <a:t>A → B → C → D</a:t>
            </a:r>
          </a:p>
          <a:p>
            <a:pPr>
              <a:buNone/>
            </a:pPr>
            <a:endParaRPr lang="en-IN" dirty="0"/>
          </a:p>
          <a:p>
            <a:pPr>
              <a:buNone/>
            </a:pPr>
            <a:r>
              <a:rPr lang="en-IN" dirty="0"/>
              <a:t>Due to network </a:t>
            </a:r>
            <a:r>
              <a:rPr lang="en-IN" dirty="0" err="1"/>
              <a:t>behavior</a:t>
            </a:r>
            <a:r>
              <a:rPr lang="en-IN" dirty="0"/>
              <a:t>, pieces of TCP data may arrive in a different order.</a:t>
            </a:r>
          </a:p>
          <a:p>
            <a:pPr>
              <a:buNone/>
            </a:pPr>
            <a:r>
              <a:rPr lang="en-IN" dirty="0"/>
              <a:t>Conceptually:</a:t>
            </a:r>
          </a:p>
          <a:p>
            <a:pPr rtl="0">
              <a:buNone/>
            </a:pPr>
            <a:r>
              <a:rPr lang="en-IN" dirty="0">
                <a:latin typeface="+mn-lt"/>
              </a:rPr>
              <a:t>Expected: A  B  C  D</a:t>
            </a:r>
          </a:p>
          <a:p>
            <a:pPr rtl="0">
              <a:buNone/>
            </a:pPr>
            <a:endParaRPr lang="en-IN" dirty="0">
              <a:latin typeface="+mn-lt"/>
            </a:endParaRPr>
          </a:p>
          <a:p>
            <a:pPr rtl="0">
              <a:buNone/>
            </a:pPr>
            <a:r>
              <a:rPr lang="en-IN" dirty="0">
                <a:latin typeface="+mn-lt"/>
              </a:rPr>
              <a:t>Arrival:</a:t>
            </a:r>
            <a:r>
              <a:rPr lang="en-IN" dirty="0"/>
              <a:t> </a:t>
            </a:r>
            <a:r>
              <a:rPr lang="en-IN" dirty="0">
                <a:latin typeface="+mn-lt"/>
              </a:rPr>
              <a:t>A  C  B  D</a:t>
            </a:r>
          </a:p>
          <a:p>
            <a:pPr rtl="0">
              <a:buNone/>
            </a:pPr>
            <a:endParaRPr lang="en-IN" dirty="0">
              <a:latin typeface="+mn-lt"/>
            </a:endParaRPr>
          </a:p>
          <a:p>
            <a:pPr>
              <a:buNone/>
            </a:pPr>
            <a:r>
              <a:rPr lang="en-IN" dirty="0"/>
              <a:t>TCP uses </a:t>
            </a:r>
            <a:r>
              <a:rPr lang="en-IN" b="1" dirty="0"/>
              <a:t>sequence numbers</a:t>
            </a:r>
            <a:r>
              <a:rPr lang="en-IN" dirty="0"/>
              <a:t> to keep track of the byte stream.</a:t>
            </a:r>
          </a:p>
          <a:p>
            <a:pPr>
              <a:buNone/>
            </a:pPr>
            <a:endParaRPr lang="en-IN" dirty="0"/>
          </a:p>
          <a:p>
            <a:pPr>
              <a:buNone/>
            </a:pPr>
            <a:r>
              <a:rPr lang="en-IN" dirty="0"/>
              <a:t>It can therefore provide the application with the data in the proper order.</a:t>
            </a:r>
          </a:p>
          <a:p>
            <a:pPr>
              <a:buNone/>
            </a:pPr>
            <a:endParaRPr lang="en-IN" dirty="0"/>
          </a:p>
          <a:p>
            <a:pPr>
              <a:buNone/>
            </a:pPr>
            <a:r>
              <a:rPr lang="en-IN" dirty="0"/>
              <a:t>So the application should see:</a:t>
            </a:r>
          </a:p>
          <a:p>
            <a:pPr rtl="0">
              <a:buNone/>
            </a:pPr>
            <a:r>
              <a:rPr lang="en-IN" dirty="0">
                <a:latin typeface="+mn-lt"/>
              </a:rPr>
              <a:t>A  B  C  D</a:t>
            </a:r>
          </a:p>
          <a:p>
            <a:pPr>
              <a:buNone/>
            </a:pPr>
            <a:r>
              <a:rPr lang="en-IN" dirty="0"/>
              <a:t>rather than simply being handed data in whatever network arrival order occurred.</a:t>
            </a:r>
          </a:p>
        </p:txBody>
      </p:sp>
    </p:spTree>
    <p:extLst>
      <p:ext uri="{BB962C8B-B14F-4D97-AF65-F5344CB8AC3E}">
        <p14:creationId xmlns:p14="http://schemas.microsoft.com/office/powerpoint/2010/main" val="322977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A6A18-6D98-00CD-E5F3-77FEB3F73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89DDC-E6C8-DE91-1C43-A24A6E78FB0A}"/>
              </a:ext>
            </a:extLst>
          </p:cNvPr>
          <p:cNvSpPr>
            <a:spLocks noGrp="1"/>
          </p:cNvSpPr>
          <p:nvPr>
            <p:ph type="title"/>
          </p:nvPr>
        </p:nvSpPr>
        <p:spPr>
          <a:xfrm>
            <a:off x="275844" y="495220"/>
            <a:ext cx="11640312" cy="464900"/>
          </a:xfrm>
        </p:spPr>
        <p:txBody>
          <a:bodyPr>
            <a:normAutofit/>
          </a:bodyPr>
          <a:lstStyle/>
          <a:p>
            <a:r>
              <a:rPr lang="en-IN" sz="2400" b="1" dirty="0"/>
              <a:t>TCP is Byte-Stream Oriented</a:t>
            </a:r>
          </a:p>
        </p:txBody>
      </p:sp>
      <p:sp>
        <p:nvSpPr>
          <p:cNvPr id="4" name="TextBox 3">
            <a:extLst>
              <a:ext uri="{FF2B5EF4-FFF2-40B4-BE49-F238E27FC236}">
                <a16:creationId xmlns:a16="http://schemas.microsoft.com/office/drawing/2014/main" id="{7FB28B1F-D627-5500-56C2-3CC9A4926A58}"/>
              </a:ext>
            </a:extLst>
          </p:cNvPr>
          <p:cNvSpPr txBox="1"/>
          <p:nvPr/>
        </p:nvSpPr>
        <p:spPr>
          <a:xfrm>
            <a:off x="275844" y="1120676"/>
            <a:ext cx="8710863" cy="3139321"/>
          </a:xfrm>
          <a:prstGeom prst="rect">
            <a:avLst/>
          </a:prstGeom>
          <a:noFill/>
        </p:spPr>
        <p:txBody>
          <a:bodyPr wrap="square">
            <a:spAutoFit/>
          </a:bodyPr>
          <a:lstStyle/>
          <a:p>
            <a:pPr>
              <a:buNone/>
            </a:pPr>
            <a:r>
              <a:rPr lang="en-IN" dirty="0"/>
              <a:t>TCP provides applications with a </a:t>
            </a:r>
            <a:r>
              <a:rPr lang="en-IN" b="1" dirty="0"/>
              <a:t>byte-stream service</a:t>
            </a:r>
            <a:r>
              <a:rPr lang="en-IN" dirty="0"/>
              <a:t>.</a:t>
            </a:r>
          </a:p>
          <a:p>
            <a:pPr>
              <a:buNone/>
            </a:pPr>
            <a:endParaRPr lang="en-IN" dirty="0"/>
          </a:p>
          <a:p>
            <a:pPr>
              <a:buNone/>
            </a:pPr>
            <a:r>
              <a:rPr lang="en-IN" dirty="0"/>
              <a:t>Suppose an application writes:</a:t>
            </a:r>
          </a:p>
          <a:p>
            <a:pPr rtl="0">
              <a:buNone/>
            </a:pPr>
            <a:r>
              <a:rPr lang="en-IN" dirty="0">
                <a:latin typeface="+mn-lt"/>
              </a:rPr>
              <a:t>HELLO STUDENTS</a:t>
            </a:r>
          </a:p>
          <a:p>
            <a:pPr>
              <a:buNone/>
            </a:pPr>
            <a:endParaRPr lang="en-IN" dirty="0"/>
          </a:p>
          <a:p>
            <a:pPr>
              <a:buNone/>
            </a:pPr>
            <a:r>
              <a:rPr lang="en-IN" dirty="0"/>
              <a:t>At the Transport Layer, TCP views application data as a stream of bytes.</a:t>
            </a:r>
          </a:p>
          <a:p>
            <a:pPr>
              <a:buNone/>
            </a:pPr>
            <a:endParaRPr lang="en-IN" dirty="0"/>
          </a:p>
          <a:p>
            <a:pPr>
              <a:buNone/>
            </a:pPr>
            <a:r>
              <a:rPr lang="en-IN" dirty="0"/>
              <a:t>Conceptually:</a:t>
            </a:r>
          </a:p>
          <a:p>
            <a:pPr rtl="0">
              <a:buNone/>
            </a:pPr>
            <a:r>
              <a:rPr lang="en-IN" dirty="0">
                <a:latin typeface="+mn-lt"/>
              </a:rPr>
              <a:t>H E L </a:t>
            </a:r>
            <a:r>
              <a:rPr lang="en-IN" dirty="0" err="1">
                <a:latin typeface="+mn-lt"/>
              </a:rPr>
              <a:t>L</a:t>
            </a:r>
            <a:r>
              <a:rPr lang="en-IN" dirty="0">
                <a:latin typeface="+mn-lt"/>
              </a:rPr>
              <a:t> O   S T U D E N T S</a:t>
            </a:r>
          </a:p>
          <a:p>
            <a:pPr rtl="0">
              <a:buNone/>
            </a:pPr>
            <a:r>
              <a:rPr lang="en-IN" dirty="0">
                <a:latin typeface="+mn-lt"/>
              </a:rPr>
              <a:t>↓ ↓ ↓ ↓ ↓ ↓ ↓ ↓ ↓ ↓ ↓ ↓ ↓ ↓</a:t>
            </a:r>
          </a:p>
          <a:p>
            <a:pPr rtl="0">
              <a:buNone/>
            </a:pPr>
            <a:r>
              <a:rPr lang="en-IN" dirty="0">
                <a:latin typeface="+mn-lt"/>
              </a:rPr>
              <a:t>Byte stream</a:t>
            </a:r>
            <a:endParaRPr lang="en-IN" dirty="0">
              <a:latin typeface="Courier New" panose="02070309020205020404" pitchFamily="49" charset="0"/>
            </a:endParaRPr>
          </a:p>
        </p:txBody>
      </p:sp>
      <p:sp>
        <p:nvSpPr>
          <p:cNvPr id="5" name="Title 1">
            <a:extLst>
              <a:ext uri="{FF2B5EF4-FFF2-40B4-BE49-F238E27FC236}">
                <a16:creationId xmlns:a16="http://schemas.microsoft.com/office/drawing/2014/main" id="{A3DC5D8D-B582-170E-2A55-FDAEB762EAB4}"/>
              </a:ext>
            </a:extLst>
          </p:cNvPr>
          <p:cNvSpPr txBox="1">
            <a:spLocks/>
          </p:cNvSpPr>
          <p:nvPr/>
        </p:nvSpPr>
        <p:spPr>
          <a:xfrm>
            <a:off x="275844" y="4466408"/>
            <a:ext cx="11640312" cy="464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dirty="0"/>
              <a:t>TCP is Full Duplex</a:t>
            </a:r>
          </a:p>
        </p:txBody>
      </p:sp>
      <p:sp>
        <p:nvSpPr>
          <p:cNvPr id="8" name="TextBox 7">
            <a:extLst>
              <a:ext uri="{FF2B5EF4-FFF2-40B4-BE49-F238E27FC236}">
                <a16:creationId xmlns:a16="http://schemas.microsoft.com/office/drawing/2014/main" id="{0019C9C6-42B3-6DAC-E52E-062A25D045B7}"/>
              </a:ext>
            </a:extLst>
          </p:cNvPr>
          <p:cNvSpPr txBox="1"/>
          <p:nvPr/>
        </p:nvSpPr>
        <p:spPr>
          <a:xfrm>
            <a:off x="275844" y="4931308"/>
            <a:ext cx="6096000" cy="646331"/>
          </a:xfrm>
          <a:prstGeom prst="rect">
            <a:avLst/>
          </a:prstGeom>
          <a:noFill/>
        </p:spPr>
        <p:txBody>
          <a:bodyPr wrap="square">
            <a:spAutoFit/>
          </a:bodyPr>
          <a:lstStyle/>
          <a:p>
            <a:r>
              <a:rPr lang="en-IN" dirty="0"/>
              <a:t>Both sides can send and receive data simultaneously over the TCP connection.</a:t>
            </a:r>
          </a:p>
        </p:txBody>
      </p:sp>
    </p:spTree>
    <p:extLst>
      <p:ext uri="{BB962C8B-B14F-4D97-AF65-F5344CB8AC3E}">
        <p14:creationId xmlns:p14="http://schemas.microsoft.com/office/powerpoint/2010/main" val="2984424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2577D-922F-1F90-85B0-68B5137565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A3DAB7-42E9-B540-2449-C5F4A38784E7}"/>
              </a:ext>
            </a:extLst>
          </p:cNvPr>
          <p:cNvSpPr>
            <a:spLocks noGrp="1"/>
          </p:cNvSpPr>
          <p:nvPr>
            <p:ph type="title"/>
          </p:nvPr>
        </p:nvSpPr>
        <p:spPr>
          <a:xfrm>
            <a:off x="275844" y="495220"/>
            <a:ext cx="11640312" cy="464900"/>
          </a:xfrm>
        </p:spPr>
        <p:txBody>
          <a:bodyPr>
            <a:normAutofit/>
          </a:bodyPr>
          <a:lstStyle/>
          <a:p>
            <a:r>
              <a:rPr lang="en-IN" sz="2400" b="1" dirty="0"/>
              <a:t>TCP provides Flow Control</a:t>
            </a:r>
          </a:p>
        </p:txBody>
      </p:sp>
      <p:sp>
        <p:nvSpPr>
          <p:cNvPr id="6" name="TextBox 5">
            <a:extLst>
              <a:ext uri="{FF2B5EF4-FFF2-40B4-BE49-F238E27FC236}">
                <a16:creationId xmlns:a16="http://schemas.microsoft.com/office/drawing/2014/main" id="{68FAFE6A-77D1-31FB-5627-1D0D36D66BCC}"/>
              </a:ext>
            </a:extLst>
          </p:cNvPr>
          <p:cNvSpPr txBox="1"/>
          <p:nvPr/>
        </p:nvSpPr>
        <p:spPr>
          <a:xfrm>
            <a:off x="275844" y="960120"/>
            <a:ext cx="10712998" cy="3416320"/>
          </a:xfrm>
          <a:prstGeom prst="rect">
            <a:avLst/>
          </a:prstGeom>
          <a:noFill/>
        </p:spPr>
        <p:txBody>
          <a:bodyPr wrap="square">
            <a:spAutoFit/>
          </a:bodyPr>
          <a:lstStyle/>
          <a:p>
            <a:pPr>
              <a:buNone/>
            </a:pPr>
            <a:r>
              <a:rPr lang="en-IN" dirty="0"/>
              <a:t>Suppose:</a:t>
            </a:r>
          </a:p>
          <a:p>
            <a:pPr>
              <a:buNone/>
            </a:pPr>
            <a:endParaRPr lang="en-IN" dirty="0"/>
          </a:p>
          <a:p>
            <a:pPr rtl="0">
              <a:buNone/>
            </a:pPr>
            <a:r>
              <a:rPr lang="en-IN" dirty="0">
                <a:latin typeface="+mn-lt"/>
              </a:rPr>
              <a:t>Sender capacity   = 1000 units/sec</a:t>
            </a:r>
          </a:p>
          <a:p>
            <a:pPr rtl="0">
              <a:buNone/>
            </a:pPr>
            <a:r>
              <a:rPr lang="en-IN" dirty="0">
                <a:latin typeface="+mn-lt"/>
              </a:rPr>
              <a:t>Receiver capacity = 300 units/sec</a:t>
            </a:r>
          </a:p>
          <a:p>
            <a:pPr>
              <a:buNone/>
            </a:pPr>
            <a:endParaRPr lang="en-IN" dirty="0"/>
          </a:p>
          <a:p>
            <a:pPr>
              <a:buNone/>
            </a:pPr>
            <a:r>
              <a:rPr lang="en-IN" dirty="0"/>
              <a:t>If the sender keeps pushing data faster than the receiver can accept/process/buffer it, the receiver's buffer could become overwhelmed.</a:t>
            </a:r>
          </a:p>
          <a:p>
            <a:pPr>
              <a:buNone/>
            </a:pPr>
            <a:endParaRPr lang="en-IN" dirty="0"/>
          </a:p>
          <a:p>
            <a:pPr>
              <a:buNone/>
            </a:pPr>
            <a:r>
              <a:rPr lang="en-IN" dirty="0"/>
              <a:t>TCP therefore provides </a:t>
            </a:r>
            <a:r>
              <a:rPr lang="en-IN" b="1" dirty="0"/>
              <a:t>flow control</a:t>
            </a:r>
            <a:r>
              <a:rPr lang="en-IN" dirty="0"/>
              <a:t>.</a:t>
            </a:r>
          </a:p>
          <a:p>
            <a:pPr>
              <a:buNone/>
            </a:pPr>
            <a:endParaRPr lang="en-IN" b="1" dirty="0"/>
          </a:p>
          <a:p>
            <a:pPr>
              <a:buNone/>
            </a:pPr>
            <a:r>
              <a:rPr lang="en-IN" b="1" dirty="0"/>
              <a:t>Flow control prevents a fast sender from overwhelming a slower receiver.</a:t>
            </a:r>
            <a:endParaRPr lang="en-IN" dirty="0"/>
          </a:p>
          <a:p>
            <a:pPr>
              <a:buNone/>
            </a:pPr>
            <a:r>
              <a:rPr lang="en-IN" dirty="0"/>
              <a:t>The receiver communicates information about how much data it is currently prepared to accept.</a:t>
            </a:r>
          </a:p>
        </p:txBody>
      </p:sp>
    </p:spTree>
    <p:extLst>
      <p:ext uri="{BB962C8B-B14F-4D97-AF65-F5344CB8AC3E}">
        <p14:creationId xmlns:p14="http://schemas.microsoft.com/office/powerpoint/2010/main" val="4008069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8C12B-CA20-8496-97E2-4C6C7ECAF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8DD2E-61A3-B216-C54F-70EF90EFCAC0}"/>
              </a:ext>
            </a:extLst>
          </p:cNvPr>
          <p:cNvSpPr>
            <a:spLocks noGrp="1"/>
          </p:cNvSpPr>
          <p:nvPr>
            <p:ph type="title"/>
          </p:nvPr>
        </p:nvSpPr>
        <p:spPr>
          <a:xfrm>
            <a:off x="275844" y="495220"/>
            <a:ext cx="11640312" cy="464900"/>
          </a:xfrm>
        </p:spPr>
        <p:txBody>
          <a:bodyPr>
            <a:normAutofit/>
          </a:bodyPr>
          <a:lstStyle/>
          <a:p>
            <a:r>
              <a:rPr lang="en-IN" sz="2400" b="1" dirty="0"/>
              <a:t>TCP also performs Error Detection</a:t>
            </a:r>
          </a:p>
        </p:txBody>
      </p:sp>
      <p:sp>
        <p:nvSpPr>
          <p:cNvPr id="5" name="TextBox 4">
            <a:extLst>
              <a:ext uri="{FF2B5EF4-FFF2-40B4-BE49-F238E27FC236}">
                <a16:creationId xmlns:a16="http://schemas.microsoft.com/office/drawing/2014/main" id="{9C51A1E5-AFC6-20EE-885A-8599CD1D9421}"/>
              </a:ext>
            </a:extLst>
          </p:cNvPr>
          <p:cNvSpPr txBox="1"/>
          <p:nvPr/>
        </p:nvSpPr>
        <p:spPr>
          <a:xfrm>
            <a:off x="340012" y="1353195"/>
            <a:ext cx="8245642" cy="4524315"/>
          </a:xfrm>
          <a:prstGeom prst="rect">
            <a:avLst/>
          </a:prstGeom>
          <a:noFill/>
        </p:spPr>
        <p:txBody>
          <a:bodyPr wrap="square">
            <a:spAutoFit/>
          </a:bodyPr>
          <a:lstStyle/>
          <a:p>
            <a:pPr>
              <a:buNone/>
            </a:pPr>
            <a:r>
              <a:rPr lang="en-IN" dirty="0"/>
              <a:t>TCP has a </a:t>
            </a:r>
            <a:r>
              <a:rPr lang="en-IN" b="1" dirty="0"/>
              <a:t>checksum</a:t>
            </a:r>
            <a:r>
              <a:rPr lang="en-IN" dirty="0"/>
              <a:t> field in its header.</a:t>
            </a:r>
          </a:p>
          <a:p>
            <a:pPr>
              <a:buNone/>
            </a:pPr>
            <a:r>
              <a:rPr lang="en-IN" dirty="0"/>
              <a:t>Its purpose is to help detect corruption affecting the TCP segment.</a:t>
            </a:r>
          </a:p>
          <a:p>
            <a:pPr>
              <a:buNone/>
            </a:pPr>
            <a:r>
              <a:rPr lang="en-IN" dirty="0"/>
              <a:t>Conceptually:</a:t>
            </a:r>
          </a:p>
          <a:p>
            <a:pPr rtl="0">
              <a:buNone/>
            </a:pPr>
            <a:r>
              <a:rPr lang="en-IN" dirty="0">
                <a:latin typeface="+mn-lt"/>
              </a:rPr>
              <a:t>Sender</a:t>
            </a:r>
          </a:p>
          <a:p>
            <a:pPr rtl="0">
              <a:buNone/>
            </a:pPr>
            <a:r>
              <a:rPr lang="en-IN" dirty="0">
                <a:latin typeface="+mn-lt"/>
              </a:rPr>
              <a:t>   │</a:t>
            </a:r>
          </a:p>
          <a:p>
            <a:pPr rtl="0">
              <a:buNone/>
            </a:pPr>
            <a:r>
              <a:rPr lang="en-IN" dirty="0">
                <a:latin typeface="+mn-lt"/>
              </a:rPr>
              <a:t>Calculate checksum</a:t>
            </a:r>
          </a:p>
          <a:p>
            <a:pPr rtl="0">
              <a:buNone/>
            </a:pPr>
            <a:r>
              <a:rPr lang="en-IN" dirty="0">
                <a:latin typeface="+mn-lt"/>
              </a:rPr>
              <a:t>   │</a:t>
            </a:r>
          </a:p>
          <a:p>
            <a:pPr rtl="0">
              <a:buNone/>
            </a:pPr>
            <a:r>
              <a:rPr lang="en-IN" dirty="0">
                <a:latin typeface="+mn-lt"/>
              </a:rPr>
              <a:t>   ▼</a:t>
            </a:r>
          </a:p>
          <a:p>
            <a:pPr rtl="0">
              <a:buNone/>
            </a:pPr>
            <a:r>
              <a:rPr lang="en-IN" dirty="0">
                <a:latin typeface="+mn-lt"/>
              </a:rPr>
              <a:t>Send TCP Segment</a:t>
            </a:r>
          </a:p>
          <a:p>
            <a:pPr rtl="0">
              <a:buNone/>
            </a:pPr>
            <a:r>
              <a:rPr lang="en-IN" dirty="0">
                <a:latin typeface="+mn-lt"/>
              </a:rPr>
              <a:t>   │</a:t>
            </a:r>
          </a:p>
          <a:p>
            <a:pPr rtl="0">
              <a:buNone/>
            </a:pPr>
            <a:r>
              <a:rPr lang="en-IN" dirty="0">
                <a:latin typeface="+mn-lt"/>
              </a:rPr>
              <a:t>   ▼</a:t>
            </a:r>
          </a:p>
          <a:p>
            <a:pPr rtl="0">
              <a:buNone/>
            </a:pPr>
            <a:r>
              <a:rPr lang="en-IN" dirty="0">
                <a:latin typeface="+mn-lt"/>
              </a:rPr>
              <a:t>Receiver</a:t>
            </a:r>
          </a:p>
          <a:p>
            <a:pPr rtl="0">
              <a:buNone/>
            </a:pPr>
            <a:r>
              <a:rPr lang="en-IN" dirty="0">
                <a:latin typeface="+mn-lt"/>
              </a:rPr>
              <a:t>   │</a:t>
            </a:r>
          </a:p>
          <a:p>
            <a:pPr rtl="0">
              <a:buNone/>
            </a:pPr>
            <a:r>
              <a:rPr lang="en-IN" dirty="0">
                <a:latin typeface="+mn-lt"/>
              </a:rPr>
              <a:t>Verify checksum</a:t>
            </a:r>
          </a:p>
          <a:p>
            <a:pPr>
              <a:buNone/>
            </a:pPr>
            <a:r>
              <a:rPr lang="en-IN" dirty="0"/>
              <a:t>If corruption is detected, TCP does not simply deliver corrupted application data as valid data.</a:t>
            </a:r>
          </a:p>
        </p:txBody>
      </p:sp>
    </p:spTree>
    <p:extLst>
      <p:ext uri="{BB962C8B-B14F-4D97-AF65-F5344CB8AC3E}">
        <p14:creationId xmlns:p14="http://schemas.microsoft.com/office/powerpoint/2010/main" val="1836877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7D190-F23B-F2F8-75B5-529862B92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D7D8D-F21C-C595-7FB6-522EE3454041}"/>
              </a:ext>
            </a:extLst>
          </p:cNvPr>
          <p:cNvSpPr>
            <a:spLocks noGrp="1"/>
          </p:cNvSpPr>
          <p:nvPr>
            <p:ph type="title"/>
          </p:nvPr>
        </p:nvSpPr>
        <p:spPr>
          <a:xfrm>
            <a:off x="275844" y="495220"/>
            <a:ext cx="11640312" cy="464900"/>
          </a:xfrm>
        </p:spPr>
        <p:txBody>
          <a:bodyPr>
            <a:normAutofit/>
          </a:bodyPr>
          <a:lstStyle/>
          <a:p>
            <a:r>
              <a:rPr lang="en-IN" sz="2400" b="1" dirty="0"/>
              <a:t>TCP Service Model</a:t>
            </a:r>
          </a:p>
        </p:txBody>
      </p:sp>
      <p:sp>
        <p:nvSpPr>
          <p:cNvPr id="4" name="TextBox 3">
            <a:extLst>
              <a:ext uri="{FF2B5EF4-FFF2-40B4-BE49-F238E27FC236}">
                <a16:creationId xmlns:a16="http://schemas.microsoft.com/office/drawing/2014/main" id="{557EFCED-E838-3D1E-07B9-88CD6ACEA71C}"/>
              </a:ext>
            </a:extLst>
          </p:cNvPr>
          <p:cNvSpPr txBox="1"/>
          <p:nvPr/>
        </p:nvSpPr>
        <p:spPr>
          <a:xfrm>
            <a:off x="275844" y="960120"/>
            <a:ext cx="10857377" cy="1754326"/>
          </a:xfrm>
          <a:prstGeom prst="rect">
            <a:avLst/>
          </a:prstGeom>
          <a:noFill/>
        </p:spPr>
        <p:txBody>
          <a:bodyPr wrap="square">
            <a:spAutoFit/>
          </a:bodyPr>
          <a:lstStyle/>
          <a:p>
            <a:pPr>
              <a:buNone/>
            </a:pPr>
            <a:r>
              <a:rPr lang="en-IN" b="1" dirty="0"/>
              <a:t>What is a Service Model?</a:t>
            </a:r>
          </a:p>
          <a:p>
            <a:pPr>
              <a:buNone/>
            </a:pPr>
            <a:r>
              <a:rPr lang="en-IN" dirty="0"/>
              <a:t>A </a:t>
            </a:r>
            <a:r>
              <a:rPr lang="en-IN" b="1" dirty="0"/>
              <a:t>service model</a:t>
            </a:r>
            <a:r>
              <a:rPr lang="en-IN" dirty="0"/>
              <a:t> describes the kind of communication service a protocol provides to the application above it.</a:t>
            </a:r>
          </a:p>
          <a:p>
            <a:pPr>
              <a:buNone/>
            </a:pPr>
            <a:r>
              <a:rPr lang="en-IN" dirty="0"/>
              <a:t>So when we say:</a:t>
            </a:r>
          </a:p>
          <a:p>
            <a:pPr>
              <a:buNone/>
            </a:pPr>
            <a:r>
              <a:rPr lang="en-IN" b="1" dirty="0"/>
              <a:t>TCP Service Model</a:t>
            </a:r>
            <a:endParaRPr lang="en-IN" dirty="0"/>
          </a:p>
          <a:p>
            <a:pPr>
              <a:buNone/>
            </a:pPr>
            <a:r>
              <a:rPr lang="en-IN" dirty="0"/>
              <a:t>we are basically asking:</a:t>
            </a:r>
          </a:p>
          <a:p>
            <a:pPr>
              <a:buNone/>
            </a:pPr>
            <a:r>
              <a:rPr lang="en-IN" b="1" dirty="0"/>
              <a:t>What type of communication service does TCP provide to applications?</a:t>
            </a:r>
            <a:endParaRPr lang="en-IN" dirty="0"/>
          </a:p>
        </p:txBody>
      </p:sp>
      <p:graphicFrame>
        <p:nvGraphicFramePr>
          <p:cNvPr id="5" name="Table 4">
            <a:extLst>
              <a:ext uri="{FF2B5EF4-FFF2-40B4-BE49-F238E27FC236}">
                <a16:creationId xmlns:a16="http://schemas.microsoft.com/office/drawing/2014/main" id="{7D531920-1B24-3E58-8AA4-CF35337BE28E}"/>
              </a:ext>
            </a:extLst>
          </p:cNvPr>
          <p:cNvGraphicFramePr>
            <a:graphicFrameLocks noGrp="1"/>
          </p:cNvGraphicFramePr>
          <p:nvPr>
            <p:extLst>
              <p:ext uri="{D42A27DB-BD31-4B8C-83A1-F6EECF244321}">
                <p14:modId xmlns:p14="http://schemas.microsoft.com/office/powerpoint/2010/main" val="1864834593"/>
              </p:ext>
            </p:extLst>
          </p:nvPr>
        </p:nvGraphicFramePr>
        <p:xfrm>
          <a:off x="275844" y="2901392"/>
          <a:ext cx="11085093" cy="3606800"/>
        </p:xfrm>
        <a:graphic>
          <a:graphicData uri="http://schemas.openxmlformats.org/drawingml/2006/table">
            <a:tbl>
              <a:tblPr firstRow="1" bandRow="1">
                <a:tableStyleId>{5C22544A-7EE6-4342-B048-85BDC9FD1C3A}</a:tableStyleId>
              </a:tblPr>
              <a:tblGrid>
                <a:gridCol w="4026568">
                  <a:extLst>
                    <a:ext uri="{9D8B030D-6E8A-4147-A177-3AD203B41FA5}">
                      <a16:colId xmlns:a16="http://schemas.microsoft.com/office/drawing/2014/main" val="1067873543"/>
                    </a:ext>
                  </a:extLst>
                </a:gridCol>
                <a:gridCol w="7058525">
                  <a:extLst>
                    <a:ext uri="{9D8B030D-6E8A-4147-A177-3AD203B41FA5}">
                      <a16:colId xmlns:a16="http://schemas.microsoft.com/office/drawing/2014/main" val="4258339018"/>
                    </a:ext>
                  </a:extLst>
                </a:gridCol>
              </a:tblGrid>
              <a:tr h="370840">
                <a:tc>
                  <a:txBody>
                    <a:bodyPr/>
                    <a:lstStyle/>
                    <a:p>
                      <a:pPr>
                        <a:buNone/>
                      </a:pPr>
                      <a:r>
                        <a:rPr lang="en-IN" dirty="0"/>
                        <a:t>TCP Service</a:t>
                      </a:r>
                    </a:p>
                  </a:txBody>
                  <a:tcPr anchor="ctr"/>
                </a:tc>
                <a:tc>
                  <a:txBody>
                    <a:bodyPr/>
                    <a:lstStyle/>
                    <a:p>
                      <a:pPr>
                        <a:buNone/>
                      </a:pPr>
                      <a:r>
                        <a:rPr lang="en-IN"/>
                        <a:t>Meaning</a:t>
                      </a:r>
                    </a:p>
                  </a:txBody>
                  <a:tcPr anchor="ctr"/>
                </a:tc>
                <a:extLst>
                  <a:ext uri="{0D108BD9-81ED-4DB2-BD59-A6C34878D82A}">
                    <a16:rowId xmlns:a16="http://schemas.microsoft.com/office/drawing/2014/main" val="4106898751"/>
                  </a:ext>
                </a:extLst>
              </a:tr>
              <a:tr h="370840">
                <a:tc>
                  <a:txBody>
                    <a:bodyPr/>
                    <a:lstStyle/>
                    <a:p>
                      <a:pPr>
                        <a:buNone/>
                      </a:pPr>
                      <a:r>
                        <a:rPr lang="en-IN" b="1"/>
                        <a:t>Connection-Oriented</a:t>
                      </a:r>
                      <a:endParaRPr lang="en-IN"/>
                    </a:p>
                  </a:txBody>
                  <a:tcPr anchor="ctr"/>
                </a:tc>
                <a:tc>
                  <a:txBody>
                    <a:bodyPr/>
                    <a:lstStyle/>
                    <a:p>
                      <a:pPr>
                        <a:buNone/>
                      </a:pPr>
                      <a:r>
                        <a:rPr lang="en-IN"/>
                        <a:t>Establishes connection state before normal data transfer</a:t>
                      </a:r>
                    </a:p>
                  </a:txBody>
                  <a:tcPr anchor="ctr"/>
                </a:tc>
                <a:extLst>
                  <a:ext uri="{0D108BD9-81ED-4DB2-BD59-A6C34878D82A}">
                    <a16:rowId xmlns:a16="http://schemas.microsoft.com/office/drawing/2014/main" val="835920923"/>
                  </a:ext>
                </a:extLst>
              </a:tr>
              <a:tr h="370840">
                <a:tc>
                  <a:txBody>
                    <a:bodyPr/>
                    <a:lstStyle/>
                    <a:p>
                      <a:pPr>
                        <a:buNone/>
                      </a:pPr>
                      <a:r>
                        <a:rPr lang="en-IN" b="1"/>
                        <a:t>Reliable</a:t>
                      </a:r>
                      <a:endParaRPr lang="en-IN"/>
                    </a:p>
                  </a:txBody>
                  <a:tcPr anchor="ctr"/>
                </a:tc>
                <a:tc>
                  <a:txBody>
                    <a:bodyPr/>
                    <a:lstStyle/>
                    <a:p>
                      <a:pPr>
                        <a:buNone/>
                      </a:pPr>
                      <a:r>
                        <a:rPr lang="en-IN"/>
                        <a:t>Uses ACKs, sequence numbers, retransmissions, timers, etc. to provide reliable delivery</a:t>
                      </a:r>
                    </a:p>
                  </a:txBody>
                  <a:tcPr anchor="ctr"/>
                </a:tc>
                <a:extLst>
                  <a:ext uri="{0D108BD9-81ED-4DB2-BD59-A6C34878D82A}">
                    <a16:rowId xmlns:a16="http://schemas.microsoft.com/office/drawing/2014/main" val="1049825776"/>
                  </a:ext>
                </a:extLst>
              </a:tr>
              <a:tr h="370840">
                <a:tc>
                  <a:txBody>
                    <a:bodyPr/>
                    <a:lstStyle/>
                    <a:p>
                      <a:pPr>
                        <a:buNone/>
                      </a:pPr>
                      <a:r>
                        <a:rPr lang="en-IN" b="1"/>
                        <a:t>Ordered Delivery</a:t>
                      </a:r>
                      <a:endParaRPr lang="en-IN"/>
                    </a:p>
                  </a:txBody>
                  <a:tcPr anchor="ctr"/>
                </a:tc>
                <a:tc>
                  <a:txBody>
                    <a:bodyPr/>
                    <a:lstStyle/>
                    <a:p>
                      <a:pPr>
                        <a:buNone/>
                      </a:pPr>
                      <a:r>
                        <a:rPr lang="en-IN"/>
                        <a:t>Application receives bytes in correct order</a:t>
                      </a:r>
                    </a:p>
                  </a:txBody>
                  <a:tcPr anchor="ctr"/>
                </a:tc>
                <a:extLst>
                  <a:ext uri="{0D108BD9-81ED-4DB2-BD59-A6C34878D82A}">
                    <a16:rowId xmlns:a16="http://schemas.microsoft.com/office/drawing/2014/main" val="3935930712"/>
                  </a:ext>
                </a:extLst>
              </a:tr>
              <a:tr h="370840">
                <a:tc>
                  <a:txBody>
                    <a:bodyPr/>
                    <a:lstStyle/>
                    <a:p>
                      <a:pPr>
                        <a:buNone/>
                      </a:pPr>
                      <a:r>
                        <a:rPr lang="en-IN" b="1"/>
                        <a:t>Byte-Stream Service</a:t>
                      </a:r>
                      <a:endParaRPr lang="en-IN"/>
                    </a:p>
                  </a:txBody>
                  <a:tcPr anchor="ctr"/>
                </a:tc>
                <a:tc>
                  <a:txBody>
                    <a:bodyPr/>
                    <a:lstStyle/>
                    <a:p>
                      <a:pPr>
                        <a:buNone/>
                      </a:pPr>
                      <a:r>
                        <a:rPr lang="en-IN"/>
                        <a:t>Treats application data as a continuous sequence of bytes</a:t>
                      </a:r>
                    </a:p>
                  </a:txBody>
                  <a:tcPr anchor="ctr"/>
                </a:tc>
                <a:extLst>
                  <a:ext uri="{0D108BD9-81ED-4DB2-BD59-A6C34878D82A}">
                    <a16:rowId xmlns:a16="http://schemas.microsoft.com/office/drawing/2014/main" val="495423440"/>
                  </a:ext>
                </a:extLst>
              </a:tr>
              <a:tr h="370840">
                <a:tc>
                  <a:txBody>
                    <a:bodyPr/>
                    <a:lstStyle/>
                    <a:p>
                      <a:pPr>
                        <a:buNone/>
                      </a:pPr>
                      <a:r>
                        <a:rPr lang="en-IN" b="1"/>
                        <a:t>Full Duplex</a:t>
                      </a:r>
                      <a:endParaRPr lang="en-IN"/>
                    </a:p>
                  </a:txBody>
                  <a:tcPr anchor="ctr"/>
                </a:tc>
                <a:tc>
                  <a:txBody>
                    <a:bodyPr/>
                    <a:lstStyle/>
                    <a:p>
                      <a:pPr>
                        <a:buNone/>
                      </a:pPr>
                      <a:r>
                        <a:rPr lang="en-IN"/>
                        <a:t>Both endpoints can send and receive</a:t>
                      </a:r>
                    </a:p>
                  </a:txBody>
                  <a:tcPr anchor="ctr"/>
                </a:tc>
                <a:extLst>
                  <a:ext uri="{0D108BD9-81ED-4DB2-BD59-A6C34878D82A}">
                    <a16:rowId xmlns:a16="http://schemas.microsoft.com/office/drawing/2014/main" val="1307973758"/>
                  </a:ext>
                </a:extLst>
              </a:tr>
              <a:tr h="370840">
                <a:tc>
                  <a:txBody>
                    <a:bodyPr/>
                    <a:lstStyle/>
                    <a:p>
                      <a:pPr>
                        <a:buNone/>
                      </a:pPr>
                      <a:r>
                        <a:rPr lang="en-IN" b="1"/>
                        <a:t>Flow Control</a:t>
                      </a:r>
                      <a:endParaRPr lang="en-IN"/>
                    </a:p>
                  </a:txBody>
                  <a:tcPr anchor="ctr"/>
                </a:tc>
                <a:tc>
                  <a:txBody>
                    <a:bodyPr/>
                    <a:lstStyle/>
                    <a:p>
                      <a:pPr>
                        <a:buNone/>
                      </a:pPr>
                      <a:r>
                        <a:rPr lang="en-IN"/>
                        <a:t>Prevents sender from overwhelming receiver</a:t>
                      </a:r>
                    </a:p>
                  </a:txBody>
                  <a:tcPr anchor="ctr"/>
                </a:tc>
                <a:extLst>
                  <a:ext uri="{0D108BD9-81ED-4DB2-BD59-A6C34878D82A}">
                    <a16:rowId xmlns:a16="http://schemas.microsoft.com/office/drawing/2014/main" val="1169708328"/>
                  </a:ext>
                </a:extLst>
              </a:tr>
              <a:tr h="370840">
                <a:tc>
                  <a:txBody>
                    <a:bodyPr/>
                    <a:lstStyle/>
                    <a:p>
                      <a:pPr>
                        <a:buNone/>
                      </a:pPr>
                      <a:r>
                        <a:rPr lang="en-IN" b="1"/>
                        <a:t>Error Detection</a:t>
                      </a:r>
                      <a:endParaRPr lang="en-IN"/>
                    </a:p>
                  </a:txBody>
                  <a:tcPr anchor="ctr"/>
                </a:tc>
                <a:tc>
                  <a:txBody>
                    <a:bodyPr/>
                    <a:lstStyle/>
                    <a:p>
                      <a:pPr>
                        <a:buNone/>
                      </a:pPr>
                      <a:r>
                        <a:rPr lang="en-IN"/>
                        <a:t>Uses checksum to detect corruption</a:t>
                      </a:r>
                    </a:p>
                  </a:txBody>
                  <a:tcPr anchor="ctr"/>
                </a:tc>
                <a:extLst>
                  <a:ext uri="{0D108BD9-81ED-4DB2-BD59-A6C34878D82A}">
                    <a16:rowId xmlns:a16="http://schemas.microsoft.com/office/drawing/2014/main" val="2350289872"/>
                  </a:ext>
                </a:extLst>
              </a:tr>
              <a:tr h="370840">
                <a:tc>
                  <a:txBody>
                    <a:bodyPr/>
                    <a:lstStyle/>
                    <a:p>
                      <a:pPr>
                        <a:buNone/>
                      </a:pPr>
                      <a:r>
                        <a:rPr lang="en-IN" b="1"/>
                        <a:t>Process-to-Process Communication</a:t>
                      </a:r>
                      <a:endParaRPr lang="en-IN"/>
                    </a:p>
                  </a:txBody>
                  <a:tcPr anchor="ctr"/>
                </a:tc>
                <a:tc>
                  <a:txBody>
                    <a:bodyPr/>
                    <a:lstStyle/>
                    <a:p>
                      <a:pPr>
                        <a:buNone/>
                      </a:pPr>
                      <a:r>
                        <a:rPr lang="en-IN" dirty="0"/>
                        <a:t>Uses ports/sockets to communicate between application processes</a:t>
                      </a:r>
                    </a:p>
                  </a:txBody>
                  <a:tcPr anchor="ctr"/>
                </a:tc>
                <a:extLst>
                  <a:ext uri="{0D108BD9-81ED-4DB2-BD59-A6C34878D82A}">
                    <a16:rowId xmlns:a16="http://schemas.microsoft.com/office/drawing/2014/main" val="2098975860"/>
                  </a:ext>
                </a:extLst>
              </a:tr>
            </a:tbl>
          </a:graphicData>
        </a:graphic>
      </p:graphicFrame>
    </p:spTree>
    <p:extLst>
      <p:ext uri="{BB962C8B-B14F-4D97-AF65-F5344CB8AC3E}">
        <p14:creationId xmlns:p14="http://schemas.microsoft.com/office/powerpoint/2010/main" val="3410106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C190F-8DF5-B69D-31DD-D394B1B7F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0D3CA-6A11-2F68-CACB-9ABDAD637959}"/>
              </a:ext>
            </a:extLst>
          </p:cNvPr>
          <p:cNvSpPr>
            <a:spLocks noGrp="1"/>
          </p:cNvSpPr>
          <p:nvPr>
            <p:ph type="title"/>
          </p:nvPr>
        </p:nvSpPr>
        <p:spPr>
          <a:xfrm>
            <a:off x="275844" y="495220"/>
            <a:ext cx="11640312" cy="464900"/>
          </a:xfrm>
        </p:spPr>
        <p:txBody>
          <a:bodyPr>
            <a:normAutofit/>
          </a:bodyPr>
          <a:lstStyle/>
          <a:p>
            <a:r>
              <a:rPr lang="en-IN" sz="2400" b="1" dirty="0"/>
              <a:t>What is a TCP Segment?</a:t>
            </a:r>
          </a:p>
        </p:txBody>
      </p:sp>
      <p:pic>
        <p:nvPicPr>
          <p:cNvPr id="5" name="Picture 4">
            <a:extLst>
              <a:ext uri="{FF2B5EF4-FFF2-40B4-BE49-F238E27FC236}">
                <a16:creationId xmlns:a16="http://schemas.microsoft.com/office/drawing/2014/main" id="{57E4C9A2-293A-D9D5-33D4-9F8C5B793166}"/>
              </a:ext>
            </a:extLst>
          </p:cNvPr>
          <p:cNvPicPr>
            <a:picLocks noChangeAspect="1"/>
          </p:cNvPicPr>
          <p:nvPr/>
        </p:nvPicPr>
        <p:blipFill>
          <a:blip r:embed="rId2"/>
          <a:stretch>
            <a:fillRect/>
          </a:stretch>
        </p:blipFill>
        <p:spPr>
          <a:xfrm>
            <a:off x="275844" y="1052362"/>
            <a:ext cx="6686430" cy="4883217"/>
          </a:xfrm>
          <a:prstGeom prst="rect">
            <a:avLst/>
          </a:prstGeom>
        </p:spPr>
      </p:pic>
      <p:sp>
        <p:nvSpPr>
          <p:cNvPr id="7" name="TextBox 6">
            <a:extLst>
              <a:ext uri="{FF2B5EF4-FFF2-40B4-BE49-F238E27FC236}">
                <a16:creationId xmlns:a16="http://schemas.microsoft.com/office/drawing/2014/main" id="{6424079B-EE57-9298-F461-86A386D7601E}"/>
              </a:ext>
            </a:extLst>
          </p:cNvPr>
          <p:cNvSpPr txBox="1"/>
          <p:nvPr/>
        </p:nvSpPr>
        <p:spPr>
          <a:xfrm>
            <a:off x="401052" y="6039614"/>
            <a:ext cx="6096000" cy="646331"/>
          </a:xfrm>
          <a:prstGeom prst="rect">
            <a:avLst/>
          </a:prstGeom>
          <a:noFill/>
        </p:spPr>
        <p:txBody>
          <a:bodyPr wrap="square">
            <a:spAutoFit/>
          </a:bodyPr>
          <a:lstStyle/>
          <a:p>
            <a:r>
              <a:rPr lang="en-IN" dirty="0"/>
              <a:t>The header contains the </a:t>
            </a:r>
            <a:r>
              <a:rPr lang="en-IN" b="1" dirty="0"/>
              <a:t>control information TCP needs to manage communication</a:t>
            </a:r>
            <a:r>
              <a:rPr lang="en-IN" dirty="0"/>
              <a:t>.</a:t>
            </a:r>
          </a:p>
        </p:txBody>
      </p:sp>
      <p:sp>
        <p:nvSpPr>
          <p:cNvPr id="9" name="TextBox 8">
            <a:extLst>
              <a:ext uri="{FF2B5EF4-FFF2-40B4-BE49-F238E27FC236}">
                <a16:creationId xmlns:a16="http://schemas.microsoft.com/office/drawing/2014/main" id="{D94D6B64-FB04-D1F4-DFC5-47C3C9C6152E}"/>
              </a:ext>
            </a:extLst>
          </p:cNvPr>
          <p:cNvSpPr txBox="1"/>
          <p:nvPr/>
        </p:nvSpPr>
        <p:spPr>
          <a:xfrm>
            <a:off x="7186863" y="1508811"/>
            <a:ext cx="4395537" cy="3970318"/>
          </a:xfrm>
          <a:prstGeom prst="rect">
            <a:avLst/>
          </a:prstGeom>
          <a:noFill/>
        </p:spPr>
        <p:txBody>
          <a:bodyPr wrap="square">
            <a:spAutoFit/>
          </a:bodyPr>
          <a:lstStyle/>
          <a:p>
            <a:pPr>
              <a:buNone/>
            </a:pPr>
            <a:r>
              <a:rPr lang="en-IN" b="1" dirty="0"/>
              <a:t>Why does TCP need such a large Header?</a:t>
            </a:r>
          </a:p>
          <a:p>
            <a:pPr>
              <a:buNone/>
            </a:pPr>
            <a:r>
              <a:rPr lang="en-IN" dirty="0"/>
              <a:t>Compare what TCP has to do.</a:t>
            </a:r>
          </a:p>
          <a:p>
            <a:pPr>
              <a:buNone/>
            </a:pPr>
            <a:r>
              <a:rPr lang="en-IN" dirty="0"/>
              <a:t>TCP provides:</a:t>
            </a:r>
          </a:p>
          <a:p>
            <a:pPr marL="342900" lvl="0" indent="-342900">
              <a:buFont typeface="Arial" panose="020B0604020202020204" pitchFamily="34" charset="0"/>
              <a:buChar char="•"/>
            </a:pPr>
            <a:r>
              <a:rPr lang="en-IN" dirty="0"/>
              <a:t>process-to-process communication, </a:t>
            </a:r>
          </a:p>
          <a:p>
            <a:pPr marL="342900" lvl="0" indent="-342900">
              <a:buFont typeface="Arial" panose="020B0604020202020204" pitchFamily="34" charset="0"/>
              <a:buChar char="•"/>
            </a:pPr>
            <a:r>
              <a:rPr lang="en-IN" dirty="0"/>
              <a:t>reliable delivery, </a:t>
            </a:r>
          </a:p>
          <a:p>
            <a:pPr marL="342900" lvl="0" indent="-342900">
              <a:buFont typeface="Arial" panose="020B0604020202020204" pitchFamily="34" charset="0"/>
              <a:buChar char="•"/>
            </a:pPr>
            <a:r>
              <a:rPr lang="en-IN" dirty="0"/>
              <a:t>ordered delivery, </a:t>
            </a:r>
          </a:p>
          <a:p>
            <a:pPr marL="342900" lvl="0" indent="-342900">
              <a:buFont typeface="Arial" panose="020B0604020202020204" pitchFamily="34" charset="0"/>
              <a:buChar char="•"/>
            </a:pPr>
            <a:r>
              <a:rPr lang="en-IN" dirty="0"/>
              <a:t>connection establishment/release, </a:t>
            </a:r>
          </a:p>
          <a:p>
            <a:pPr marL="342900" lvl="0" indent="-342900">
              <a:buFont typeface="Arial" panose="020B0604020202020204" pitchFamily="34" charset="0"/>
              <a:buChar char="•"/>
            </a:pPr>
            <a:r>
              <a:rPr lang="en-IN" dirty="0"/>
              <a:t>acknowledgments, </a:t>
            </a:r>
          </a:p>
          <a:p>
            <a:pPr marL="342900" lvl="0" indent="-342900">
              <a:buFont typeface="Arial" panose="020B0604020202020204" pitchFamily="34" charset="0"/>
              <a:buChar char="•"/>
            </a:pPr>
            <a:r>
              <a:rPr lang="en-IN" dirty="0"/>
              <a:t>flow control, </a:t>
            </a:r>
          </a:p>
          <a:p>
            <a:pPr marL="342900" lvl="0" indent="-342900">
              <a:buFont typeface="Arial" panose="020B0604020202020204" pitchFamily="34" charset="0"/>
              <a:buChar char="•"/>
            </a:pPr>
            <a:r>
              <a:rPr lang="en-IN" dirty="0"/>
              <a:t>error detection, </a:t>
            </a:r>
          </a:p>
          <a:p>
            <a:pPr marL="342900" lvl="0" indent="-342900">
              <a:buFont typeface="Arial" panose="020B0604020202020204" pitchFamily="34" charset="0"/>
              <a:buChar char="•"/>
            </a:pPr>
            <a:r>
              <a:rPr lang="en-IN" dirty="0"/>
              <a:t>and other connection-management functions. </a:t>
            </a:r>
          </a:p>
          <a:p>
            <a:pPr>
              <a:buNone/>
            </a:pPr>
            <a:r>
              <a:rPr lang="en-IN" dirty="0"/>
              <a:t>Therefore, TCP needs several pieces of control information.</a:t>
            </a:r>
          </a:p>
        </p:txBody>
      </p:sp>
    </p:spTree>
    <p:extLst>
      <p:ext uri="{BB962C8B-B14F-4D97-AF65-F5344CB8AC3E}">
        <p14:creationId xmlns:p14="http://schemas.microsoft.com/office/powerpoint/2010/main" val="2231846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84A3E-6F67-FD14-9BB2-91EBC1825C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18152-2C19-01FC-4E4F-CAA99D18B2DC}"/>
              </a:ext>
            </a:extLst>
          </p:cNvPr>
          <p:cNvSpPr>
            <a:spLocks noGrp="1"/>
          </p:cNvSpPr>
          <p:nvPr>
            <p:ph type="title"/>
          </p:nvPr>
        </p:nvSpPr>
        <p:spPr>
          <a:xfrm>
            <a:off x="275844" y="495220"/>
            <a:ext cx="11640312" cy="464900"/>
          </a:xfrm>
        </p:spPr>
        <p:txBody>
          <a:bodyPr>
            <a:normAutofit/>
          </a:bodyPr>
          <a:lstStyle/>
          <a:p>
            <a:r>
              <a:rPr lang="en-IN" sz="2400" b="1" dirty="0"/>
              <a:t>TCP Header Size</a:t>
            </a:r>
          </a:p>
        </p:txBody>
      </p:sp>
      <p:pic>
        <p:nvPicPr>
          <p:cNvPr id="4" name="Picture 3">
            <a:extLst>
              <a:ext uri="{FF2B5EF4-FFF2-40B4-BE49-F238E27FC236}">
                <a16:creationId xmlns:a16="http://schemas.microsoft.com/office/drawing/2014/main" id="{89499EBD-5412-056F-2BAD-A17BA07BA4E7}"/>
              </a:ext>
            </a:extLst>
          </p:cNvPr>
          <p:cNvPicPr>
            <a:picLocks noChangeAspect="1"/>
          </p:cNvPicPr>
          <p:nvPr/>
        </p:nvPicPr>
        <p:blipFill>
          <a:blip r:embed="rId2"/>
          <a:stretch>
            <a:fillRect/>
          </a:stretch>
        </p:blipFill>
        <p:spPr>
          <a:xfrm>
            <a:off x="275844" y="1072534"/>
            <a:ext cx="7231861" cy="5055550"/>
          </a:xfrm>
          <a:prstGeom prst="rect">
            <a:avLst/>
          </a:prstGeom>
        </p:spPr>
      </p:pic>
    </p:spTree>
    <p:extLst>
      <p:ext uri="{BB962C8B-B14F-4D97-AF65-F5344CB8AC3E}">
        <p14:creationId xmlns:p14="http://schemas.microsoft.com/office/powerpoint/2010/main" val="19380505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CD559-EFC8-760E-57A1-4D062459D4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6E9073-543F-E8F8-AB23-FEEA7481F756}"/>
              </a:ext>
            </a:extLst>
          </p:cNvPr>
          <p:cNvSpPr>
            <a:spLocks noGrp="1"/>
          </p:cNvSpPr>
          <p:nvPr>
            <p:ph type="title"/>
          </p:nvPr>
        </p:nvSpPr>
        <p:spPr>
          <a:xfrm>
            <a:off x="275844" y="495220"/>
            <a:ext cx="11640312" cy="464900"/>
          </a:xfrm>
        </p:spPr>
        <p:txBody>
          <a:bodyPr>
            <a:normAutofit/>
          </a:bodyPr>
          <a:lstStyle/>
          <a:p>
            <a:r>
              <a:rPr lang="en-IN" sz="2400" b="1" dirty="0"/>
              <a:t>TCP Header</a:t>
            </a:r>
          </a:p>
        </p:txBody>
      </p:sp>
      <p:pic>
        <p:nvPicPr>
          <p:cNvPr id="4" name="Picture 3">
            <a:extLst>
              <a:ext uri="{FF2B5EF4-FFF2-40B4-BE49-F238E27FC236}">
                <a16:creationId xmlns:a16="http://schemas.microsoft.com/office/drawing/2014/main" id="{B98ED218-3B8A-45D9-2AF3-963A0A52581F}"/>
              </a:ext>
            </a:extLst>
          </p:cNvPr>
          <p:cNvPicPr>
            <a:picLocks noChangeAspect="1"/>
          </p:cNvPicPr>
          <p:nvPr/>
        </p:nvPicPr>
        <p:blipFill>
          <a:blip r:embed="rId3"/>
          <a:stretch>
            <a:fillRect/>
          </a:stretch>
        </p:blipFill>
        <p:spPr>
          <a:xfrm>
            <a:off x="275844" y="960120"/>
            <a:ext cx="6250471" cy="5761522"/>
          </a:xfrm>
          <a:prstGeom prst="rect">
            <a:avLst/>
          </a:prstGeom>
        </p:spPr>
      </p:pic>
    </p:spTree>
    <p:extLst>
      <p:ext uri="{BB962C8B-B14F-4D97-AF65-F5344CB8AC3E}">
        <p14:creationId xmlns:p14="http://schemas.microsoft.com/office/powerpoint/2010/main" val="527008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8E3E2-68D6-842D-A20A-EB0FB2A28F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25013-8E83-AAB4-42D2-67CB84FF5FB3}"/>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Source Port — 16 bits</a:t>
            </a:r>
          </a:p>
        </p:txBody>
      </p:sp>
      <p:sp>
        <p:nvSpPr>
          <p:cNvPr id="4" name="TextBox 3">
            <a:extLst>
              <a:ext uri="{FF2B5EF4-FFF2-40B4-BE49-F238E27FC236}">
                <a16:creationId xmlns:a16="http://schemas.microsoft.com/office/drawing/2014/main" id="{4FF25880-C951-DE46-E1A5-255C70606CD8}"/>
              </a:ext>
            </a:extLst>
          </p:cNvPr>
          <p:cNvSpPr txBox="1"/>
          <p:nvPr/>
        </p:nvSpPr>
        <p:spPr>
          <a:xfrm>
            <a:off x="275844" y="1120676"/>
            <a:ext cx="7972926" cy="2308324"/>
          </a:xfrm>
          <a:prstGeom prst="rect">
            <a:avLst/>
          </a:prstGeom>
          <a:noFill/>
        </p:spPr>
        <p:txBody>
          <a:bodyPr wrap="square">
            <a:spAutoFit/>
          </a:bodyPr>
          <a:lstStyle/>
          <a:p>
            <a:pPr>
              <a:buNone/>
            </a:pPr>
            <a:r>
              <a:rPr lang="en-IN" b="1" dirty="0"/>
              <a:t>What does it contain?</a:t>
            </a:r>
          </a:p>
          <a:p>
            <a:pPr>
              <a:buNone/>
            </a:pPr>
            <a:r>
              <a:rPr lang="en-IN" dirty="0"/>
              <a:t>It contains the port number of the </a:t>
            </a:r>
            <a:r>
              <a:rPr lang="en-IN" b="1" dirty="0"/>
              <a:t>sending side</a:t>
            </a:r>
            <a:r>
              <a:rPr lang="en-IN" dirty="0"/>
              <a:t>.</a:t>
            </a:r>
          </a:p>
          <a:p>
            <a:pPr>
              <a:buNone/>
            </a:pPr>
            <a:r>
              <a:rPr lang="en-IN" dirty="0"/>
              <a:t>Example:</a:t>
            </a:r>
          </a:p>
          <a:p>
            <a:pPr rtl="0">
              <a:buNone/>
            </a:pPr>
            <a:r>
              <a:rPr lang="en-IN" dirty="0">
                <a:latin typeface="+mn-lt"/>
              </a:rPr>
              <a:t>Client Browser</a:t>
            </a:r>
          </a:p>
          <a:p>
            <a:pPr rtl="0">
              <a:buNone/>
            </a:pPr>
            <a:endParaRPr lang="en-IN" dirty="0">
              <a:latin typeface="+mn-lt"/>
            </a:endParaRPr>
          </a:p>
          <a:p>
            <a:pPr rtl="0">
              <a:buNone/>
            </a:pPr>
            <a:r>
              <a:rPr lang="en-IN" dirty="0">
                <a:latin typeface="+mn-lt"/>
              </a:rPr>
              <a:t>IP   = 192.168.1.10</a:t>
            </a:r>
          </a:p>
          <a:p>
            <a:pPr rtl="0">
              <a:buNone/>
            </a:pPr>
            <a:r>
              <a:rPr lang="en-IN" dirty="0">
                <a:latin typeface="+mn-lt"/>
              </a:rPr>
              <a:t>Port = 52000</a:t>
            </a:r>
          </a:p>
          <a:p>
            <a:pPr>
              <a:buNone/>
            </a:pPr>
            <a:r>
              <a:rPr lang="en-IN" dirty="0"/>
              <a:t>When the client sends a TCP segment:</a:t>
            </a:r>
          </a:p>
        </p:txBody>
      </p:sp>
      <p:sp>
        <p:nvSpPr>
          <p:cNvPr id="6" name="TextBox 5">
            <a:extLst>
              <a:ext uri="{FF2B5EF4-FFF2-40B4-BE49-F238E27FC236}">
                <a16:creationId xmlns:a16="http://schemas.microsoft.com/office/drawing/2014/main" id="{CEE45808-C5FC-09F2-CC61-733B9CFD8434}"/>
              </a:ext>
            </a:extLst>
          </p:cNvPr>
          <p:cNvSpPr txBox="1"/>
          <p:nvPr/>
        </p:nvSpPr>
        <p:spPr>
          <a:xfrm>
            <a:off x="275843" y="4272677"/>
            <a:ext cx="8996493" cy="2585323"/>
          </a:xfrm>
          <a:prstGeom prst="rect">
            <a:avLst/>
          </a:prstGeom>
          <a:noFill/>
        </p:spPr>
        <p:txBody>
          <a:bodyPr wrap="square">
            <a:spAutoFit/>
          </a:bodyPr>
          <a:lstStyle/>
          <a:p>
            <a:pPr>
              <a:buNone/>
            </a:pPr>
            <a:r>
              <a:rPr lang="en-IN" b="1" dirty="0"/>
              <a:t>Destination Port — 16 bits</a:t>
            </a:r>
          </a:p>
          <a:p>
            <a:pPr>
              <a:buNone/>
            </a:pPr>
            <a:r>
              <a:rPr lang="en-IN" dirty="0"/>
              <a:t>This contains the port number of the </a:t>
            </a:r>
            <a:r>
              <a:rPr lang="en-IN" b="1" dirty="0"/>
              <a:t>receiving side</a:t>
            </a:r>
            <a:r>
              <a:rPr lang="en-IN" dirty="0"/>
              <a:t>.</a:t>
            </a:r>
          </a:p>
          <a:p>
            <a:pPr>
              <a:buNone/>
            </a:pPr>
            <a:r>
              <a:rPr lang="en-IN" dirty="0"/>
              <a:t>Example:</a:t>
            </a:r>
          </a:p>
          <a:p>
            <a:pPr rtl="0">
              <a:buNone/>
            </a:pPr>
            <a:r>
              <a:rPr lang="en-IN" dirty="0">
                <a:latin typeface="+mn-lt"/>
              </a:rPr>
              <a:t>Client Browser              Web Server</a:t>
            </a:r>
          </a:p>
          <a:p>
            <a:pPr rtl="0">
              <a:buNone/>
            </a:pPr>
            <a:endParaRPr lang="en-IN" dirty="0">
              <a:latin typeface="+mn-lt"/>
            </a:endParaRPr>
          </a:p>
          <a:p>
            <a:pPr rtl="0">
              <a:buNone/>
            </a:pPr>
            <a:r>
              <a:rPr lang="en-IN" dirty="0">
                <a:latin typeface="+mn-lt"/>
              </a:rPr>
              <a:t>52000  ------------------&gt;  80</a:t>
            </a:r>
          </a:p>
          <a:p>
            <a:pPr>
              <a:buNone/>
            </a:pPr>
            <a:r>
              <a:rPr lang="en-IN" dirty="0"/>
              <a:t>So:</a:t>
            </a:r>
          </a:p>
          <a:p>
            <a:pPr rtl="0">
              <a:buNone/>
            </a:pPr>
            <a:r>
              <a:rPr lang="en-IN" dirty="0">
                <a:latin typeface="+mn-lt"/>
              </a:rPr>
              <a:t>Source Port      = 52000</a:t>
            </a:r>
          </a:p>
          <a:p>
            <a:pPr rtl="0">
              <a:buNone/>
            </a:pPr>
            <a:r>
              <a:rPr lang="en-IN" dirty="0">
                <a:latin typeface="+mn-lt"/>
              </a:rPr>
              <a:t>Destination Port = 80</a:t>
            </a:r>
            <a:endParaRPr lang="en-IN" dirty="0">
              <a:latin typeface="Courier New" panose="02070309020205020404" pitchFamily="49" charset="0"/>
            </a:endParaRPr>
          </a:p>
        </p:txBody>
      </p:sp>
      <p:sp>
        <p:nvSpPr>
          <p:cNvPr id="7" name="Title 1">
            <a:extLst>
              <a:ext uri="{FF2B5EF4-FFF2-40B4-BE49-F238E27FC236}">
                <a16:creationId xmlns:a16="http://schemas.microsoft.com/office/drawing/2014/main" id="{0517524C-1016-74DC-9059-36BBFE9FA3AF}"/>
              </a:ext>
            </a:extLst>
          </p:cNvPr>
          <p:cNvSpPr txBox="1">
            <a:spLocks/>
          </p:cNvSpPr>
          <p:nvPr/>
        </p:nvSpPr>
        <p:spPr>
          <a:xfrm>
            <a:off x="275844" y="3589556"/>
            <a:ext cx="11640312" cy="464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dirty="0">
                <a:highlight>
                  <a:srgbClr val="FFFF00"/>
                </a:highlight>
              </a:rPr>
              <a:t>Destination Port — 16 bits</a:t>
            </a:r>
          </a:p>
        </p:txBody>
      </p:sp>
    </p:spTree>
    <p:extLst>
      <p:ext uri="{BB962C8B-B14F-4D97-AF65-F5344CB8AC3E}">
        <p14:creationId xmlns:p14="http://schemas.microsoft.com/office/powerpoint/2010/main" val="29917217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BE989-4E1F-DA07-496F-ED70E0BEB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75EDA-8823-19F1-B6DC-974B0FDB527F}"/>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Sequence Number — 32 bits</a:t>
            </a:r>
          </a:p>
        </p:txBody>
      </p:sp>
      <p:pic>
        <p:nvPicPr>
          <p:cNvPr id="5" name="Picture 4">
            <a:extLst>
              <a:ext uri="{FF2B5EF4-FFF2-40B4-BE49-F238E27FC236}">
                <a16:creationId xmlns:a16="http://schemas.microsoft.com/office/drawing/2014/main" id="{F3575815-82D6-6829-9AD3-33855B498614}"/>
              </a:ext>
            </a:extLst>
          </p:cNvPr>
          <p:cNvPicPr>
            <a:picLocks noChangeAspect="1"/>
          </p:cNvPicPr>
          <p:nvPr/>
        </p:nvPicPr>
        <p:blipFill>
          <a:blip r:embed="rId2"/>
          <a:stretch>
            <a:fillRect/>
          </a:stretch>
        </p:blipFill>
        <p:spPr>
          <a:xfrm>
            <a:off x="477685" y="1047088"/>
            <a:ext cx="5939157" cy="5810912"/>
          </a:xfrm>
          <a:prstGeom prst="rect">
            <a:avLst/>
          </a:prstGeom>
        </p:spPr>
      </p:pic>
    </p:spTree>
    <p:extLst>
      <p:ext uri="{BB962C8B-B14F-4D97-AF65-F5344CB8AC3E}">
        <p14:creationId xmlns:p14="http://schemas.microsoft.com/office/powerpoint/2010/main" val="289384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B22CD-E40E-C6A5-9282-69704E392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97679-7F1E-3128-C70F-688BEE70A1CB}"/>
              </a:ext>
            </a:extLst>
          </p:cNvPr>
          <p:cNvSpPr>
            <a:spLocks noGrp="1"/>
          </p:cNvSpPr>
          <p:nvPr>
            <p:ph type="title"/>
          </p:nvPr>
        </p:nvSpPr>
        <p:spPr>
          <a:xfrm>
            <a:off x="275844" y="495220"/>
            <a:ext cx="11640312" cy="464900"/>
          </a:xfrm>
        </p:spPr>
        <p:txBody>
          <a:bodyPr>
            <a:normAutofit/>
          </a:bodyPr>
          <a:lstStyle/>
          <a:p>
            <a:r>
              <a:rPr lang="en-IN" sz="2400" b="1" dirty="0"/>
              <a:t>Sequence Number — 32 bits</a:t>
            </a:r>
          </a:p>
        </p:txBody>
      </p:sp>
      <p:sp>
        <p:nvSpPr>
          <p:cNvPr id="4" name="TextBox 3">
            <a:extLst>
              <a:ext uri="{FF2B5EF4-FFF2-40B4-BE49-F238E27FC236}">
                <a16:creationId xmlns:a16="http://schemas.microsoft.com/office/drawing/2014/main" id="{B67D7E63-6505-D33D-CE24-28144F01C75B}"/>
              </a:ext>
            </a:extLst>
          </p:cNvPr>
          <p:cNvSpPr txBox="1"/>
          <p:nvPr/>
        </p:nvSpPr>
        <p:spPr>
          <a:xfrm>
            <a:off x="211676" y="960120"/>
            <a:ext cx="4042611" cy="3693319"/>
          </a:xfrm>
          <a:prstGeom prst="rect">
            <a:avLst/>
          </a:prstGeom>
          <a:noFill/>
        </p:spPr>
        <p:txBody>
          <a:bodyPr wrap="square">
            <a:spAutoFit/>
          </a:bodyPr>
          <a:lstStyle/>
          <a:p>
            <a:pPr>
              <a:buNone/>
            </a:pPr>
            <a:r>
              <a:rPr lang="en-IN" b="1" dirty="0"/>
              <a:t>Another example</a:t>
            </a:r>
          </a:p>
          <a:p>
            <a:pPr>
              <a:buNone/>
            </a:pPr>
            <a:r>
              <a:rPr lang="en-IN" dirty="0"/>
              <a:t>Suppose:</a:t>
            </a:r>
          </a:p>
          <a:p>
            <a:pPr rtl="0">
              <a:buNone/>
            </a:pPr>
            <a:endParaRPr lang="en-IN" dirty="0">
              <a:latin typeface="+mn-lt"/>
            </a:endParaRPr>
          </a:p>
          <a:p>
            <a:pPr rtl="0">
              <a:buNone/>
            </a:pPr>
            <a:r>
              <a:rPr lang="en-IN" dirty="0">
                <a:latin typeface="+mn-lt"/>
              </a:rPr>
              <a:t>Sequence Number = 1000</a:t>
            </a:r>
          </a:p>
          <a:p>
            <a:pPr rtl="0">
              <a:buNone/>
            </a:pPr>
            <a:r>
              <a:rPr lang="en-IN" dirty="0">
                <a:latin typeface="+mn-lt"/>
              </a:rPr>
              <a:t>Data Size       = 500 bytes</a:t>
            </a:r>
          </a:p>
          <a:p>
            <a:pPr>
              <a:buNone/>
            </a:pPr>
            <a:endParaRPr lang="en-IN" dirty="0"/>
          </a:p>
          <a:p>
            <a:pPr>
              <a:buNone/>
            </a:pPr>
            <a:r>
              <a:rPr lang="en-IN" dirty="0"/>
              <a:t>The segment contains bytes:</a:t>
            </a:r>
          </a:p>
          <a:p>
            <a:pPr rtl="0">
              <a:buNone/>
            </a:pPr>
            <a:endParaRPr lang="en-IN" dirty="0">
              <a:latin typeface="+mn-lt"/>
            </a:endParaRPr>
          </a:p>
          <a:p>
            <a:pPr rtl="0">
              <a:buNone/>
            </a:pPr>
            <a:r>
              <a:rPr lang="en-IN" dirty="0">
                <a:latin typeface="+mn-lt"/>
              </a:rPr>
              <a:t>1000 ------------------------- 1499</a:t>
            </a:r>
          </a:p>
          <a:p>
            <a:pPr>
              <a:buNone/>
            </a:pPr>
            <a:endParaRPr lang="en-IN" dirty="0"/>
          </a:p>
          <a:p>
            <a:pPr>
              <a:buNone/>
            </a:pPr>
            <a:r>
              <a:rPr lang="en-IN" dirty="0"/>
              <a:t>Therefore, the next byte is: </a:t>
            </a:r>
            <a:r>
              <a:rPr lang="en-IN" dirty="0">
                <a:latin typeface="+mn-lt"/>
              </a:rPr>
              <a:t>1500</a:t>
            </a:r>
          </a:p>
          <a:p>
            <a:pPr>
              <a:buNone/>
            </a:pPr>
            <a:r>
              <a:rPr lang="en-IN" dirty="0"/>
              <a:t>The next data segment could therefore start with: </a:t>
            </a:r>
            <a:r>
              <a:rPr lang="en-IN" dirty="0">
                <a:latin typeface="+mn-lt"/>
              </a:rPr>
              <a:t>Sequence Number = 1500</a:t>
            </a:r>
            <a:endParaRPr lang="en-IN" dirty="0">
              <a:latin typeface="Courier New" panose="02070309020205020404" pitchFamily="49" charset="0"/>
            </a:endParaRPr>
          </a:p>
        </p:txBody>
      </p:sp>
      <p:sp>
        <p:nvSpPr>
          <p:cNvPr id="7" name="TextBox 6">
            <a:extLst>
              <a:ext uri="{FF2B5EF4-FFF2-40B4-BE49-F238E27FC236}">
                <a16:creationId xmlns:a16="http://schemas.microsoft.com/office/drawing/2014/main" id="{73C2B3C3-EFDA-5E9D-A650-72E1E6B75B27}"/>
              </a:ext>
            </a:extLst>
          </p:cNvPr>
          <p:cNvSpPr txBox="1"/>
          <p:nvPr/>
        </p:nvSpPr>
        <p:spPr>
          <a:xfrm>
            <a:off x="5293894" y="1052453"/>
            <a:ext cx="6096000" cy="1754326"/>
          </a:xfrm>
          <a:prstGeom prst="rect">
            <a:avLst/>
          </a:prstGeom>
          <a:noFill/>
        </p:spPr>
        <p:txBody>
          <a:bodyPr wrap="square">
            <a:spAutoFit/>
          </a:bodyPr>
          <a:lstStyle/>
          <a:p>
            <a:pPr>
              <a:buNone/>
            </a:pPr>
            <a:r>
              <a:rPr lang="en-IN" b="1" dirty="0"/>
              <a:t>Why do we need Sequence Numbers?</a:t>
            </a:r>
          </a:p>
          <a:p>
            <a:pPr>
              <a:buNone/>
            </a:pPr>
            <a:r>
              <a:rPr lang="en-IN" dirty="0"/>
              <a:t>They help TCP:</a:t>
            </a:r>
          </a:p>
          <a:p>
            <a:pPr marL="342900" lvl="0" indent="-342900">
              <a:buFont typeface="Arial" panose="020B0604020202020204" pitchFamily="34" charset="0"/>
              <a:buChar char="•"/>
            </a:pPr>
            <a:r>
              <a:rPr lang="en-IN" dirty="0"/>
              <a:t>put data in the correct order, </a:t>
            </a:r>
          </a:p>
          <a:p>
            <a:pPr marL="342900" lvl="0" indent="-342900">
              <a:buFont typeface="Arial" panose="020B0604020202020204" pitchFamily="34" charset="0"/>
              <a:buChar char="•"/>
            </a:pPr>
            <a:r>
              <a:rPr lang="en-IN" dirty="0"/>
              <a:t>identify missing data, </a:t>
            </a:r>
          </a:p>
          <a:p>
            <a:pPr marL="342900" lvl="0" indent="-342900">
              <a:buFont typeface="Arial" panose="020B0604020202020204" pitchFamily="34" charset="0"/>
              <a:buChar char="•"/>
            </a:pPr>
            <a:r>
              <a:rPr lang="en-IN" dirty="0"/>
              <a:t>handle retransmitted/duplicate data, </a:t>
            </a:r>
          </a:p>
          <a:p>
            <a:pPr marL="342900" lvl="0" indent="-342900">
              <a:buFont typeface="Arial" panose="020B0604020202020204" pitchFamily="34" charset="0"/>
              <a:buChar char="•"/>
            </a:pPr>
            <a:r>
              <a:rPr lang="en-IN" dirty="0"/>
              <a:t>provide reliable delivery.</a:t>
            </a:r>
          </a:p>
        </p:txBody>
      </p:sp>
      <p:sp>
        <p:nvSpPr>
          <p:cNvPr id="9" name="TextBox 8">
            <a:extLst>
              <a:ext uri="{FF2B5EF4-FFF2-40B4-BE49-F238E27FC236}">
                <a16:creationId xmlns:a16="http://schemas.microsoft.com/office/drawing/2014/main" id="{AC163B84-DEC9-E235-4263-C3426C38852D}"/>
              </a:ext>
            </a:extLst>
          </p:cNvPr>
          <p:cNvSpPr txBox="1"/>
          <p:nvPr/>
        </p:nvSpPr>
        <p:spPr>
          <a:xfrm>
            <a:off x="5293894" y="3728056"/>
            <a:ext cx="6096000" cy="646331"/>
          </a:xfrm>
          <a:prstGeom prst="rect">
            <a:avLst/>
          </a:prstGeom>
          <a:noFill/>
        </p:spPr>
        <p:txBody>
          <a:bodyPr wrap="square">
            <a:spAutoFit/>
          </a:bodyPr>
          <a:lstStyle/>
          <a:p>
            <a:r>
              <a:rPr lang="en-IN" dirty="0"/>
              <a:t>Sequence Number = Number/position of the first data byte carried by the segment.</a:t>
            </a:r>
          </a:p>
        </p:txBody>
      </p:sp>
      <p:pic>
        <p:nvPicPr>
          <p:cNvPr id="11" name="Picture 10">
            <a:extLst>
              <a:ext uri="{FF2B5EF4-FFF2-40B4-BE49-F238E27FC236}">
                <a16:creationId xmlns:a16="http://schemas.microsoft.com/office/drawing/2014/main" id="{62525C3F-C392-9D51-22EC-812C7F7BEAAE}"/>
              </a:ext>
            </a:extLst>
          </p:cNvPr>
          <p:cNvPicPr>
            <a:picLocks noChangeAspect="1"/>
          </p:cNvPicPr>
          <p:nvPr/>
        </p:nvPicPr>
        <p:blipFill>
          <a:blip r:embed="rId2"/>
          <a:stretch>
            <a:fillRect/>
          </a:stretch>
        </p:blipFill>
        <p:spPr>
          <a:xfrm>
            <a:off x="211676" y="4876662"/>
            <a:ext cx="5082218" cy="1981338"/>
          </a:xfrm>
          <a:prstGeom prst="rect">
            <a:avLst/>
          </a:prstGeom>
        </p:spPr>
      </p:pic>
    </p:spTree>
    <p:extLst>
      <p:ext uri="{BB962C8B-B14F-4D97-AF65-F5344CB8AC3E}">
        <p14:creationId xmlns:p14="http://schemas.microsoft.com/office/powerpoint/2010/main" val="33466842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ADED8-89FE-8A4C-5323-72D6517F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A80C3-DB86-9354-A63F-17108A1F5B83}"/>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Acknowledgment Number — 32 bits</a:t>
            </a:r>
          </a:p>
        </p:txBody>
      </p:sp>
      <p:sp>
        <p:nvSpPr>
          <p:cNvPr id="6" name="TextBox 5">
            <a:extLst>
              <a:ext uri="{FF2B5EF4-FFF2-40B4-BE49-F238E27FC236}">
                <a16:creationId xmlns:a16="http://schemas.microsoft.com/office/drawing/2014/main" id="{C7C0255B-CC3D-FF8C-3BF7-84785C5DFC15}"/>
              </a:ext>
            </a:extLst>
          </p:cNvPr>
          <p:cNvSpPr txBox="1"/>
          <p:nvPr/>
        </p:nvSpPr>
        <p:spPr>
          <a:xfrm>
            <a:off x="275844" y="960120"/>
            <a:ext cx="8868156" cy="369332"/>
          </a:xfrm>
          <a:prstGeom prst="rect">
            <a:avLst/>
          </a:prstGeom>
          <a:noFill/>
        </p:spPr>
        <p:txBody>
          <a:bodyPr wrap="square">
            <a:spAutoFit/>
          </a:bodyPr>
          <a:lstStyle/>
          <a:p>
            <a:pPr>
              <a:buNone/>
            </a:pPr>
            <a:r>
              <a:rPr lang="en-IN" dirty="0"/>
              <a:t>The ACK number tells the sender: </a:t>
            </a:r>
            <a:r>
              <a:rPr lang="en-IN" b="1" dirty="0"/>
              <a:t>Which byte does the receiver expect next?</a:t>
            </a:r>
            <a:endParaRPr lang="en-IN" dirty="0"/>
          </a:p>
        </p:txBody>
      </p:sp>
      <p:pic>
        <p:nvPicPr>
          <p:cNvPr id="11" name="Picture 10">
            <a:extLst>
              <a:ext uri="{FF2B5EF4-FFF2-40B4-BE49-F238E27FC236}">
                <a16:creationId xmlns:a16="http://schemas.microsoft.com/office/drawing/2014/main" id="{22BD0610-1A2A-D65C-A3A3-932FBE7060DD}"/>
              </a:ext>
            </a:extLst>
          </p:cNvPr>
          <p:cNvPicPr>
            <a:picLocks noChangeAspect="1"/>
          </p:cNvPicPr>
          <p:nvPr/>
        </p:nvPicPr>
        <p:blipFill>
          <a:blip r:embed="rId2"/>
          <a:stretch>
            <a:fillRect/>
          </a:stretch>
        </p:blipFill>
        <p:spPr>
          <a:xfrm>
            <a:off x="275844" y="1517262"/>
            <a:ext cx="3445924" cy="4845518"/>
          </a:xfrm>
          <a:prstGeom prst="rect">
            <a:avLst/>
          </a:prstGeom>
        </p:spPr>
      </p:pic>
      <p:pic>
        <p:nvPicPr>
          <p:cNvPr id="13" name="Picture 12">
            <a:extLst>
              <a:ext uri="{FF2B5EF4-FFF2-40B4-BE49-F238E27FC236}">
                <a16:creationId xmlns:a16="http://schemas.microsoft.com/office/drawing/2014/main" id="{8E875DD6-08BB-4021-5951-F37A0C61A025}"/>
              </a:ext>
            </a:extLst>
          </p:cNvPr>
          <p:cNvPicPr>
            <a:picLocks noChangeAspect="1"/>
          </p:cNvPicPr>
          <p:nvPr/>
        </p:nvPicPr>
        <p:blipFill>
          <a:blip r:embed="rId3"/>
          <a:stretch>
            <a:fillRect/>
          </a:stretch>
        </p:blipFill>
        <p:spPr>
          <a:xfrm>
            <a:off x="4170948" y="1425019"/>
            <a:ext cx="6160168" cy="3644285"/>
          </a:xfrm>
          <a:prstGeom prst="rect">
            <a:avLst/>
          </a:prstGeom>
        </p:spPr>
      </p:pic>
      <p:sp>
        <p:nvSpPr>
          <p:cNvPr id="15" name="TextBox 14">
            <a:extLst>
              <a:ext uri="{FF2B5EF4-FFF2-40B4-BE49-F238E27FC236}">
                <a16:creationId xmlns:a16="http://schemas.microsoft.com/office/drawing/2014/main" id="{32580258-721C-7D54-8885-7C6E6F8BD862}"/>
              </a:ext>
            </a:extLst>
          </p:cNvPr>
          <p:cNvSpPr txBox="1"/>
          <p:nvPr/>
        </p:nvSpPr>
        <p:spPr>
          <a:xfrm>
            <a:off x="4235116" y="5164871"/>
            <a:ext cx="6096000" cy="1477328"/>
          </a:xfrm>
          <a:prstGeom prst="rect">
            <a:avLst/>
          </a:prstGeom>
          <a:noFill/>
        </p:spPr>
        <p:txBody>
          <a:bodyPr wrap="square">
            <a:spAutoFit/>
          </a:bodyPr>
          <a:lstStyle/>
          <a:p>
            <a:pPr>
              <a:buNone/>
            </a:pPr>
            <a:r>
              <a:rPr lang="en-IN" dirty="0">
                <a:latin typeface="+mn-lt"/>
              </a:rPr>
              <a:t>ACK = 1500</a:t>
            </a:r>
            <a:r>
              <a:rPr lang="en-IN" dirty="0"/>
              <a:t> means:</a:t>
            </a:r>
          </a:p>
          <a:p>
            <a:pPr>
              <a:buNone/>
            </a:pPr>
            <a:r>
              <a:rPr lang="en-IN" b="1" dirty="0"/>
              <a:t>"I have received everything continuously up to byte 1499. Send me byte 1500 next."</a:t>
            </a:r>
            <a:endParaRPr lang="en-IN" dirty="0"/>
          </a:p>
          <a:p>
            <a:pPr>
              <a:buNone/>
            </a:pPr>
            <a:r>
              <a:rPr lang="en-IN" dirty="0"/>
              <a:t>It does </a:t>
            </a:r>
            <a:r>
              <a:rPr lang="en-IN" b="1" dirty="0"/>
              <a:t>not</a:t>
            </a:r>
            <a:r>
              <a:rPr lang="en-IN" dirty="0"/>
              <a:t> mean:</a:t>
            </a:r>
          </a:p>
          <a:p>
            <a:pPr>
              <a:buNone/>
            </a:pPr>
            <a:r>
              <a:rPr lang="en-IN" dirty="0"/>
              <a:t>"I received byte 1500."</a:t>
            </a:r>
          </a:p>
        </p:txBody>
      </p:sp>
    </p:spTree>
    <p:extLst>
      <p:ext uri="{BB962C8B-B14F-4D97-AF65-F5344CB8AC3E}">
        <p14:creationId xmlns:p14="http://schemas.microsoft.com/office/powerpoint/2010/main" val="33612450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EB989-B526-3B9A-D6D3-FC875BE9D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D269B-FFA9-64BD-BFE8-6BBCDF02C6E1}"/>
              </a:ext>
            </a:extLst>
          </p:cNvPr>
          <p:cNvSpPr>
            <a:spLocks noGrp="1"/>
          </p:cNvSpPr>
          <p:nvPr>
            <p:ph type="title"/>
          </p:nvPr>
        </p:nvSpPr>
        <p:spPr>
          <a:xfrm>
            <a:off x="275844" y="495220"/>
            <a:ext cx="11640312" cy="464900"/>
          </a:xfrm>
        </p:spPr>
        <p:txBody>
          <a:bodyPr>
            <a:normAutofit/>
          </a:bodyPr>
          <a:lstStyle/>
          <a:p>
            <a:r>
              <a:rPr lang="en-IN" sz="2400" b="1" dirty="0"/>
              <a:t>Acknowledgment Number — 32 bits</a:t>
            </a:r>
          </a:p>
        </p:txBody>
      </p:sp>
      <p:sp>
        <p:nvSpPr>
          <p:cNvPr id="4" name="TextBox 3">
            <a:extLst>
              <a:ext uri="{FF2B5EF4-FFF2-40B4-BE49-F238E27FC236}">
                <a16:creationId xmlns:a16="http://schemas.microsoft.com/office/drawing/2014/main" id="{C6E7504E-EA93-F377-5881-ABE8D0D74A59}"/>
              </a:ext>
            </a:extLst>
          </p:cNvPr>
          <p:cNvSpPr txBox="1"/>
          <p:nvPr/>
        </p:nvSpPr>
        <p:spPr>
          <a:xfrm>
            <a:off x="275844" y="960120"/>
            <a:ext cx="11803861" cy="646331"/>
          </a:xfrm>
          <a:prstGeom prst="rect">
            <a:avLst/>
          </a:prstGeom>
          <a:noFill/>
        </p:spPr>
        <p:txBody>
          <a:bodyPr wrap="square">
            <a:spAutoFit/>
          </a:bodyPr>
          <a:lstStyle/>
          <a:p>
            <a:pPr>
              <a:buNone/>
            </a:pPr>
            <a:r>
              <a:rPr lang="en-IN" dirty="0"/>
              <a:t>TCP acknowledgments are normally </a:t>
            </a:r>
            <a:r>
              <a:rPr lang="en-IN" b="1" dirty="0"/>
              <a:t>cumulative</a:t>
            </a:r>
            <a:r>
              <a:rPr lang="en-IN" dirty="0"/>
              <a:t>. This means one ACK can acknowledge a continuous range of bytes.</a:t>
            </a:r>
          </a:p>
          <a:p>
            <a:pPr>
              <a:buNone/>
            </a:pPr>
            <a:r>
              <a:rPr lang="en-IN" dirty="0"/>
              <a:t>Suppose sender sends:</a:t>
            </a:r>
          </a:p>
        </p:txBody>
      </p:sp>
      <p:sp>
        <p:nvSpPr>
          <p:cNvPr id="7" name="TextBox 6">
            <a:extLst>
              <a:ext uri="{FF2B5EF4-FFF2-40B4-BE49-F238E27FC236}">
                <a16:creationId xmlns:a16="http://schemas.microsoft.com/office/drawing/2014/main" id="{7D601BA1-62BE-B2AF-565C-E6650B016BCC}"/>
              </a:ext>
            </a:extLst>
          </p:cNvPr>
          <p:cNvSpPr txBox="1"/>
          <p:nvPr/>
        </p:nvSpPr>
        <p:spPr>
          <a:xfrm>
            <a:off x="275844" y="1606451"/>
            <a:ext cx="2454442" cy="3139321"/>
          </a:xfrm>
          <a:prstGeom prst="rect">
            <a:avLst/>
          </a:prstGeom>
          <a:noFill/>
        </p:spPr>
        <p:txBody>
          <a:bodyPr wrap="square">
            <a:spAutoFit/>
          </a:bodyPr>
          <a:lstStyle/>
          <a:p>
            <a:r>
              <a:rPr lang="en-IN" dirty="0"/>
              <a:t>Segment 1:</a:t>
            </a:r>
          </a:p>
          <a:p>
            <a:r>
              <a:rPr lang="en-IN" dirty="0"/>
              <a:t>SEQ = 1000</a:t>
            </a:r>
          </a:p>
          <a:p>
            <a:r>
              <a:rPr lang="en-IN" dirty="0"/>
              <a:t>Data = 500 bytes</a:t>
            </a:r>
          </a:p>
          <a:p>
            <a:endParaRPr lang="en-IN" dirty="0"/>
          </a:p>
          <a:p>
            <a:r>
              <a:rPr lang="en-IN" dirty="0"/>
              <a:t>Segment 2:</a:t>
            </a:r>
          </a:p>
          <a:p>
            <a:r>
              <a:rPr lang="en-IN" dirty="0"/>
              <a:t>SEQ = 1500</a:t>
            </a:r>
          </a:p>
          <a:p>
            <a:r>
              <a:rPr lang="en-IN" dirty="0"/>
              <a:t>Data = 500 bytes</a:t>
            </a:r>
          </a:p>
          <a:p>
            <a:endParaRPr lang="en-IN" dirty="0"/>
          </a:p>
          <a:p>
            <a:r>
              <a:rPr lang="en-IN" dirty="0"/>
              <a:t>Segment 3:</a:t>
            </a:r>
          </a:p>
          <a:p>
            <a:r>
              <a:rPr lang="en-IN" dirty="0"/>
              <a:t>SEQ = 2000</a:t>
            </a:r>
          </a:p>
          <a:p>
            <a:r>
              <a:rPr lang="en-IN" dirty="0"/>
              <a:t>Data = 500 bytes</a:t>
            </a:r>
          </a:p>
        </p:txBody>
      </p:sp>
      <p:sp>
        <p:nvSpPr>
          <p:cNvPr id="9" name="TextBox 8">
            <a:extLst>
              <a:ext uri="{FF2B5EF4-FFF2-40B4-BE49-F238E27FC236}">
                <a16:creationId xmlns:a16="http://schemas.microsoft.com/office/drawing/2014/main" id="{12124405-562B-7986-6E48-7FF9EDB2D86D}"/>
              </a:ext>
            </a:extLst>
          </p:cNvPr>
          <p:cNvSpPr txBox="1"/>
          <p:nvPr/>
        </p:nvSpPr>
        <p:spPr>
          <a:xfrm>
            <a:off x="275844" y="4928383"/>
            <a:ext cx="8868156" cy="646331"/>
          </a:xfrm>
          <a:prstGeom prst="rect">
            <a:avLst/>
          </a:prstGeom>
          <a:noFill/>
        </p:spPr>
        <p:txBody>
          <a:bodyPr wrap="square">
            <a:spAutoFit/>
          </a:bodyPr>
          <a:lstStyle/>
          <a:p>
            <a:pPr>
              <a:buNone/>
            </a:pPr>
            <a:r>
              <a:rPr lang="en-IN" dirty="0"/>
              <a:t>If the receiver has successfully received all continuous bytes from: </a:t>
            </a:r>
            <a:r>
              <a:rPr lang="en-IN" dirty="0">
                <a:latin typeface="+mn-lt"/>
              </a:rPr>
              <a:t>1000 through 2499</a:t>
            </a:r>
          </a:p>
          <a:p>
            <a:pPr>
              <a:buNone/>
            </a:pPr>
            <a:r>
              <a:rPr lang="en-IN" dirty="0"/>
              <a:t>it can send: </a:t>
            </a:r>
            <a:r>
              <a:rPr lang="en-IN" dirty="0">
                <a:latin typeface="+mn-lt"/>
              </a:rPr>
              <a:t>ACK = 2500</a:t>
            </a:r>
            <a:endParaRPr lang="en-IN" dirty="0">
              <a:latin typeface="Courier New" panose="02070309020205020404" pitchFamily="49" charset="0"/>
            </a:endParaRPr>
          </a:p>
        </p:txBody>
      </p:sp>
      <p:sp>
        <p:nvSpPr>
          <p:cNvPr id="12" name="TextBox 11">
            <a:extLst>
              <a:ext uri="{FF2B5EF4-FFF2-40B4-BE49-F238E27FC236}">
                <a16:creationId xmlns:a16="http://schemas.microsoft.com/office/drawing/2014/main" id="{D7B34EF8-FAB0-4873-7C03-8C770C6376CA}"/>
              </a:ext>
            </a:extLst>
          </p:cNvPr>
          <p:cNvSpPr txBox="1"/>
          <p:nvPr/>
        </p:nvSpPr>
        <p:spPr>
          <a:xfrm>
            <a:off x="3015916" y="2575946"/>
            <a:ext cx="8261684" cy="923330"/>
          </a:xfrm>
          <a:prstGeom prst="rect">
            <a:avLst/>
          </a:prstGeom>
          <a:noFill/>
        </p:spPr>
        <p:txBody>
          <a:bodyPr wrap="square">
            <a:spAutoFit/>
          </a:bodyPr>
          <a:lstStyle/>
          <a:p>
            <a:pPr>
              <a:buNone/>
            </a:pPr>
            <a:r>
              <a:rPr lang="en-IN" dirty="0"/>
              <a:t>Meaning:</a:t>
            </a:r>
          </a:p>
          <a:p>
            <a:pPr>
              <a:buNone/>
            </a:pPr>
            <a:r>
              <a:rPr lang="en-IN" b="1" dirty="0"/>
              <a:t>"Everything continuously before 2500 has been received; send me byte 2500 next."</a:t>
            </a:r>
            <a:endParaRPr lang="en-IN" dirty="0"/>
          </a:p>
          <a:p>
            <a:pPr>
              <a:buNone/>
            </a:pPr>
            <a:r>
              <a:rPr lang="en-IN" dirty="0"/>
              <a:t>So one ACK can cover many bytes/segments.</a:t>
            </a:r>
          </a:p>
        </p:txBody>
      </p:sp>
      <p:sp>
        <p:nvSpPr>
          <p:cNvPr id="16" name="TextBox 15">
            <a:extLst>
              <a:ext uri="{FF2B5EF4-FFF2-40B4-BE49-F238E27FC236}">
                <a16:creationId xmlns:a16="http://schemas.microsoft.com/office/drawing/2014/main" id="{18C7BD14-6452-BD18-5AA9-FA7EABF0E149}"/>
              </a:ext>
            </a:extLst>
          </p:cNvPr>
          <p:cNvSpPr txBox="1"/>
          <p:nvPr/>
        </p:nvSpPr>
        <p:spPr>
          <a:xfrm>
            <a:off x="930442" y="5990212"/>
            <a:ext cx="10347157" cy="372567"/>
          </a:xfrm>
          <a:prstGeom prst="rect">
            <a:avLst/>
          </a:prstGeom>
          <a:noFill/>
        </p:spPr>
        <p:txBody>
          <a:bodyPr wrap="square">
            <a:spAutoFit/>
          </a:bodyPr>
          <a:lstStyle/>
          <a:p>
            <a:r>
              <a:rPr lang="en-IN" dirty="0"/>
              <a:t>Sequence Number and ACK Number exist on BOTH sides i.e., on client side as well as on server side.</a:t>
            </a:r>
          </a:p>
        </p:txBody>
      </p:sp>
    </p:spTree>
    <p:extLst>
      <p:ext uri="{BB962C8B-B14F-4D97-AF65-F5344CB8AC3E}">
        <p14:creationId xmlns:p14="http://schemas.microsoft.com/office/powerpoint/2010/main" val="3580090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54051-E323-A0CA-D565-A4A04012D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BBCBE-E542-8C86-14A8-4F0F6B5B17D7}"/>
              </a:ext>
            </a:extLst>
          </p:cNvPr>
          <p:cNvSpPr>
            <a:spLocks noGrp="1"/>
          </p:cNvSpPr>
          <p:nvPr>
            <p:ph type="title"/>
          </p:nvPr>
        </p:nvSpPr>
        <p:spPr>
          <a:xfrm>
            <a:off x="275844" y="495220"/>
            <a:ext cx="11640312" cy="464900"/>
          </a:xfrm>
        </p:spPr>
        <p:txBody>
          <a:bodyPr>
            <a:normAutofit/>
          </a:bodyPr>
          <a:lstStyle/>
          <a:p>
            <a:r>
              <a:rPr lang="en-IN" sz="2400" b="1" dirty="0"/>
              <a:t>Acknowledgment Number — 32 bits</a:t>
            </a:r>
          </a:p>
        </p:txBody>
      </p:sp>
      <p:graphicFrame>
        <p:nvGraphicFramePr>
          <p:cNvPr id="3" name="Table 2">
            <a:extLst>
              <a:ext uri="{FF2B5EF4-FFF2-40B4-BE49-F238E27FC236}">
                <a16:creationId xmlns:a16="http://schemas.microsoft.com/office/drawing/2014/main" id="{4AEABC26-4765-5300-DAC7-CA70823DA8AE}"/>
              </a:ext>
            </a:extLst>
          </p:cNvPr>
          <p:cNvGraphicFramePr>
            <a:graphicFrameLocks noGrp="1"/>
          </p:cNvGraphicFramePr>
          <p:nvPr>
            <p:extLst>
              <p:ext uri="{D42A27DB-BD31-4B8C-83A1-F6EECF244321}">
                <p14:modId xmlns:p14="http://schemas.microsoft.com/office/powerpoint/2010/main" val="2927982684"/>
              </p:ext>
            </p:extLst>
          </p:nvPr>
        </p:nvGraphicFramePr>
        <p:xfrm>
          <a:off x="491958" y="1072592"/>
          <a:ext cx="8128000" cy="24942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94058473"/>
                    </a:ext>
                  </a:extLst>
                </a:gridCol>
                <a:gridCol w="4064000">
                  <a:extLst>
                    <a:ext uri="{9D8B030D-6E8A-4147-A177-3AD203B41FA5}">
                      <a16:colId xmlns:a16="http://schemas.microsoft.com/office/drawing/2014/main" val="3797011261"/>
                    </a:ext>
                  </a:extLst>
                </a:gridCol>
              </a:tblGrid>
              <a:tr h="370840">
                <a:tc>
                  <a:txBody>
                    <a:bodyPr/>
                    <a:lstStyle/>
                    <a:p>
                      <a:pPr>
                        <a:buNone/>
                      </a:pPr>
                      <a:r>
                        <a:rPr lang="en-IN" dirty="0"/>
                        <a:t>Sequence Number</a:t>
                      </a:r>
                    </a:p>
                  </a:txBody>
                  <a:tcPr anchor="ctr"/>
                </a:tc>
                <a:tc>
                  <a:txBody>
                    <a:bodyPr/>
                    <a:lstStyle/>
                    <a:p>
                      <a:pPr>
                        <a:buNone/>
                      </a:pPr>
                      <a:r>
                        <a:rPr lang="en-IN"/>
                        <a:t>Acknowledgment Number</a:t>
                      </a:r>
                    </a:p>
                  </a:txBody>
                  <a:tcPr anchor="ctr"/>
                </a:tc>
                <a:extLst>
                  <a:ext uri="{0D108BD9-81ED-4DB2-BD59-A6C34878D82A}">
                    <a16:rowId xmlns:a16="http://schemas.microsoft.com/office/drawing/2014/main" val="2556000869"/>
                  </a:ext>
                </a:extLst>
              </a:tr>
              <a:tr h="370840">
                <a:tc>
                  <a:txBody>
                    <a:bodyPr/>
                    <a:lstStyle/>
                    <a:p>
                      <a:pPr>
                        <a:buNone/>
                      </a:pPr>
                      <a:r>
                        <a:rPr lang="en-IN"/>
                        <a:t>32 bits</a:t>
                      </a:r>
                    </a:p>
                  </a:txBody>
                  <a:tcPr anchor="ctr"/>
                </a:tc>
                <a:tc>
                  <a:txBody>
                    <a:bodyPr/>
                    <a:lstStyle/>
                    <a:p>
                      <a:pPr>
                        <a:buNone/>
                      </a:pPr>
                      <a:r>
                        <a:rPr lang="en-IN"/>
                        <a:t>32 bits</a:t>
                      </a:r>
                    </a:p>
                  </a:txBody>
                  <a:tcPr anchor="ctr"/>
                </a:tc>
                <a:extLst>
                  <a:ext uri="{0D108BD9-81ED-4DB2-BD59-A6C34878D82A}">
                    <a16:rowId xmlns:a16="http://schemas.microsoft.com/office/drawing/2014/main" val="1197231500"/>
                  </a:ext>
                </a:extLst>
              </a:tr>
              <a:tr h="370840">
                <a:tc>
                  <a:txBody>
                    <a:bodyPr/>
                    <a:lstStyle/>
                    <a:p>
                      <a:pPr>
                        <a:buNone/>
                      </a:pPr>
                      <a:r>
                        <a:rPr lang="en-IN" dirty="0"/>
                        <a:t>Tells position of data being sent</a:t>
                      </a:r>
                    </a:p>
                  </a:txBody>
                  <a:tcPr anchor="ctr"/>
                </a:tc>
                <a:tc>
                  <a:txBody>
                    <a:bodyPr/>
                    <a:lstStyle/>
                    <a:p>
                      <a:pPr>
                        <a:buNone/>
                      </a:pPr>
                      <a:r>
                        <a:rPr lang="en-IN" dirty="0"/>
                        <a:t>Tells next byte expected from other side</a:t>
                      </a:r>
                    </a:p>
                  </a:txBody>
                  <a:tcPr anchor="ctr"/>
                </a:tc>
                <a:extLst>
                  <a:ext uri="{0D108BD9-81ED-4DB2-BD59-A6C34878D82A}">
                    <a16:rowId xmlns:a16="http://schemas.microsoft.com/office/drawing/2014/main" val="509874210"/>
                  </a:ext>
                </a:extLst>
              </a:tr>
              <a:tr h="370840">
                <a:tc>
                  <a:txBody>
                    <a:bodyPr/>
                    <a:lstStyle/>
                    <a:p>
                      <a:pPr>
                        <a:buNone/>
                      </a:pPr>
                      <a:r>
                        <a:rPr lang="en-IN" dirty="0"/>
                        <a:t>Related to sender's byte stream</a:t>
                      </a:r>
                    </a:p>
                  </a:txBody>
                  <a:tcPr anchor="ctr"/>
                </a:tc>
                <a:tc>
                  <a:txBody>
                    <a:bodyPr/>
                    <a:lstStyle/>
                    <a:p>
                      <a:pPr>
                        <a:buNone/>
                      </a:pPr>
                      <a:r>
                        <a:rPr lang="en-IN" dirty="0"/>
                        <a:t>Related to receiver's expectation from opposite byte stream</a:t>
                      </a:r>
                    </a:p>
                  </a:txBody>
                  <a:tcPr anchor="ctr"/>
                </a:tc>
                <a:extLst>
                  <a:ext uri="{0D108BD9-81ED-4DB2-BD59-A6C34878D82A}">
                    <a16:rowId xmlns:a16="http://schemas.microsoft.com/office/drawing/2014/main" val="3947406216"/>
                  </a:ext>
                </a:extLst>
              </a:tr>
              <a:tr h="370840">
                <a:tc>
                  <a:txBody>
                    <a:bodyPr/>
                    <a:lstStyle/>
                    <a:p>
                      <a:pPr>
                        <a:buNone/>
                      </a:pPr>
                      <a:r>
                        <a:rPr lang="en-IN"/>
                        <a:t>Helps ordering and tracking</a:t>
                      </a:r>
                    </a:p>
                  </a:txBody>
                  <a:tcPr anchor="ctr"/>
                </a:tc>
                <a:tc>
                  <a:txBody>
                    <a:bodyPr/>
                    <a:lstStyle/>
                    <a:p>
                      <a:pPr>
                        <a:buNone/>
                      </a:pPr>
                      <a:r>
                        <a:rPr lang="en-IN"/>
                        <a:t>Confirms continuous receipt/progress</a:t>
                      </a:r>
                    </a:p>
                  </a:txBody>
                  <a:tcPr anchor="ctr"/>
                </a:tc>
                <a:extLst>
                  <a:ext uri="{0D108BD9-81ED-4DB2-BD59-A6C34878D82A}">
                    <a16:rowId xmlns:a16="http://schemas.microsoft.com/office/drawing/2014/main" val="912618619"/>
                  </a:ext>
                </a:extLst>
              </a:tr>
              <a:tr h="370840">
                <a:tc>
                  <a:txBody>
                    <a:bodyPr/>
                    <a:lstStyle/>
                    <a:p>
                      <a:pPr>
                        <a:buNone/>
                      </a:pPr>
                      <a:r>
                        <a:rPr lang="en-IN" dirty="0"/>
                        <a:t>Example: </a:t>
                      </a:r>
                      <a:r>
                        <a:rPr lang="en-IN" dirty="0">
                          <a:latin typeface="Courier New" panose="02070309020205020404" pitchFamily="49" charset="0"/>
                        </a:rPr>
                        <a:t>SEQ = 1000</a:t>
                      </a:r>
                      <a:endParaRPr lang="en-IN" dirty="0"/>
                    </a:p>
                  </a:txBody>
                  <a:tcPr anchor="ctr"/>
                </a:tc>
                <a:tc>
                  <a:txBody>
                    <a:bodyPr/>
                    <a:lstStyle/>
                    <a:p>
                      <a:pPr>
                        <a:buNone/>
                      </a:pPr>
                      <a:r>
                        <a:rPr lang="en-IN" dirty="0"/>
                        <a:t>Example: </a:t>
                      </a:r>
                      <a:r>
                        <a:rPr lang="en-IN" dirty="0">
                          <a:latin typeface="Courier New" panose="02070309020205020404" pitchFamily="49" charset="0"/>
                        </a:rPr>
                        <a:t>ACK = 1500</a:t>
                      </a:r>
                      <a:endParaRPr lang="en-IN" dirty="0"/>
                    </a:p>
                  </a:txBody>
                  <a:tcPr anchor="ctr"/>
                </a:tc>
                <a:extLst>
                  <a:ext uri="{0D108BD9-81ED-4DB2-BD59-A6C34878D82A}">
                    <a16:rowId xmlns:a16="http://schemas.microsoft.com/office/drawing/2014/main" val="3616707080"/>
                  </a:ext>
                </a:extLst>
              </a:tr>
            </a:tbl>
          </a:graphicData>
        </a:graphic>
      </p:graphicFrame>
    </p:spTree>
    <p:extLst>
      <p:ext uri="{BB962C8B-B14F-4D97-AF65-F5344CB8AC3E}">
        <p14:creationId xmlns:p14="http://schemas.microsoft.com/office/powerpoint/2010/main" val="2679891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BC90E-4D72-384F-70B9-373BEA0E7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FAE57-A1A7-9D2C-8A6C-D975A550233D}"/>
              </a:ext>
            </a:extLst>
          </p:cNvPr>
          <p:cNvSpPr>
            <a:spLocks noGrp="1"/>
          </p:cNvSpPr>
          <p:nvPr>
            <p:ph type="title"/>
          </p:nvPr>
        </p:nvSpPr>
        <p:spPr>
          <a:xfrm>
            <a:off x="275844" y="495220"/>
            <a:ext cx="11640312" cy="464900"/>
          </a:xfrm>
        </p:spPr>
        <p:txBody>
          <a:bodyPr>
            <a:normAutofit/>
          </a:bodyPr>
          <a:lstStyle/>
          <a:p>
            <a:r>
              <a:rPr lang="en-IN" sz="2400" b="1" dirty="0"/>
              <a:t>Acknowledgment Number — 32 bits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7E08754-7688-918F-A9C9-88249758EC25}"/>
                  </a:ext>
                </a:extLst>
              </p:cNvPr>
              <p:cNvSpPr txBox="1"/>
              <p:nvPr/>
            </p:nvSpPr>
            <p:spPr>
              <a:xfrm>
                <a:off x="561473" y="852846"/>
                <a:ext cx="5678905" cy="5706306"/>
              </a:xfrm>
              <a:prstGeom prst="rect">
                <a:avLst/>
              </a:prstGeom>
              <a:noFill/>
            </p:spPr>
            <p:txBody>
              <a:bodyPr wrap="square">
                <a:spAutoFit/>
              </a:bodyPr>
              <a:lstStyle/>
              <a:p>
                <a:pPr>
                  <a:buNone/>
                </a:pPr>
                <a:r>
                  <a:rPr lang="en-IN" b="1" dirty="0"/>
                  <a:t>Example:</a:t>
                </a:r>
                <a:br>
                  <a:rPr lang="en-IN" dirty="0"/>
                </a:br>
                <a:r>
                  <a:rPr lang="en-IN" dirty="0"/>
                  <a:t>A TCP segment has:</a:t>
                </a:r>
              </a:p>
              <a:p>
                <a:pPr rtl="0">
                  <a:buNone/>
                </a:pPr>
                <a:endParaRPr lang="en-IN" dirty="0">
                  <a:latin typeface="+mn-lt"/>
                </a:endParaRPr>
              </a:p>
              <a:p>
                <a:pPr rtl="0">
                  <a:buNone/>
                </a:pPr>
                <a:r>
                  <a:rPr lang="en-IN" dirty="0">
                    <a:latin typeface="+mn-lt"/>
                  </a:rPr>
                  <a:t>SEQ = 3000</a:t>
                </a:r>
              </a:p>
              <a:p>
                <a:pPr rtl="0">
                  <a:buNone/>
                </a:pPr>
                <a:r>
                  <a:rPr lang="en-IN" dirty="0">
                    <a:latin typeface="+mn-lt"/>
                  </a:rPr>
                  <a:t>Data = 800 bytes</a:t>
                </a:r>
              </a:p>
              <a:p>
                <a:pPr>
                  <a:buNone/>
                </a:pPr>
                <a:endParaRPr lang="en-IN" dirty="0"/>
              </a:p>
              <a:p>
                <a:pPr>
                  <a:buNone/>
                </a:pPr>
                <a:r>
                  <a:rPr lang="en-IN" dirty="0"/>
                  <a:t>Find:</a:t>
                </a:r>
              </a:p>
              <a:p>
                <a:pPr marL="342900" lvl="0" indent="-342900">
                  <a:buFont typeface="+mj-lt"/>
                  <a:buAutoNum type="arabicPeriod"/>
                </a:pPr>
                <a:r>
                  <a:rPr lang="en-IN" dirty="0"/>
                  <a:t>First byte </a:t>
                </a:r>
              </a:p>
              <a:p>
                <a:pPr marL="342900" lvl="0" indent="-342900">
                  <a:buFont typeface="+mj-lt"/>
                  <a:buAutoNum type="arabicPeriod"/>
                </a:pPr>
                <a:r>
                  <a:rPr lang="en-IN" dirty="0"/>
                  <a:t>Last byte </a:t>
                </a:r>
              </a:p>
              <a:p>
                <a:pPr marL="342900" lvl="0" indent="-342900">
                  <a:buFont typeface="+mj-lt"/>
                  <a:buAutoNum type="arabicPeriod"/>
                </a:pPr>
                <a:r>
                  <a:rPr lang="en-IN" dirty="0"/>
                  <a:t>Expected ACK </a:t>
                </a:r>
              </a:p>
              <a:p>
                <a:pPr>
                  <a:buNone/>
                </a:pPr>
                <a:r>
                  <a:rPr lang="en-IN" b="1" dirty="0"/>
                  <a:t>Step 1 — First Byte</a:t>
                </a:r>
              </a:p>
              <a:p>
                <a:pPr>
                  <a:buNone/>
                </a:pPr>
                <a14:m>
                  <m:oMathPara xmlns:m="http://schemas.openxmlformats.org/officeDocument/2006/math">
                    <m:oMath>
                      <m:r>
                        <a:rPr lang="en-IN">
                          <a:latin typeface="Cambria Math" panose="02040503050406030204" pitchFamily="18" charset="0"/>
                        </a:rPr>
                        <m:t>3000</m:t>
                      </m:r>
                    </m:oMath>
                  </m:oMathPara>
                </a14:m>
                <a:endParaRPr lang="en-IN" dirty="0"/>
              </a:p>
              <a:p>
                <a:pPr>
                  <a:buNone/>
                </a:pPr>
                <a:r>
                  <a:rPr lang="en-IN" b="1" dirty="0"/>
                  <a:t>Step 2 — Last Byte</a:t>
                </a:r>
              </a:p>
              <a:p>
                <a:pPr>
                  <a:buNone/>
                </a:pPr>
                <a14:m>
                  <m:oMathPara xmlns:m="http://schemas.openxmlformats.org/officeDocument/2006/math">
                    <m:oMath>
                      <m:r>
                        <a:rPr lang="en-IN">
                          <a:latin typeface="Cambria Math" panose="02040503050406030204" pitchFamily="18" charset="0"/>
                        </a:rPr>
                        <m:t>3000</m:t>
                      </m:r>
                      <m:r>
                        <a:rPr lang="en-IN" i="0">
                          <a:latin typeface="Cambria Math" panose="02040503050406030204" pitchFamily="18" charset="0"/>
                        </a:rPr>
                        <m:t>+800−1</m:t>
                      </m:r>
                    </m:oMath>
                  </m:oMathPara>
                </a14:m>
                <a:endParaRPr lang="en-IN" dirty="0"/>
              </a:p>
              <a:p>
                <a:pPr>
                  <a:buNone/>
                </a:pPr>
                <a14:m>
                  <m:oMathPara xmlns:m="http://schemas.openxmlformats.org/officeDocument/2006/math">
                    <m:oMath>
                      <m:r>
                        <a:rPr lang="en-IN">
                          <a:latin typeface="Cambria Math" panose="02040503050406030204" pitchFamily="18" charset="0"/>
                        </a:rPr>
                        <m:t>=</m:t>
                      </m:r>
                      <m:borderBox>
                        <m:borderBoxPr>
                          <m:ctrlPr>
                            <a:rPr lang="en-IN" i="0">
                              <a:latin typeface="Cambria Math" panose="02040503050406030204" pitchFamily="18" charset="0"/>
                            </a:rPr>
                          </m:ctrlPr>
                        </m:borderBoxPr>
                        <m:e>
                          <m:r>
                            <a:rPr lang="en-IN" i="0">
                              <a:latin typeface="Cambria Math" panose="02040503050406030204" pitchFamily="18" charset="0"/>
                            </a:rPr>
                            <m:t>3799</m:t>
                          </m:r>
                        </m:e>
                      </m:borderBox>
                    </m:oMath>
                  </m:oMathPara>
                </a14:m>
                <a:endParaRPr lang="en-IN" dirty="0"/>
              </a:p>
              <a:p>
                <a:pPr>
                  <a:buNone/>
                </a:pPr>
                <a:r>
                  <a:rPr lang="en-IN" b="1" dirty="0"/>
                  <a:t>Step 3 — Next Expected Byte</a:t>
                </a:r>
              </a:p>
              <a:p>
                <a:pPr>
                  <a:buNone/>
                </a:pPr>
                <a14:m>
                  <m:oMathPara xmlns:m="http://schemas.openxmlformats.org/officeDocument/2006/math">
                    <m:oMath>
                      <m:r>
                        <a:rPr lang="en-IN">
                          <a:latin typeface="Cambria Math" panose="02040503050406030204" pitchFamily="18" charset="0"/>
                        </a:rPr>
                        <m:t>3000</m:t>
                      </m:r>
                      <m:r>
                        <a:rPr lang="en-IN" i="0">
                          <a:latin typeface="Cambria Math" panose="02040503050406030204" pitchFamily="18" charset="0"/>
                        </a:rPr>
                        <m:t>+800</m:t>
                      </m:r>
                    </m:oMath>
                  </m:oMathPara>
                </a14:m>
                <a:endParaRPr lang="en-IN" dirty="0"/>
              </a:p>
              <a:p>
                <a:pPr>
                  <a:buNone/>
                </a:pPr>
                <a14:m>
                  <m:oMathPara xmlns:m="http://schemas.openxmlformats.org/officeDocument/2006/math">
                    <m:oMath>
                      <m:r>
                        <a:rPr lang="en-IN">
                          <a:latin typeface="Cambria Math" panose="02040503050406030204" pitchFamily="18" charset="0"/>
                        </a:rPr>
                        <m:t>=</m:t>
                      </m:r>
                      <m:borderBox>
                        <m:borderBoxPr>
                          <m:ctrlPr>
                            <a:rPr lang="en-IN" i="0">
                              <a:latin typeface="Cambria Math" panose="02040503050406030204" pitchFamily="18" charset="0"/>
                            </a:rPr>
                          </m:ctrlPr>
                        </m:borderBoxPr>
                        <m:e>
                          <m:r>
                            <a:rPr lang="en-IN" i="0">
                              <a:latin typeface="Cambria Math" panose="02040503050406030204" pitchFamily="18" charset="0"/>
                            </a:rPr>
                            <m:t>3800</m:t>
                          </m:r>
                        </m:e>
                      </m:borderBox>
                    </m:oMath>
                  </m:oMathPara>
                </a14:m>
                <a:endParaRPr lang="en-IN" dirty="0"/>
              </a:p>
              <a:p>
                <a:pPr>
                  <a:buNone/>
                </a:pPr>
                <a:r>
                  <a:rPr lang="en-IN" dirty="0"/>
                  <a:t>Therefore receiver can acknowledge:</a:t>
                </a:r>
              </a:p>
              <a:p>
                <a:pPr>
                  <a:buNone/>
                </a:pPr>
                <a:r>
                  <a:rPr lang="en-IN" dirty="0"/>
                  <a:t>ACK=3800​</a:t>
                </a:r>
              </a:p>
            </p:txBody>
          </p:sp>
        </mc:Choice>
        <mc:Fallback xmlns="">
          <p:sp>
            <p:nvSpPr>
              <p:cNvPr id="5" name="TextBox 4">
                <a:extLst>
                  <a:ext uri="{FF2B5EF4-FFF2-40B4-BE49-F238E27FC236}">
                    <a16:creationId xmlns:a16="http://schemas.microsoft.com/office/drawing/2014/main" id="{27E08754-7688-918F-A9C9-88249758EC25}"/>
                  </a:ext>
                </a:extLst>
              </p:cNvPr>
              <p:cNvSpPr txBox="1">
                <a:spLocks noRot="1" noChangeAspect="1" noMove="1" noResize="1" noEditPoints="1" noAdjustHandles="1" noChangeArrowheads="1" noChangeShapeType="1" noTextEdit="1"/>
              </p:cNvSpPr>
              <p:nvPr/>
            </p:nvSpPr>
            <p:spPr>
              <a:xfrm>
                <a:off x="561473" y="852846"/>
                <a:ext cx="5678905" cy="5706306"/>
              </a:xfrm>
              <a:prstGeom prst="rect">
                <a:avLst/>
              </a:prstGeom>
              <a:blipFill>
                <a:blip r:embed="rId2"/>
                <a:stretch>
                  <a:fillRect l="-858" t="-641" b="-748"/>
                </a:stretch>
              </a:blipFill>
            </p:spPr>
            <p:txBody>
              <a:bodyPr/>
              <a:lstStyle/>
              <a:p>
                <a:r>
                  <a:rPr lang="en-IN">
                    <a:noFill/>
                  </a:rPr>
                  <a:t> </a:t>
                </a:r>
              </a:p>
            </p:txBody>
          </p:sp>
        </mc:Fallback>
      </mc:AlternateContent>
    </p:spTree>
    <p:extLst>
      <p:ext uri="{BB962C8B-B14F-4D97-AF65-F5344CB8AC3E}">
        <p14:creationId xmlns:p14="http://schemas.microsoft.com/office/powerpoint/2010/main" val="5227274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EBB7F-CD3B-C655-707C-BC4AFDCC7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72D8D-DF9F-137C-1A1F-29874D2DA720}"/>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Data Offset — 4 bits</a:t>
            </a:r>
          </a:p>
        </p:txBody>
      </p:sp>
      <p:sp>
        <p:nvSpPr>
          <p:cNvPr id="4" name="TextBox 3">
            <a:extLst>
              <a:ext uri="{FF2B5EF4-FFF2-40B4-BE49-F238E27FC236}">
                <a16:creationId xmlns:a16="http://schemas.microsoft.com/office/drawing/2014/main" id="{18610AB1-6BFC-D037-44AB-B46F16700FF3}"/>
              </a:ext>
            </a:extLst>
          </p:cNvPr>
          <p:cNvSpPr txBox="1"/>
          <p:nvPr/>
        </p:nvSpPr>
        <p:spPr>
          <a:xfrm>
            <a:off x="275844" y="960120"/>
            <a:ext cx="9464842" cy="646331"/>
          </a:xfrm>
          <a:prstGeom prst="rect">
            <a:avLst/>
          </a:prstGeom>
          <a:noFill/>
        </p:spPr>
        <p:txBody>
          <a:bodyPr wrap="square">
            <a:spAutoFit/>
          </a:bodyPr>
          <a:lstStyle/>
          <a:p>
            <a:pPr>
              <a:buNone/>
            </a:pPr>
            <a:r>
              <a:rPr lang="en-IN" dirty="0"/>
              <a:t>The name </a:t>
            </a:r>
            <a:r>
              <a:rPr lang="en-IN" b="1" dirty="0"/>
              <a:t>Data Offset</a:t>
            </a:r>
            <a:r>
              <a:rPr lang="en-IN" dirty="0"/>
              <a:t> sounds difficult, but the idea is simple.</a:t>
            </a:r>
          </a:p>
          <a:p>
            <a:pPr>
              <a:buNone/>
            </a:pPr>
            <a:r>
              <a:rPr lang="en-IN" dirty="0"/>
              <a:t>It tells the receiver: </a:t>
            </a:r>
            <a:r>
              <a:rPr lang="en-IN" b="1" dirty="0"/>
              <a:t>Where does the actual TCP data start?</a:t>
            </a:r>
            <a:endParaRPr lang="en-IN" dirty="0"/>
          </a:p>
        </p:txBody>
      </p:sp>
      <p:sp>
        <p:nvSpPr>
          <p:cNvPr id="6" name="TextBox 5">
            <a:extLst>
              <a:ext uri="{FF2B5EF4-FFF2-40B4-BE49-F238E27FC236}">
                <a16:creationId xmlns:a16="http://schemas.microsoft.com/office/drawing/2014/main" id="{157B17F9-FF5F-052E-0213-98435C2A092F}"/>
              </a:ext>
            </a:extLst>
          </p:cNvPr>
          <p:cNvSpPr txBox="1"/>
          <p:nvPr/>
        </p:nvSpPr>
        <p:spPr>
          <a:xfrm>
            <a:off x="275844" y="1800778"/>
            <a:ext cx="5707861" cy="4801314"/>
          </a:xfrm>
          <a:prstGeom prst="rect">
            <a:avLst/>
          </a:prstGeom>
          <a:noFill/>
        </p:spPr>
        <p:txBody>
          <a:bodyPr wrap="square">
            <a:spAutoFit/>
          </a:bodyPr>
          <a:lstStyle/>
          <a:p>
            <a:pPr>
              <a:buNone/>
            </a:pPr>
            <a:r>
              <a:rPr lang="en-IN" b="1" dirty="0">
                <a:highlight>
                  <a:srgbClr val="FFFF00"/>
                </a:highlight>
              </a:rPr>
              <a:t>Why is this needed?</a:t>
            </a:r>
          </a:p>
          <a:p>
            <a:pPr>
              <a:buNone/>
            </a:pPr>
            <a:endParaRPr lang="en-IN" b="1" dirty="0">
              <a:highlight>
                <a:srgbClr val="FFFF00"/>
              </a:highlight>
            </a:endParaRPr>
          </a:p>
          <a:p>
            <a:pPr>
              <a:buNone/>
            </a:pPr>
            <a:r>
              <a:rPr lang="en-IN" dirty="0"/>
              <a:t>Because TCP header size is not always the same.</a:t>
            </a:r>
          </a:p>
          <a:p>
            <a:pPr>
              <a:buNone/>
            </a:pPr>
            <a:r>
              <a:rPr lang="en-IN" dirty="0"/>
              <a:t>It can be:</a:t>
            </a:r>
          </a:p>
          <a:p>
            <a:pPr rtl="0">
              <a:buNone/>
            </a:pPr>
            <a:r>
              <a:rPr lang="en-IN" dirty="0">
                <a:latin typeface="+mn-lt"/>
              </a:rPr>
              <a:t>20 bytes</a:t>
            </a:r>
          </a:p>
          <a:p>
            <a:pPr rtl="0">
              <a:buNone/>
            </a:pPr>
            <a:r>
              <a:rPr lang="en-IN" dirty="0">
                <a:latin typeface="+mn-lt"/>
              </a:rPr>
              <a:t>24 bytes</a:t>
            </a:r>
          </a:p>
          <a:p>
            <a:pPr rtl="0">
              <a:buNone/>
            </a:pPr>
            <a:r>
              <a:rPr lang="en-IN" dirty="0">
                <a:latin typeface="+mn-lt"/>
              </a:rPr>
              <a:t>28 bytes</a:t>
            </a:r>
          </a:p>
          <a:p>
            <a:pPr rtl="0">
              <a:buNone/>
            </a:pPr>
            <a:r>
              <a:rPr lang="en-IN" dirty="0">
                <a:latin typeface="+mn-lt"/>
              </a:rPr>
              <a:t>32 bytes</a:t>
            </a:r>
          </a:p>
          <a:p>
            <a:pPr rtl="0">
              <a:buNone/>
            </a:pPr>
            <a:r>
              <a:rPr lang="en-IN" dirty="0">
                <a:latin typeface="+mn-lt"/>
              </a:rPr>
              <a:t>...</a:t>
            </a:r>
          </a:p>
          <a:p>
            <a:pPr rtl="0">
              <a:buNone/>
            </a:pPr>
            <a:r>
              <a:rPr lang="en-IN" dirty="0">
                <a:latin typeface="+mn-lt"/>
              </a:rPr>
              <a:t>60 bytes</a:t>
            </a:r>
          </a:p>
          <a:p>
            <a:pPr>
              <a:buNone/>
            </a:pPr>
            <a:r>
              <a:rPr lang="en-IN" dirty="0"/>
              <a:t>depending on whether TCP options are present.</a:t>
            </a:r>
          </a:p>
          <a:p>
            <a:pPr>
              <a:buNone/>
            </a:pPr>
            <a:endParaRPr lang="en-IN" dirty="0"/>
          </a:p>
          <a:p>
            <a:pPr>
              <a:buNone/>
            </a:pPr>
            <a:r>
              <a:rPr lang="en-IN" dirty="0"/>
              <a:t>So the receiver needs to know:</a:t>
            </a:r>
          </a:p>
          <a:p>
            <a:pPr rtl="0">
              <a:buNone/>
            </a:pPr>
            <a:endParaRPr lang="en-IN" dirty="0">
              <a:latin typeface="+mn-lt"/>
            </a:endParaRPr>
          </a:p>
          <a:p>
            <a:pPr rtl="0">
              <a:buNone/>
            </a:pPr>
            <a:r>
              <a:rPr lang="en-IN" dirty="0">
                <a:latin typeface="+mn-lt"/>
              </a:rPr>
              <a:t>Where does Header end?</a:t>
            </a:r>
          </a:p>
          <a:p>
            <a:pPr rtl="0">
              <a:buNone/>
            </a:pPr>
            <a:r>
              <a:rPr lang="en-IN" dirty="0">
                <a:latin typeface="+mn-lt"/>
              </a:rPr>
              <a:t>        ↓</a:t>
            </a:r>
          </a:p>
          <a:p>
            <a:pPr rtl="0">
              <a:buNone/>
            </a:pPr>
            <a:r>
              <a:rPr lang="en-IN" dirty="0">
                <a:latin typeface="+mn-lt"/>
              </a:rPr>
              <a:t>Where does Data start?</a:t>
            </a:r>
            <a:endParaRPr lang="en-IN" dirty="0">
              <a:latin typeface="Courier New" panose="02070309020205020404" pitchFamily="49"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7E8DF6F-421B-82B3-68AD-FE3DF7F576A6}"/>
                  </a:ext>
                </a:extLst>
              </p:cNvPr>
              <p:cNvSpPr txBox="1"/>
              <p:nvPr/>
            </p:nvSpPr>
            <p:spPr>
              <a:xfrm>
                <a:off x="6513094" y="2471538"/>
                <a:ext cx="4507832" cy="3459793"/>
              </a:xfrm>
              <a:prstGeom prst="rect">
                <a:avLst/>
              </a:prstGeom>
              <a:noFill/>
            </p:spPr>
            <p:txBody>
              <a:bodyPr wrap="square">
                <a:spAutoFit/>
              </a:bodyPr>
              <a:lstStyle/>
              <a:p>
                <a:pPr>
                  <a:buNone/>
                </a:pPr>
                <a:r>
                  <a:rPr lang="en-IN" b="1" dirty="0"/>
                  <a:t>How is it calculated?</a:t>
                </a:r>
              </a:p>
              <a:p>
                <a:pPr>
                  <a:buNone/>
                </a:pPr>
                <a:r>
                  <a:rPr lang="en-IN" dirty="0"/>
                  <a:t>Data Offset is measured in:</a:t>
                </a:r>
              </a:p>
              <a:p>
                <a:pPr>
                  <a:buNone/>
                </a:pPr>
                <a14:m>
                  <m:oMathPara xmlns:m="http://schemas.openxmlformats.org/officeDocument/2006/math">
                    <m:oMath>
                      <m:r>
                        <a:rPr lang="en-IN">
                          <a:latin typeface="Cambria Math" panose="02040503050406030204" pitchFamily="18" charset="0"/>
                        </a:rPr>
                        <m:t>32</m:t>
                      </m:r>
                      <m:r>
                        <m:rPr>
                          <m:nor/>
                        </m:rPr>
                        <a:rPr lang="en-IN" b="0" i="0">
                          <a:latin typeface="+mn-lt"/>
                        </a:rPr>
                        <m:t>−bit words</m:t>
                      </m:r>
                    </m:oMath>
                  </m:oMathPara>
                </a14:m>
                <a:endParaRPr lang="en-IN" b="0" dirty="0"/>
              </a:p>
              <a:p>
                <a:pPr>
                  <a:buNone/>
                </a:pPr>
                <a:r>
                  <a:rPr lang="en-IN" dirty="0"/>
                  <a:t>And:</a:t>
                </a:r>
              </a:p>
              <a:p>
                <a:pPr>
                  <a:buNone/>
                </a:pPr>
                <a14:m>
                  <m:oMathPara xmlns:m="http://schemas.openxmlformats.org/officeDocument/2006/math">
                    <m:oMath>
                      <m:r>
                        <a:rPr lang="en-IN">
                          <a:latin typeface="Cambria Math" panose="02040503050406030204" pitchFamily="18" charset="0"/>
                        </a:rPr>
                        <m:t>32</m:t>
                      </m:r>
                      <m:r>
                        <m:rPr>
                          <m:nor/>
                        </m:rPr>
                        <a:rPr lang="en-IN" b="0" i="0">
                          <a:latin typeface="+mn-lt"/>
                        </a:rPr>
                        <m:t> bits</m:t>
                      </m:r>
                      <m:r>
                        <a:rPr lang="en-IN" b="0" i="0">
                          <a:latin typeface="Cambria Math" panose="02040503050406030204" pitchFamily="18" charset="0"/>
                        </a:rPr>
                        <m:t>=4</m:t>
                      </m:r>
                      <m:r>
                        <m:rPr>
                          <m:nor/>
                        </m:rPr>
                        <a:rPr lang="en-IN" b="0" i="0">
                          <a:latin typeface="+mn-lt"/>
                        </a:rPr>
                        <m:t> bytes</m:t>
                      </m:r>
                    </m:oMath>
                  </m:oMathPara>
                </a14:m>
                <a:endParaRPr lang="en-IN" b="0" dirty="0"/>
              </a:p>
              <a:p>
                <a:pPr>
                  <a:buNone/>
                </a:pPr>
                <a:r>
                  <a:rPr lang="en-IN" dirty="0"/>
                  <a:t>Therefore:</a:t>
                </a:r>
              </a:p>
              <a:p>
                <a:pPr>
                  <a:buNone/>
                </a:pPr>
                <a14:m>
                  <m:oMathPara xmlns:m="http://schemas.openxmlformats.org/officeDocument/2006/math">
                    <m:oMath>
                      <m:borderBox>
                        <m:borderBoxPr>
                          <m:ctrlPr>
                            <a:rPr lang="en-IN" b="0" i="0"/>
                          </m:ctrlPr>
                        </m:borderBoxPr>
                        <m:e>
                          <m:r>
                            <m:rPr>
                              <m:nor/>
                            </m:rPr>
                            <a:rPr lang="en-IN" b="0" i="0"/>
                            <m:t>Header Size</m:t>
                          </m:r>
                          <m:r>
                            <a:rPr lang="en-IN" b="0" i="0">
                              <a:latin typeface="Cambria Math" panose="02040503050406030204" pitchFamily="18" charset="0"/>
                            </a:rPr>
                            <m:t>=</m:t>
                          </m:r>
                          <m:r>
                            <m:rPr>
                              <m:nor/>
                            </m:rPr>
                            <a:rPr lang="en-IN" b="0" i="0">
                              <a:latin typeface="+mn-lt"/>
                            </a:rPr>
                            <m:t>Data Offset</m:t>
                          </m:r>
                          <m:r>
                            <a:rPr lang="en-IN" b="0" i="0">
                              <a:latin typeface="Cambria Math" panose="02040503050406030204" pitchFamily="18" charset="0"/>
                            </a:rPr>
                            <m:t>×4</m:t>
                          </m:r>
                        </m:e>
                      </m:borderBox>
                    </m:oMath>
                  </m:oMathPara>
                </a14:m>
                <a:endParaRPr lang="en-IN" b="0" dirty="0"/>
              </a:p>
              <a:p>
                <a:pPr>
                  <a:buNone/>
                </a:pPr>
                <a:r>
                  <a:rPr lang="en-IN" dirty="0"/>
                  <a:t>Example:</a:t>
                </a:r>
              </a:p>
              <a:p>
                <a:pPr rtl="0">
                  <a:buNone/>
                </a:pPr>
                <a:r>
                  <a:rPr lang="en-IN" dirty="0">
                    <a:latin typeface="+mn-lt"/>
                  </a:rPr>
                  <a:t>Data Offset = 5</a:t>
                </a:r>
              </a:p>
              <a:p>
                <a:pPr>
                  <a:buNone/>
                </a:pPr>
                <a:r>
                  <a:rPr lang="en-IN" dirty="0"/>
                  <a:t>Therefore:</a:t>
                </a:r>
              </a:p>
              <a:p>
                <a:pPr>
                  <a:buNone/>
                </a:pPr>
                <a14:m>
                  <m:oMathPara xmlns:m="http://schemas.openxmlformats.org/officeDocument/2006/math">
                    <m:oMath>
                      <m:r>
                        <a:rPr lang="en-IN">
                          <a:latin typeface="Cambria Math" panose="02040503050406030204" pitchFamily="18" charset="0"/>
                        </a:rPr>
                        <m:t>5</m:t>
                      </m:r>
                      <m:r>
                        <a:rPr lang="en-IN" i="0">
                          <a:latin typeface="Cambria Math" panose="02040503050406030204" pitchFamily="18" charset="0"/>
                        </a:rPr>
                        <m:t>×4=20</m:t>
                      </m:r>
                      <m:r>
                        <m:rPr>
                          <m:nor/>
                        </m:rPr>
                        <a:rPr lang="en-IN" b="0" i="0">
                          <a:latin typeface="+mn-lt"/>
                        </a:rPr>
                        <m:t> bytes</m:t>
                      </m:r>
                    </m:oMath>
                  </m:oMathPara>
                </a14:m>
                <a:endParaRPr lang="en-IN" b="0" dirty="0"/>
              </a:p>
              <a:p>
                <a:pPr>
                  <a:buNone/>
                </a:pPr>
                <a:r>
                  <a:rPr lang="en-IN" dirty="0"/>
                  <a:t>So TCP header = </a:t>
                </a:r>
                <a:r>
                  <a:rPr lang="en-IN" b="1" dirty="0"/>
                  <a:t>20 bytes</a:t>
                </a:r>
                <a:r>
                  <a:rPr lang="en-IN" dirty="0"/>
                  <a:t>.</a:t>
                </a:r>
              </a:p>
            </p:txBody>
          </p:sp>
        </mc:Choice>
        <mc:Fallback xmlns="">
          <p:sp>
            <p:nvSpPr>
              <p:cNvPr id="8" name="TextBox 7">
                <a:extLst>
                  <a:ext uri="{FF2B5EF4-FFF2-40B4-BE49-F238E27FC236}">
                    <a16:creationId xmlns:a16="http://schemas.microsoft.com/office/drawing/2014/main" id="{77E8DF6F-421B-82B3-68AD-FE3DF7F576A6}"/>
                  </a:ext>
                </a:extLst>
              </p:cNvPr>
              <p:cNvSpPr txBox="1">
                <a:spLocks noRot="1" noChangeAspect="1" noMove="1" noResize="1" noEditPoints="1" noAdjustHandles="1" noChangeArrowheads="1" noChangeShapeType="1" noTextEdit="1"/>
              </p:cNvSpPr>
              <p:nvPr/>
            </p:nvSpPr>
            <p:spPr>
              <a:xfrm>
                <a:off x="6513094" y="2471538"/>
                <a:ext cx="4507832" cy="3459793"/>
              </a:xfrm>
              <a:prstGeom prst="rect">
                <a:avLst/>
              </a:prstGeom>
              <a:blipFill>
                <a:blip r:embed="rId2"/>
                <a:stretch>
                  <a:fillRect l="-1081" t="-880" b="-1761"/>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702477EB-4E46-A772-9173-6955A7CDB3FB}"/>
              </a:ext>
            </a:extLst>
          </p:cNvPr>
          <p:cNvSpPr txBox="1"/>
          <p:nvPr/>
        </p:nvSpPr>
        <p:spPr>
          <a:xfrm>
            <a:off x="5486400" y="6150087"/>
            <a:ext cx="6096000" cy="646331"/>
          </a:xfrm>
          <a:prstGeom prst="rect">
            <a:avLst/>
          </a:prstGeom>
          <a:noFill/>
        </p:spPr>
        <p:txBody>
          <a:bodyPr wrap="square">
            <a:spAutoFit/>
          </a:bodyPr>
          <a:lstStyle/>
          <a:p>
            <a:r>
              <a:rPr lang="en-IN" b="1" dirty="0"/>
              <a:t>Data Offset tells TCP header length and therefore where TCP data begins.</a:t>
            </a:r>
          </a:p>
        </p:txBody>
      </p:sp>
    </p:spTree>
    <p:extLst>
      <p:ext uri="{BB962C8B-B14F-4D97-AF65-F5344CB8AC3E}">
        <p14:creationId xmlns:p14="http://schemas.microsoft.com/office/powerpoint/2010/main" val="3630191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7C22F-8C49-1043-DCEB-925F4AAD8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09583-B63D-BA84-611E-4FF0AF6E5329}"/>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Reserved — 3 bits</a:t>
            </a:r>
          </a:p>
        </p:txBody>
      </p:sp>
      <p:sp>
        <p:nvSpPr>
          <p:cNvPr id="4" name="TextBox 3">
            <a:extLst>
              <a:ext uri="{FF2B5EF4-FFF2-40B4-BE49-F238E27FC236}">
                <a16:creationId xmlns:a16="http://schemas.microsoft.com/office/drawing/2014/main" id="{9C3DE94A-7DC6-1529-E75D-11CC09AD0AB8}"/>
              </a:ext>
            </a:extLst>
          </p:cNvPr>
          <p:cNvSpPr txBox="1"/>
          <p:nvPr/>
        </p:nvSpPr>
        <p:spPr>
          <a:xfrm>
            <a:off x="275844" y="1074093"/>
            <a:ext cx="7812505" cy="1200329"/>
          </a:xfrm>
          <a:prstGeom prst="rect">
            <a:avLst/>
          </a:prstGeom>
          <a:noFill/>
        </p:spPr>
        <p:txBody>
          <a:bodyPr wrap="square">
            <a:spAutoFit/>
          </a:bodyPr>
          <a:lstStyle/>
          <a:p>
            <a:pPr>
              <a:buNone/>
            </a:pPr>
            <a:r>
              <a:rPr lang="en-IN" dirty="0"/>
              <a:t>These are bits kept reserved in the modern TCP header layout.</a:t>
            </a:r>
          </a:p>
          <a:p>
            <a:pPr>
              <a:buNone/>
            </a:pPr>
            <a:r>
              <a:rPr lang="en-IN" dirty="0"/>
              <a:t>For basic understanding:</a:t>
            </a:r>
          </a:p>
          <a:p>
            <a:pPr>
              <a:buNone/>
            </a:pPr>
            <a:r>
              <a:rPr lang="en-IN" b="1" dirty="0"/>
              <a:t>Reserved bits are kept for protocol use/future extension and are normally set to 0 unless defined otherwise by the standard.</a:t>
            </a:r>
            <a:endParaRPr lang="en-IN" dirty="0"/>
          </a:p>
        </p:txBody>
      </p:sp>
      <p:sp>
        <p:nvSpPr>
          <p:cNvPr id="5" name="Title 1">
            <a:extLst>
              <a:ext uri="{FF2B5EF4-FFF2-40B4-BE49-F238E27FC236}">
                <a16:creationId xmlns:a16="http://schemas.microsoft.com/office/drawing/2014/main" id="{080288AB-4527-83F6-9952-3C4F740C6B56}"/>
              </a:ext>
            </a:extLst>
          </p:cNvPr>
          <p:cNvSpPr txBox="1">
            <a:spLocks/>
          </p:cNvSpPr>
          <p:nvPr/>
        </p:nvSpPr>
        <p:spPr>
          <a:xfrm>
            <a:off x="275844" y="2508504"/>
            <a:ext cx="11640312" cy="464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dirty="0"/>
              <a:t>Flags / Control Bits — 9 bits</a:t>
            </a:r>
          </a:p>
        </p:txBody>
      </p:sp>
      <p:sp>
        <p:nvSpPr>
          <p:cNvPr id="7" name="TextBox 6">
            <a:extLst>
              <a:ext uri="{FF2B5EF4-FFF2-40B4-BE49-F238E27FC236}">
                <a16:creationId xmlns:a16="http://schemas.microsoft.com/office/drawing/2014/main" id="{6A748FF2-60F9-B153-1697-E49FEF3958B3}"/>
              </a:ext>
            </a:extLst>
          </p:cNvPr>
          <p:cNvSpPr txBox="1"/>
          <p:nvPr/>
        </p:nvSpPr>
        <p:spPr>
          <a:xfrm>
            <a:off x="275844" y="3022820"/>
            <a:ext cx="11515103" cy="369332"/>
          </a:xfrm>
          <a:prstGeom prst="rect">
            <a:avLst/>
          </a:prstGeom>
          <a:noFill/>
        </p:spPr>
        <p:txBody>
          <a:bodyPr wrap="square">
            <a:spAutoFit/>
          </a:bodyPr>
          <a:lstStyle/>
          <a:p>
            <a:r>
              <a:rPr lang="en-IN" dirty="0"/>
              <a:t>TCP has control bits that tell the receiver </a:t>
            </a:r>
            <a:r>
              <a:rPr lang="en-IN" b="1" dirty="0"/>
              <a:t>what kind of control action/information is associated with the segment</a:t>
            </a:r>
            <a:endParaRPr lang="en-IN" dirty="0"/>
          </a:p>
        </p:txBody>
      </p:sp>
      <p:pic>
        <p:nvPicPr>
          <p:cNvPr id="9" name="Picture 8">
            <a:extLst>
              <a:ext uri="{FF2B5EF4-FFF2-40B4-BE49-F238E27FC236}">
                <a16:creationId xmlns:a16="http://schemas.microsoft.com/office/drawing/2014/main" id="{EF810E6F-B6AB-212B-4D64-71337E06811D}"/>
              </a:ext>
            </a:extLst>
          </p:cNvPr>
          <p:cNvPicPr>
            <a:picLocks noChangeAspect="1"/>
          </p:cNvPicPr>
          <p:nvPr/>
        </p:nvPicPr>
        <p:blipFill>
          <a:blip r:embed="rId2"/>
          <a:stretch>
            <a:fillRect/>
          </a:stretch>
        </p:blipFill>
        <p:spPr>
          <a:xfrm>
            <a:off x="713328" y="3678588"/>
            <a:ext cx="6842504" cy="2305117"/>
          </a:xfrm>
          <a:prstGeom prst="rect">
            <a:avLst/>
          </a:prstGeom>
        </p:spPr>
      </p:pic>
    </p:spTree>
    <p:extLst>
      <p:ext uri="{BB962C8B-B14F-4D97-AF65-F5344CB8AC3E}">
        <p14:creationId xmlns:p14="http://schemas.microsoft.com/office/powerpoint/2010/main" val="1817153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43CA0-AB14-F9FC-73AA-87CEE1A91C2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08FD976-407E-D5A5-3296-FAC347312804}"/>
              </a:ext>
            </a:extLst>
          </p:cNvPr>
          <p:cNvSpPr txBox="1"/>
          <p:nvPr/>
        </p:nvSpPr>
        <p:spPr>
          <a:xfrm>
            <a:off x="304800" y="731331"/>
            <a:ext cx="4507832" cy="1200329"/>
          </a:xfrm>
          <a:prstGeom prst="rect">
            <a:avLst/>
          </a:prstGeom>
          <a:noFill/>
        </p:spPr>
        <p:txBody>
          <a:bodyPr wrap="square">
            <a:spAutoFit/>
          </a:bodyPr>
          <a:lstStyle/>
          <a:p>
            <a:pPr>
              <a:buNone/>
            </a:pPr>
            <a:r>
              <a:rPr lang="en-IN" b="1" dirty="0">
                <a:highlight>
                  <a:srgbClr val="FFFF00"/>
                </a:highlight>
              </a:rPr>
              <a:t>SYN — Synchronize</a:t>
            </a:r>
          </a:p>
          <a:p>
            <a:pPr>
              <a:buNone/>
            </a:pPr>
            <a:r>
              <a:rPr lang="en-IN" dirty="0"/>
              <a:t>SYN is mainly used to </a:t>
            </a:r>
            <a:r>
              <a:rPr lang="en-IN" b="1" dirty="0"/>
              <a:t>start a TCP connection and synchronize sequence-number state</a:t>
            </a:r>
            <a:r>
              <a:rPr lang="en-IN" dirty="0"/>
              <a:t>.</a:t>
            </a:r>
          </a:p>
          <a:p>
            <a:pPr>
              <a:buNone/>
            </a:pPr>
            <a:r>
              <a:rPr lang="en-IN" dirty="0"/>
              <a:t>During connection establishment:</a:t>
            </a:r>
          </a:p>
        </p:txBody>
      </p:sp>
      <p:pic>
        <p:nvPicPr>
          <p:cNvPr id="6" name="Picture 5">
            <a:extLst>
              <a:ext uri="{FF2B5EF4-FFF2-40B4-BE49-F238E27FC236}">
                <a16:creationId xmlns:a16="http://schemas.microsoft.com/office/drawing/2014/main" id="{74C5980C-B87C-1796-1FFD-F89EB9AA079F}"/>
              </a:ext>
            </a:extLst>
          </p:cNvPr>
          <p:cNvPicPr>
            <a:picLocks noChangeAspect="1"/>
          </p:cNvPicPr>
          <p:nvPr/>
        </p:nvPicPr>
        <p:blipFill>
          <a:blip r:embed="rId2"/>
          <a:stretch>
            <a:fillRect/>
          </a:stretch>
        </p:blipFill>
        <p:spPr>
          <a:xfrm>
            <a:off x="502308" y="2238068"/>
            <a:ext cx="3743847" cy="809738"/>
          </a:xfrm>
          <a:prstGeom prst="rect">
            <a:avLst/>
          </a:prstGeom>
        </p:spPr>
      </p:pic>
      <p:sp>
        <p:nvSpPr>
          <p:cNvPr id="8" name="TextBox 7">
            <a:extLst>
              <a:ext uri="{FF2B5EF4-FFF2-40B4-BE49-F238E27FC236}">
                <a16:creationId xmlns:a16="http://schemas.microsoft.com/office/drawing/2014/main" id="{815A9074-C321-9897-899F-D9C542E3BAA2}"/>
              </a:ext>
            </a:extLst>
          </p:cNvPr>
          <p:cNvSpPr txBox="1"/>
          <p:nvPr/>
        </p:nvSpPr>
        <p:spPr>
          <a:xfrm>
            <a:off x="304800" y="3047806"/>
            <a:ext cx="4507832" cy="646331"/>
          </a:xfrm>
          <a:prstGeom prst="rect">
            <a:avLst/>
          </a:prstGeom>
          <a:noFill/>
        </p:spPr>
        <p:txBody>
          <a:bodyPr wrap="square">
            <a:spAutoFit/>
          </a:bodyPr>
          <a:lstStyle/>
          <a:p>
            <a:pPr>
              <a:buNone/>
            </a:pPr>
            <a:r>
              <a:rPr lang="en-IN" dirty="0"/>
              <a:t>So for now: </a:t>
            </a:r>
            <a:r>
              <a:rPr lang="en-IN" b="1" dirty="0"/>
              <a:t>SYN = Used while establishing a TCP connection</a:t>
            </a:r>
            <a:endParaRPr lang="en-IN" dirty="0"/>
          </a:p>
        </p:txBody>
      </p:sp>
      <p:sp>
        <p:nvSpPr>
          <p:cNvPr id="10" name="TextBox 9">
            <a:extLst>
              <a:ext uri="{FF2B5EF4-FFF2-40B4-BE49-F238E27FC236}">
                <a16:creationId xmlns:a16="http://schemas.microsoft.com/office/drawing/2014/main" id="{562F3C1C-495E-CC9B-0844-5B4E2057C834}"/>
              </a:ext>
            </a:extLst>
          </p:cNvPr>
          <p:cNvSpPr txBox="1"/>
          <p:nvPr/>
        </p:nvSpPr>
        <p:spPr>
          <a:xfrm>
            <a:off x="304800" y="3848109"/>
            <a:ext cx="6256421" cy="2862322"/>
          </a:xfrm>
          <a:prstGeom prst="rect">
            <a:avLst/>
          </a:prstGeom>
          <a:noFill/>
        </p:spPr>
        <p:txBody>
          <a:bodyPr wrap="square">
            <a:spAutoFit/>
          </a:bodyPr>
          <a:lstStyle/>
          <a:p>
            <a:pPr>
              <a:buNone/>
            </a:pPr>
            <a:r>
              <a:rPr lang="en-IN" b="1" dirty="0">
                <a:highlight>
                  <a:srgbClr val="FFFF00"/>
                </a:highlight>
              </a:rPr>
              <a:t>ACK — Acknowledgment</a:t>
            </a:r>
          </a:p>
          <a:p>
            <a:pPr>
              <a:buNone/>
            </a:pPr>
            <a:r>
              <a:rPr lang="en-IN" dirty="0"/>
              <a:t>ACK tells us that the: </a:t>
            </a:r>
            <a:r>
              <a:rPr lang="en-IN" dirty="0">
                <a:latin typeface="+mn-lt"/>
              </a:rPr>
              <a:t>Acknowledgment Number </a:t>
            </a:r>
            <a:r>
              <a:rPr lang="en-IN" dirty="0"/>
              <a:t>field is valid.</a:t>
            </a:r>
          </a:p>
          <a:p>
            <a:pPr>
              <a:buNone/>
            </a:pPr>
            <a:endParaRPr lang="en-IN" dirty="0"/>
          </a:p>
          <a:p>
            <a:pPr>
              <a:buNone/>
            </a:pPr>
            <a:r>
              <a:rPr lang="en-IN" dirty="0"/>
              <a:t>Example:</a:t>
            </a:r>
          </a:p>
          <a:p>
            <a:pPr rtl="0">
              <a:buNone/>
            </a:pPr>
            <a:r>
              <a:rPr lang="en-IN" dirty="0">
                <a:latin typeface="+mn-lt"/>
              </a:rPr>
              <a:t>ACK flag = 1</a:t>
            </a:r>
          </a:p>
          <a:p>
            <a:pPr rtl="0">
              <a:buNone/>
            </a:pPr>
            <a:r>
              <a:rPr lang="en-IN" dirty="0">
                <a:latin typeface="+mn-lt"/>
              </a:rPr>
              <a:t>Acknowledgment Number = 1500</a:t>
            </a:r>
          </a:p>
          <a:p>
            <a:pPr>
              <a:buNone/>
            </a:pPr>
            <a:r>
              <a:rPr lang="en-IN" dirty="0"/>
              <a:t>means the acknowledgment information should be considered.</a:t>
            </a:r>
          </a:p>
          <a:p>
            <a:pPr>
              <a:buNone/>
            </a:pPr>
            <a:endParaRPr lang="en-IN" b="1" dirty="0"/>
          </a:p>
          <a:p>
            <a:pPr>
              <a:buNone/>
            </a:pPr>
            <a:r>
              <a:rPr lang="en-IN" b="1" dirty="0"/>
              <a:t>Remember</a:t>
            </a:r>
          </a:p>
          <a:p>
            <a:pPr>
              <a:buNone/>
            </a:pPr>
            <a:r>
              <a:rPr lang="en-IN" b="1" dirty="0"/>
              <a:t>ACK = Acknowledgment field is valid</a:t>
            </a:r>
            <a:endParaRPr lang="en-IN" dirty="0"/>
          </a:p>
        </p:txBody>
      </p:sp>
      <p:sp>
        <p:nvSpPr>
          <p:cNvPr id="12" name="TextBox 11">
            <a:extLst>
              <a:ext uri="{FF2B5EF4-FFF2-40B4-BE49-F238E27FC236}">
                <a16:creationId xmlns:a16="http://schemas.microsoft.com/office/drawing/2014/main" id="{A5840520-51CC-965F-93EE-95D64F3E764C}"/>
              </a:ext>
            </a:extLst>
          </p:cNvPr>
          <p:cNvSpPr txBox="1"/>
          <p:nvPr/>
        </p:nvSpPr>
        <p:spPr>
          <a:xfrm>
            <a:off x="6304548" y="731330"/>
            <a:ext cx="4219074" cy="1200329"/>
          </a:xfrm>
          <a:prstGeom prst="rect">
            <a:avLst/>
          </a:prstGeom>
          <a:noFill/>
        </p:spPr>
        <p:txBody>
          <a:bodyPr wrap="square">
            <a:spAutoFit/>
          </a:bodyPr>
          <a:lstStyle/>
          <a:p>
            <a:pPr>
              <a:buNone/>
            </a:pPr>
            <a:r>
              <a:rPr lang="en-IN" b="1" dirty="0">
                <a:highlight>
                  <a:srgbClr val="FFFF00"/>
                </a:highlight>
              </a:rPr>
              <a:t>FIN — Finish</a:t>
            </a:r>
          </a:p>
          <a:p>
            <a:pPr>
              <a:buNone/>
            </a:pPr>
            <a:r>
              <a:rPr lang="en-IN" dirty="0"/>
              <a:t>FIN is used when one side wants to </a:t>
            </a:r>
            <a:r>
              <a:rPr lang="en-IN" b="1" dirty="0"/>
              <a:t>finish sending data and close its side of the TCP connection gracefully</a:t>
            </a:r>
            <a:r>
              <a:rPr lang="en-IN" dirty="0"/>
              <a:t>.</a:t>
            </a:r>
          </a:p>
        </p:txBody>
      </p:sp>
      <p:pic>
        <p:nvPicPr>
          <p:cNvPr id="14" name="Picture 13">
            <a:extLst>
              <a:ext uri="{FF2B5EF4-FFF2-40B4-BE49-F238E27FC236}">
                <a16:creationId xmlns:a16="http://schemas.microsoft.com/office/drawing/2014/main" id="{BCFCCE62-53DE-D14A-9B7E-CE230F541F3B}"/>
              </a:ext>
            </a:extLst>
          </p:cNvPr>
          <p:cNvPicPr>
            <a:picLocks noChangeAspect="1"/>
          </p:cNvPicPr>
          <p:nvPr/>
        </p:nvPicPr>
        <p:blipFill>
          <a:blip r:embed="rId3"/>
          <a:stretch>
            <a:fillRect/>
          </a:stretch>
        </p:blipFill>
        <p:spPr>
          <a:xfrm>
            <a:off x="6438650" y="1949830"/>
            <a:ext cx="3581900" cy="847843"/>
          </a:xfrm>
          <a:prstGeom prst="rect">
            <a:avLst/>
          </a:prstGeom>
        </p:spPr>
      </p:pic>
      <p:sp>
        <p:nvSpPr>
          <p:cNvPr id="15" name="TextBox 14">
            <a:extLst>
              <a:ext uri="{FF2B5EF4-FFF2-40B4-BE49-F238E27FC236}">
                <a16:creationId xmlns:a16="http://schemas.microsoft.com/office/drawing/2014/main" id="{8D13D79D-C4DC-0AB9-94EA-2482DBA0FFB6}"/>
              </a:ext>
            </a:extLst>
          </p:cNvPr>
          <p:cNvSpPr txBox="1"/>
          <p:nvPr/>
        </p:nvSpPr>
        <p:spPr>
          <a:xfrm>
            <a:off x="6561221" y="2982095"/>
            <a:ext cx="2949525" cy="646331"/>
          </a:xfrm>
          <a:prstGeom prst="rect">
            <a:avLst/>
          </a:prstGeom>
          <a:noFill/>
        </p:spPr>
        <p:txBody>
          <a:bodyPr wrap="none" rtlCol="0">
            <a:spAutoFit/>
          </a:bodyPr>
          <a:lstStyle/>
          <a:p>
            <a:r>
              <a:rPr lang="en-IN" b="1" dirty="0"/>
              <a:t>FIN = Finish / close gracefully</a:t>
            </a:r>
            <a:endParaRPr lang="en-IN" dirty="0"/>
          </a:p>
          <a:p>
            <a:endParaRPr lang="en-IN" dirty="0"/>
          </a:p>
        </p:txBody>
      </p:sp>
    </p:spTree>
    <p:extLst>
      <p:ext uri="{BB962C8B-B14F-4D97-AF65-F5344CB8AC3E}">
        <p14:creationId xmlns:p14="http://schemas.microsoft.com/office/powerpoint/2010/main" val="9327076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C8EC1-9A81-BDCF-5D2F-9DE3FFA0B6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26B864-14F4-8C73-33E1-213174981A31}"/>
              </a:ext>
            </a:extLst>
          </p:cNvPr>
          <p:cNvSpPr txBox="1"/>
          <p:nvPr/>
        </p:nvSpPr>
        <p:spPr>
          <a:xfrm>
            <a:off x="192505" y="626511"/>
            <a:ext cx="6096000" cy="2862322"/>
          </a:xfrm>
          <a:prstGeom prst="rect">
            <a:avLst/>
          </a:prstGeom>
          <a:noFill/>
        </p:spPr>
        <p:txBody>
          <a:bodyPr wrap="square">
            <a:spAutoFit/>
          </a:bodyPr>
          <a:lstStyle/>
          <a:p>
            <a:pPr>
              <a:buNone/>
            </a:pPr>
            <a:r>
              <a:rPr lang="en-IN" b="1" dirty="0">
                <a:highlight>
                  <a:srgbClr val="FFFF00"/>
                </a:highlight>
              </a:rPr>
              <a:t>RST — Reset</a:t>
            </a:r>
          </a:p>
          <a:p>
            <a:pPr>
              <a:buNone/>
            </a:pPr>
            <a:r>
              <a:rPr lang="en-IN" dirty="0"/>
              <a:t>RST is used to </a:t>
            </a:r>
            <a:r>
              <a:rPr lang="en-IN" b="1" dirty="0"/>
              <a:t>reset a TCP connection immediately</a:t>
            </a:r>
            <a:r>
              <a:rPr lang="en-IN" dirty="0"/>
              <a:t>.</a:t>
            </a:r>
          </a:p>
          <a:p>
            <a:pPr>
              <a:buNone/>
            </a:pPr>
            <a:r>
              <a:rPr lang="en-IN" dirty="0"/>
              <a:t>It is different from FIN.</a:t>
            </a:r>
          </a:p>
          <a:p>
            <a:pPr rtl="0">
              <a:buNone/>
            </a:pPr>
            <a:r>
              <a:rPr lang="en-IN" dirty="0">
                <a:latin typeface="+mn-lt"/>
              </a:rPr>
              <a:t>FIN → Normal/graceful closing</a:t>
            </a:r>
          </a:p>
          <a:p>
            <a:pPr rtl="0">
              <a:buNone/>
            </a:pPr>
            <a:endParaRPr lang="en-IN" dirty="0">
              <a:latin typeface="+mn-lt"/>
            </a:endParaRPr>
          </a:p>
          <a:p>
            <a:pPr rtl="0">
              <a:buNone/>
            </a:pPr>
            <a:r>
              <a:rPr lang="en-IN" dirty="0">
                <a:latin typeface="+mn-lt"/>
              </a:rPr>
              <a:t>RST → Immediate/abrupt reset</a:t>
            </a:r>
          </a:p>
          <a:p>
            <a:pPr>
              <a:buNone/>
            </a:pPr>
            <a:r>
              <a:rPr lang="en-IN" dirty="0"/>
              <a:t>For example, a host may send RST when a TCP connection request reaches a port where no service is listening.</a:t>
            </a:r>
          </a:p>
          <a:p>
            <a:pPr>
              <a:buNone/>
            </a:pPr>
            <a:endParaRPr lang="en-IN" dirty="0"/>
          </a:p>
          <a:p>
            <a:pPr>
              <a:buNone/>
            </a:pPr>
            <a:r>
              <a:rPr lang="en-IN" b="1" dirty="0"/>
              <a:t>RST = Reset the connection</a:t>
            </a:r>
          </a:p>
        </p:txBody>
      </p:sp>
      <p:sp>
        <p:nvSpPr>
          <p:cNvPr id="7" name="TextBox 6">
            <a:extLst>
              <a:ext uri="{FF2B5EF4-FFF2-40B4-BE49-F238E27FC236}">
                <a16:creationId xmlns:a16="http://schemas.microsoft.com/office/drawing/2014/main" id="{99223171-B31F-ADD1-28ED-86CA1C9941D5}"/>
              </a:ext>
            </a:extLst>
          </p:cNvPr>
          <p:cNvSpPr txBox="1"/>
          <p:nvPr/>
        </p:nvSpPr>
        <p:spPr>
          <a:xfrm>
            <a:off x="192505" y="3718679"/>
            <a:ext cx="6096000" cy="3139321"/>
          </a:xfrm>
          <a:prstGeom prst="rect">
            <a:avLst/>
          </a:prstGeom>
          <a:noFill/>
        </p:spPr>
        <p:txBody>
          <a:bodyPr wrap="square">
            <a:spAutoFit/>
          </a:bodyPr>
          <a:lstStyle/>
          <a:p>
            <a:pPr>
              <a:buNone/>
            </a:pPr>
            <a:r>
              <a:rPr lang="en-IN" b="1" dirty="0">
                <a:highlight>
                  <a:srgbClr val="FFFF00"/>
                </a:highlight>
              </a:rPr>
              <a:t>PSH — Push</a:t>
            </a:r>
          </a:p>
          <a:p>
            <a:pPr>
              <a:buNone/>
            </a:pPr>
            <a:r>
              <a:rPr lang="en-IN" dirty="0"/>
              <a:t>PSH tells the receiving TCP:</a:t>
            </a:r>
          </a:p>
          <a:p>
            <a:pPr>
              <a:buNone/>
            </a:pPr>
            <a:r>
              <a:rPr lang="en-IN" b="1" dirty="0"/>
              <a:t>Make the received data available to the application promptly.</a:t>
            </a:r>
            <a:endParaRPr lang="en-IN" dirty="0"/>
          </a:p>
          <a:p>
            <a:pPr>
              <a:buNone/>
            </a:pPr>
            <a:r>
              <a:rPr lang="en-IN" dirty="0"/>
              <a:t>Simple idea:</a:t>
            </a:r>
          </a:p>
          <a:p>
            <a:pPr rtl="0">
              <a:buNone/>
            </a:pPr>
            <a:r>
              <a:rPr lang="en-IN" dirty="0">
                <a:latin typeface="+mn-lt"/>
              </a:rPr>
              <a:t>Data arrives</a:t>
            </a:r>
          </a:p>
          <a:p>
            <a:pPr rtl="0">
              <a:buNone/>
            </a:pPr>
            <a:r>
              <a:rPr lang="en-IN" dirty="0">
                <a:latin typeface="+mn-lt"/>
              </a:rPr>
              <a:t>     ↓</a:t>
            </a:r>
          </a:p>
          <a:p>
            <a:pPr rtl="0">
              <a:buNone/>
            </a:pPr>
            <a:r>
              <a:rPr lang="en-IN" dirty="0">
                <a:latin typeface="+mn-lt"/>
              </a:rPr>
              <a:t>Don't unnecessarily keep waiting</a:t>
            </a:r>
          </a:p>
          <a:p>
            <a:pPr rtl="0">
              <a:buNone/>
            </a:pPr>
            <a:r>
              <a:rPr lang="en-IN" dirty="0">
                <a:latin typeface="+mn-lt"/>
              </a:rPr>
              <a:t>     ↓</a:t>
            </a:r>
          </a:p>
          <a:p>
            <a:pPr rtl="0">
              <a:buNone/>
            </a:pPr>
            <a:r>
              <a:rPr lang="en-IN" dirty="0">
                <a:latin typeface="+mn-lt"/>
              </a:rPr>
              <a:t>Push it toward the application</a:t>
            </a:r>
          </a:p>
          <a:p>
            <a:pPr>
              <a:buNone/>
            </a:pPr>
            <a:endParaRPr lang="en-IN" b="1" dirty="0"/>
          </a:p>
          <a:p>
            <a:pPr>
              <a:buNone/>
            </a:pPr>
            <a:r>
              <a:rPr lang="en-IN" b="1" dirty="0"/>
              <a:t>PSH = Push data to application promptly</a:t>
            </a:r>
            <a:endParaRPr lang="en-IN" dirty="0"/>
          </a:p>
        </p:txBody>
      </p:sp>
      <p:sp>
        <p:nvSpPr>
          <p:cNvPr id="11" name="TextBox 10">
            <a:extLst>
              <a:ext uri="{FF2B5EF4-FFF2-40B4-BE49-F238E27FC236}">
                <a16:creationId xmlns:a16="http://schemas.microsoft.com/office/drawing/2014/main" id="{C45FF251-1DD8-30D1-BBDB-DB5A68798450}"/>
              </a:ext>
            </a:extLst>
          </p:cNvPr>
          <p:cNvSpPr txBox="1"/>
          <p:nvPr/>
        </p:nvSpPr>
        <p:spPr>
          <a:xfrm>
            <a:off x="7026443" y="626511"/>
            <a:ext cx="4652210" cy="2031325"/>
          </a:xfrm>
          <a:prstGeom prst="rect">
            <a:avLst/>
          </a:prstGeom>
          <a:noFill/>
        </p:spPr>
        <p:txBody>
          <a:bodyPr wrap="square">
            <a:spAutoFit/>
          </a:bodyPr>
          <a:lstStyle/>
          <a:p>
            <a:pPr>
              <a:buNone/>
            </a:pPr>
            <a:r>
              <a:rPr lang="en-IN" b="1" dirty="0">
                <a:highlight>
                  <a:srgbClr val="FFFF00"/>
                </a:highlight>
              </a:rPr>
              <a:t>URG — Urgent</a:t>
            </a:r>
          </a:p>
          <a:p>
            <a:pPr>
              <a:buNone/>
            </a:pPr>
            <a:r>
              <a:rPr lang="en-IN" dirty="0"/>
              <a:t>URG tells TCP that:</a:t>
            </a:r>
          </a:p>
          <a:p>
            <a:pPr rtl="0">
              <a:buNone/>
            </a:pPr>
            <a:r>
              <a:rPr lang="en-IN" dirty="0">
                <a:latin typeface="+mn-lt"/>
              </a:rPr>
              <a:t>Urgent Pointer</a:t>
            </a:r>
          </a:p>
          <a:p>
            <a:pPr>
              <a:buNone/>
            </a:pPr>
            <a:r>
              <a:rPr lang="en-IN" dirty="0"/>
              <a:t>is meaningful.</a:t>
            </a:r>
          </a:p>
          <a:p>
            <a:pPr>
              <a:buNone/>
            </a:pPr>
            <a:r>
              <a:rPr lang="en-IN" dirty="0"/>
              <a:t>It belongs to TCP's urgent-data mechanism.</a:t>
            </a:r>
          </a:p>
          <a:p>
            <a:pPr>
              <a:buNone/>
            </a:pPr>
            <a:endParaRPr lang="en-IN" b="1" dirty="0"/>
          </a:p>
          <a:p>
            <a:pPr>
              <a:buNone/>
            </a:pPr>
            <a:r>
              <a:rPr lang="en-IN" b="1" dirty="0"/>
              <a:t>URG = Urgent Pointer is valid</a:t>
            </a:r>
            <a:endParaRPr lang="en-IN" dirty="0"/>
          </a:p>
        </p:txBody>
      </p:sp>
      <p:sp>
        <p:nvSpPr>
          <p:cNvPr id="16" name="TextBox 15">
            <a:extLst>
              <a:ext uri="{FF2B5EF4-FFF2-40B4-BE49-F238E27FC236}">
                <a16:creationId xmlns:a16="http://schemas.microsoft.com/office/drawing/2014/main" id="{DC7EAA45-6FD5-57AC-F077-4034137790AA}"/>
              </a:ext>
            </a:extLst>
          </p:cNvPr>
          <p:cNvSpPr txBox="1"/>
          <p:nvPr/>
        </p:nvSpPr>
        <p:spPr>
          <a:xfrm>
            <a:off x="6849979" y="3488833"/>
            <a:ext cx="5005137" cy="3139321"/>
          </a:xfrm>
          <a:prstGeom prst="rect">
            <a:avLst/>
          </a:prstGeom>
          <a:noFill/>
        </p:spPr>
        <p:txBody>
          <a:bodyPr wrap="square">
            <a:spAutoFit/>
          </a:bodyPr>
          <a:lstStyle/>
          <a:p>
            <a:pPr>
              <a:buNone/>
            </a:pPr>
            <a:r>
              <a:rPr lang="en-IN" b="1" dirty="0">
                <a:highlight>
                  <a:srgbClr val="FFFF00"/>
                </a:highlight>
              </a:rPr>
              <a:t>ECE — ECN Echo</a:t>
            </a:r>
          </a:p>
          <a:p>
            <a:pPr>
              <a:buNone/>
            </a:pPr>
            <a:r>
              <a:rPr lang="en-IN" dirty="0"/>
              <a:t>ECE is related to </a:t>
            </a:r>
            <a:r>
              <a:rPr lang="en-IN" b="1" dirty="0"/>
              <a:t>Explicit Congestion Notification (ECN)</a:t>
            </a:r>
            <a:r>
              <a:rPr lang="en-IN" dirty="0"/>
              <a:t>.</a:t>
            </a:r>
          </a:p>
          <a:p>
            <a:pPr>
              <a:buNone/>
            </a:pPr>
            <a:endParaRPr lang="en-IN" dirty="0"/>
          </a:p>
          <a:p>
            <a:pPr>
              <a:buNone/>
            </a:pPr>
            <a:r>
              <a:rPr lang="en-IN" dirty="0"/>
              <a:t>Remember the congestion from Network Layer.</a:t>
            </a:r>
          </a:p>
          <a:p>
            <a:pPr>
              <a:buNone/>
            </a:pPr>
            <a:endParaRPr lang="en-IN" dirty="0"/>
          </a:p>
          <a:p>
            <a:pPr>
              <a:buNone/>
            </a:pPr>
            <a:r>
              <a:rPr lang="en-IN" dirty="0"/>
              <a:t>ECN allows congestion to be </a:t>
            </a:r>
            <a:r>
              <a:rPr lang="en-IN" dirty="0" err="1"/>
              <a:t>signaled</a:t>
            </a:r>
            <a:r>
              <a:rPr lang="en-IN" dirty="0"/>
              <a:t> without relying only on packet drops.</a:t>
            </a:r>
          </a:p>
          <a:p>
            <a:pPr>
              <a:buNone/>
            </a:pPr>
            <a:endParaRPr lang="en-IN" dirty="0"/>
          </a:p>
          <a:p>
            <a:pPr>
              <a:buNone/>
            </a:pPr>
            <a:r>
              <a:rPr lang="en-IN" b="1" dirty="0"/>
              <a:t>ECE = Used for ECN/congestion notification information</a:t>
            </a:r>
            <a:endParaRPr lang="en-IN" dirty="0"/>
          </a:p>
        </p:txBody>
      </p:sp>
    </p:spTree>
    <p:extLst>
      <p:ext uri="{BB962C8B-B14F-4D97-AF65-F5344CB8AC3E}">
        <p14:creationId xmlns:p14="http://schemas.microsoft.com/office/powerpoint/2010/main" val="782029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ED2F6-7221-7448-1947-4BA52D4935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8379A6-6F81-B70B-E90A-A3400711C839}"/>
              </a:ext>
            </a:extLst>
          </p:cNvPr>
          <p:cNvSpPr txBox="1"/>
          <p:nvPr/>
        </p:nvSpPr>
        <p:spPr>
          <a:xfrm>
            <a:off x="240632" y="716885"/>
            <a:ext cx="6096000" cy="2031325"/>
          </a:xfrm>
          <a:prstGeom prst="rect">
            <a:avLst/>
          </a:prstGeom>
          <a:noFill/>
        </p:spPr>
        <p:txBody>
          <a:bodyPr wrap="square">
            <a:spAutoFit/>
          </a:bodyPr>
          <a:lstStyle/>
          <a:p>
            <a:pPr>
              <a:buNone/>
            </a:pPr>
            <a:r>
              <a:rPr lang="en-IN" b="1" dirty="0">
                <a:highlight>
                  <a:srgbClr val="FFFF00"/>
                </a:highlight>
              </a:rPr>
              <a:t>CWR — Congestion Window Reduced</a:t>
            </a:r>
          </a:p>
          <a:p>
            <a:pPr>
              <a:buNone/>
            </a:pPr>
            <a:r>
              <a:rPr lang="en-IN" dirty="0"/>
              <a:t>CWR is also related to ECN.</a:t>
            </a:r>
          </a:p>
          <a:p>
            <a:pPr>
              <a:buNone/>
            </a:pPr>
            <a:r>
              <a:rPr lang="en-IN" dirty="0"/>
              <a:t>It is used to indicate that the sender has reacted to congestion notification by reducing its congestion window.</a:t>
            </a:r>
          </a:p>
          <a:p>
            <a:pPr>
              <a:buNone/>
            </a:pPr>
            <a:r>
              <a:rPr lang="en-IN" b="1" dirty="0"/>
              <a:t>Simply:</a:t>
            </a:r>
            <a:br>
              <a:rPr lang="en-IN" b="1" dirty="0"/>
            </a:br>
            <a:r>
              <a:rPr lang="en-IN" b="1" dirty="0"/>
              <a:t>CWR = Sender indicates it reacted to ECN congestion information</a:t>
            </a:r>
            <a:endParaRPr lang="en-IN" dirty="0"/>
          </a:p>
        </p:txBody>
      </p:sp>
    </p:spTree>
    <p:extLst>
      <p:ext uri="{BB962C8B-B14F-4D97-AF65-F5344CB8AC3E}">
        <p14:creationId xmlns:p14="http://schemas.microsoft.com/office/powerpoint/2010/main" val="501438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47ADA-3769-06EF-84DE-B8DF8A4FF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FEB24-4214-9B52-EDCB-5D21F3C3EA78}"/>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Window Size — 16 bits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538FD6-E8A1-CC97-DDC4-64A2FD6D3DC1}"/>
                  </a:ext>
                </a:extLst>
              </p:cNvPr>
              <p:cNvSpPr txBox="1"/>
              <p:nvPr/>
            </p:nvSpPr>
            <p:spPr>
              <a:xfrm>
                <a:off x="275844" y="1086846"/>
                <a:ext cx="11640312" cy="961995"/>
              </a:xfrm>
              <a:prstGeom prst="rect">
                <a:avLst/>
              </a:prstGeom>
              <a:noFill/>
            </p:spPr>
            <p:txBody>
              <a:bodyPr wrap="square">
                <a:spAutoFit/>
              </a:bodyPr>
              <a:lstStyle/>
              <a:p>
                <a:pPr>
                  <a:buNone/>
                </a:pPr>
                <a:r>
                  <a:rPr lang="en-IN" dirty="0"/>
                  <a:t>This field is used for : </a:t>
                </a:r>
                <a14:m>
                  <m:oMath xmlns:m="http://schemas.openxmlformats.org/officeDocument/2006/math">
                    <m:borderBox>
                      <m:borderBoxPr>
                        <m:ctrlPr>
                          <a:rPr lang="en-IN" b="0" i="0"/>
                        </m:ctrlPr>
                      </m:borderBoxPr>
                      <m:e>
                        <m:r>
                          <m:rPr>
                            <m:nor/>
                          </m:rPr>
                          <a:rPr lang="en-IN" b="0" i="0"/>
                          <m:t>Flow Control</m:t>
                        </m:r>
                      </m:e>
                    </m:borderBox>
                  </m:oMath>
                </a14:m>
                <a:endParaRPr lang="en-IN" b="0" dirty="0"/>
              </a:p>
              <a:p>
                <a:pPr>
                  <a:buNone/>
                </a:pPr>
                <a:r>
                  <a:rPr lang="en-IN" dirty="0"/>
                  <a:t>Remember:</a:t>
                </a:r>
              </a:p>
              <a:p>
                <a:pPr>
                  <a:buNone/>
                </a:pPr>
                <a:r>
                  <a:rPr lang="en-IN" b="1" dirty="0"/>
                  <a:t>Flow Control prevents a fast sender from overwhelming a slow receiver.</a:t>
                </a:r>
                <a:endParaRPr lang="en-IN" dirty="0"/>
              </a:p>
            </p:txBody>
          </p:sp>
        </mc:Choice>
        <mc:Fallback xmlns="">
          <p:sp>
            <p:nvSpPr>
              <p:cNvPr id="4" name="TextBox 3">
                <a:extLst>
                  <a:ext uri="{FF2B5EF4-FFF2-40B4-BE49-F238E27FC236}">
                    <a16:creationId xmlns:a16="http://schemas.microsoft.com/office/drawing/2014/main" id="{1E538FD6-E8A1-CC97-DDC4-64A2FD6D3DC1}"/>
                  </a:ext>
                </a:extLst>
              </p:cNvPr>
              <p:cNvSpPr txBox="1">
                <a:spLocks noRot="1" noChangeAspect="1" noMove="1" noResize="1" noEditPoints="1" noAdjustHandles="1" noChangeArrowheads="1" noChangeShapeType="1" noTextEdit="1"/>
              </p:cNvSpPr>
              <p:nvPr/>
            </p:nvSpPr>
            <p:spPr>
              <a:xfrm>
                <a:off x="275844" y="1086846"/>
                <a:ext cx="11640312" cy="961995"/>
              </a:xfrm>
              <a:prstGeom prst="rect">
                <a:avLst/>
              </a:prstGeom>
              <a:blipFill>
                <a:blip r:embed="rId2"/>
                <a:stretch>
                  <a:fillRect l="-419" b="-8861"/>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D4BF7287-60DF-C73B-203A-35FF52E3765E}"/>
              </a:ext>
            </a:extLst>
          </p:cNvPr>
          <p:cNvPicPr>
            <a:picLocks noChangeAspect="1"/>
          </p:cNvPicPr>
          <p:nvPr/>
        </p:nvPicPr>
        <p:blipFill>
          <a:blip r:embed="rId3"/>
          <a:stretch>
            <a:fillRect/>
          </a:stretch>
        </p:blipFill>
        <p:spPr>
          <a:xfrm>
            <a:off x="275844" y="2175567"/>
            <a:ext cx="6096000" cy="3296356"/>
          </a:xfrm>
          <a:prstGeom prst="rect">
            <a:avLst/>
          </a:prstGeom>
        </p:spPr>
      </p:pic>
      <p:sp>
        <p:nvSpPr>
          <p:cNvPr id="8" name="TextBox 7">
            <a:extLst>
              <a:ext uri="{FF2B5EF4-FFF2-40B4-BE49-F238E27FC236}">
                <a16:creationId xmlns:a16="http://schemas.microsoft.com/office/drawing/2014/main" id="{CE19856B-8391-708B-AAF7-49D1D21CDF33}"/>
              </a:ext>
            </a:extLst>
          </p:cNvPr>
          <p:cNvSpPr txBox="1"/>
          <p:nvPr/>
        </p:nvSpPr>
        <p:spPr>
          <a:xfrm>
            <a:off x="275844" y="5771154"/>
            <a:ext cx="6096000" cy="923330"/>
          </a:xfrm>
          <a:prstGeom prst="rect">
            <a:avLst/>
          </a:prstGeom>
          <a:noFill/>
        </p:spPr>
        <p:txBody>
          <a:bodyPr wrap="square">
            <a:spAutoFit/>
          </a:bodyPr>
          <a:lstStyle/>
          <a:p>
            <a:r>
              <a:rPr lang="en-IN" dirty="0"/>
              <a:t>The sender uses the advertised receive window to help decide how much unacknowledged data it can have outstanding for flow-control purposes.</a:t>
            </a:r>
          </a:p>
        </p:txBody>
      </p:sp>
      <p:sp>
        <p:nvSpPr>
          <p:cNvPr id="10" name="TextBox 9">
            <a:extLst>
              <a:ext uri="{FF2B5EF4-FFF2-40B4-BE49-F238E27FC236}">
                <a16:creationId xmlns:a16="http://schemas.microsoft.com/office/drawing/2014/main" id="{9B31074C-5725-F9A1-BCB8-53AC1F73AD4B}"/>
              </a:ext>
            </a:extLst>
          </p:cNvPr>
          <p:cNvSpPr txBox="1"/>
          <p:nvPr/>
        </p:nvSpPr>
        <p:spPr>
          <a:xfrm>
            <a:off x="7232848" y="3156012"/>
            <a:ext cx="4683308" cy="646331"/>
          </a:xfrm>
          <a:prstGeom prst="rect">
            <a:avLst/>
          </a:prstGeom>
          <a:noFill/>
        </p:spPr>
        <p:txBody>
          <a:bodyPr wrap="square">
            <a:spAutoFit/>
          </a:bodyPr>
          <a:lstStyle/>
          <a:p>
            <a:r>
              <a:rPr lang="en-IN" b="1" dirty="0"/>
              <a:t>Window Size = How much receive-window space the receiver is advertising</a:t>
            </a:r>
          </a:p>
        </p:txBody>
      </p:sp>
    </p:spTree>
    <p:extLst>
      <p:ext uri="{BB962C8B-B14F-4D97-AF65-F5344CB8AC3E}">
        <p14:creationId xmlns:p14="http://schemas.microsoft.com/office/powerpoint/2010/main" val="2256492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C447A-1EB4-3605-3E45-81D201831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6F92D7-4131-9D03-3FCA-D5DF4B016F7C}"/>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Checksum — 16 bits</a:t>
            </a:r>
          </a:p>
        </p:txBody>
      </p:sp>
      <p:sp>
        <p:nvSpPr>
          <p:cNvPr id="4" name="TextBox 3">
            <a:extLst>
              <a:ext uri="{FF2B5EF4-FFF2-40B4-BE49-F238E27FC236}">
                <a16:creationId xmlns:a16="http://schemas.microsoft.com/office/drawing/2014/main" id="{C24ACAE0-269A-341C-0427-0E75D64BAA3E}"/>
              </a:ext>
            </a:extLst>
          </p:cNvPr>
          <p:cNvSpPr txBox="1"/>
          <p:nvPr/>
        </p:nvSpPr>
        <p:spPr>
          <a:xfrm>
            <a:off x="275844" y="960120"/>
            <a:ext cx="6096000" cy="369332"/>
          </a:xfrm>
          <a:prstGeom prst="rect">
            <a:avLst/>
          </a:prstGeom>
          <a:noFill/>
        </p:spPr>
        <p:txBody>
          <a:bodyPr wrap="square">
            <a:spAutoFit/>
          </a:bodyPr>
          <a:lstStyle/>
          <a:p>
            <a:pPr>
              <a:buNone/>
            </a:pPr>
            <a:r>
              <a:rPr lang="en-IN" dirty="0"/>
              <a:t>Checksum is used for: </a:t>
            </a:r>
            <a:r>
              <a:rPr lang="en-IN" b="1" dirty="0"/>
              <a:t>Error Detection​</a:t>
            </a:r>
          </a:p>
        </p:txBody>
      </p:sp>
      <p:sp>
        <p:nvSpPr>
          <p:cNvPr id="5" name="Title 1">
            <a:extLst>
              <a:ext uri="{FF2B5EF4-FFF2-40B4-BE49-F238E27FC236}">
                <a16:creationId xmlns:a16="http://schemas.microsoft.com/office/drawing/2014/main" id="{9545B499-1EA9-784D-16FF-D99561063F96}"/>
              </a:ext>
            </a:extLst>
          </p:cNvPr>
          <p:cNvSpPr txBox="1">
            <a:spLocks/>
          </p:cNvSpPr>
          <p:nvPr/>
        </p:nvSpPr>
        <p:spPr>
          <a:xfrm>
            <a:off x="275844" y="1561902"/>
            <a:ext cx="11640312" cy="464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dirty="0">
                <a:highlight>
                  <a:srgbClr val="FFFF00"/>
                </a:highlight>
              </a:rPr>
              <a:t>Urgent Pointer — 16 bits</a:t>
            </a:r>
          </a:p>
        </p:txBody>
      </p:sp>
      <p:sp>
        <p:nvSpPr>
          <p:cNvPr id="7" name="TextBox 6">
            <a:extLst>
              <a:ext uri="{FF2B5EF4-FFF2-40B4-BE49-F238E27FC236}">
                <a16:creationId xmlns:a16="http://schemas.microsoft.com/office/drawing/2014/main" id="{D62AE31E-5155-699D-4774-E1225B88ED4D}"/>
              </a:ext>
            </a:extLst>
          </p:cNvPr>
          <p:cNvSpPr txBox="1"/>
          <p:nvPr/>
        </p:nvSpPr>
        <p:spPr>
          <a:xfrm>
            <a:off x="275844" y="2259252"/>
            <a:ext cx="6096000" cy="4247317"/>
          </a:xfrm>
          <a:prstGeom prst="rect">
            <a:avLst/>
          </a:prstGeom>
          <a:noFill/>
        </p:spPr>
        <p:txBody>
          <a:bodyPr wrap="square">
            <a:spAutoFit/>
          </a:bodyPr>
          <a:lstStyle/>
          <a:p>
            <a:pPr>
              <a:buNone/>
            </a:pPr>
            <a:r>
              <a:rPr lang="en-IN" dirty="0"/>
              <a:t>This field works with:</a:t>
            </a:r>
          </a:p>
          <a:p>
            <a:pPr rtl="0">
              <a:buNone/>
            </a:pPr>
            <a:r>
              <a:rPr lang="en-IN" dirty="0">
                <a:latin typeface="+mn-lt"/>
              </a:rPr>
              <a:t>URG flag</a:t>
            </a:r>
          </a:p>
          <a:p>
            <a:pPr>
              <a:buNone/>
            </a:pPr>
            <a:r>
              <a:rPr lang="en-IN" dirty="0"/>
              <a:t>If:</a:t>
            </a:r>
          </a:p>
          <a:p>
            <a:pPr rtl="0">
              <a:buNone/>
            </a:pPr>
            <a:r>
              <a:rPr lang="en-IN" dirty="0">
                <a:latin typeface="+mn-lt"/>
              </a:rPr>
              <a:t>URG = 1</a:t>
            </a:r>
          </a:p>
          <a:p>
            <a:pPr>
              <a:buNone/>
            </a:pPr>
            <a:r>
              <a:rPr lang="en-IN" dirty="0"/>
              <a:t>then the Urgent Pointer field is meaningful.</a:t>
            </a:r>
          </a:p>
          <a:p>
            <a:pPr>
              <a:buNone/>
            </a:pPr>
            <a:r>
              <a:rPr lang="en-IN" dirty="0"/>
              <a:t>It is used by TCP's urgent-data mechanism to indicate the urgent-data boundary relative to the sequence number.</a:t>
            </a:r>
          </a:p>
          <a:p>
            <a:pPr>
              <a:buNone/>
            </a:pPr>
            <a:r>
              <a:rPr lang="en-IN" dirty="0"/>
              <a:t>The main relationship is:</a:t>
            </a:r>
          </a:p>
          <a:p>
            <a:pPr rtl="0">
              <a:buNone/>
            </a:pPr>
            <a:r>
              <a:rPr lang="en-IN" dirty="0">
                <a:latin typeface="+mn-lt"/>
              </a:rPr>
              <a:t>URG Flag</a:t>
            </a:r>
          </a:p>
          <a:p>
            <a:pPr rtl="0">
              <a:buNone/>
            </a:pPr>
            <a:r>
              <a:rPr lang="en-IN" dirty="0">
                <a:latin typeface="+mn-lt"/>
              </a:rPr>
              <a:t>    +</a:t>
            </a:r>
          </a:p>
          <a:p>
            <a:pPr rtl="0">
              <a:buNone/>
            </a:pPr>
            <a:r>
              <a:rPr lang="en-IN" dirty="0">
                <a:latin typeface="+mn-lt"/>
              </a:rPr>
              <a:t>Urgent Pointer</a:t>
            </a:r>
          </a:p>
          <a:p>
            <a:pPr rtl="0">
              <a:buNone/>
            </a:pPr>
            <a:r>
              <a:rPr lang="en-IN" dirty="0">
                <a:latin typeface="+mn-lt"/>
              </a:rPr>
              <a:t>    ↓</a:t>
            </a:r>
          </a:p>
          <a:p>
            <a:pPr rtl="0">
              <a:buNone/>
            </a:pPr>
            <a:r>
              <a:rPr lang="en-IN" dirty="0">
                <a:latin typeface="+mn-lt"/>
              </a:rPr>
              <a:t>TCP Urgent Data Mechanism</a:t>
            </a:r>
          </a:p>
          <a:p>
            <a:pPr>
              <a:buNone/>
            </a:pPr>
            <a:r>
              <a:rPr lang="en-IN" b="1" dirty="0"/>
              <a:t>Remember</a:t>
            </a:r>
          </a:p>
          <a:p>
            <a:pPr>
              <a:buNone/>
            </a:pPr>
            <a:r>
              <a:rPr lang="en-IN" b="1" dirty="0"/>
              <a:t>Urgent Pointer is used with URG for urgent-data handling.</a:t>
            </a:r>
            <a:endParaRPr lang="en-IN" dirty="0"/>
          </a:p>
        </p:txBody>
      </p:sp>
    </p:spTree>
    <p:extLst>
      <p:ext uri="{BB962C8B-B14F-4D97-AF65-F5344CB8AC3E}">
        <p14:creationId xmlns:p14="http://schemas.microsoft.com/office/powerpoint/2010/main" val="14720946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8898F-F349-3C6A-9976-C3640827C5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97D4F-7EBB-FB08-8B0C-3386EA292B48}"/>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Options — 0 to 40 bytes</a:t>
            </a:r>
          </a:p>
        </p:txBody>
      </p:sp>
      <p:sp>
        <p:nvSpPr>
          <p:cNvPr id="4" name="TextBox 3">
            <a:extLst>
              <a:ext uri="{FF2B5EF4-FFF2-40B4-BE49-F238E27FC236}">
                <a16:creationId xmlns:a16="http://schemas.microsoft.com/office/drawing/2014/main" id="{98AE9F82-20BF-7437-2791-29EFCCF40400}"/>
              </a:ext>
            </a:extLst>
          </p:cNvPr>
          <p:cNvSpPr txBox="1"/>
          <p:nvPr/>
        </p:nvSpPr>
        <p:spPr>
          <a:xfrm>
            <a:off x="275844" y="1079973"/>
            <a:ext cx="6096000" cy="1477328"/>
          </a:xfrm>
          <a:prstGeom prst="rect">
            <a:avLst/>
          </a:prstGeom>
          <a:noFill/>
        </p:spPr>
        <p:txBody>
          <a:bodyPr wrap="square">
            <a:spAutoFit/>
          </a:bodyPr>
          <a:lstStyle/>
          <a:p>
            <a:pPr>
              <a:buNone/>
            </a:pPr>
            <a:r>
              <a:rPr lang="en-IN" dirty="0"/>
              <a:t>TCP has a basic header of: </a:t>
            </a:r>
            <a:r>
              <a:rPr lang="en-IN" dirty="0">
                <a:latin typeface="+mn-lt"/>
              </a:rPr>
              <a:t>20 bytes</a:t>
            </a:r>
          </a:p>
          <a:p>
            <a:pPr>
              <a:buNone/>
            </a:pPr>
            <a:r>
              <a:rPr lang="en-IN" dirty="0"/>
              <a:t>But sometimes TCP needs extra information.</a:t>
            </a:r>
          </a:p>
          <a:p>
            <a:pPr>
              <a:buNone/>
            </a:pPr>
            <a:endParaRPr lang="en-IN" dirty="0"/>
          </a:p>
          <a:p>
            <a:pPr>
              <a:buNone/>
            </a:pPr>
            <a:r>
              <a:rPr lang="en-IN" dirty="0"/>
              <a:t>That extra information can be placed in: </a:t>
            </a:r>
            <a:r>
              <a:rPr lang="en-IN" dirty="0">
                <a:latin typeface="+mn-lt"/>
              </a:rPr>
              <a:t>Options</a:t>
            </a:r>
          </a:p>
          <a:p>
            <a:pPr>
              <a:buNone/>
            </a:pPr>
            <a:r>
              <a:rPr lang="en-IN" dirty="0"/>
              <a:t>Common TCP options include:</a:t>
            </a:r>
          </a:p>
        </p:txBody>
      </p:sp>
      <p:graphicFrame>
        <p:nvGraphicFramePr>
          <p:cNvPr id="5" name="Table 4">
            <a:extLst>
              <a:ext uri="{FF2B5EF4-FFF2-40B4-BE49-F238E27FC236}">
                <a16:creationId xmlns:a16="http://schemas.microsoft.com/office/drawing/2014/main" id="{8CC3C280-3BB8-957B-2450-30696AC0DE9B}"/>
              </a:ext>
            </a:extLst>
          </p:cNvPr>
          <p:cNvGraphicFramePr>
            <a:graphicFrameLocks noGrp="1"/>
          </p:cNvGraphicFramePr>
          <p:nvPr>
            <p:extLst>
              <p:ext uri="{D42A27DB-BD31-4B8C-83A1-F6EECF244321}">
                <p14:modId xmlns:p14="http://schemas.microsoft.com/office/powerpoint/2010/main" val="1249266279"/>
              </p:ext>
            </p:extLst>
          </p:nvPr>
        </p:nvGraphicFramePr>
        <p:xfrm>
          <a:off x="275844" y="2697960"/>
          <a:ext cx="5202990" cy="3205480"/>
        </p:xfrm>
        <a:graphic>
          <a:graphicData uri="http://schemas.openxmlformats.org/drawingml/2006/table">
            <a:tbl>
              <a:tblPr firstRow="1" bandRow="1">
                <a:tableStyleId>{5C22544A-7EE6-4342-B048-85BDC9FD1C3A}</a:tableStyleId>
              </a:tblPr>
              <a:tblGrid>
                <a:gridCol w="1737895">
                  <a:extLst>
                    <a:ext uri="{9D8B030D-6E8A-4147-A177-3AD203B41FA5}">
                      <a16:colId xmlns:a16="http://schemas.microsoft.com/office/drawing/2014/main" val="92164672"/>
                    </a:ext>
                  </a:extLst>
                </a:gridCol>
                <a:gridCol w="3465095">
                  <a:extLst>
                    <a:ext uri="{9D8B030D-6E8A-4147-A177-3AD203B41FA5}">
                      <a16:colId xmlns:a16="http://schemas.microsoft.com/office/drawing/2014/main" val="1331081414"/>
                    </a:ext>
                  </a:extLst>
                </a:gridCol>
              </a:tblGrid>
              <a:tr h="370840">
                <a:tc>
                  <a:txBody>
                    <a:bodyPr/>
                    <a:lstStyle/>
                    <a:p>
                      <a:pPr>
                        <a:buNone/>
                      </a:pPr>
                      <a:r>
                        <a:rPr lang="en-IN" dirty="0"/>
                        <a:t>Option</a:t>
                      </a:r>
                    </a:p>
                  </a:txBody>
                  <a:tcPr anchor="ctr"/>
                </a:tc>
                <a:tc>
                  <a:txBody>
                    <a:bodyPr/>
                    <a:lstStyle/>
                    <a:p>
                      <a:pPr>
                        <a:buNone/>
                      </a:pPr>
                      <a:r>
                        <a:rPr lang="en-IN"/>
                        <a:t>Simple Purpose</a:t>
                      </a:r>
                    </a:p>
                  </a:txBody>
                  <a:tcPr anchor="ctr"/>
                </a:tc>
                <a:extLst>
                  <a:ext uri="{0D108BD9-81ED-4DB2-BD59-A6C34878D82A}">
                    <a16:rowId xmlns:a16="http://schemas.microsoft.com/office/drawing/2014/main" val="2462406229"/>
                  </a:ext>
                </a:extLst>
              </a:tr>
              <a:tr h="370840">
                <a:tc>
                  <a:txBody>
                    <a:bodyPr/>
                    <a:lstStyle/>
                    <a:p>
                      <a:pPr>
                        <a:buNone/>
                      </a:pPr>
                      <a:r>
                        <a:rPr lang="en-IN" b="1"/>
                        <a:t>MSS</a:t>
                      </a:r>
                      <a:endParaRPr lang="en-IN"/>
                    </a:p>
                  </a:txBody>
                  <a:tcPr anchor="ctr"/>
                </a:tc>
                <a:tc>
                  <a:txBody>
                    <a:bodyPr/>
                    <a:lstStyle/>
                    <a:p>
                      <a:pPr>
                        <a:buNone/>
                      </a:pPr>
                      <a:r>
                        <a:rPr lang="en-IN"/>
                        <a:t>Tells maximum TCP data size the host is willing to receive in a segment</a:t>
                      </a:r>
                    </a:p>
                  </a:txBody>
                  <a:tcPr anchor="ctr"/>
                </a:tc>
                <a:extLst>
                  <a:ext uri="{0D108BD9-81ED-4DB2-BD59-A6C34878D82A}">
                    <a16:rowId xmlns:a16="http://schemas.microsoft.com/office/drawing/2014/main" val="3750972837"/>
                  </a:ext>
                </a:extLst>
              </a:tr>
              <a:tr h="370840">
                <a:tc>
                  <a:txBody>
                    <a:bodyPr/>
                    <a:lstStyle/>
                    <a:p>
                      <a:pPr>
                        <a:buNone/>
                      </a:pPr>
                      <a:r>
                        <a:rPr lang="en-IN" b="1"/>
                        <a:t>Window Scale</a:t>
                      </a:r>
                      <a:endParaRPr lang="en-IN"/>
                    </a:p>
                  </a:txBody>
                  <a:tcPr anchor="ctr"/>
                </a:tc>
                <a:tc>
                  <a:txBody>
                    <a:bodyPr/>
                    <a:lstStyle/>
                    <a:p>
                      <a:pPr>
                        <a:buNone/>
                      </a:pPr>
                      <a:r>
                        <a:rPr lang="en-IN"/>
                        <a:t>Allows TCP to use larger receive windows</a:t>
                      </a:r>
                    </a:p>
                  </a:txBody>
                  <a:tcPr anchor="ctr"/>
                </a:tc>
                <a:extLst>
                  <a:ext uri="{0D108BD9-81ED-4DB2-BD59-A6C34878D82A}">
                    <a16:rowId xmlns:a16="http://schemas.microsoft.com/office/drawing/2014/main" val="2182678564"/>
                  </a:ext>
                </a:extLst>
              </a:tr>
              <a:tr h="370840">
                <a:tc>
                  <a:txBody>
                    <a:bodyPr/>
                    <a:lstStyle/>
                    <a:p>
                      <a:pPr>
                        <a:buNone/>
                      </a:pPr>
                      <a:r>
                        <a:rPr lang="en-IN" b="1"/>
                        <a:t>SACK</a:t>
                      </a:r>
                      <a:endParaRPr lang="en-IN"/>
                    </a:p>
                  </a:txBody>
                  <a:tcPr anchor="ctr"/>
                </a:tc>
                <a:tc>
                  <a:txBody>
                    <a:bodyPr/>
                    <a:lstStyle/>
                    <a:p>
                      <a:pPr>
                        <a:buNone/>
                      </a:pPr>
                      <a:r>
                        <a:rPr lang="en-IN"/>
                        <a:t>Helps report which blocks of data have been received</a:t>
                      </a:r>
                    </a:p>
                  </a:txBody>
                  <a:tcPr anchor="ctr"/>
                </a:tc>
                <a:extLst>
                  <a:ext uri="{0D108BD9-81ED-4DB2-BD59-A6C34878D82A}">
                    <a16:rowId xmlns:a16="http://schemas.microsoft.com/office/drawing/2014/main" val="2665697021"/>
                  </a:ext>
                </a:extLst>
              </a:tr>
              <a:tr h="370840">
                <a:tc>
                  <a:txBody>
                    <a:bodyPr/>
                    <a:lstStyle/>
                    <a:p>
                      <a:pPr>
                        <a:buNone/>
                      </a:pPr>
                      <a:r>
                        <a:rPr lang="en-IN" b="1"/>
                        <a:t>Timestamp</a:t>
                      </a:r>
                      <a:endParaRPr lang="en-IN"/>
                    </a:p>
                  </a:txBody>
                  <a:tcPr anchor="ctr"/>
                </a:tc>
                <a:tc>
                  <a:txBody>
                    <a:bodyPr/>
                    <a:lstStyle/>
                    <a:p>
                      <a:pPr>
                        <a:buNone/>
                      </a:pPr>
                      <a:r>
                        <a:rPr lang="en-IN" dirty="0"/>
                        <a:t>Helps with timing/RTT-related TCP operation</a:t>
                      </a:r>
                    </a:p>
                  </a:txBody>
                  <a:tcPr anchor="ctr"/>
                </a:tc>
                <a:extLst>
                  <a:ext uri="{0D108BD9-81ED-4DB2-BD59-A6C34878D82A}">
                    <a16:rowId xmlns:a16="http://schemas.microsoft.com/office/drawing/2014/main" val="400569787"/>
                  </a:ext>
                </a:extLst>
              </a:tr>
            </a:tbl>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75CAFF-46AF-8868-592E-A41718275D67}"/>
                  </a:ext>
                </a:extLst>
              </p:cNvPr>
              <p:cNvSpPr txBox="1"/>
              <p:nvPr/>
            </p:nvSpPr>
            <p:spPr>
              <a:xfrm>
                <a:off x="6713168" y="1079973"/>
                <a:ext cx="5077779" cy="3139321"/>
              </a:xfrm>
              <a:prstGeom prst="rect">
                <a:avLst/>
              </a:prstGeom>
              <a:noFill/>
            </p:spPr>
            <p:txBody>
              <a:bodyPr wrap="square">
                <a:spAutoFit/>
              </a:bodyPr>
              <a:lstStyle/>
              <a:p>
                <a:pPr>
                  <a:buNone/>
                </a:pPr>
                <a:r>
                  <a:rPr lang="en-IN" b="1" dirty="0">
                    <a:highlight>
                      <a:srgbClr val="FFFF00"/>
                    </a:highlight>
                  </a:rPr>
                  <a:t>MSS — Maximum Segment Size</a:t>
                </a:r>
                <a:br>
                  <a:rPr lang="en-IN" dirty="0"/>
                </a:br>
                <a:br>
                  <a:rPr lang="en-IN" dirty="0"/>
                </a:br>
                <a:r>
                  <a:rPr lang="en-IN" dirty="0"/>
                  <a:t>Suppose:</a:t>
                </a:r>
              </a:p>
              <a:p>
                <a:pPr rtl="0">
                  <a:buNone/>
                </a:pPr>
                <a:r>
                  <a:rPr lang="en-IN" dirty="0">
                    <a:latin typeface="+mn-lt"/>
                  </a:rPr>
                  <a:t>Ethernet MTU = 1500 bytes</a:t>
                </a:r>
              </a:p>
              <a:p>
                <a:pPr>
                  <a:buNone/>
                </a:pPr>
                <a:r>
                  <a:rPr lang="en-IN" dirty="0"/>
                  <a:t>With a normal IPv4 header:</a:t>
                </a:r>
              </a:p>
              <a:p>
                <a:pPr rtl="0">
                  <a:buNone/>
                </a:pPr>
                <a:r>
                  <a:rPr lang="en-IN" dirty="0">
                    <a:latin typeface="+mn-lt"/>
                  </a:rPr>
                  <a:t>IPv4 Header = 20 bytes</a:t>
                </a:r>
              </a:p>
              <a:p>
                <a:pPr>
                  <a:buNone/>
                </a:pPr>
                <a:r>
                  <a:rPr lang="en-IN" dirty="0"/>
                  <a:t>and normal TCP header:</a:t>
                </a:r>
              </a:p>
              <a:p>
                <a:pPr rtl="0">
                  <a:buNone/>
                </a:pPr>
                <a:r>
                  <a:rPr lang="en-IN" dirty="0">
                    <a:latin typeface="+mn-lt"/>
                  </a:rPr>
                  <a:t>TCP Header = 20 bytes</a:t>
                </a:r>
              </a:p>
              <a:p>
                <a:pPr>
                  <a:buNone/>
                </a:pPr>
                <a:r>
                  <a:rPr lang="en-IN" dirty="0"/>
                  <a:t>Then TCP payload can commonly be:</a:t>
                </a:r>
              </a:p>
              <a:p>
                <a:pPr>
                  <a:buNone/>
                </a:pPr>
                <a14:m>
                  <m:oMathPara xmlns:m="http://schemas.openxmlformats.org/officeDocument/2006/math">
                    <m:oMath>
                      <m:r>
                        <a:rPr lang="en-IN">
                          <a:latin typeface="Cambria Math" panose="02040503050406030204" pitchFamily="18" charset="0"/>
                        </a:rPr>
                        <m:t>1500</m:t>
                      </m:r>
                      <m:r>
                        <a:rPr lang="en-IN" i="0">
                          <a:latin typeface="Cambria Math" panose="02040503050406030204" pitchFamily="18" charset="0"/>
                        </a:rPr>
                        <m:t>−20−20</m:t>
                      </m:r>
                    </m:oMath>
                  </m:oMathPara>
                </a14:m>
                <a:endParaRPr lang="en-IN" dirty="0"/>
              </a:p>
              <a:p>
                <a:pPr>
                  <a:buNone/>
                </a:pPr>
                <a:r>
                  <a:rPr lang="en-IN" dirty="0"/>
                  <a:t>=1460 bytes​</a:t>
                </a:r>
              </a:p>
            </p:txBody>
          </p:sp>
        </mc:Choice>
        <mc:Fallback xmlns="">
          <p:sp>
            <p:nvSpPr>
              <p:cNvPr id="7" name="TextBox 6">
                <a:extLst>
                  <a:ext uri="{FF2B5EF4-FFF2-40B4-BE49-F238E27FC236}">
                    <a16:creationId xmlns:a16="http://schemas.microsoft.com/office/drawing/2014/main" id="{E075CAFF-46AF-8868-592E-A41718275D67}"/>
                  </a:ext>
                </a:extLst>
              </p:cNvPr>
              <p:cNvSpPr txBox="1">
                <a:spLocks noRot="1" noChangeAspect="1" noMove="1" noResize="1" noEditPoints="1" noAdjustHandles="1" noChangeArrowheads="1" noChangeShapeType="1" noTextEdit="1"/>
              </p:cNvSpPr>
              <p:nvPr/>
            </p:nvSpPr>
            <p:spPr>
              <a:xfrm>
                <a:off x="6713168" y="1079973"/>
                <a:ext cx="5077779" cy="3139321"/>
              </a:xfrm>
              <a:prstGeom prst="rect">
                <a:avLst/>
              </a:prstGeom>
              <a:blipFill>
                <a:blip r:embed="rId2"/>
                <a:stretch>
                  <a:fillRect l="-960" t="-971" b="-2136"/>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3FA6DC06-6F65-47F6-35E4-D0DC9F2329BB}"/>
              </a:ext>
            </a:extLst>
          </p:cNvPr>
          <p:cNvPicPr>
            <a:picLocks noChangeAspect="1"/>
          </p:cNvPicPr>
          <p:nvPr/>
        </p:nvPicPr>
        <p:blipFill>
          <a:blip r:embed="rId3"/>
          <a:stretch>
            <a:fillRect/>
          </a:stretch>
        </p:blipFill>
        <p:spPr>
          <a:xfrm>
            <a:off x="6713168" y="4521002"/>
            <a:ext cx="4636168" cy="2194703"/>
          </a:xfrm>
          <a:prstGeom prst="rect">
            <a:avLst/>
          </a:prstGeom>
        </p:spPr>
      </p:pic>
    </p:spTree>
    <p:extLst>
      <p:ext uri="{BB962C8B-B14F-4D97-AF65-F5344CB8AC3E}">
        <p14:creationId xmlns:p14="http://schemas.microsoft.com/office/powerpoint/2010/main" val="41139150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415DC-DD20-3387-F982-D4A9D4CE9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84140A-C946-C1DB-0A5F-881F6B42A615}"/>
              </a:ext>
            </a:extLst>
          </p:cNvPr>
          <p:cNvSpPr>
            <a:spLocks noGrp="1"/>
          </p:cNvSpPr>
          <p:nvPr>
            <p:ph type="title"/>
          </p:nvPr>
        </p:nvSpPr>
        <p:spPr>
          <a:xfrm>
            <a:off x="275844" y="495220"/>
            <a:ext cx="11640312" cy="464900"/>
          </a:xfrm>
        </p:spPr>
        <p:txBody>
          <a:bodyPr>
            <a:normAutofit/>
          </a:bodyPr>
          <a:lstStyle/>
          <a:p>
            <a:r>
              <a:rPr lang="en-IN" sz="2400" b="1" dirty="0">
                <a:highlight>
                  <a:srgbClr val="FFFF00"/>
                </a:highlight>
              </a:rPr>
              <a:t>Padding — Variable</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8FE550B-F8E6-0513-2418-0CF65AFFEC22}"/>
                  </a:ext>
                </a:extLst>
              </p:cNvPr>
              <p:cNvSpPr txBox="1"/>
              <p:nvPr/>
            </p:nvSpPr>
            <p:spPr>
              <a:xfrm>
                <a:off x="275844" y="960120"/>
                <a:ext cx="10475495" cy="2031325"/>
              </a:xfrm>
              <a:prstGeom prst="rect">
                <a:avLst/>
              </a:prstGeom>
              <a:noFill/>
            </p:spPr>
            <p:txBody>
              <a:bodyPr wrap="square">
                <a:spAutoFit/>
              </a:bodyPr>
              <a:lstStyle/>
              <a:p>
                <a:pPr>
                  <a:buNone/>
                </a:pPr>
                <a:r>
                  <a:rPr lang="en-IN" dirty="0"/>
                  <a:t>TCP header length must be a multiple of: </a:t>
                </a:r>
                <a14:m>
                  <m:oMath xmlns:m="http://schemas.openxmlformats.org/officeDocument/2006/math">
                    <m:r>
                      <a:rPr lang="en-IN">
                        <a:latin typeface="Cambria Math" panose="02040503050406030204" pitchFamily="18" charset="0"/>
                      </a:rPr>
                      <m:t>4</m:t>
                    </m:r>
                    <m:r>
                      <m:rPr>
                        <m:nor/>
                      </m:rPr>
                      <a:rPr lang="en-IN" b="0" i="0">
                        <a:latin typeface="+mn-lt"/>
                      </a:rPr>
                      <m:t> bytes</m:t>
                    </m:r>
                  </m:oMath>
                </a14:m>
                <a:r>
                  <a:rPr lang="en-IN" dirty="0"/>
                  <a:t> because Data Offset counts 32-bit words.</a:t>
                </a:r>
              </a:p>
              <a:p>
                <a:pPr>
                  <a:buNone/>
                </a:pPr>
                <a:endParaRPr lang="en-IN" dirty="0"/>
              </a:p>
              <a:p>
                <a:pPr>
                  <a:buNone/>
                </a:pPr>
                <a:r>
                  <a:rPr lang="en-IN" dirty="0"/>
                  <a:t>Suppose the options don't naturally make the header end at a 4-byte boundary.</a:t>
                </a:r>
              </a:p>
              <a:p>
                <a:pPr>
                  <a:buNone/>
                </a:pPr>
                <a:endParaRPr lang="en-IN" dirty="0"/>
              </a:p>
              <a:p>
                <a:pPr>
                  <a:buNone/>
                </a:pPr>
                <a:r>
                  <a:rPr lang="en-IN" dirty="0"/>
                  <a:t>TCP can add: </a:t>
                </a:r>
                <a:r>
                  <a:rPr lang="en-IN" dirty="0">
                    <a:latin typeface="+mn-lt"/>
                  </a:rPr>
                  <a:t>Padding</a:t>
                </a:r>
                <a:r>
                  <a:rPr lang="en-IN" dirty="0"/>
                  <a:t> to align it.</a:t>
                </a:r>
              </a:p>
              <a:p>
                <a:pPr>
                  <a:buNone/>
                </a:pPr>
                <a:r>
                  <a:rPr lang="en-IN" dirty="0"/>
                  <a:t>So:</a:t>
                </a:r>
              </a:p>
              <a:p>
                <a:pPr>
                  <a:buNone/>
                </a:pPr>
                <a:r>
                  <a:rPr lang="en-IN" b="1" dirty="0"/>
                  <a:t>Padding adds extra alignment bytes when required so the TCP header ends on a 32-bit boundary.</a:t>
                </a:r>
                <a:endParaRPr lang="en-IN" dirty="0"/>
              </a:p>
            </p:txBody>
          </p:sp>
        </mc:Choice>
        <mc:Fallback xmlns="">
          <p:sp>
            <p:nvSpPr>
              <p:cNvPr id="4" name="TextBox 3">
                <a:extLst>
                  <a:ext uri="{FF2B5EF4-FFF2-40B4-BE49-F238E27FC236}">
                    <a16:creationId xmlns:a16="http://schemas.microsoft.com/office/drawing/2014/main" id="{68FE550B-F8E6-0513-2418-0CF65AFFEC22}"/>
                  </a:ext>
                </a:extLst>
              </p:cNvPr>
              <p:cNvSpPr txBox="1">
                <a:spLocks noRot="1" noChangeAspect="1" noMove="1" noResize="1" noEditPoints="1" noAdjustHandles="1" noChangeArrowheads="1" noChangeShapeType="1" noTextEdit="1"/>
              </p:cNvSpPr>
              <p:nvPr/>
            </p:nvSpPr>
            <p:spPr>
              <a:xfrm>
                <a:off x="275844" y="960120"/>
                <a:ext cx="10475495" cy="2031325"/>
              </a:xfrm>
              <a:prstGeom prst="rect">
                <a:avLst/>
              </a:prstGeom>
              <a:blipFill>
                <a:blip r:embed="rId2"/>
                <a:stretch>
                  <a:fillRect l="-465" t="-1802" b="-3604"/>
                </a:stretch>
              </a:blipFill>
            </p:spPr>
            <p:txBody>
              <a:bodyPr/>
              <a:lstStyle/>
              <a:p>
                <a:r>
                  <a:rPr lang="en-IN">
                    <a:noFill/>
                  </a:rPr>
                  <a:t> </a:t>
                </a:r>
              </a:p>
            </p:txBody>
          </p:sp>
        </mc:Fallback>
      </mc:AlternateContent>
      <p:sp>
        <p:nvSpPr>
          <p:cNvPr id="5" name="Title 1">
            <a:extLst>
              <a:ext uri="{FF2B5EF4-FFF2-40B4-BE49-F238E27FC236}">
                <a16:creationId xmlns:a16="http://schemas.microsoft.com/office/drawing/2014/main" id="{112AFD2A-FEB7-3D8B-A824-8563B789F19D}"/>
              </a:ext>
            </a:extLst>
          </p:cNvPr>
          <p:cNvSpPr txBox="1">
            <a:spLocks/>
          </p:cNvSpPr>
          <p:nvPr/>
        </p:nvSpPr>
        <p:spPr>
          <a:xfrm>
            <a:off x="275844" y="3401655"/>
            <a:ext cx="11640312" cy="4649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400" b="1" dirty="0">
                <a:highlight>
                  <a:srgbClr val="FFFF00"/>
                </a:highlight>
              </a:rPr>
              <a:t>Data — Variable Size</a:t>
            </a:r>
          </a:p>
        </p:txBody>
      </p:sp>
      <p:sp>
        <p:nvSpPr>
          <p:cNvPr id="7" name="TextBox 6">
            <a:extLst>
              <a:ext uri="{FF2B5EF4-FFF2-40B4-BE49-F238E27FC236}">
                <a16:creationId xmlns:a16="http://schemas.microsoft.com/office/drawing/2014/main" id="{D5AFA10F-835D-19F6-7235-174C569848D3}"/>
              </a:ext>
            </a:extLst>
          </p:cNvPr>
          <p:cNvSpPr txBox="1"/>
          <p:nvPr/>
        </p:nvSpPr>
        <p:spPr>
          <a:xfrm>
            <a:off x="275844" y="3866555"/>
            <a:ext cx="8258556" cy="1754326"/>
          </a:xfrm>
          <a:prstGeom prst="rect">
            <a:avLst/>
          </a:prstGeom>
          <a:noFill/>
        </p:spPr>
        <p:txBody>
          <a:bodyPr wrap="square">
            <a:spAutoFit/>
          </a:bodyPr>
          <a:lstStyle/>
          <a:p>
            <a:pPr>
              <a:buNone/>
            </a:pPr>
            <a:r>
              <a:rPr lang="en-IN" dirty="0"/>
              <a:t>Finally, after the TCP header comes the actual data from the application.</a:t>
            </a:r>
          </a:p>
          <a:p>
            <a:pPr>
              <a:buNone/>
            </a:pPr>
            <a:r>
              <a:rPr lang="en-IN" dirty="0"/>
              <a:t>For example:</a:t>
            </a:r>
          </a:p>
          <a:p>
            <a:pPr rtl="0">
              <a:buNone/>
            </a:pPr>
            <a:r>
              <a:rPr lang="en-IN" dirty="0">
                <a:latin typeface="+mn-lt"/>
              </a:rPr>
              <a:t>HTTP Data</a:t>
            </a:r>
          </a:p>
          <a:p>
            <a:pPr rtl="0">
              <a:buNone/>
            </a:pPr>
            <a:r>
              <a:rPr lang="en-IN" dirty="0">
                <a:latin typeface="+mn-lt"/>
              </a:rPr>
              <a:t>File Data</a:t>
            </a:r>
          </a:p>
          <a:p>
            <a:pPr rtl="0">
              <a:buNone/>
            </a:pPr>
            <a:r>
              <a:rPr lang="en-IN" dirty="0">
                <a:latin typeface="+mn-lt"/>
              </a:rPr>
              <a:t>Email-related application data</a:t>
            </a:r>
          </a:p>
          <a:p>
            <a:pPr rtl="0">
              <a:buNone/>
            </a:pPr>
            <a:r>
              <a:rPr lang="en-IN" dirty="0">
                <a:latin typeface="+mn-lt"/>
              </a:rPr>
              <a:t>etc.</a:t>
            </a:r>
            <a:endParaRPr lang="en-IN" dirty="0">
              <a:latin typeface="Courier New" panose="02070309020205020404" pitchFamily="49" charset="0"/>
            </a:endParaRPr>
          </a:p>
        </p:txBody>
      </p:sp>
    </p:spTree>
    <p:extLst>
      <p:ext uri="{BB962C8B-B14F-4D97-AF65-F5344CB8AC3E}">
        <p14:creationId xmlns:p14="http://schemas.microsoft.com/office/powerpoint/2010/main" val="6958494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11A16-5777-B459-F6D3-1881F67C42D0}"/>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62C1E17F-6E83-F51D-7964-5D2ACDDE63CA}"/>
              </a:ext>
            </a:extLst>
          </p:cNvPr>
          <p:cNvGraphicFramePr>
            <a:graphicFrameLocks noGrp="1"/>
          </p:cNvGraphicFramePr>
          <p:nvPr>
            <p:extLst>
              <p:ext uri="{D42A27DB-BD31-4B8C-83A1-F6EECF244321}">
                <p14:modId xmlns:p14="http://schemas.microsoft.com/office/powerpoint/2010/main" val="2118218485"/>
              </p:ext>
            </p:extLst>
          </p:nvPr>
        </p:nvGraphicFramePr>
        <p:xfrm>
          <a:off x="657726" y="864045"/>
          <a:ext cx="10282989" cy="5461000"/>
        </p:xfrm>
        <a:graphic>
          <a:graphicData uri="http://schemas.openxmlformats.org/drawingml/2006/table">
            <a:tbl>
              <a:tblPr firstRow="1" bandRow="1">
                <a:tableStyleId>{5C22544A-7EE6-4342-B048-85BDC9FD1C3A}</a:tableStyleId>
              </a:tblPr>
              <a:tblGrid>
                <a:gridCol w="3427663">
                  <a:extLst>
                    <a:ext uri="{9D8B030D-6E8A-4147-A177-3AD203B41FA5}">
                      <a16:colId xmlns:a16="http://schemas.microsoft.com/office/drawing/2014/main" val="281084263"/>
                    </a:ext>
                  </a:extLst>
                </a:gridCol>
                <a:gridCol w="3427663">
                  <a:extLst>
                    <a:ext uri="{9D8B030D-6E8A-4147-A177-3AD203B41FA5}">
                      <a16:colId xmlns:a16="http://schemas.microsoft.com/office/drawing/2014/main" val="1065431371"/>
                    </a:ext>
                  </a:extLst>
                </a:gridCol>
                <a:gridCol w="3427663">
                  <a:extLst>
                    <a:ext uri="{9D8B030D-6E8A-4147-A177-3AD203B41FA5}">
                      <a16:colId xmlns:a16="http://schemas.microsoft.com/office/drawing/2014/main" val="4003164639"/>
                    </a:ext>
                  </a:extLst>
                </a:gridCol>
              </a:tblGrid>
              <a:tr h="370840">
                <a:tc>
                  <a:txBody>
                    <a:bodyPr/>
                    <a:lstStyle/>
                    <a:p>
                      <a:pPr algn="ctr">
                        <a:buNone/>
                      </a:pPr>
                      <a:r>
                        <a:rPr lang="en-IN" dirty="0"/>
                        <a:t>Field</a:t>
                      </a:r>
                    </a:p>
                  </a:txBody>
                  <a:tcPr anchor="ctr"/>
                </a:tc>
                <a:tc>
                  <a:txBody>
                    <a:bodyPr/>
                    <a:lstStyle/>
                    <a:p>
                      <a:pPr algn="ctr">
                        <a:buNone/>
                      </a:pPr>
                      <a:r>
                        <a:rPr lang="en-IN"/>
                        <a:t>Size</a:t>
                      </a:r>
                    </a:p>
                  </a:txBody>
                  <a:tcPr anchor="ctr"/>
                </a:tc>
                <a:tc>
                  <a:txBody>
                    <a:bodyPr/>
                    <a:lstStyle/>
                    <a:p>
                      <a:pPr algn="ctr">
                        <a:buNone/>
                      </a:pPr>
                      <a:r>
                        <a:rPr lang="en-IN"/>
                        <a:t>Simple Purpose</a:t>
                      </a:r>
                    </a:p>
                  </a:txBody>
                  <a:tcPr anchor="ctr"/>
                </a:tc>
                <a:extLst>
                  <a:ext uri="{0D108BD9-81ED-4DB2-BD59-A6C34878D82A}">
                    <a16:rowId xmlns:a16="http://schemas.microsoft.com/office/drawing/2014/main" val="3805612524"/>
                  </a:ext>
                </a:extLst>
              </a:tr>
              <a:tr h="370840">
                <a:tc>
                  <a:txBody>
                    <a:bodyPr/>
                    <a:lstStyle/>
                    <a:p>
                      <a:pPr algn="ctr">
                        <a:buNone/>
                      </a:pPr>
                      <a:r>
                        <a:rPr lang="en-IN" b="1"/>
                        <a:t>Source Port</a:t>
                      </a:r>
                      <a:endParaRPr lang="en-IN"/>
                    </a:p>
                  </a:txBody>
                  <a:tcPr anchor="ctr"/>
                </a:tc>
                <a:tc>
                  <a:txBody>
                    <a:bodyPr/>
                    <a:lstStyle/>
                    <a:p>
                      <a:pPr algn="ctr">
                        <a:buNone/>
                      </a:pPr>
                      <a:r>
                        <a:rPr lang="en-IN"/>
                        <a:t>16 bits</a:t>
                      </a:r>
                    </a:p>
                  </a:txBody>
                  <a:tcPr anchor="ctr"/>
                </a:tc>
                <a:tc>
                  <a:txBody>
                    <a:bodyPr/>
                    <a:lstStyle/>
                    <a:p>
                      <a:pPr algn="ctr">
                        <a:buNone/>
                      </a:pPr>
                      <a:r>
                        <a:rPr lang="en-IN"/>
                        <a:t>Port of sender</a:t>
                      </a:r>
                    </a:p>
                  </a:txBody>
                  <a:tcPr anchor="ctr"/>
                </a:tc>
                <a:extLst>
                  <a:ext uri="{0D108BD9-81ED-4DB2-BD59-A6C34878D82A}">
                    <a16:rowId xmlns:a16="http://schemas.microsoft.com/office/drawing/2014/main" val="3242035324"/>
                  </a:ext>
                </a:extLst>
              </a:tr>
              <a:tr h="370840">
                <a:tc>
                  <a:txBody>
                    <a:bodyPr/>
                    <a:lstStyle/>
                    <a:p>
                      <a:pPr algn="ctr">
                        <a:buNone/>
                      </a:pPr>
                      <a:r>
                        <a:rPr lang="en-IN" b="1"/>
                        <a:t>Destination Port</a:t>
                      </a:r>
                      <a:endParaRPr lang="en-IN"/>
                    </a:p>
                  </a:txBody>
                  <a:tcPr anchor="ctr"/>
                </a:tc>
                <a:tc>
                  <a:txBody>
                    <a:bodyPr/>
                    <a:lstStyle/>
                    <a:p>
                      <a:pPr algn="ctr">
                        <a:buNone/>
                      </a:pPr>
                      <a:r>
                        <a:rPr lang="en-IN"/>
                        <a:t>16 bits</a:t>
                      </a:r>
                    </a:p>
                  </a:txBody>
                  <a:tcPr anchor="ctr"/>
                </a:tc>
                <a:tc>
                  <a:txBody>
                    <a:bodyPr/>
                    <a:lstStyle/>
                    <a:p>
                      <a:pPr algn="ctr">
                        <a:buNone/>
                      </a:pPr>
                      <a:r>
                        <a:rPr lang="en-IN"/>
                        <a:t>Port of receiver</a:t>
                      </a:r>
                    </a:p>
                  </a:txBody>
                  <a:tcPr anchor="ctr"/>
                </a:tc>
                <a:extLst>
                  <a:ext uri="{0D108BD9-81ED-4DB2-BD59-A6C34878D82A}">
                    <a16:rowId xmlns:a16="http://schemas.microsoft.com/office/drawing/2014/main" val="572328281"/>
                  </a:ext>
                </a:extLst>
              </a:tr>
              <a:tr h="370840">
                <a:tc>
                  <a:txBody>
                    <a:bodyPr/>
                    <a:lstStyle/>
                    <a:p>
                      <a:pPr algn="ctr">
                        <a:buNone/>
                      </a:pPr>
                      <a:r>
                        <a:rPr lang="en-IN" b="1"/>
                        <a:t>Sequence Number</a:t>
                      </a:r>
                      <a:endParaRPr lang="en-IN"/>
                    </a:p>
                  </a:txBody>
                  <a:tcPr anchor="ctr"/>
                </a:tc>
                <a:tc>
                  <a:txBody>
                    <a:bodyPr/>
                    <a:lstStyle/>
                    <a:p>
                      <a:pPr algn="ctr">
                        <a:buNone/>
                      </a:pPr>
                      <a:r>
                        <a:rPr lang="en-IN"/>
                        <a:t>32 bits</a:t>
                      </a:r>
                    </a:p>
                  </a:txBody>
                  <a:tcPr anchor="ctr"/>
                </a:tc>
                <a:tc>
                  <a:txBody>
                    <a:bodyPr/>
                    <a:lstStyle/>
                    <a:p>
                      <a:pPr algn="ctr">
                        <a:buNone/>
                      </a:pPr>
                      <a:r>
                        <a:rPr lang="en-IN"/>
                        <a:t>Position of first data byte</a:t>
                      </a:r>
                    </a:p>
                  </a:txBody>
                  <a:tcPr anchor="ctr"/>
                </a:tc>
                <a:extLst>
                  <a:ext uri="{0D108BD9-81ED-4DB2-BD59-A6C34878D82A}">
                    <a16:rowId xmlns:a16="http://schemas.microsoft.com/office/drawing/2014/main" val="3129261792"/>
                  </a:ext>
                </a:extLst>
              </a:tr>
              <a:tr h="370840">
                <a:tc>
                  <a:txBody>
                    <a:bodyPr/>
                    <a:lstStyle/>
                    <a:p>
                      <a:pPr algn="ctr">
                        <a:buNone/>
                      </a:pPr>
                      <a:r>
                        <a:rPr lang="en-IN" b="1"/>
                        <a:t>Acknowledgment Number</a:t>
                      </a:r>
                      <a:endParaRPr lang="en-IN"/>
                    </a:p>
                  </a:txBody>
                  <a:tcPr anchor="ctr"/>
                </a:tc>
                <a:tc>
                  <a:txBody>
                    <a:bodyPr/>
                    <a:lstStyle/>
                    <a:p>
                      <a:pPr algn="ctr">
                        <a:buNone/>
                      </a:pPr>
                      <a:r>
                        <a:rPr lang="en-IN"/>
                        <a:t>32 bits</a:t>
                      </a:r>
                    </a:p>
                  </a:txBody>
                  <a:tcPr anchor="ctr"/>
                </a:tc>
                <a:tc>
                  <a:txBody>
                    <a:bodyPr/>
                    <a:lstStyle/>
                    <a:p>
                      <a:pPr algn="ctr">
                        <a:buNone/>
                      </a:pPr>
                      <a:r>
                        <a:rPr lang="en-IN"/>
                        <a:t>Next byte expected</a:t>
                      </a:r>
                    </a:p>
                  </a:txBody>
                  <a:tcPr anchor="ctr"/>
                </a:tc>
                <a:extLst>
                  <a:ext uri="{0D108BD9-81ED-4DB2-BD59-A6C34878D82A}">
                    <a16:rowId xmlns:a16="http://schemas.microsoft.com/office/drawing/2014/main" val="3039362525"/>
                  </a:ext>
                </a:extLst>
              </a:tr>
              <a:tr h="370840">
                <a:tc>
                  <a:txBody>
                    <a:bodyPr/>
                    <a:lstStyle/>
                    <a:p>
                      <a:pPr algn="ctr">
                        <a:buNone/>
                      </a:pPr>
                      <a:r>
                        <a:rPr lang="en-IN" b="1"/>
                        <a:t>Data Offset</a:t>
                      </a:r>
                      <a:endParaRPr lang="en-IN"/>
                    </a:p>
                  </a:txBody>
                  <a:tcPr anchor="ctr"/>
                </a:tc>
                <a:tc>
                  <a:txBody>
                    <a:bodyPr/>
                    <a:lstStyle/>
                    <a:p>
                      <a:pPr algn="ctr">
                        <a:buNone/>
                      </a:pPr>
                      <a:r>
                        <a:rPr lang="en-IN"/>
                        <a:t>4 bits</a:t>
                      </a:r>
                    </a:p>
                  </a:txBody>
                  <a:tcPr anchor="ctr"/>
                </a:tc>
                <a:tc>
                  <a:txBody>
                    <a:bodyPr/>
                    <a:lstStyle/>
                    <a:p>
                      <a:pPr algn="ctr">
                        <a:buNone/>
                      </a:pPr>
                      <a:r>
                        <a:rPr lang="en-IN"/>
                        <a:t>TCP header length</a:t>
                      </a:r>
                    </a:p>
                  </a:txBody>
                  <a:tcPr anchor="ctr"/>
                </a:tc>
                <a:extLst>
                  <a:ext uri="{0D108BD9-81ED-4DB2-BD59-A6C34878D82A}">
                    <a16:rowId xmlns:a16="http://schemas.microsoft.com/office/drawing/2014/main" val="1799683168"/>
                  </a:ext>
                </a:extLst>
              </a:tr>
              <a:tr h="370840">
                <a:tc>
                  <a:txBody>
                    <a:bodyPr/>
                    <a:lstStyle/>
                    <a:p>
                      <a:pPr algn="ctr">
                        <a:buNone/>
                      </a:pPr>
                      <a:r>
                        <a:rPr lang="en-IN" b="1"/>
                        <a:t>Reserved</a:t>
                      </a:r>
                      <a:endParaRPr lang="en-IN"/>
                    </a:p>
                  </a:txBody>
                  <a:tcPr anchor="ctr"/>
                </a:tc>
                <a:tc>
                  <a:txBody>
                    <a:bodyPr/>
                    <a:lstStyle/>
                    <a:p>
                      <a:pPr algn="ctr">
                        <a:buNone/>
                      </a:pPr>
                      <a:r>
                        <a:rPr lang="en-IN"/>
                        <a:t>3 bits</a:t>
                      </a:r>
                    </a:p>
                  </a:txBody>
                  <a:tcPr anchor="ctr"/>
                </a:tc>
                <a:tc>
                  <a:txBody>
                    <a:bodyPr/>
                    <a:lstStyle/>
                    <a:p>
                      <a:pPr algn="ctr">
                        <a:buNone/>
                      </a:pPr>
                      <a:r>
                        <a:rPr lang="en-IN"/>
                        <a:t>Reserved</a:t>
                      </a:r>
                    </a:p>
                  </a:txBody>
                  <a:tcPr anchor="ctr"/>
                </a:tc>
                <a:extLst>
                  <a:ext uri="{0D108BD9-81ED-4DB2-BD59-A6C34878D82A}">
                    <a16:rowId xmlns:a16="http://schemas.microsoft.com/office/drawing/2014/main" val="4084120825"/>
                  </a:ext>
                </a:extLst>
              </a:tr>
              <a:tr h="370840">
                <a:tc>
                  <a:txBody>
                    <a:bodyPr/>
                    <a:lstStyle/>
                    <a:p>
                      <a:pPr algn="ctr">
                        <a:buNone/>
                      </a:pPr>
                      <a:r>
                        <a:rPr lang="en-IN" b="1"/>
                        <a:t>Flags</a:t>
                      </a:r>
                      <a:endParaRPr lang="en-IN"/>
                    </a:p>
                  </a:txBody>
                  <a:tcPr anchor="ctr"/>
                </a:tc>
                <a:tc>
                  <a:txBody>
                    <a:bodyPr/>
                    <a:lstStyle/>
                    <a:p>
                      <a:pPr algn="ctr">
                        <a:buNone/>
                      </a:pPr>
                      <a:r>
                        <a:rPr lang="en-IN"/>
                        <a:t>9 bits</a:t>
                      </a:r>
                    </a:p>
                  </a:txBody>
                  <a:tcPr anchor="ctr"/>
                </a:tc>
                <a:tc>
                  <a:txBody>
                    <a:bodyPr/>
                    <a:lstStyle/>
                    <a:p>
                      <a:pPr algn="ctr">
                        <a:buNone/>
                      </a:pPr>
                      <a:r>
                        <a:rPr lang="en-IN"/>
                        <a:t>Control TCP operation</a:t>
                      </a:r>
                    </a:p>
                  </a:txBody>
                  <a:tcPr anchor="ctr"/>
                </a:tc>
                <a:extLst>
                  <a:ext uri="{0D108BD9-81ED-4DB2-BD59-A6C34878D82A}">
                    <a16:rowId xmlns:a16="http://schemas.microsoft.com/office/drawing/2014/main" val="1595990739"/>
                  </a:ext>
                </a:extLst>
              </a:tr>
              <a:tr h="370840">
                <a:tc>
                  <a:txBody>
                    <a:bodyPr/>
                    <a:lstStyle/>
                    <a:p>
                      <a:pPr algn="ctr">
                        <a:buNone/>
                      </a:pPr>
                      <a:r>
                        <a:rPr lang="en-IN" b="1"/>
                        <a:t>Window Size</a:t>
                      </a:r>
                      <a:endParaRPr lang="en-IN"/>
                    </a:p>
                  </a:txBody>
                  <a:tcPr anchor="ctr"/>
                </a:tc>
                <a:tc>
                  <a:txBody>
                    <a:bodyPr/>
                    <a:lstStyle/>
                    <a:p>
                      <a:pPr algn="ctr">
                        <a:buNone/>
                      </a:pPr>
                      <a:r>
                        <a:rPr lang="en-IN"/>
                        <a:t>16 bits</a:t>
                      </a:r>
                    </a:p>
                  </a:txBody>
                  <a:tcPr anchor="ctr"/>
                </a:tc>
                <a:tc>
                  <a:txBody>
                    <a:bodyPr/>
                    <a:lstStyle/>
                    <a:p>
                      <a:pPr algn="ctr">
                        <a:buNone/>
                      </a:pPr>
                      <a:r>
                        <a:rPr lang="en-IN"/>
                        <a:t>Flow control</a:t>
                      </a:r>
                    </a:p>
                  </a:txBody>
                  <a:tcPr anchor="ctr"/>
                </a:tc>
                <a:extLst>
                  <a:ext uri="{0D108BD9-81ED-4DB2-BD59-A6C34878D82A}">
                    <a16:rowId xmlns:a16="http://schemas.microsoft.com/office/drawing/2014/main" val="783137521"/>
                  </a:ext>
                </a:extLst>
              </a:tr>
              <a:tr h="370840">
                <a:tc>
                  <a:txBody>
                    <a:bodyPr/>
                    <a:lstStyle/>
                    <a:p>
                      <a:pPr algn="ctr">
                        <a:buNone/>
                      </a:pPr>
                      <a:r>
                        <a:rPr lang="en-IN" b="1"/>
                        <a:t>Checksum</a:t>
                      </a:r>
                      <a:endParaRPr lang="en-IN"/>
                    </a:p>
                  </a:txBody>
                  <a:tcPr anchor="ctr"/>
                </a:tc>
                <a:tc>
                  <a:txBody>
                    <a:bodyPr/>
                    <a:lstStyle/>
                    <a:p>
                      <a:pPr algn="ctr">
                        <a:buNone/>
                      </a:pPr>
                      <a:r>
                        <a:rPr lang="en-IN"/>
                        <a:t>16 bits</a:t>
                      </a:r>
                    </a:p>
                  </a:txBody>
                  <a:tcPr anchor="ctr"/>
                </a:tc>
                <a:tc>
                  <a:txBody>
                    <a:bodyPr/>
                    <a:lstStyle/>
                    <a:p>
                      <a:pPr algn="ctr">
                        <a:buNone/>
                      </a:pPr>
                      <a:r>
                        <a:rPr lang="en-IN"/>
                        <a:t>Error detection</a:t>
                      </a:r>
                    </a:p>
                  </a:txBody>
                  <a:tcPr anchor="ctr"/>
                </a:tc>
                <a:extLst>
                  <a:ext uri="{0D108BD9-81ED-4DB2-BD59-A6C34878D82A}">
                    <a16:rowId xmlns:a16="http://schemas.microsoft.com/office/drawing/2014/main" val="3225900470"/>
                  </a:ext>
                </a:extLst>
              </a:tr>
              <a:tr h="370840">
                <a:tc>
                  <a:txBody>
                    <a:bodyPr/>
                    <a:lstStyle/>
                    <a:p>
                      <a:pPr algn="ctr">
                        <a:buNone/>
                      </a:pPr>
                      <a:r>
                        <a:rPr lang="en-IN" b="1"/>
                        <a:t>Urgent Pointer</a:t>
                      </a:r>
                      <a:endParaRPr lang="en-IN"/>
                    </a:p>
                  </a:txBody>
                  <a:tcPr anchor="ctr"/>
                </a:tc>
                <a:tc>
                  <a:txBody>
                    <a:bodyPr/>
                    <a:lstStyle/>
                    <a:p>
                      <a:pPr algn="ctr">
                        <a:buNone/>
                      </a:pPr>
                      <a:r>
                        <a:rPr lang="en-IN"/>
                        <a:t>16 bits</a:t>
                      </a:r>
                    </a:p>
                  </a:txBody>
                  <a:tcPr anchor="ctr"/>
                </a:tc>
                <a:tc>
                  <a:txBody>
                    <a:bodyPr/>
                    <a:lstStyle/>
                    <a:p>
                      <a:pPr algn="ctr">
                        <a:buNone/>
                      </a:pPr>
                      <a:r>
                        <a:rPr lang="en-IN"/>
                        <a:t>Used with URG</a:t>
                      </a:r>
                    </a:p>
                  </a:txBody>
                  <a:tcPr anchor="ctr"/>
                </a:tc>
                <a:extLst>
                  <a:ext uri="{0D108BD9-81ED-4DB2-BD59-A6C34878D82A}">
                    <a16:rowId xmlns:a16="http://schemas.microsoft.com/office/drawing/2014/main" val="140813319"/>
                  </a:ext>
                </a:extLst>
              </a:tr>
              <a:tr h="370840">
                <a:tc>
                  <a:txBody>
                    <a:bodyPr/>
                    <a:lstStyle/>
                    <a:p>
                      <a:pPr algn="ctr">
                        <a:buNone/>
                      </a:pPr>
                      <a:r>
                        <a:rPr lang="en-IN" b="1"/>
                        <a:t>Options</a:t>
                      </a:r>
                      <a:endParaRPr lang="en-IN"/>
                    </a:p>
                  </a:txBody>
                  <a:tcPr anchor="ctr"/>
                </a:tc>
                <a:tc>
                  <a:txBody>
                    <a:bodyPr/>
                    <a:lstStyle/>
                    <a:p>
                      <a:pPr algn="ctr">
                        <a:buNone/>
                      </a:pPr>
                      <a:r>
                        <a:rPr lang="en-IN"/>
                        <a:t>0–40 bytes</a:t>
                      </a:r>
                    </a:p>
                  </a:txBody>
                  <a:tcPr anchor="ctr"/>
                </a:tc>
                <a:tc>
                  <a:txBody>
                    <a:bodyPr/>
                    <a:lstStyle/>
                    <a:p>
                      <a:pPr algn="ctr">
                        <a:buNone/>
                      </a:pPr>
                      <a:r>
                        <a:rPr lang="en-IN"/>
                        <a:t>Extra TCP features</a:t>
                      </a:r>
                    </a:p>
                  </a:txBody>
                  <a:tcPr anchor="ctr"/>
                </a:tc>
                <a:extLst>
                  <a:ext uri="{0D108BD9-81ED-4DB2-BD59-A6C34878D82A}">
                    <a16:rowId xmlns:a16="http://schemas.microsoft.com/office/drawing/2014/main" val="3586641963"/>
                  </a:ext>
                </a:extLst>
              </a:tr>
              <a:tr h="370840">
                <a:tc>
                  <a:txBody>
                    <a:bodyPr/>
                    <a:lstStyle/>
                    <a:p>
                      <a:pPr algn="ctr">
                        <a:buNone/>
                      </a:pPr>
                      <a:r>
                        <a:rPr lang="en-IN" b="1"/>
                        <a:t>Padding</a:t>
                      </a:r>
                      <a:endParaRPr lang="en-IN"/>
                    </a:p>
                  </a:txBody>
                  <a:tcPr anchor="ctr"/>
                </a:tc>
                <a:tc>
                  <a:txBody>
                    <a:bodyPr/>
                    <a:lstStyle/>
                    <a:p>
                      <a:pPr algn="ctr">
                        <a:buNone/>
                      </a:pPr>
                      <a:r>
                        <a:rPr lang="en-IN"/>
                        <a:t>Variable</a:t>
                      </a:r>
                    </a:p>
                  </a:txBody>
                  <a:tcPr anchor="ctr"/>
                </a:tc>
                <a:tc>
                  <a:txBody>
                    <a:bodyPr/>
                    <a:lstStyle/>
                    <a:p>
                      <a:pPr algn="ctr">
                        <a:buNone/>
                      </a:pPr>
                      <a:r>
                        <a:rPr lang="en-IN"/>
                        <a:t>Makes header align to 32-bit boundary</a:t>
                      </a:r>
                    </a:p>
                  </a:txBody>
                  <a:tcPr anchor="ctr"/>
                </a:tc>
                <a:extLst>
                  <a:ext uri="{0D108BD9-81ED-4DB2-BD59-A6C34878D82A}">
                    <a16:rowId xmlns:a16="http://schemas.microsoft.com/office/drawing/2014/main" val="3938098038"/>
                  </a:ext>
                </a:extLst>
              </a:tr>
              <a:tr h="370840">
                <a:tc>
                  <a:txBody>
                    <a:bodyPr/>
                    <a:lstStyle/>
                    <a:p>
                      <a:pPr algn="ctr">
                        <a:buNone/>
                      </a:pPr>
                      <a:r>
                        <a:rPr lang="en-IN" b="1"/>
                        <a:t>Data</a:t>
                      </a:r>
                      <a:endParaRPr lang="en-IN"/>
                    </a:p>
                  </a:txBody>
                  <a:tcPr anchor="ctr"/>
                </a:tc>
                <a:tc>
                  <a:txBody>
                    <a:bodyPr/>
                    <a:lstStyle/>
                    <a:p>
                      <a:pPr algn="ctr">
                        <a:buNone/>
                      </a:pPr>
                      <a:r>
                        <a:rPr lang="en-IN"/>
                        <a:t>Variable</a:t>
                      </a:r>
                    </a:p>
                  </a:txBody>
                  <a:tcPr anchor="ctr"/>
                </a:tc>
                <a:tc>
                  <a:txBody>
                    <a:bodyPr/>
                    <a:lstStyle/>
                    <a:p>
                      <a:pPr algn="ctr">
                        <a:buNone/>
                      </a:pPr>
                      <a:r>
                        <a:rPr lang="en-IN" dirty="0"/>
                        <a:t>Actual application data</a:t>
                      </a:r>
                    </a:p>
                  </a:txBody>
                  <a:tcPr anchor="ctr"/>
                </a:tc>
                <a:extLst>
                  <a:ext uri="{0D108BD9-81ED-4DB2-BD59-A6C34878D82A}">
                    <a16:rowId xmlns:a16="http://schemas.microsoft.com/office/drawing/2014/main" val="1869011632"/>
                  </a:ext>
                </a:extLst>
              </a:tr>
            </a:tbl>
          </a:graphicData>
        </a:graphic>
      </p:graphicFrame>
    </p:spTree>
    <p:extLst>
      <p:ext uri="{BB962C8B-B14F-4D97-AF65-F5344CB8AC3E}">
        <p14:creationId xmlns:p14="http://schemas.microsoft.com/office/powerpoint/2010/main" val="34883841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851CC-4D1F-15CB-8CD0-4E8A1A2E61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630A3-9DC6-E3D7-4E6E-8E0A3704D9DD}"/>
              </a:ext>
            </a:extLst>
          </p:cNvPr>
          <p:cNvSpPr>
            <a:spLocks noGrp="1"/>
          </p:cNvSpPr>
          <p:nvPr>
            <p:ph type="title"/>
          </p:nvPr>
        </p:nvSpPr>
        <p:spPr>
          <a:xfrm>
            <a:off x="275844" y="495220"/>
            <a:ext cx="11640312" cy="464900"/>
          </a:xfrm>
        </p:spPr>
        <p:txBody>
          <a:bodyPr>
            <a:normAutofit/>
          </a:bodyPr>
          <a:lstStyle/>
          <a:p>
            <a:r>
              <a:rPr lang="en-IN" sz="2400" b="1" dirty="0"/>
              <a:t>TCP Connection Establishment: Three-Way Handshake</a:t>
            </a:r>
          </a:p>
        </p:txBody>
      </p:sp>
      <p:sp>
        <p:nvSpPr>
          <p:cNvPr id="4" name="TextBox 3">
            <a:extLst>
              <a:ext uri="{FF2B5EF4-FFF2-40B4-BE49-F238E27FC236}">
                <a16:creationId xmlns:a16="http://schemas.microsoft.com/office/drawing/2014/main" id="{222FE949-C149-EE11-10B5-A08D8A4A41B5}"/>
              </a:ext>
            </a:extLst>
          </p:cNvPr>
          <p:cNvSpPr txBox="1"/>
          <p:nvPr/>
        </p:nvSpPr>
        <p:spPr>
          <a:xfrm>
            <a:off x="275844" y="960120"/>
            <a:ext cx="11450935" cy="3416320"/>
          </a:xfrm>
          <a:prstGeom prst="rect">
            <a:avLst/>
          </a:prstGeom>
          <a:noFill/>
        </p:spPr>
        <p:txBody>
          <a:bodyPr wrap="square">
            <a:spAutoFit/>
          </a:bodyPr>
          <a:lstStyle/>
          <a:p>
            <a:pPr>
              <a:buNone/>
            </a:pPr>
            <a:r>
              <a:rPr lang="en-IN" b="1" dirty="0"/>
              <a:t>Why does TCP need a Handshake?</a:t>
            </a:r>
          </a:p>
          <a:p>
            <a:pPr>
              <a:buNone/>
            </a:pPr>
            <a:endParaRPr lang="en-IN" b="1" dirty="0"/>
          </a:p>
          <a:p>
            <a:pPr>
              <a:buNone/>
            </a:pPr>
            <a:r>
              <a:rPr lang="en-IN" dirty="0"/>
              <a:t>We already studied that TCP is:</a:t>
            </a:r>
          </a:p>
          <a:p>
            <a:pPr>
              <a:buNone/>
            </a:pPr>
            <a:r>
              <a:rPr lang="en-IN" b="1" dirty="0"/>
              <a:t>Connection-oriented</a:t>
            </a:r>
          </a:p>
          <a:p>
            <a:pPr>
              <a:buNone/>
            </a:pPr>
            <a:endParaRPr lang="en-IN" dirty="0"/>
          </a:p>
          <a:p>
            <a:pPr>
              <a:buNone/>
            </a:pPr>
            <a:r>
              <a:rPr lang="en-IN" dirty="0"/>
              <a:t>This means TCP does not normally start sending application data without first setting up connection state between the two sides.</a:t>
            </a:r>
          </a:p>
          <a:p>
            <a:pPr>
              <a:buNone/>
            </a:pPr>
            <a:endParaRPr lang="en-IN" dirty="0"/>
          </a:p>
          <a:p>
            <a:pPr>
              <a:buNone/>
            </a:pPr>
            <a:r>
              <a:rPr lang="en-IN" dirty="0"/>
              <a:t>Before normal data transfer, both sides need to know that the other side is ready and synchronize important connection information, especially their </a:t>
            </a:r>
            <a:r>
              <a:rPr lang="en-IN" b="1" dirty="0"/>
              <a:t>initial sequence numbers</a:t>
            </a:r>
            <a:r>
              <a:rPr lang="en-IN" dirty="0"/>
              <a:t>.</a:t>
            </a:r>
          </a:p>
          <a:p>
            <a:pPr>
              <a:buNone/>
            </a:pPr>
            <a:endParaRPr lang="en-IN" dirty="0"/>
          </a:p>
          <a:p>
            <a:pPr>
              <a:buNone/>
            </a:pPr>
            <a:r>
              <a:rPr lang="en-IN" dirty="0"/>
              <a:t>The process used to establish the TCP connection is called: </a:t>
            </a:r>
            <a:r>
              <a:rPr lang="en-IN" b="1" dirty="0"/>
              <a:t>Three-Way Handshake</a:t>
            </a:r>
            <a:r>
              <a:rPr lang="en-IN" dirty="0"/>
              <a:t>​</a:t>
            </a:r>
          </a:p>
        </p:txBody>
      </p:sp>
    </p:spTree>
    <p:extLst>
      <p:ext uri="{BB962C8B-B14F-4D97-AF65-F5344CB8AC3E}">
        <p14:creationId xmlns:p14="http://schemas.microsoft.com/office/powerpoint/2010/main" val="30607077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88955-EEE1-1B55-8F7B-56074D4FD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E50C8-D60E-7B56-55D9-5E0BAB017945}"/>
              </a:ext>
            </a:extLst>
          </p:cNvPr>
          <p:cNvSpPr>
            <a:spLocks noGrp="1"/>
          </p:cNvSpPr>
          <p:nvPr>
            <p:ph type="title"/>
          </p:nvPr>
        </p:nvSpPr>
        <p:spPr>
          <a:xfrm>
            <a:off x="275844" y="495220"/>
            <a:ext cx="11640312" cy="464900"/>
          </a:xfrm>
        </p:spPr>
        <p:txBody>
          <a:bodyPr>
            <a:normAutofit/>
          </a:bodyPr>
          <a:lstStyle/>
          <a:p>
            <a:r>
              <a:rPr lang="en-IN" sz="2400" b="1" dirty="0"/>
              <a:t>Client and Server before the Handshake</a:t>
            </a:r>
          </a:p>
        </p:txBody>
      </p:sp>
      <p:pic>
        <p:nvPicPr>
          <p:cNvPr id="5" name="Picture 4">
            <a:extLst>
              <a:ext uri="{FF2B5EF4-FFF2-40B4-BE49-F238E27FC236}">
                <a16:creationId xmlns:a16="http://schemas.microsoft.com/office/drawing/2014/main" id="{62BEFC71-21E5-70B0-41E1-57BE031DD52E}"/>
              </a:ext>
            </a:extLst>
          </p:cNvPr>
          <p:cNvPicPr>
            <a:picLocks noChangeAspect="1"/>
          </p:cNvPicPr>
          <p:nvPr/>
        </p:nvPicPr>
        <p:blipFill>
          <a:blip r:embed="rId2"/>
          <a:stretch>
            <a:fillRect/>
          </a:stretch>
        </p:blipFill>
        <p:spPr>
          <a:xfrm>
            <a:off x="269432" y="1068403"/>
            <a:ext cx="5377389" cy="3423385"/>
          </a:xfrm>
          <a:prstGeom prst="rect">
            <a:avLst/>
          </a:prstGeom>
        </p:spPr>
      </p:pic>
      <p:sp>
        <p:nvSpPr>
          <p:cNvPr id="7" name="TextBox 6">
            <a:extLst>
              <a:ext uri="{FF2B5EF4-FFF2-40B4-BE49-F238E27FC236}">
                <a16:creationId xmlns:a16="http://schemas.microsoft.com/office/drawing/2014/main" id="{5691D5CC-CBA8-E433-CFD3-0165C4FDB49C}"/>
              </a:ext>
            </a:extLst>
          </p:cNvPr>
          <p:cNvSpPr txBox="1"/>
          <p:nvPr/>
        </p:nvSpPr>
        <p:spPr>
          <a:xfrm>
            <a:off x="275844" y="4600071"/>
            <a:ext cx="6096000" cy="646331"/>
          </a:xfrm>
          <a:prstGeom prst="rect">
            <a:avLst/>
          </a:prstGeom>
          <a:noFill/>
        </p:spPr>
        <p:txBody>
          <a:bodyPr wrap="square">
            <a:spAutoFit/>
          </a:bodyPr>
          <a:lstStyle/>
          <a:p>
            <a:r>
              <a:rPr lang="en-IN" dirty="0"/>
              <a:t>The server is already waiting/listening for TCP connection requests on its service port.</a:t>
            </a:r>
          </a:p>
        </p:txBody>
      </p:sp>
      <p:pic>
        <p:nvPicPr>
          <p:cNvPr id="9" name="Picture 8">
            <a:extLst>
              <a:ext uri="{FF2B5EF4-FFF2-40B4-BE49-F238E27FC236}">
                <a16:creationId xmlns:a16="http://schemas.microsoft.com/office/drawing/2014/main" id="{BD14BE11-FDAB-948F-E087-1B22A9CA9D72}"/>
              </a:ext>
            </a:extLst>
          </p:cNvPr>
          <p:cNvPicPr>
            <a:picLocks noChangeAspect="1"/>
          </p:cNvPicPr>
          <p:nvPr/>
        </p:nvPicPr>
        <p:blipFill>
          <a:blip r:embed="rId3"/>
          <a:stretch>
            <a:fillRect/>
          </a:stretch>
        </p:blipFill>
        <p:spPr>
          <a:xfrm>
            <a:off x="6096000" y="1068403"/>
            <a:ext cx="5377388" cy="4475881"/>
          </a:xfrm>
          <a:prstGeom prst="rect">
            <a:avLst/>
          </a:prstGeom>
        </p:spPr>
      </p:pic>
    </p:spTree>
    <p:extLst>
      <p:ext uri="{BB962C8B-B14F-4D97-AF65-F5344CB8AC3E}">
        <p14:creationId xmlns:p14="http://schemas.microsoft.com/office/powerpoint/2010/main" val="10556355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7DF1-BE15-49DD-ABEC-CB8FB82AE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E6F46-066A-A74B-F1BB-65515BD3A126}"/>
              </a:ext>
            </a:extLst>
          </p:cNvPr>
          <p:cNvSpPr>
            <a:spLocks noGrp="1"/>
          </p:cNvSpPr>
          <p:nvPr>
            <p:ph type="title"/>
          </p:nvPr>
        </p:nvSpPr>
        <p:spPr>
          <a:xfrm>
            <a:off x="275844" y="495220"/>
            <a:ext cx="11640312" cy="464900"/>
          </a:xfrm>
        </p:spPr>
        <p:txBody>
          <a:bodyPr>
            <a:normAutofit/>
          </a:bodyPr>
          <a:lstStyle/>
          <a:p>
            <a:r>
              <a:rPr lang="en-IN" sz="2400" b="1" dirty="0"/>
              <a:t>Three-Way Handshaking</a:t>
            </a:r>
          </a:p>
        </p:txBody>
      </p:sp>
      <p:sp>
        <p:nvSpPr>
          <p:cNvPr id="4" name="TextBox 3">
            <a:extLst>
              <a:ext uri="{FF2B5EF4-FFF2-40B4-BE49-F238E27FC236}">
                <a16:creationId xmlns:a16="http://schemas.microsoft.com/office/drawing/2014/main" id="{8BB05479-53C7-6847-CC91-D23112F5E877}"/>
              </a:ext>
            </a:extLst>
          </p:cNvPr>
          <p:cNvSpPr txBox="1"/>
          <p:nvPr/>
        </p:nvSpPr>
        <p:spPr>
          <a:xfrm>
            <a:off x="275844" y="960119"/>
            <a:ext cx="3221335" cy="369332"/>
          </a:xfrm>
          <a:prstGeom prst="rect">
            <a:avLst/>
          </a:prstGeom>
          <a:noFill/>
        </p:spPr>
        <p:txBody>
          <a:bodyPr wrap="square">
            <a:spAutoFit/>
          </a:bodyPr>
          <a:lstStyle/>
          <a:p>
            <a:r>
              <a:rPr lang="en-IN" b="1" dirty="0"/>
              <a:t>Initial Sequence Number — ISN</a:t>
            </a:r>
          </a:p>
        </p:txBody>
      </p:sp>
      <p:sp>
        <p:nvSpPr>
          <p:cNvPr id="8" name="TextBox 7">
            <a:extLst>
              <a:ext uri="{FF2B5EF4-FFF2-40B4-BE49-F238E27FC236}">
                <a16:creationId xmlns:a16="http://schemas.microsoft.com/office/drawing/2014/main" id="{B6E004CE-15AA-399E-581D-BF8CADC5EEFD}"/>
              </a:ext>
            </a:extLst>
          </p:cNvPr>
          <p:cNvSpPr txBox="1"/>
          <p:nvPr/>
        </p:nvSpPr>
        <p:spPr>
          <a:xfrm>
            <a:off x="275844" y="1329451"/>
            <a:ext cx="6096000" cy="1754326"/>
          </a:xfrm>
          <a:prstGeom prst="rect">
            <a:avLst/>
          </a:prstGeom>
          <a:noFill/>
        </p:spPr>
        <p:txBody>
          <a:bodyPr wrap="square">
            <a:spAutoFit/>
          </a:bodyPr>
          <a:lstStyle/>
          <a:p>
            <a:pPr>
              <a:buNone/>
            </a:pPr>
            <a:r>
              <a:rPr lang="en-IN" dirty="0"/>
              <a:t>Each side chooses an </a:t>
            </a:r>
            <a:r>
              <a:rPr lang="en-IN" b="1" dirty="0"/>
              <a:t>Initial Sequence Number (ISN)</a:t>
            </a:r>
            <a:r>
              <a:rPr lang="en-IN" dirty="0"/>
              <a:t> for the connection.</a:t>
            </a:r>
          </a:p>
          <a:p>
            <a:pPr>
              <a:buNone/>
            </a:pPr>
            <a:r>
              <a:rPr lang="en-IN" dirty="0"/>
              <a:t>Suppose:</a:t>
            </a:r>
          </a:p>
          <a:p>
            <a:pPr rtl="0">
              <a:buNone/>
            </a:pPr>
            <a:r>
              <a:rPr lang="en-IN" dirty="0">
                <a:latin typeface="+mn-lt"/>
              </a:rPr>
              <a:t>Client ISN = 1000</a:t>
            </a:r>
          </a:p>
          <a:p>
            <a:pPr rtl="0">
              <a:buNone/>
            </a:pPr>
            <a:endParaRPr lang="en-IN" dirty="0">
              <a:latin typeface="+mn-lt"/>
            </a:endParaRPr>
          </a:p>
          <a:p>
            <a:pPr rtl="0">
              <a:buNone/>
            </a:pPr>
            <a:r>
              <a:rPr lang="en-IN" dirty="0">
                <a:latin typeface="+mn-lt"/>
              </a:rPr>
              <a:t>Server ISN = 5000</a:t>
            </a:r>
            <a:endParaRPr lang="en-IN" dirty="0">
              <a:latin typeface="Courier New" panose="02070309020205020404" pitchFamily="49" charset="0"/>
            </a:endParaRPr>
          </a:p>
        </p:txBody>
      </p:sp>
      <p:sp>
        <p:nvSpPr>
          <p:cNvPr id="11" name="TextBox 10">
            <a:extLst>
              <a:ext uri="{FF2B5EF4-FFF2-40B4-BE49-F238E27FC236}">
                <a16:creationId xmlns:a16="http://schemas.microsoft.com/office/drawing/2014/main" id="{9A82AA6F-5F51-5578-7C23-31A7F13658A9}"/>
              </a:ext>
            </a:extLst>
          </p:cNvPr>
          <p:cNvSpPr txBox="1"/>
          <p:nvPr/>
        </p:nvSpPr>
        <p:spPr>
          <a:xfrm>
            <a:off x="275844" y="3083777"/>
            <a:ext cx="6096000" cy="1200329"/>
          </a:xfrm>
          <a:prstGeom prst="rect">
            <a:avLst/>
          </a:prstGeom>
          <a:noFill/>
        </p:spPr>
        <p:txBody>
          <a:bodyPr wrap="square">
            <a:spAutoFit/>
          </a:bodyPr>
          <a:lstStyle/>
          <a:p>
            <a:pPr>
              <a:buNone/>
            </a:pPr>
            <a:r>
              <a:rPr lang="en-IN" dirty="0"/>
              <a:t>So:</a:t>
            </a:r>
          </a:p>
          <a:p>
            <a:pPr rtl="0">
              <a:buNone/>
            </a:pPr>
            <a:r>
              <a:rPr lang="en-IN" dirty="0">
                <a:latin typeface="+mn-lt"/>
              </a:rPr>
              <a:t>CLIENT                                 SERVER</a:t>
            </a:r>
          </a:p>
          <a:p>
            <a:pPr rtl="0">
              <a:buNone/>
            </a:pPr>
            <a:endParaRPr lang="en-IN" dirty="0">
              <a:latin typeface="+mn-lt"/>
            </a:endParaRPr>
          </a:p>
          <a:p>
            <a:pPr rtl="0">
              <a:buNone/>
            </a:pPr>
            <a:r>
              <a:rPr lang="en-IN" dirty="0">
                <a:latin typeface="+mn-lt"/>
              </a:rPr>
              <a:t>ISN = 1000                          ISN = 5000</a:t>
            </a:r>
            <a:endParaRPr lang="en-IN" dirty="0">
              <a:latin typeface="Courier New" panose="02070309020205020404" pitchFamily="49" charset="0"/>
            </a:endParaRPr>
          </a:p>
        </p:txBody>
      </p:sp>
    </p:spTree>
    <p:extLst>
      <p:ext uri="{BB962C8B-B14F-4D97-AF65-F5344CB8AC3E}">
        <p14:creationId xmlns:p14="http://schemas.microsoft.com/office/powerpoint/2010/main" val="3373077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675AE-66FF-A3CB-FF0B-E15CB7870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CF6CD5-C285-82A4-59D4-BD24C7BD3CF7}"/>
              </a:ext>
            </a:extLst>
          </p:cNvPr>
          <p:cNvSpPr>
            <a:spLocks noGrp="1"/>
          </p:cNvSpPr>
          <p:nvPr>
            <p:ph type="title"/>
          </p:nvPr>
        </p:nvSpPr>
        <p:spPr>
          <a:xfrm>
            <a:off x="275844" y="495220"/>
            <a:ext cx="11640312" cy="464900"/>
          </a:xfrm>
        </p:spPr>
        <p:txBody>
          <a:bodyPr>
            <a:normAutofit/>
          </a:bodyPr>
          <a:lstStyle/>
          <a:p>
            <a:r>
              <a:rPr lang="en-IN" sz="2400" b="1" dirty="0"/>
              <a:t>Three-Way Handshaking</a:t>
            </a:r>
          </a:p>
        </p:txBody>
      </p:sp>
      <p:pic>
        <p:nvPicPr>
          <p:cNvPr id="5" name="Picture 4">
            <a:extLst>
              <a:ext uri="{FF2B5EF4-FFF2-40B4-BE49-F238E27FC236}">
                <a16:creationId xmlns:a16="http://schemas.microsoft.com/office/drawing/2014/main" id="{68A4CEE9-9D9B-BE99-20C2-01BC3C19C21A}"/>
              </a:ext>
            </a:extLst>
          </p:cNvPr>
          <p:cNvPicPr>
            <a:picLocks noChangeAspect="1"/>
          </p:cNvPicPr>
          <p:nvPr/>
        </p:nvPicPr>
        <p:blipFill>
          <a:blip r:embed="rId2"/>
          <a:stretch>
            <a:fillRect/>
          </a:stretch>
        </p:blipFill>
        <p:spPr>
          <a:xfrm>
            <a:off x="379284" y="960120"/>
            <a:ext cx="5716716" cy="5148921"/>
          </a:xfrm>
          <a:prstGeom prst="rect">
            <a:avLst/>
          </a:prstGeom>
        </p:spPr>
      </p:pic>
      <p:sp>
        <p:nvSpPr>
          <p:cNvPr id="7" name="TextBox 6">
            <a:extLst>
              <a:ext uri="{FF2B5EF4-FFF2-40B4-BE49-F238E27FC236}">
                <a16:creationId xmlns:a16="http://schemas.microsoft.com/office/drawing/2014/main" id="{C5EDF87E-0830-95F9-BFB3-2E7F1F7C767D}"/>
              </a:ext>
            </a:extLst>
          </p:cNvPr>
          <p:cNvSpPr txBox="1"/>
          <p:nvPr/>
        </p:nvSpPr>
        <p:spPr>
          <a:xfrm>
            <a:off x="6199440" y="727670"/>
            <a:ext cx="4989095" cy="2031325"/>
          </a:xfrm>
          <a:prstGeom prst="rect">
            <a:avLst/>
          </a:prstGeom>
          <a:noFill/>
        </p:spPr>
        <p:txBody>
          <a:bodyPr wrap="square">
            <a:spAutoFit/>
          </a:bodyPr>
          <a:lstStyle/>
          <a:p>
            <a:pPr>
              <a:buNone/>
            </a:pPr>
            <a:r>
              <a:rPr lang="en-IN" b="1" dirty="0">
                <a:highlight>
                  <a:srgbClr val="FFFF00"/>
                </a:highlight>
              </a:rPr>
              <a:t>Step 1: Client Sends SYN</a:t>
            </a:r>
            <a:br>
              <a:rPr lang="en-IN" dirty="0"/>
            </a:br>
            <a:br>
              <a:rPr lang="en-IN" dirty="0"/>
            </a:br>
            <a:r>
              <a:rPr lang="en-IN" dirty="0"/>
              <a:t>The client wants to start a TCP connection with the server.</a:t>
            </a:r>
          </a:p>
          <a:p>
            <a:pPr>
              <a:buNone/>
            </a:pPr>
            <a:r>
              <a:rPr lang="en-IN" dirty="0"/>
              <a:t>So the client sends:</a:t>
            </a:r>
          </a:p>
          <a:p>
            <a:pPr rtl="0">
              <a:buNone/>
            </a:pPr>
            <a:r>
              <a:rPr lang="en-IN" dirty="0">
                <a:latin typeface="+mn-lt"/>
              </a:rPr>
              <a:t>SYN = 1</a:t>
            </a:r>
          </a:p>
          <a:p>
            <a:pPr rtl="0">
              <a:buNone/>
            </a:pPr>
            <a:r>
              <a:rPr lang="en-IN" dirty="0">
                <a:latin typeface="+mn-lt"/>
              </a:rPr>
              <a:t>SEQ = 1000</a:t>
            </a:r>
            <a:endParaRPr lang="en-IN" dirty="0">
              <a:latin typeface="Courier New" panose="02070309020205020404" pitchFamily="49" charset="0"/>
            </a:endParaRPr>
          </a:p>
        </p:txBody>
      </p:sp>
      <p:sp>
        <p:nvSpPr>
          <p:cNvPr id="10" name="TextBox 9">
            <a:extLst>
              <a:ext uri="{FF2B5EF4-FFF2-40B4-BE49-F238E27FC236}">
                <a16:creationId xmlns:a16="http://schemas.microsoft.com/office/drawing/2014/main" id="{268EA837-16A9-52C7-7447-F0BB34F39509}"/>
              </a:ext>
            </a:extLst>
          </p:cNvPr>
          <p:cNvSpPr txBox="1"/>
          <p:nvPr/>
        </p:nvSpPr>
        <p:spPr>
          <a:xfrm>
            <a:off x="6096000" y="2795916"/>
            <a:ext cx="5820156" cy="2308324"/>
          </a:xfrm>
          <a:prstGeom prst="rect">
            <a:avLst/>
          </a:prstGeom>
          <a:noFill/>
        </p:spPr>
        <p:txBody>
          <a:bodyPr wrap="square">
            <a:spAutoFit/>
          </a:bodyPr>
          <a:lstStyle/>
          <a:p>
            <a:pPr>
              <a:buNone/>
            </a:pPr>
            <a:r>
              <a:rPr lang="en-IN" b="1" dirty="0">
                <a:highlight>
                  <a:srgbClr val="FFFF00"/>
                </a:highlight>
              </a:rPr>
              <a:t>What is SYN doing?</a:t>
            </a:r>
          </a:p>
          <a:p>
            <a:pPr>
              <a:buNone/>
            </a:pPr>
            <a:r>
              <a:rPr lang="en-IN" b="1" dirty="0"/>
              <a:t>SYN</a:t>
            </a:r>
            <a:r>
              <a:rPr lang="en-IN" dirty="0"/>
              <a:t> stands for </a:t>
            </a:r>
            <a:r>
              <a:rPr lang="en-IN" b="1" dirty="0"/>
              <a:t>Synchronize</a:t>
            </a:r>
            <a:r>
              <a:rPr lang="en-IN" dirty="0"/>
              <a:t>.</a:t>
            </a:r>
          </a:p>
          <a:p>
            <a:pPr>
              <a:buNone/>
            </a:pPr>
            <a:r>
              <a:rPr lang="en-IN" dirty="0"/>
              <a:t>The client is basically saying:</a:t>
            </a:r>
          </a:p>
          <a:p>
            <a:pPr>
              <a:buNone/>
            </a:pPr>
            <a:r>
              <a:rPr lang="en-IN" dirty="0"/>
              <a:t>"I want to establish a TCP connection, and my initial sequence number is 1000.“ </a:t>
            </a:r>
          </a:p>
          <a:p>
            <a:pPr>
              <a:buNone/>
            </a:pPr>
            <a:r>
              <a:rPr lang="en-IN" dirty="0"/>
              <a:t>OR </a:t>
            </a:r>
            <a:br>
              <a:rPr lang="en-IN" dirty="0"/>
            </a:br>
            <a:r>
              <a:rPr lang="en-IN" dirty="0"/>
              <a:t>TCP SYN is mainly related to synchronizing the </a:t>
            </a:r>
            <a:r>
              <a:rPr lang="en-IN" b="1" dirty="0"/>
              <a:t>sequence-number state</a:t>
            </a:r>
            <a:r>
              <a:rPr lang="en-IN" dirty="0"/>
              <a:t> used for the connection.</a:t>
            </a:r>
          </a:p>
        </p:txBody>
      </p:sp>
      <p:sp>
        <p:nvSpPr>
          <p:cNvPr id="13" name="TextBox 12">
            <a:extLst>
              <a:ext uri="{FF2B5EF4-FFF2-40B4-BE49-F238E27FC236}">
                <a16:creationId xmlns:a16="http://schemas.microsoft.com/office/drawing/2014/main" id="{473F291F-A28E-69F2-3ED0-BA2662914D8A}"/>
              </a:ext>
            </a:extLst>
          </p:cNvPr>
          <p:cNvSpPr txBox="1"/>
          <p:nvPr/>
        </p:nvSpPr>
        <p:spPr>
          <a:xfrm>
            <a:off x="6096000" y="5103674"/>
            <a:ext cx="3721768" cy="1754326"/>
          </a:xfrm>
          <a:prstGeom prst="rect">
            <a:avLst/>
          </a:prstGeom>
          <a:noFill/>
        </p:spPr>
        <p:txBody>
          <a:bodyPr wrap="square">
            <a:spAutoFit/>
          </a:bodyPr>
          <a:lstStyle/>
          <a:p>
            <a:pPr>
              <a:buNone/>
            </a:pPr>
            <a:r>
              <a:rPr lang="en-IN" dirty="0"/>
              <a:t>So:</a:t>
            </a:r>
          </a:p>
          <a:p>
            <a:pPr rtl="0">
              <a:buNone/>
            </a:pPr>
            <a:r>
              <a:rPr lang="en-IN" dirty="0">
                <a:latin typeface="+mn-lt"/>
              </a:rPr>
              <a:t>SYN = Connection establishment request</a:t>
            </a:r>
          </a:p>
          <a:p>
            <a:pPr rtl="0">
              <a:buNone/>
            </a:pPr>
            <a:endParaRPr lang="en-IN" dirty="0">
              <a:latin typeface="+mn-lt"/>
            </a:endParaRPr>
          </a:p>
          <a:p>
            <a:pPr rtl="0">
              <a:buNone/>
            </a:pPr>
            <a:r>
              <a:rPr lang="en-IN" dirty="0">
                <a:latin typeface="+mn-lt"/>
              </a:rPr>
              <a:t>SEQ = Client's Initial Sequence Number</a:t>
            </a:r>
            <a:endParaRPr lang="en-IN" dirty="0">
              <a:latin typeface="Courier New" panose="02070309020205020404" pitchFamily="49" charset="0"/>
            </a:endParaRPr>
          </a:p>
        </p:txBody>
      </p:sp>
    </p:spTree>
    <p:extLst>
      <p:ext uri="{BB962C8B-B14F-4D97-AF65-F5344CB8AC3E}">
        <p14:creationId xmlns:p14="http://schemas.microsoft.com/office/powerpoint/2010/main" val="23961099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34BED-2DAE-51C2-610E-7B905A0A2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54A81C-94F9-6407-1ECF-E4C14F86093B}"/>
              </a:ext>
            </a:extLst>
          </p:cNvPr>
          <p:cNvSpPr>
            <a:spLocks noGrp="1"/>
          </p:cNvSpPr>
          <p:nvPr>
            <p:ph type="title"/>
          </p:nvPr>
        </p:nvSpPr>
        <p:spPr>
          <a:xfrm>
            <a:off x="275844" y="495220"/>
            <a:ext cx="11640312" cy="464900"/>
          </a:xfrm>
        </p:spPr>
        <p:txBody>
          <a:bodyPr>
            <a:normAutofit/>
          </a:bodyPr>
          <a:lstStyle/>
          <a:p>
            <a:r>
              <a:rPr lang="en-IN" sz="2400" b="1" dirty="0"/>
              <a:t>Three-Way Handshaking</a:t>
            </a:r>
          </a:p>
        </p:txBody>
      </p:sp>
      <p:pic>
        <p:nvPicPr>
          <p:cNvPr id="5" name="Picture 4">
            <a:extLst>
              <a:ext uri="{FF2B5EF4-FFF2-40B4-BE49-F238E27FC236}">
                <a16:creationId xmlns:a16="http://schemas.microsoft.com/office/drawing/2014/main" id="{23F6B386-6B9A-820C-6913-284A7D8D7D61}"/>
              </a:ext>
            </a:extLst>
          </p:cNvPr>
          <p:cNvPicPr>
            <a:picLocks noChangeAspect="1"/>
          </p:cNvPicPr>
          <p:nvPr/>
        </p:nvPicPr>
        <p:blipFill>
          <a:blip r:embed="rId2"/>
          <a:stretch>
            <a:fillRect/>
          </a:stretch>
        </p:blipFill>
        <p:spPr>
          <a:xfrm>
            <a:off x="379284" y="960120"/>
            <a:ext cx="5716716" cy="514892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D9E87ED-9765-E214-5779-616CD54F8912}"/>
                  </a:ext>
                </a:extLst>
              </p:cNvPr>
              <p:cNvSpPr txBox="1"/>
              <p:nvPr/>
            </p:nvSpPr>
            <p:spPr>
              <a:xfrm>
                <a:off x="6199440" y="1105088"/>
                <a:ext cx="5365354" cy="3970318"/>
              </a:xfrm>
              <a:prstGeom prst="rect">
                <a:avLst/>
              </a:prstGeom>
              <a:noFill/>
            </p:spPr>
            <p:txBody>
              <a:bodyPr wrap="square">
                <a:spAutoFit/>
              </a:bodyPr>
              <a:lstStyle/>
              <a:p>
                <a:pPr>
                  <a:buNone/>
                </a:pPr>
                <a:r>
                  <a:rPr lang="en-IN" b="1" dirty="0">
                    <a:highlight>
                      <a:srgbClr val="FFFF00"/>
                    </a:highlight>
                  </a:rPr>
                  <a:t>SYN consumes one Sequence Number</a:t>
                </a:r>
              </a:p>
              <a:p>
                <a:pPr>
                  <a:buNone/>
                </a:pPr>
                <a:endParaRPr lang="en-IN" dirty="0"/>
              </a:p>
              <a:p>
                <a:pPr>
                  <a:buNone/>
                </a:pPr>
                <a:r>
                  <a:rPr lang="en-IN" dirty="0"/>
                  <a:t>Even though the SYN does not need to carry normal application data, it consumes </a:t>
                </a:r>
                <a:r>
                  <a:rPr lang="en-IN" b="1" dirty="0"/>
                  <a:t>one sequence number</a:t>
                </a:r>
                <a:r>
                  <a:rPr lang="en-IN" dirty="0"/>
                  <a:t> in TCP's sequence space.</a:t>
                </a:r>
              </a:p>
              <a:p>
                <a:pPr>
                  <a:buNone/>
                </a:pPr>
                <a:endParaRPr lang="en-IN" dirty="0"/>
              </a:p>
              <a:p>
                <a:pPr>
                  <a:buNone/>
                </a:pPr>
                <a:r>
                  <a:rPr lang="en-IN" dirty="0"/>
                  <a:t>So if:</a:t>
                </a:r>
              </a:p>
              <a:p>
                <a:pPr rtl="0">
                  <a:buNone/>
                </a:pPr>
                <a:r>
                  <a:rPr lang="en-IN" dirty="0">
                    <a:latin typeface="+mn-lt"/>
                  </a:rPr>
                  <a:t>SYN SEQ = 1000</a:t>
                </a:r>
              </a:p>
              <a:p>
                <a:pPr>
                  <a:buNone/>
                </a:pPr>
                <a:r>
                  <a:rPr lang="en-IN" dirty="0"/>
                  <a:t>the next sequence number becomes:</a:t>
                </a:r>
              </a:p>
              <a:p>
                <a:pPr>
                  <a:buNone/>
                </a:pPr>
                <a14:m>
                  <m:oMathPara xmlns:m="http://schemas.openxmlformats.org/officeDocument/2006/math">
                    <m:oMath>
                      <m:r>
                        <a:rPr lang="en-IN">
                          <a:latin typeface="Cambria Math" panose="02040503050406030204" pitchFamily="18" charset="0"/>
                        </a:rPr>
                        <m:t>1000</m:t>
                      </m:r>
                      <m:r>
                        <a:rPr lang="en-IN" i="0">
                          <a:latin typeface="Cambria Math" panose="02040503050406030204" pitchFamily="18" charset="0"/>
                        </a:rPr>
                        <m:t>+1=1001</m:t>
                      </m:r>
                    </m:oMath>
                  </m:oMathPara>
                </a14:m>
                <a:endParaRPr lang="en-IN" dirty="0"/>
              </a:p>
              <a:p>
                <a:pPr>
                  <a:buNone/>
                </a:pPr>
                <a:r>
                  <a:rPr lang="en-IN" dirty="0"/>
                  <a:t>Therefore:</a:t>
                </a:r>
              </a:p>
              <a:p>
                <a:pPr rtl="0">
                  <a:buNone/>
                </a:pPr>
                <a:r>
                  <a:rPr lang="en-IN" dirty="0">
                    <a:latin typeface="+mn-lt"/>
                  </a:rPr>
                  <a:t>Client SYN     = SEQ 1000</a:t>
                </a:r>
              </a:p>
              <a:p>
                <a:pPr rtl="0">
                  <a:buNone/>
                </a:pPr>
                <a:endParaRPr lang="en-IN" dirty="0">
                  <a:latin typeface="+mn-lt"/>
                </a:endParaRPr>
              </a:p>
              <a:p>
                <a:pPr rtl="0">
                  <a:buNone/>
                </a:pPr>
                <a:r>
                  <a:rPr lang="en-IN" dirty="0">
                    <a:latin typeface="+mn-lt"/>
                  </a:rPr>
                  <a:t>Client next SEQ = 1001</a:t>
                </a:r>
                <a:endParaRPr lang="en-IN" dirty="0">
                  <a:latin typeface="Courier New" panose="02070309020205020404" pitchFamily="49" charset="0"/>
                </a:endParaRPr>
              </a:p>
            </p:txBody>
          </p:sp>
        </mc:Choice>
        <mc:Fallback xmlns="">
          <p:sp>
            <p:nvSpPr>
              <p:cNvPr id="8" name="TextBox 7">
                <a:extLst>
                  <a:ext uri="{FF2B5EF4-FFF2-40B4-BE49-F238E27FC236}">
                    <a16:creationId xmlns:a16="http://schemas.microsoft.com/office/drawing/2014/main" id="{7D9E87ED-9765-E214-5779-616CD54F8912}"/>
                  </a:ext>
                </a:extLst>
              </p:cNvPr>
              <p:cNvSpPr txBox="1">
                <a:spLocks noRot="1" noChangeAspect="1" noMove="1" noResize="1" noEditPoints="1" noAdjustHandles="1" noChangeArrowheads="1" noChangeShapeType="1" noTextEdit="1"/>
              </p:cNvSpPr>
              <p:nvPr/>
            </p:nvSpPr>
            <p:spPr>
              <a:xfrm>
                <a:off x="6199440" y="1105088"/>
                <a:ext cx="5365354" cy="3970318"/>
              </a:xfrm>
              <a:prstGeom prst="rect">
                <a:avLst/>
              </a:prstGeom>
              <a:blipFill>
                <a:blip r:embed="rId3"/>
                <a:stretch>
                  <a:fillRect l="-1023" t="-767" r="-341" b="-1227"/>
                </a:stretch>
              </a:blipFill>
            </p:spPr>
            <p:txBody>
              <a:bodyPr/>
              <a:lstStyle/>
              <a:p>
                <a:r>
                  <a:rPr lang="en-IN">
                    <a:noFill/>
                  </a:rPr>
                  <a:t> </a:t>
                </a:r>
              </a:p>
            </p:txBody>
          </p:sp>
        </mc:Fallback>
      </mc:AlternateContent>
    </p:spTree>
    <p:extLst>
      <p:ext uri="{BB962C8B-B14F-4D97-AF65-F5344CB8AC3E}">
        <p14:creationId xmlns:p14="http://schemas.microsoft.com/office/powerpoint/2010/main" val="37463373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8C818-81E3-5330-8CFD-D0B8B3BDB1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9E149F-119F-5961-C526-A7875955F930}"/>
              </a:ext>
            </a:extLst>
          </p:cNvPr>
          <p:cNvSpPr>
            <a:spLocks noGrp="1"/>
          </p:cNvSpPr>
          <p:nvPr>
            <p:ph type="title"/>
          </p:nvPr>
        </p:nvSpPr>
        <p:spPr>
          <a:xfrm>
            <a:off x="275844" y="495220"/>
            <a:ext cx="11640312" cy="464900"/>
          </a:xfrm>
        </p:spPr>
        <p:txBody>
          <a:bodyPr>
            <a:normAutofit/>
          </a:bodyPr>
          <a:lstStyle/>
          <a:p>
            <a:r>
              <a:rPr lang="en-IN" sz="2400" b="1" dirty="0"/>
              <a:t>Three-Way Handshaking</a:t>
            </a:r>
          </a:p>
        </p:txBody>
      </p:sp>
      <p:pic>
        <p:nvPicPr>
          <p:cNvPr id="5" name="Picture 4">
            <a:extLst>
              <a:ext uri="{FF2B5EF4-FFF2-40B4-BE49-F238E27FC236}">
                <a16:creationId xmlns:a16="http://schemas.microsoft.com/office/drawing/2014/main" id="{757C14C2-87DD-5143-A5D7-DF057E635581}"/>
              </a:ext>
            </a:extLst>
          </p:cNvPr>
          <p:cNvPicPr>
            <a:picLocks noChangeAspect="1"/>
          </p:cNvPicPr>
          <p:nvPr/>
        </p:nvPicPr>
        <p:blipFill>
          <a:blip r:embed="rId2"/>
          <a:stretch>
            <a:fillRect/>
          </a:stretch>
        </p:blipFill>
        <p:spPr>
          <a:xfrm>
            <a:off x="379284" y="960120"/>
            <a:ext cx="5716716" cy="5148921"/>
          </a:xfrm>
          <a:prstGeom prst="rect">
            <a:avLst/>
          </a:prstGeom>
        </p:spPr>
      </p:pic>
      <p:sp>
        <p:nvSpPr>
          <p:cNvPr id="4" name="TextBox 3">
            <a:extLst>
              <a:ext uri="{FF2B5EF4-FFF2-40B4-BE49-F238E27FC236}">
                <a16:creationId xmlns:a16="http://schemas.microsoft.com/office/drawing/2014/main" id="{5E751DFD-60EE-143C-9295-6E14F1C43700}"/>
              </a:ext>
            </a:extLst>
          </p:cNvPr>
          <p:cNvSpPr txBox="1"/>
          <p:nvPr/>
        </p:nvSpPr>
        <p:spPr>
          <a:xfrm>
            <a:off x="6849979" y="960120"/>
            <a:ext cx="3882189" cy="5355312"/>
          </a:xfrm>
          <a:prstGeom prst="rect">
            <a:avLst/>
          </a:prstGeom>
          <a:noFill/>
        </p:spPr>
        <p:txBody>
          <a:bodyPr wrap="square">
            <a:spAutoFit/>
          </a:bodyPr>
          <a:lstStyle/>
          <a:p>
            <a:pPr>
              <a:buNone/>
            </a:pPr>
            <a:r>
              <a:rPr lang="en-IN" b="1" dirty="0">
                <a:highlight>
                  <a:srgbClr val="FFFF00"/>
                </a:highlight>
              </a:rPr>
              <a:t>Step 2 — Server sends SYN + ACK</a:t>
            </a:r>
          </a:p>
          <a:p>
            <a:pPr>
              <a:buNone/>
            </a:pPr>
            <a:r>
              <a:rPr lang="en-IN" dirty="0"/>
              <a:t>The server receives:</a:t>
            </a:r>
          </a:p>
          <a:p>
            <a:pPr rtl="0">
              <a:buNone/>
            </a:pPr>
            <a:r>
              <a:rPr lang="en-IN" dirty="0">
                <a:latin typeface="+mn-lt"/>
              </a:rPr>
              <a:t>SYN</a:t>
            </a:r>
          </a:p>
          <a:p>
            <a:pPr rtl="0">
              <a:buNone/>
            </a:pPr>
            <a:r>
              <a:rPr lang="en-IN" dirty="0">
                <a:latin typeface="+mn-lt"/>
              </a:rPr>
              <a:t>SEQ = 1000</a:t>
            </a:r>
          </a:p>
          <a:p>
            <a:pPr rtl="0">
              <a:buNone/>
            </a:pPr>
            <a:endParaRPr lang="en-IN" dirty="0">
              <a:latin typeface="+mn-lt"/>
            </a:endParaRPr>
          </a:p>
          <a:p>
            <a:pPr>
              <a:buNone/>
            </a:pPr>
            <a:r>
              <a:rPr lang="en-IN" dirty="0"/>
              <a:t>Now the server has two things to do.</a:t>
            </a:r>
          </a:p>
          <a:p>
            <a:pPr>
              <a:buNone/>
            </a:pPr>
            <a:endParaRPr lang="en-IN" dirty="0"/>
          </a:p>
          <a:p>
            <a:pPr>
              <a:buNone/>
            </a:pPr>
            <a:r>
              <a:rPr lang="en-IN" dirty="0"/>
              <a:t>It needs to:</a:t>
            </a:r>
          </a:p>
          <a:p>
            <a:pPr>
              <a:buNone/>
            </a:pPr>
            <a:r>
              <a:rPr lang="en-IN" b="1" dirty="0"/>
              <a:t>Acknowledge the client's SYN</a:t>
            </a:r>
            <a:endParaRPr lang="en-IN" dirty="0"/>
          </a:p>
          <a:p>
            <a:pPr>
              <a:buNone/>
            </a:pPr>
            <a:r>
              <a:rPr lang="en-IN" dirty="0"/>
              <a:t>and</a:t>
            </a:r>
          </a:p>
          <a:p>
            <a:pPr>
              <a:buNone/>
            </a:pPr>
            <a:r>
              <a:rPr lang="en-IN" b="1" dirty="0"/>
              <a:t>Send its own SYN</a:t>
            </a:r>
            <a:endParaRPr lang="en-IN" dirty="0"/>
          </a:p>
          <a:p>
            <a:pPr>
              <a:buNone/>
            </a:pPr>
            <a:endParaRPr lang="en-IN" dirty="0"/>
          </a:p>
          <a:p>
            <a:pPr>
              <a:buNone/>
            </a:pPr>
            <a:r>
              <a:rPr lang="en-IN" dirty="0"/>
              <a:t>TCP can do both in one segment.</a:t>
            </a:r>
          </a:p>
          <a:p>
            <a:pPr>
              <a:buNone/>
            </a:pPr>
            <a:r>
              <a:rPr lang="en-IN" dirty="0"/>
              <a:t>Therefore:</a:t>
            </a:r>
          </a:p>
          <a:p>
            <a:pPr rtl="0">
              <a:buNone/>
            </a:pPr>
            <a:r>
              <a:rPr lang="en-IN" dirty="0">
                <a:latin typeface="+mn-lt"/>
              </a:rPr>
              <a:t>SYN = 1</a:t>
            </a:r>
          </a:p>
          <a:p>
            <a:pPr rtl="0">
              <a:buNone/>
            </a:pPr>
            <a:r>
              <a:rPr lang="en-IN" dirty="0">
                <a:latin typeface="+mn-lt"/>
              </a:rPr>
              <a:t>ACK = 1</a:t>
            </a:r>
          </a:p>
          <a:p>
            <a:pPr>
              <a:buNone/>
            </a:pPr>
            <a:endParaRPr lang="en-IN" dirty="0"/>
          </a:p>
          <a:p>
            <a:pPr>
              <a:buNone/>
            </a:pPr>
            <a:r>
              <a:rPr lang="en-IN" dirty="0"/>
              <a:t>This is why the second step is called:</a:t>
            </a:r>
          </a:p>
          <a:p>
            <a:pPr>
              <a:buNone/>
            </a:pPr>
            <a:r>
              <a:rPr lang="en-IN" dirty="0"/>
              <a:t>SYN + ACK​</a:t>
            </a:r>
          </a:p>
        </p:txBody>
      </p:sp>
    </p:spTree>
    <p:extLst>
      <p:ext uri="{BB962C8B-B14F-4D97-AF65-F5344CB8AC3E}">
        <p14:creationId xmlns:p14="http://schemas.microsoft.com/office/powerpoint/2010/main" val="6930365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8542E-EE48-D65A-E2CE-FBDAD3A0A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9F8AF-9F06-CBE2-32EC-18CC2733CAC4}"/>
              </a:ext>
            </a:extLst>
          </p:cNvPr>
          <p:cNvSpPr>
            <a:spLocks noGrp="1"/>
          </p:cNvSpPr>
          <p:nvPr>
            <p:ph type="title"/>
          </p:nvPr>
        </p:nvSpPr>
        <p:spPr>
          <a:xfrm>
            <a:off x="275844" y="495220"/>
            <a:ext cx="11640312" cy="464900"/>
          </a:xfrm>
        </p:spPr>
        <p:txBody>
          <a:bodyPr>
            <a:normAutofit/>
          </a:bodyPr>
          <a:lstStyle/>
          <a:p>
            <a:r>
              <a:rPr lang="en-IN" sz="2400" b="1" dirty="0"/>
              <a:t>Three-Way Handshaking</a:t>
            </a:r>
          </a:p>
        </p:txBody>
      </p:sp>
      <p:pic>
        <p:nvPicPr>
          <p:cNvPr id="5" name="Picture 4">
            <a:extLst>
              <a:ext uri="{FF2B5EF4-FFF2-40B4-BE49-F238E27FC236}">
                <a16:creationId xmlns:a16="http://schemas.microsoft.com/office/drawing/2014/main" id="{8735F6BB-858D-AA67-07D2-704B17737B2F}"/>
              </a:ext>
            </a:extLst>
          </p:cNvPr>
          <p:cNvPicPr>
            <a:picLocks noChangeAspect="1"/>
          </p:cNvPicPr>
          <p:nvPr/>
        </p:nvPicPr>
        <p:blipFill>
          <a:blip r:embed="rId2"/>
          <a:stretch>
            <a:fillRect/>
          </a:stretch>
        </p:blipFill>
        <p:spPr>
          <a:xfrm>
            <a:off x="379284" y="960120"/>
            <a:ext cx="5716716" cy="5148921"/>
          </a:xfrm>
          <a:prstGeom prst="rect">
            <a:avLst/>
          </a:prstGeom>
        </p:spPr>
      </p:pic>
      <p:sp>
        <p:nvSpPr>
          <p:cNvPr id="6" name="TextBox 5">
            <a:extLst>
              <a:ext uri="{FF2B5EF4-FFF2-40B4-BE49-F238E27FC236}">
                <a16:creationId xmlns:a16="http://schemas.microsoft.com/office/drawing/2014/main" id="{220013CD-C518-A8DE-03E8-FB00B4F6DDC3}"/>
              </a:ext>
            </a:extLst>
          </p:cNvPr>
          <p:cNvSpPr txBox="1"/>
          <p:nvPr/>
        </p:nvSpPr>
        <p:spPr>
          <a:xfrm>
            <a:off x="6427727" y="727670"/>
            <a:ext cx="5156702" cy="3139321"/>
          </a:xfrm>
          <a:prstGeom prst="rect">
            <a:avLst/>
          </a:prstGeom>
          <a:noFill/>
        </p:spPr>
        <p:txBody>
          <a:bodyPr wrap="square">
            <a:spAutoFit/>
          </a:bodyPr>
          <a:lstStyle/>
          <a:p>
            <a:pPr>
              <a:buNone/>
            </a:pPr>
            <a:r>
              <a:rPr lang="en-IN" b="1" dirty="0"/>
              <a:t>What ACK should the Server send?</a:t>
            </a:r>
          </a:p>
          <a:p>
            <a:pPr>
              <a:buNone/>
            </a:pPr>
            <a:endParaRPr lang="en-IN" dirty="0"/>
          </a:p>
          <a:p>
            <a:pPr>
              <a:buNone/>
            </a:pPr>
            <a:r>
              <a:rPr lang="en-IN" dirty="0"/>
              <a:t>Client sent:</a:t>
            </a:r>
          </a:p>
          <a:p>
            <a:pPr rtl="0">
              <a:buNone/>
            </a:pPr>
            <a:r>
              <a:rPr lang="en-IN" dirty="0">
                <a:latin typeface="+mn-lt"/>
              </a:rPr>
              <a:t>SEQ = 1000</a:t>
            </a:r>
          </a:p>
          <a:p>
            <a:pPr>
              <a:buNone/>
            </a:pPr>
            <a:endParaRPr lang="en-IN" dirty="0"/>
          </a:p>
          <a:p>
            <a:pPr>
              <a:buNone/>
            </a:pPr>
            <a:r>
              <a:rPr lang="en-IN" dirty="0"/>
              <a:t>SYN consumes one sequence number.</a:t>
            </a:r>
          </a:p>
          <a:p>
            <a:pPr>
              <a:buNone/>
            </a:pPr>
            <a:endParaRPr lang="en-IN" dirty="0"/>
          </a:p>
          <a:p>
            <a:pPr>
              <a:buNone/>
            </a:pPr>
            <a:r>
              <a:rPr lang="en-IN" dirty="0"/>
              <a:t>Therefore the server expects:</a:t>
            </a:r>
          </a:p>
          <a:p>
            <a:pPr rtl="0">
              <a:buNone/>
            </a:pPr>
            <a:r>
              <a:rPr lang="en-IN" dirty="0">
                <a:latin typeface="+mn-lt"/>
              </a:rPr>
              <a:t>1001</a:t>
            </a:r>
          </a:p>
          <a:p>
            <a:pPr>
              <a:buNone/>
            </a:pPr>
            <a:r>
              <a:rPr lang="en-IN" dirty="0"/>
              <a:t>So:</a:t>
            </a:r>
          </a:p>
          <a:p>
            <a:pPr>
              <a:buNone/>
            </a:pPr>
            <a:r>
              <a:rPr lang="en-IN" dirty="0"/>
              <a:t>ACK=1001​</a:t>
            </a:r>
          </a:p>
        </p:txBody>
      </p:sp>
      <p:sp>
        <p:nvSpPr>
          <p:cNvPr id="8" name="TextBox 7">
            <a:extLst>
              <a:ext uri="{FF2B5EF4-FFF2-40B4-BE49-F238E27FC236}">
                <a16:creationId xmlns:a16="http://schemas.microsoft.com/office/drawing/2014/main" id="{FA3E9405-A9D7-C8E1-C089-3880B62750A7}"/>
              </a:ext>
            </a:extLst>
          </p:cNvPr>
          <p:cNvSpPr txBox="1"/>
          <p:nvPr/>
        </p:nvSpPr>
        <p:spPr>
          <a:xfrm>
            <a:off x="6199440" y="4099441"/>
            <a:ext cx="5864223" cy="923330"/>
          </a:xfrm>
          <a:prstGeom prst="rect">
            <a:avLst/>
          </a:prstGeom>
          <a:noFill/>
        </p:spPr>
        <p:txBody>
          <a:bodyPr wrap="square">
            <a:spAutoFit/>
          </a:bodyPr>
          <a:lstStyle/>
          <a:p>
            <a:pPr>
              <a:buNone/>
            </a:pPr>
            <a:r>
              <a:rPr lang="en-IN" dirty="0"/>
              <a:t>So the server is basically saying:</a:t>
            </a:r>
          </a:p>
          <a:p>
            <a:pPr>
              <a:buNone/>
            </a:pPr>
            <a:r>
              <a:rPr lang="en-IN" dirty="0"/>
              <a:t>"I received your SYN with sequence number 1000. Now I expect 1001 from you."</a:t>
            </a:r>
          </a:p>
        </p:txBody>
      </p:sp>
    </p:spTree>
    <p:extLst>
      <p:ext uri="{BB962C8B-B14F-4D97-AF65-F5344CB8AC3E}">
        <p14:creationId xmlns:p14="http://schemas.microsoft.com/office/powerpoint/2010/main" val="643134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EB7F1-39E6-DA9B-643B-A6C0ED2E28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F230F0-993E-8DA5-E26F-73C81F9B9313}"/>
              </a:ext>
            </a:extLst>
          </p:cNvPr>
          <p:cNvSpPr txBox="1"/>
          <p:nvPr/>
        </p:nvSpPr>
        <p:spPr>
          <a:xfrm>
            <a:off x="208546" y="680518"/>
            <a:ext cx="6096000" cy="2585323"/>
          </a:xfrm>
          <a:prstGeom prst="rect">
            <a:avLst/>
          </a:prstGeom>
          <a:noFill/>
        </p:spPr>
        <p:txBody>
          <a:bodyPr wrap="square">
            <a:spAutoFit/>
          </a:bodyPr>
          <a:lstStyle/>
          <a:p>
            <a:pPr>
              <a:buNone/>
            </a:pPr>
            <a:r>
              <a:rPr lang="en-IN" dirty="0"/>
              <a:t>So the server is communicating two things at once:</a:t>
            </a:r>
          </a:p>
          <a:p>
            <a:pPr rtl="0">
              <a:buNone/>
            </a:pPr>
            <a:r>
              <a:rPr lang="en-IN" dirty="0">
                <a:latin typeface="+mn-lt"/>
              </a:rPr>
              <a:t>ACK = 1001</a:t>
            </a:r>
          </a:p>
          <a:p>
            <a:pPr rtl="0">
              <a:buNone/>
            </a:pPr>
            <a:r>
              <a:rPr lang="en-IN" dirty="0">
                <a:latin typeface="+mn-lt"/>
              </a:rPr>
              <a:t>     ↓</a:t>
            </a:r>
          </a:p>
          <a:p>
            <a:pPr rtl="0">
              <a:buNone/>
            </a:pPr>
            <a:r>
              <a:rPr lang="en-IN" dirty="0">
                <a:latin typeface="+mn-lt"/>
              </a:rPr>
              <a:t>"I received your SYN."</a:t>
            </a:r>
          </a:p>
          <a:p>
            <a:pPr rtl="0">
              <a:buNone/>
            </a:pPr>
            <a:endParaRPr lang="en-IN" dirty="0">
              <a:latin typeface="+mn-lt"/>
            </a:endParaRPr>
          </a:p>
          <a:p>
            <a:pPr rtl="0">
              <a:buNone/>
            </a:pPr>
            <a:endParaRPr lang="en-IN" dirty="0">
              <a:latin typeface="+mn-lt"/>
            </a:endParaRPr>
          </a:p>
          <a:p>
            <a:pPr rtl="0">
              <a:buNone/>
            </a:pPr>
            <a:r>
              <a:rPr lang="en-IN" dirty="0">
                <a:latin typeface="+mn-lt"/>
              </a:rPr>
              <a:t>SEQ = 5000 + SYN</a:t>
            </a:r>
          </a:p>
          <a:p>
            <a:pPr rtl="0">
              <a:buNone/>
            </a:pPr>
            <a:r>
              <a:rPr lang="en-IN" dirty="0">
                <a:latin typeface="+mn-lt"/>
              </a:rPr>
              <a:t>     ↓</a:t>
            </a:r>
          </a:p>
          <a:p>
            <a:pPr rtl="0">
              <a:buNone/>
            </a:pPr>
            <a:r>
              <a:rPr lang="en-IN" dirty="0">
                <a:latin typeface="+mn-lt"/>
              </a:rPr>
              <a:t>"This is my starting sequence number."</a:t>
            </a:r>
            <a:endParaRPr lang="en-IN" dirty="0">
              <a:latin typeface="Courier New" panose="02070309020205020404" pitchFamily="49"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1300155-A0F8-2B2E-AC74-3E756E3D9502}"/>
                  </a:ext>
                </a:extLst>
              </p:cNvPr>
              <p:cNvSpPr txBox="1"/>
              <p:nvPr/>
            </p:nvSpPr>
            <p:spPr>
              <a:xfrm>
                <a:off x="208546" y="3592160"/>
                <a:ext cx="6096000" cy="2904962"/>
              </a:xfrm>
              <a:prstGeom prst="rect">
                <a:avLst/>
              </a:prstGeom>
              <a:noFill/>
            </p:spPr>
            <p:txBody>
              <a:bodyPr wrap="square">
                <a:spAutoFit/>
              </a:bodyPr>
              <a:lstStyle/>
              <a:p>
                <a:pPr>
                  <a:buNone/>
                </a:pPr>
                <a:r>
                  <a:rPr lang="en-IN" b="1" dirty="0">
                    <a:highlight>
                      <a:srgbClr val="FFFF00"/>
                    </a:highlight>
                  </a:rPr>
                  <a:t>Server's SYN also consumes one Sequence Number</a:t>
                </a:r>
              </a:p>
              <a:p>
                <a:pPr>
                  <a:buNone/>
                </a:pPr>
                <a:r>
                  <a:rPr lang="en-IN" dirty="0"/>
                  <a:t>Exactly like the client's SYN:</a:t>
                </a:r>
              </a:p>
              <a:p>
                <a:pPr rtl="0">
                  <a:buNone/>
                </a:pPr>
                <a:r>
                  <a:rPr lang="en-IN" dirty="0">
                    <a:latin typeface="+mn-lt"/>
                  </a:rPr>
                  <a:t>Server SYN SEQ = 5000</a:t>
                </a:r>
              </a:p>
              <a:p>
                <a:pPr>
                  <a:buNone/>
                </a:pPr>
                <a:r>
                  <a:rPr lang="en-IN" dirty="0"/>
                  <a:t>therefore the server's next sequence number becomes:</a:t>
                </a:r>
              </a:p>
              <a:p>
                <a:pPr>
                  <a:buNone/>
                </a:pPr>
                <a14:m>
                  <m:oMathPara xmlns:m="http://schemas.openxmlformats.org/officeDocument/2006/math">
                    <m:oMath>
                      <m:r>
                        <a:rPr lang="en-IN">
                          <a:latin typeface="Cambria Math" panose="02040503050406030204" pitchFamily="18" charset="0"/>
                        </a:rPr>
                        <m:t>5000</m:t>
                      </m:r>
                      <m:r>
                        <a:rPr lang="en-IN" i="0">
                          <a:latin typeface="Cambria Math" panose="02040503050406030204" pitchFamily="18" charset="0"/>
                        </a:rPr>
                        <m:t>+1</m:t>
                      </m:r>
                    </m:oMath>
                  </m:oMathPara>
                </a14:m>
                <a:endParaRPr lang="en-IN" dirty="0"/>
              </a:p>
              <a:p>
                <a:pPr>
                  <a:buNone/>
                </a:pPr>
                <a14:m>
                  <m:oMathPara xmlns:m="http://schemas.openxmlformats.org/officeDocument/2006/math">
                    <m:oMath>
                      <m:r>
                        <a:rPr lang="en-IN">
                          <a:latin typeface="Cambria Math" panose="02040503050406030204" pitchFamily="18" charset="0"/>
                        </a:rPr>
                        <m:t>=</m:t>
                      </m:r>
                      <m:borderBox>
                        <m:borderBoxPr>
                          <m:ctrlPr>
                            <a:rPr lang="en-IN" i="0">
                              <a:latin typeface="Cambria Math" panose="02040503050406030204" pitchFamily="18" charset="0"/>
                            </a:rPr>
                          </m:ctrlPr>
                        </m:borderBoxPr>
                        <m:e>
                          <m:r>
                            <a:rPr lang="en-IN" i="0">
                              <a:latin typeface="Cambria Math" panose="02040503050406030204" pitchFamily="18" charset="0"/>
                            </a:rPr>
                            <m:t>5001</m:t>
                          </m:r>
                        </m:e>
                      </m:borderBox>
                    </m:oMath>
                  </m:oMathPara>
                </a14:m>
                <a:endParaRPr lang="en-IN" dirty="0"/>
              </a:p>
              <a:p>
                <a:pPr>
                  <a:buNone/>
                </a:pPr>
                <a:r>
                  <a:rPr lang="en-IN" dirty="0"/>
                  <a:t>So:</a:t>
                </a:r>
              </a:p>
              <a:p>
                <a:pPr rtl="0">
                  <a:buNone/>
                </a:pPr>
                <a:r>
                  <a:rPr lang="en-IN" dirty="0">
                    <a:latin typeface="+mn-lt"/>
                  </a:rPr>
                  <a:t>Server SYN      = SEQ 5000</a:t>
                </a:r>
              </a:p>
              <a:p>
                <a:pPr rtl="0">
                  <a:buNone/>
                </a:pPr>
                <a:endParaRPr lang="en-IN" dirty="0">
                  <a:latin typeface="+mn-lt"/>
                </a:endParaRPr>
              </a:p>
              <a:p>
                <a:pPr rtl="0">
                  <a:buNone/>
                </a:pPr>
                <a:r>
                  <a:rPr lang="en-IN" dirty="0">
                    <a:latin typeface="+mn-lt"/>
                  </a:rPr>
                  <a:t>Server next SEQ = 5001</a:t>
                </a:r>
                <a:endParaRPr lang="en-IN" dirty="0">
                  <a:latin typeface="Courier New" panose="02070309020205020404" pitchFamily="49" charset="0"/>
                </a:endParaRPr>
              </a:p>
            </p:txBody>
          </p:sp>
        </mc:Choice>
        <mc:Fallback xmlns="">
          <p:sp>
            <p:nvSpPr>
              <p:cNvPr id="6" name="TextBox 5">
                <a:extLst>
                  <a:ext uri="{FF2B5EF4-FFF2-40B4-BE49-F238E27FC236}">
                    <a16:creationId xmlns:a16="http://schemas.microsoft.com/office/drawing/2014/main" id="{B1300155-A0F8-2B2E-AC74-3E756E3D9502}"/>
                  </a:ext>
                </a:extLst>
              </p:cNvPr>
              <p:cNvSpPr txBox="1">
                <a:spLocks noRot="1" noChangeAspect="1" noMove="1" noResize="1" noEditPoints="1" noAdjustHandles="1" noChangeArrowheads="1" noChangeShapeType="1" noTextEdit="1"/>
              </p:cNvSpPr>
              <p:nvPr/>
            </p:nvSpPr>
            <p:spPr>
              <a:xfrm>
                <a:off x="208546" y="3592160"/>
                <a:ext cx="6096000" cy="2904962"/>
              </a:xfrm>
              <a:prstGeom prst="rect">
                <a:avLst/>
              </a:prstGeom>
              <a:blipFill>
                <a:blip r:embed="rId2"/>
                <a:stretch>
                  <a:fillRect l="-800" t="-1048" b="-20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9893356-B929-D0C5-67F4-D3FCC0F41EAA}"/>
                  </a:ext>
                </a:extLst>
              </p:cNvPr>
              <p:cNvSpPr txBox="1"/>
              <p:nvPr/>
            </p:nvSpPr>
            <p:spPr>
              <a:xfrm>
                <a:off x="5871411" y="865183"/>
                <a:ext cx="5454315" cy="5632311"/>
              </a:xfrm>
              <a:prstGeom prst="rect">
                <a:avLst/>
              </a:prstGeom>
              <a:noFill/>
            </p:spPr>
            <p:txBody>
              <a:bodyPr wrap="square">
                <a:spAutoFit/>
              </a:bodyPr>
              <a:lstStyle/>
              <a:p>
                <a:pPr>
                  <a:buNone/>
                </a:pPr>
                <a:r>
                  <a:rPr lang="en-IN" b="1" dirty="0">
                    <a:highlight>
                      <a:srgbClr val="FFFF00"/>
                    </a:highlight>
                  </a:rPr>
                  <a:t>Step 3 — Client sends ACK</a:t>
                </a:r>
              </a:p>
              <a:p>
                <a:pPr>
                  <a:buNone/>
                </a:pPr>
                <a:r>
                  <a:rPr lang="en-IN" dirty="0"/>
                  <a:t>The client receives:</a:t>
                </a:r>
              </a:p>
              <a:p>
                <a:pPr rtl="0">
                  <a:buNone/>
                </a:pPr>
                <a:r>
                  <a:rPr lang="en-IN" dirty="0">
                    <a:latin typeface="+mn-lt"/>
                  </a:rPr>
                  <a:t>SYN + ACK</a:t>
                </a:r>
              </a:p>
              <a:p>
                <a:pPr rtl="0">
                  <a:buNone/>
                </a:pPr>
                <a:endParaRPr lang="en-IN" dirty="0">
                  <a:latin typeface="+mn-lt"/>
                </a:endParaRPr>
              </a:p>
              <a:p>
                <a:pPr rtl="0">
                  <a:buNone/>
                </a:pPr>
                <a:r>
                  <a:rPr lang="en-IN" dirty="0">
                    <a:latin typeface="+mn-lt"/>
                  </a:rPr>
                  <a:t>SEQ = 5000</a:t>
                </a:r>
              </a:p>
              <a:p>
                <a:pPr rtl="0">
                  <a:buNone/>
                </a:pPr>
                <a:r>
                  <a:rPr lang="en-IN" dirty="0">
                    <a:latin typeface="+mn-lt"/>
                  </a:rPr>
                  <a:t>ACK = 1001</a:t>
                </a:r>
              </a:p>
              <a:p>
                <a:pPr>
                  <a:buNone/>
                </a:pPr>
                <a:endParaRPr lang="en-IN" dirty="0"/>
              </a:p>
              <a:p>
                <a:pPr>
                  <a:buNone/>
                </a:pPr>
                <a:r>
                  <a:rPr lang="en-IN" dirty="0"/>
                  <a:t>The client now knows: </a:t>
                </a:r>
                <a:r>
                  <a:rPr lang="en-IN" b="1" dirty="0"/>
                  <a:t>"The server received my SYN."</a:t>
                </a:r>
              </a:p>
              <a:p>
                <a:pPr>
                  <a:buNone/>
                </a:pPr>
                <a:r>
                  <a:rPr lang="en-IN" dirty="0"/>
                  <a:t>But the server also sent its own SYN.</a:t>
                </a:r>
              </a:p>
              <a:p>
                <a:pPr>
                  <a:buNone/>
                </a:pPr>
                <a:endParaRPr lang="en-IN" dirty="0"/>
              </a:p>
              <a:p>
                <a:pPr>
                  <a:buNone/>
                </a:pPr>
                <a:r>
                  <a:rPr lang="en-IN" dirty="0"/>
                  <a:t>So the client must acknowledge the server's SYN.</a:t>
                </a:r>
              </a:p>
              <a:p>
                <a:pPr>
                  <a:buNone/>
                </a:pPr>
                <a:endParaRPr lang="en-IN" dirty="0"/>
              </a:p>
              <a:p>
                <a:pPr>
                  <a:buNone/>
                </a:pPr>
                <a:r>
                  <a:rPr lang="en-IN" dirty="0"/>
                  <a:t>Server's SYN:</a:t>
                </a:r>
              </a:p>
              <a:p>
                <a:pPr rtl="0">
                  <a:buNone/>
                </a:pPr>
                <a:r>
                  <a:rPr lang="en-IN" dirty="0">
                    <a:latin typeface="+mn-lt"/>
                  </a:rPr>
                  <a:t>SEQ = 5000</a:t>
                </a:r>
              </a:p>
              <a:p>
                <a:pPr>
                  <a:buNone/>
                </a:pPr>
                <a:endParaRPr lang="en-IN" dirty="0"/>
              </a:p>
              <a:p>
                <a:pPr>
                  <a:buNone/>
                </a:pPr>
                <a:r>
                  <a:rPr lang="en-IN" dirty="0"/>
                  <a:t>Since SYN consumes one sequence number:</a:t>
                </a:r>
              </a:p>
              <a:p>
                <a:pPr>
                  <a:buNone/>
                </a:pPr>
                <a14:m>
                  <m:oMathPara xmlns:m="http://schemas.openxmlformats.org/officeDocument/2006/math">
                    <m:oMath>
                      <m:r>
                        <a:rPr lang="en-IN">
                          <a:latin typeface="Cambria Math" panose="02040503050406030204" pitchFamily="18" charset="0"/>
                        </a:rPr>
                        <m:t>5000</m:t>
                      </m:r>
                      <m:r>
                        <a:rPr lang="en-IN" i="0">
                          <a:latin typeface="Cambria Math" panose="02040503050406030204" pitchFamily="18" charset="0"/>
                        </a:rPr>
                        <m:t>+1=5001</m:t>
                      </m:r>
                    </m:oMath>
                  </m:oMathPara>
                </a14:m>
                <a:endParaRPr lang="en-IN" dirty="0"/>
              </a:p>
              <a:p>
                <a:pPr>
                  <a:buNone/>
                </a:pPr>
                <a:endParaRPr lang="en-IN" dirty="0"/>
              </a:p>
              <a:p>
                <a:pPr>
                  <a:buNone/>
                </a:pPr>
                <a:r>
                  <a:rPr lang="en-IN" dirty="0"/>
                  <a:t>Therefore the client sends:</a:t>
                </a:r>
              </a:p>
              <a:p>
                <a:pPr rtl="0">
                  <a:buNone/>
                </a:pPr>
                <a:r>
                  <a:rPr lang="en-IN" dirty="0">
                    <a:latin typeface="+mn-lt"/>
                  </a:rPr>
                  <a:t>ACK = 5001</a:t>
                </a:r>
                <a:endParaRPr lang="en-IN" dirty="0">
                  <a:latin typeface="Courier New" panose="02070309020205020404" pitchFamily="49" charset="0"/>
                </a:endParaRPr>
              </a:p>
            </p:txBody>
          </p:sp>
        </mc:Choice>
        <mc:Fallback xmlns="">
          <p:sp>
            <p:nvSpPr>
              <p:cNvPr id="8" name="TextBox 7">
                <a:extLst>
                  <a:ext uri="{FF2B5EF4-FFF2-40B4-BE49-F238E27FC236}">
                    <a16:creationId xmlns:a16="http://schemas.microsoft.com/office/drawing/2014/main" id="{C9893356-B929-D0C5-67F4-D3FCC0F41EAA}"/>
                  </a:ext>
                </a:extLst>
              </p:cNvPr>
              <p:cNvSpPr txBox="1">
                <a:spLocks noRot="1" noChangeAspect="1" noMove="1" noResize="1" noEditPoints="1" noAdjustHandles="1" noChangeArrowheads="1" noChangeShapeType="1" noTextEdit="1"/>
              </p:cNvSpPr>
              <p:nvPr/>
            </p:nvSpPr>
            <p:spPr>
              <a:xfrm>
                <a:off x="5871411" y="865183"/>
                <a:ext cx="5454315" cy="5632311"/>
              </a:xfrm>
              <a:prstGeom prst="rect">
                <a:avLst/>
              </a:prstGeom>
              <a:blipFill>
                <a:blip r:embed="rId3"/>
                <a:stretch>
                  <a:fillRect l="-894" t="-649" b="-649"/>
                </a:stretch>
              </a:blipFill>
            </p:spPr>
            <p:txBody>
              <a:bodyPr/>
              <a:lstStyle/>
              <a:p>
                <a:r>
                  <a:rPr lang="en-IN">
                    <a:noFill/>
                  </a:rPr>
                  <a:t> </a:t>
                </a:r>
              </a:p>
            </p:txBody>
          </p:sp>
        </mc:Fallback>
      </mc:AlternateContent>
    </p:spTree>
    <p:extLst>
      <p:ext uri="{BB962C8B-B14F-4D97-AF65-F5344CB8AC3E}">
        <p14:creationId xmlns:p14="http://schemas.microsoft.com/office/powerpoint/2010/main" val="39355322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EEC15-6B66-DF55-CA80-0D763585ED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E32F4-B9AB-6E74-EC0A-E4182C98BEF7}"/>
              </a:ext>
            </a:extLst>
          </p:cNvPr>
          <p:cNvSpPr>
            <a:spLocks noGrp="1"/>
          </p:cNvSpPr>
          <p:nvPr>
            <p:ph type="title"/>
          </p:nvPr>
        </p:nvSpPr>
        <p:spPr>
          <a:xfrm>
            <a:off x="275844" y="495220"/>
            <a:ext cx="11640312" cy="464900"/>
          </a:xfrm>
        </p:spPr>
        <p:txBody>
          <a:bodyPr>
            <a:normAutofit/>
          </a:bodyPr>
          <a:lstStyle/>
          <a:p>
            <a:r>
              <a:rPr lang="en-IN" sz="2400" b="1" dirty="0"/>
              <a:t>Three-Way Handshaking</a:t>
            </a:r>
          </a:p>
        </p:txBody>
      </p:sp>
      <p:sp>
        <p:nvSpPr>
          <p:cNvPr id="4" name="TextBox 3">
            <a:extLst>
              <a:ext uri="{FF2B5EF4-FFF2-40B4-BE49-F238E27FC236}">
                <a16:creationId xmlns:a16="http://schemas.microsoft.com/office/drawing/2014/main" id="{25279397-2BC1-B1ED-A00A-9A3AAEE702E2}"/>
              </a:ext>
            </a:extLst>
          </p:cNvPr>
          <p:cNvSpPr txBox="1"/>
          <p:nvPr/>
        </p:nvSpPr>
        <p:spPr>
          <a:xfrm>
            <a:off x="275844" y="960120"/>
            <a:ext cx="11338640" cy="923330"/>
          </a:xfrm>
          <a:prstGeom prst="rect">
            <a:avLst/>
          </a:prstGeom>
          <a:noFill/>
        </p:spPr>
        <p:txBody>
          <a:bodyPr wrap="square">
            <a:spAutoFit/>
          </a:bodyPr>
          <a:lstStyle/>
          <a:p>
            <a:r>
              <a:rPr lang="en-IN" dirty="0"/>
              <a:t>TCP Three-Way Handshake is the process used to establish a TCP connection between two endpoints. It uses three steps: SYN, SYN+ACK, and ACK. During this process, both sides exchange and acknowledge their initial sequence numbers before normal data communication begins.</a:t>
            </a:r>
          </a:p>
        </p:txBody>
      </p:sp>
    </p:spTree>
    <p:extLst>
      <p:ext uri="{BB962C8B-B14F-4D97-AF65-F5344CB8AC3E}">
        <p14:creationId xmlns:p14="http://schemas.microsoft.com/office/powerpoint/2010/main" val="29146735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FB720-CFB5-29B0-6BB4-C614E4486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67C2B-E5E2-1FC8-EFCE-25E28C69E658}"/>
              </a:ext>
            </a:extLst>
          </p:cNvPr>
          <p:cNvSpPr>
            <a:spLocks noGrp="1"/>
          </p:cNvSpPr>
          <p:nvPr>
            <p:ph type="title"/>
          </p:nvPr>
        </p:nvSpPr>
        <p:spPr>
          <a:xfrm>
            <a:off x="275844" y="495220"/>
            <a:ext cx="11640312" cy="464900"/>
          </a:xfrm>
        </p:spPr>
        <p:txBody>
          <a:bodyPr>
            <a:normAutofit/>
          </a:bodyPr>
          <a:lstStyle/>
          <a:p>
            <a:r>
              <a:rPr lang="en-IN" sz="2400" b="1" dirty="0"/>
              <a:t>TCP Connection Release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216005E-3424-D15E-5E32-D79E84DDD6EB}"/>
                  </a:ext>
                </a:extLst>
              </p:cNvPr>
              <p:cNvSpPr txBox="1"/>
              <p:nvPr/>
            </p:nvSpPr>
            <p:spPr>
              <a:xfrm>
                <a:off x="433137" y="1212848"/>
                <a:ext cx="9833810" cy="2643929"/>
              </a:xfrm>
              <a:prstGeom prst="rect">
                <a:avLst/>
              </a:prstGeom>
              <a:noFill/>
            </p:spPr>
            <p:txBody>
              <a:bodyPr wrap="square">
                <a:spAutoFit/>
              </a:bodyPr>
              <a:lstStyle/>
              <a:p>
                <a:pPr>
                  <a:buNone/>
                </a:pPr>
                <a:r>
                  <a:rPr lang="en-IN" dirty="0"/>
                  <a:t>We know how TCP starts:</a:t>
                </a:r>
              </a:p>
              <a:p>
                <a:pPr>
                  <a:buNone/>
                </a:pPr>
                <a14:m>
                  <m:oMathPara xmlns:m="http://schemas.openxmlformats.org/officeDocument/2006/math">
                    <m:oMath>
                      <m:borderBox>
                        <m:borderBoxPr>
                          <m:ctrlPr>
                            <a:rPr lang="en-IN" b="0" i="0"/>
                          </m:ctrlPr>
                        </m:borderBoxPr>
                        <m:e>
                          <m:r>
                            <m:rPr>
                              <m:nor/>
                            </m:rPr>
                            <a:rPr lang="en-IN" b="0" i="0"/>
                            <m:t>SYN</m:t>
                          </m:r>
                          <m:r>
                            <a:rPr lang="en-IN" b="0" i="0">
                              <a:latin typeface="Cambria Math" panose="02040503050406030204" pitchFamily="18" charset="0"/>
                            </a:rPr>
                            <m:t>→</m:t>
                          </m:r>
                          <m:r>
                            <m:rPr>
                              <m:nor/>
                            </m:rPr>
                            <a:rPr lang="en-IN" b="0" i="0">
                              <a:latin typeface="+mn-lt"/>
                            </a:rPr>
                            <m:t>SYN + ACK</m:t>
                          </m:r>
                          <m:r>
                            <a:rPr lang="en-IN" b="0" i="0">
                              <a:latin typeface="Cambria Math" panose="02040503050406030204" pitchFamily="18" charset="0"/>
                            </a:rPr>
                            <m:t>→</m:t>
                          </m:r>
                          <m:r>
                            <m:rPr>
                              <m:nor/>
                            </m:rPr>
                            <a:rPr lang="en-IN" b="0" i="0">
                              <a:latin typeface="+mn-lt"/>
                            </a:rPr>
                            <m:t>ACK</m:t>
                          </m:r>
                        </m:e>
                      </m:borderBox>
                    </m:oMath>
                  </m:oMathPara>
                </a14:m>
                <a:endParaRPr lang="en-IN" b="0" dirty="0"/>
              </a:p>
              <a:p>
                <a:pPr>
                  <a:buNone/>
                </a:pPr>
                <a:r>
                  <a:rPr lang="en-IN" dirty="0"/>
                  <a:t>Now suppose the client and server have finished their work. TCP needs to </a:t>
                </a:r>
                <a:r>
                  <a:rPr lang="en-IN" b="1" dirty="0"/>
                  <a:t>close the connection properly</a:t>
                </a:r>
                <a:r>
                  <a:rPr lang="en-IN" dirty="0"/>
                  <a:t>.</a:t>
                </a:r>
              </a:p>
              <a:p>
                <a:pPr>
                  <a:buNone/>
                </a:pPr>
                <a:endParaRPr lang="en-IN" dirty="0"/>
              </a:p>
              <a:p>
                <a:pPr>
                  <a:buNone/>
                </a:pPr>
                <a:r>
                  <a:rPr lang="en-IN" dirty="0"/>
                  <a:t>A normal TCP connection release often uses:</a:t>
                </a:r>
              </a:p>
              <a:p>
                <a:pPr>
                  <a:buNone/>
                </a:pPr>
                <a14:m>
                  <m:oMathPara xmlns:m="http://schemas.openxmlformats.org/officeDocument/2006/math">
                    <m:oMath>
                      <m:borderBox>
                        <m:borderBoxPr>
                          <m:ctrlPr>
                            <a:rPr lang="en-IN" b="0" i="0"/>
                          </m:ctrlPr>
                        </m:borderBoxPr>
                        <m:e>
                          <m:r>
                            <m:rPr>
                              <m:nor/>
                            </m:rPr>
                            <a:rPr lang="en-IN" b="0" i="0"/>
                            <m:t>FIN</m:t>
                          </m:r>
                          <m:r>
                            <a:rPr lang="en-IN" b="0" i="0">
                              <a:latin typeface="Cambria Math" panose="02040503050406030204" pitchFamily="18" charset="0"/>
                            </a:rPr>
                            <m:t>→</m:t>
                          </m:r>
                          <m:r>
                            <m:rPr>
                              <m:nor/>
                            </m:rPr>
                            <a:rPr lang="en-IN" b="0" i="0">
                              <a:latin typeface="+mn-lt"/>
                            </a:rPr>
                            <m:t>ACK</m:t>
                          </m:r>
                          <m:r>
                            <a:rPr lang="en-IN" b="0" i="0">
                              <a:latin typeface="Cambria Math" panose="02040503050406030204" pitchFamily="18" charset="0"/>
                            </a:rPr>
                            <m:t>→</m:t>
                          </m:r>
                          <m:r>
                            <m:rPr>
                              <m:nor/>
                            </m:rPr>
                            <a:rPr lang="en-IN" b="0" i="0">
                              <a:latin typeface="+mn-lt"/>
                            </a:rPr>
                            <m:t>FIN</m:t>
                          </m:r>
                          <m:r>
                            <a:rPr lang="en-IN" b="0" i="0">
                              <a:latin typeface="Cambria Math" panose="02040503050406030204" pitchFamily="18" charset="0"/>
                            </a:rPr>
                            <m:t>→</m:t>
                          </m:r>
                          <m:r>
                            <m:rPr>
                              <m:nor/>
                            </m:rPr>
                            <a:rPr lang="en-IN" b="0" i="0">
                              <a:latin typeface="+mn-lt"/>
                            </a:rPr>
                            <m:t>ACK</m:t>
                          </m:r>
                        </m:e>
                      </m:borderBox>
                    </m:oMath>
                  </m:oMathPara>
                </a14:m>
                <a:endParaRPr lang="en-IN" b="0" dirty="0"/>
              </a:p>
              <a:p>
                <a:pPr>
                  <a:buNone/>
                </a:pPr>
                <a:endParaRPr lang="en-IN" b="0" dirty="0"/>
              </a:p>
              <a:p>
                <a:pPr>
                  <a:buNone/>
                </a:pPr>
                <a:r>
                  <a:rPr lang="en-IN" dirty="0"/>
                  <a:t>Let's understand </a:t>
                </a:r>
                <a:r>
                  <a:rPr lang="en-IN" b="1" dirty="0"/>
                  <a:t>why four messages are needed?</a:t>
                </a:r>
                <a:endParaRPr lang="en-IN" dirty="0"/>
              </a:p>
            </p:txBody>
          </p:sp>
        </mc:Choice>
        <mc:Fallback xmlns="">
          <p:sp>
            <p:nvSpPr>
              <p:cNvPr id="6" name="TextBox 5">
                <a:extLst>
                  <a:ext uri="{FF2B5EF4-FFF2-40B4-BE49-F238E27FC236}">
                    <a16:creationId xmlns:a16="http://schemas.microsoft.com/office/drawing/2014/main" id="{B216005E-3424-D15E-5E32-D79E84DDD6EB}"/>
                  </a:ext>
                </a:extLst>
              </p:cNvPr>
              <p:cNvSpPr txBox="1">
                <a:spLocks noRot="1" noChangeAspect="1" noMove="1" noResize="1" noEditPoints="1" noAdjustHandles="1" noChangeArrowheads="1" noChangeShapeType="1" noTextEdit="1"/>
              </p:cNvSpPr>
              <p:nvPr/>
            </p:nvSpPr>
            <p:spPr>
              <a:xfrm>
                <a:off x="433137" y="1212848"/>
                <a:ext cx="9833810" cy="2643929"/>
              </a:xfrm>
              <a:prstGeom prst="rect">
                <a:avLst/>
              </a:prstGeom>
              <a:blipFill>
                <a:blip r:embed="rId2"/>
                <a:stretch>
                  <a:fillRect l="-496" t="-1382" b="-2765"/>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31107959-F62E-61ED-326F-35E11934FF7F}"/>
              </a:ext>
            </a:extLst>
          </p:cNvPr>
          <p:cNvSpPr txBox="1"/>
          <p:nvPr/>
        </p:nvSpPr>
        <p:spPr>
          <a:xfrm>
            <a:off x="433136" y="4109505"/>
            <a:ext cx="11309685" cy="2308324"/>
          </a:xfrm>
          <a:prstGeom prst="rect">
            <a:avLst/>
          </a:prstGeom>
          <a:noFill/>
        </p:spPr>
        <p:txBody>
          <a:bodyPr wrap="square">
            <a:spAutoFit/>
          </a:bodyPr>
          <a:lstStyle/>
          <a:p>
            <a:pPr>
              <a:buNone/>
            </a:pPr>
            <a:r>
              <a:rPr lang="en-IN" dirty="0"/>
              <a:t>After some time, the client has no more data to send.</a:t>
            </a:r>
          </a:p>
          <a:p>
            <a:pPr>
              <a:buNone/>
            </a:pPr>
            <a:r>
              <a:rPr lang="en-IN" dirty="0"/>
              <a:t>It needs a way to tell the server: </a:t>
            </a:r>
            <a:r>
              <a:rPr lang="en-IN" b="1" dirty="0"/>
              <a:t>"I have finished sending data."</a:t>
            </a:r>
            <a:endParaRPr lang="en-IN" dirty="0"/>
          </a:p>
          <a:p>
            <a:pPr>
              <a:buNone/>
            </a:pPr>
            <a:endParaRPr lang="en-IN" dirty="0"/>
          </a:p>
          <a:p>
            <a:pPr>
              <a:buNone/>
            </a:pPr>
            <a:r>
              <a:rPr lang="en-IN" dirty="0"/>
              <a:t>TCP uses the </a:t>
            </a:r>
            <a:r>
              <a:rPr lang="en-IN" b="1" dirty="0"/>
              <a:t>FIN flag</a:t>
            </a:r>
            <a:r>
              <a:rPr lang="en-IN" dirty="0"/>
              <a:t> for this.</a:t>
            </a:r>
          </a:p>
          <a:p>
            <a:pPr>
              <a:buNone/>
            </a:pPr>
            <a:r>
              <a:rPr lang="en-IN" b="1" dirty="0"/>
              <a:t>FIN = Finish</a:t>
            </a:r>
            <a:endParaRPr lang="en-IN" dirty="0"/>
          </a:p>
          <a:p>
            <a:pPr>
              <a:buNone/>
            </a:pPr>
            <a:endParaRPr lang="en-IN" dirty="0"/>
          </a:p>
          <a:p>
            <a:pPr>
              <a:buNone/>
            </a:pPr>
            <a:r>
              <a:rPr lang="en-IN" dirty="0"/>
              <a:t>But there is an important point:</a:t>
            </a:r>
          </a:p>
          <a:p>
            <a:pPr>
              <a:buNone/>
            </a:pPr>
            <a:r>
              <a:rPr lang="en-IN" dirty="0"/>
              <a:t>One side finishing its data does </a:t>
            </a:r>
            <a:r>
              <a:rPr lang="en-IN" b="1" dirty="0"/>
              <a:t>not automatically mean the other side has also finished sending its data</a:t>
            </a:r>
            <a:r>
              <a:rPr lang="en-IN" dirty="0"/>
              <a:t>.</a:t>
            </a:r>
          </a:p>
        </p:txBody>
      </p:sp>
    </p:spTree>
    <p:extLst>
      <p:ext uri="{BB962C8B-B14F-4D97-AF65-F5344CB8AC3E}">
        <p14:creationId xmlns:p14="http://schemas.microsoft.com/office/powerpoint/2010/main" val="24513814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B6CED-A45B-59C7-EC2C-1FA93A852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A96EC-E438-4737-1882-CDD0E3E0828C}"/>
              </a:ext>
            </a:extLst>
          </p:cNvPr>
          <p:cNvSpPr>
            <a:spLocks noGrp="1"/>
          </p:cNvSpPr>
          <p:nvPr>
            <p:ph type="title"/>
          </p:nvPr>
        </p:nvSpPr>
        <p:spPr>
          <a:xfrm>
            <a:off x="275844" y="495220"/>
            <a:ext cx="11640312" cy="464900"/>
          </a:xfrm>
        </p:spPr>
        <p:txBody>
          <a:bodyPr>
            <a:normAutofit/>
          </a:bodyPr>
          <a:lstStyle/>
          <a:p>
            <a:r>
              <a:rPr lang="en-IN" sz="2400" b="1" dirty="0"/>
              <a:t>TCP Connection Release</a:t>
            </a:r>
          </a:p>
        </p:txBody>
      </p:sp>
      <p:pic>
        <p:nvPicPr>
          <p:cNvPr id="4" name="Picture 3">
            <a:extLst>
              <a:ext uri="{FF2B5EF4-FFF2-40B4-BE49-F238E27FC236}">
                <a16:creationId xmlns:a16="http://schemas.microsoft.com/office/drawing/2014/main" id="{642FE33B-91D6-DF7F-E8F6-4831B0FBE0B0}"/>
              </a:ext>
            </a:extLst>
          </p:cNvPr>
          <p:cNvPicPr>
            <a:picLocks noChangeAspect="1"/>
          </p:cNvPicPr>
          <p:nvPr/>
        </p:nvPicPr>
        <p:blipFill>
          <a:blip r:embed="rId2"/>
          <a:stretch>
            <a:fillRect/>
          </a:stretch>
        </p:blipFill>
        <p:spPr>
          <a:xfrm>
            <a:off x="275844" y="1118865"/>
            <a:ext cx="5477639" cy="5490482"/>
          </a:xfrm>
          <a:prstGeom prst="rect">
            <a:avLst/>
          </a:prstGeom>
        </p:spPr>
      </p:pic>
      <p:sp>
        <p:nvSpPr>
          <p:cNvPr id="7" name="TextBox 6">
            <a:extLst>
              <a:ext uri="{FF2B5EF4-FFF2-40B4-BE49-F238E27FC236}">
                <a16:creationId xmlns:a16="http://schemas.microsoft.com/office/drawing/2014/main" id="{950FBBC9-9370-DF56-511E-0F989F849242}"/>
              </a:ext>
            </a:extLst>
          </p:cNvPr>
          <p:cNvSpPr txBox="1"/>
          <p:nvPr/>
        </p:nvSpPr>
        <p:spPr>
          <a:xfrm>
            <a:off x="6096000" y="498455"/>
            <a:ext cx="3593431" cy="923330"/>
          </a:xfrm>
          <a:prstGeom prst="rect">
            <a:avLst/>
          </a:prstGeom>
          <a:noFill/>
        </p:spPr>
        <p:txBody>
          <a:bodyPr wrap="square">
            <a:spAutoFit/>
          </a:bodyPr>
          <a:lstStyle/>
          <a:p>
            <a:pPr>
              <a:buNone/>
            </a:pPr>
            <a:r>
              <a:rPr lang="en-IN" dirty="0"/>
              <a:t>Suppose:</a:t>
            </a:r>
          </a:p>
          <a:p>
            <a:pPr rtl="0">
              <a:buNone/>
            </a:pPr>
            <a:r>
              <a:rPr lang="en-IN" dirty="0">
                <a:latin typeface="+mn-lt"/>
              </a:rPr>
              <a:t>Client Sequence Number = 3000</a:t>
            </a:r>
          </a:p>
          <a:p>
            <a:pPr rtl="0">
              <a:buNone/>
            </a:pPr>
            <a:r>
              <a:rPr lang="en-IN" dirty="0">
                <a:latin typeface="+mn-lt"/>
              </a:rPr>
              <a:t>Server Sequence Number = 7000</a:t>
            </a:r>
            <a:endParaRPr lang="en-IN" dirty="0">
              <a:latin typeface="Courier New" panose="02070309020205020404" pitchFamily="49" charset="0"/>
            </a:endParaRPr>
          </a:p>
        </p:txBody>
      </p:sp>
      <p:sp>
        <p:nvSpPr>
          <p:cNvPr id="10" name="TextBox 9">
            <a:extLst>
              <a:ext uri="{FF2B5EF4-FFF2-40B4-BE49-F238E27FC236}">
                <a16:creationId xmlns:a16="http://schemas.microsoft.com/office/drawing/2014/main" id="{82B110A6-150D-C792-68F2-96D3AFDE9ED3}"/>
              </a:ext>
            </a:extLst>
          </p:cNvPr>
          <p:cNvSpPr txBox="1"/>
          <p:nvPr/>
        </p:nvSpPr>
        <p:spPr>
          <a:xfrm>
            <a:off x="6096000" y="1465898"/>
            <a:ext cx="4315326" cy="1754326"/>
          </a:xfrm>
          <a:prstGeom prst="rect">
            <a:avLst/>
          </a:prstGeom>
          <a:noFill/>
        </p:spPr>
        <p:txBody>
          <a:bodyPr wrap="square">
            <a:spAutoFit/>
          </a:bodyPr>
          <a:lstStyle/>
          <a:p>
            <a:pPr>
              <a:buNone/>
            </a:pPr>
            <a:r>
              <a:rPr lang="en-IN" b="1" dirty="0">
                <a:highlight>
                  <a:srgbClr val="FFFF00"/>
                </a:highlight>
              </a:rPr>
              <a:t>Step 1 — Client Sends FIN</a:t>
            </a:r>
          </a:p>
          <a:p>
            <a:pPr>
              <a:buNone/>
            </a:pPr>
            <a:r>
              <a:rPr lang="en-IN" dirty="0"/>
              <a:t>Suppose the client has finished sending data.</a:t>
            </a:r>
          </a:p>
          <a:p>
            <a:pPr>
              <a:buNone/>
            </a:pPr>
            <a:r>
              <a:rPr lang="en-IN" dirty="0"/>
              <a:t>It sends a TCP segment with:</a:t>
            </a:r>
          </a:p>
          <a:p>
            <a:pPr rtl="0">
              <a:buNone/>
            </a:pPr>
            <a:r>
              <a:rPr lang="en-IN" dirty="0">
                <a:latin typeface="+mn-lt"/>
              </a:rPr>
              <a:t>FIN Flag = 1</a:t>
            </a:r>
          </a:p>
          <a:p>
            <a:pPr rtl="0">
              <a:buNone/>
            </a:pPr>
            <a:r>
              <a:rPr lang="en-IN" dirty="0">
                <a:latin typeface="+mn-lt"/>
              </a:rPr>
              <a:t>Sequence Number = 3000</a:t>
            </a:r>
            <a:endParaRPr lang="en-IN" dirty="0">
              <a:latin typeface="Courier New" panose="02070309020205020404" pitchFamily="49"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8B9E658-E623-F02B-D402-6BB4615A530A}"/>
                  </a:ext>
                </a:extLst>
              </p:cNvPr>
              <p:cNvSpPr txBox="1"/>
              <p:nvPr/>
            </p:nvSpPr>
            <p:spPr>
              <a:xfrm>
                <a:off x="6096000" y="3429000"/>
                <a:ext cx="5477639" cy="3416320"/>
              </a:xfrm>
              <a:prstGeom prst="rect">
                <a:avLst/>
              </a:prstGeom>
              <a:noFill/>
            </p:spPr>
            <p:txBody>
              <a:bodyPr wrap="square">
                <a:spAutoFit/>
              </a:bodyPr>
              <a:lstStyle/>
              <a:p>
                <a:pPr>
                  <a:buNone/>
                </a:pPr>
                <a:r>
                  <a:rPr lang="en-IN" b="1" dirty="0"/>
                  <a:t>FIN Consumes One Sequence Number</a:t>
                </a:r>
              </a:p>
              <a:p>
                <a:pPr>
                  <a:buNone/>
                </a:pPr>
                <a:r>
                  <a:rPr lang="en-IN" dirty="0"/>
                  <a:t>This is similar to SYN.</a:t>
                </a:r>
              </a:p>
              <a:p>
                <a:pPr>
                  <a:buNone/>
                </a:pPr>
                <a:r>
                  <a:rPr lang="en-IN" dirty="0"/>
                  <a:t>Remember:</a:t>
                </a:r>
              </a:p>
              <a:p>
                <a:pPr rtl="0">
                  <a:buNone/>
                </a:pPr>
                <a:r>
                  <a:rPr lang="en-IN" dirty="0">
                    <a:latin typeface="+mn-lt"/>
                  </a:rPr>
                  <a:t>SYN consumes 1 sequence number.</a:t>
                </a:r>
              </a:p>
              <a:p>
                <a:pPr>
                  <a:buNone/>
                </a:pPr>
                <a:r>
                  <a:rPr lang="en-IN" dirty="0"/>
                  <a:t>Similarly:</a:t>
                </a:r>
              </a:p>
              <a:p>
                <a:pPr rtl="0">
                  <a:buNone/>
                </a:pPr>
                <a:r>
                  <a:rPr lang="en-IN" dirty="0">
                    <a:latin typeface="+mn-lt"/>
                  </a:rPr>
                  <a:t>FIN consumes 1 sequence number.</a:t>
                </a:r>
              </a:p>
              <a:p>
                <a:pPr>
                  <a:buNone/>
                </a:pPr>
                <a:r>
                  <a:rPr lang="en-IN" dirty="0"/>
                  <a:t>So if:</a:t>
                </a:r>
              </a:p>
              <a:p>
                <a:pPr rtl="0">
                  <a:buNone/>
                </a:pPr>
                <a:r>
                  <a:rPr lang="en-IN" dirty="0">
                    <a:latin typeface="+mn-lt"/>
                  </a:rPr>
                  <a:t>FIN Sequence Number = 3000</a:t>
                </a:r>
              </a:p>
              <a:p>
                <a:pPr>
                  <a:buNone/>
                </a:pPr>
                <a:r>
                  <a:rPr lang="en-IN" dirty="0"/>
                  <a:t>then the next sequence number is:</a:t>
                </a:r>
              </a:p>
              <a:p>
                <a:pPr>
                  <a:buNone/>
                </a:pPr>
                <a14:m>
                  <m:oMathPara xmlns:m="http://schemas.openxmlformats.org/officeDocument/2006/math">
                    <m:oMath>
                      <m:r>
                        <a:rPr lang="en-IN">
                          <a:latin typeface="Cambria Math" panose="02040503050406030204" pitchFamily="18" charset="0"/>
                        </a:rPr>
                        <m:t>3000</m:t>
                      </m:r>
                      <m:r>
                        <a:rPr lang="en-IN" i="0">
                          <a:latin typeface="Cambria Math" panose="02040503050406030204" pitchFamily="18" charset="0"/>
                        </a:rPr>
                        <m:t>+1=3001</m:t>
                      </m:r>
                    </m:oMath>
                  </m:oMathPara>
                </a14:m>
                <a:endParaRPr lang="en-IN" dirty="0"/>
              </a:p>
              <a:p>
                <a:pPr>
                  <a:buNone/>
                </a:pPr>
                <a:r>
                  <a:rPr lang="en-IN" dirty="0"/>
                  <a:t>Therefore, the server will acknowledge:</a:t>
                </a:r>
              </a:p>
              <a:p>
                <a:pPr>
                  <a:buNone/>
                </a:pPr>
                <a:r>
                  <a:rPr lang="en-IN" dirty="0"/>
                  <a:t>3001​</a:t>
                </a:r>
              </a:p>
            </p:txBody>
          </p:sp>
        </mc:Choice>
        <mc:Fallback xmlns="">
          <p:sp>
            <p:nvSpPr>
              <p:cNvPr id="12" name="TextBox 11">
                <a:extLst>
                  <a:ext uri="{FF2B5EF4-FFF2-40B4-BE49-F238E27FC236}">
                    <a16:creationId xmlns:a16="http://schemas.microsoft.com/office/drawing/2014/main" id="{B8B9E658-E623-F02B-D402-6BB4615A530A}"/>
                  </a:ext>
                </a:extLst>
              </p:cNvPr>
              <p:cNvSpPr txBox="1">
                <a:spLocks noRot="1" noChangeAspect="1" noMove="1" noResize="1" noEditPoints="1" noAdjustHandles="1" noChangeArrowheads="1" noChangeShapeType="1" noTextEdit="1"/>
              </p:cNvSpPr>
              <p:nvPr/>
            </p:nvSpPr>
            <p:spPr>
              <a:xfrm>
                <a:off x="6096000" y="3429000"/>
                <a:ext cx="5477639" cy="3416320"/>
              </a:xfrm>
              <a:prstGeom prst="rect">
                <a:avLst/>
              </a:prstGeom>
              <a:blipFill>
                <a:blip r:embed="rId3"/>
                <a:stretch>
                  <a:fillRect l="-890" t="-1071" b="-1786"/>
                </a:stretch>
              </a:blipFill>
            </p:spPr>
            <p:txBody>
              <a:bodyPr/>
              <a:lstStyle/>
              <a:p>
                <a:r>
                  <a:rPr lang="en-IN">
                    <a:noFill/>
                  </a:rPr>
                  <a:t> </a:t>
                </a:r>
              </a:p>
            </p:txBody>
          </p:sp>
        </mc:Fallback>
      </mc:AlternateContent>
    </p:spTree>
    <p:extLst>
      <p:ext uri="{BB962C8B-B14F-4D97-AF65-F5344CB8AC3E}">
        <p14:creationId xmlns:p14="http://schemas.microsoft.com/office/powerpoint/2010/main" val="624677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EC107-287A-3B40-57C8-A705B5564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CA503-BCD8-E5B8-92D6-19AAC9B6DFDE}"/>
              </a:ext>
            </a:extLst>
          </p:cNvPr>
          <p:cNvSpPr>
            <a:spLocks noGrp="1"/>
          </p:cNvSpPr>
          <p:nvPr>
            <p:ph type="title"/>
          </p:nvPr>
        </p:nvSpPr>
        <p:spPr>
          <a:xfrm>
            <a:off x="275844" y="495220"/>
            <a:ext cx="11640312" cy="464900"/>
          </a:xfrm>
        </p:spPr>
        <p:txBody>
          <a:bodyPr>
            <a:normAutofit/>
          </a:bodyPr>
          <a:lstStyle/>
          <a:p>
            <a:r>
              <a:rPr lang="en-IN" sz="2400" b="1" dirty="0"/>
              <a:t>TCP Connection Release</a:t>
            </a:r>
          </a:p>
        </p:txBody>
      </p:sp>
      <p:sp>
        <p:nvSpPr>
          <p:cNvPr id="6" name="TextBox 5">
            <a:extLst>
              <a:ext uri="{FF2B5EF4-FFF2-40B4-BE49-F238E27FC236}">
                <a16:creationId xmlns:a16="http://schemas.microsoft.com/office/drawing/2014/main" id="{D8BE5D97-8B11-D6C8-74EC-5E1047D81FF1}"/>
              </a:ext>
            </a:extLst>
          </p:cNvPr>
          <p:cNvSpPr txBox="1"/>
          <p:nvPr/>
        </p:nvSpPr>
        <p:spPr>
          <a:xfrm>
            <a:off x="275844" y="960120"/>
            <a:ext cx="3593432" cy="2031325"/>
          </a:xfrm>
          <a:prstGeom prst="rect">
            <a:avLst/>
          </a:prstGeom>
          <a:noFill/>
        </p:spPr>
        <p:txBody>
          <a:bodyPr wrap="square">
            <a:spAutoFit/>
          </a:bodyPr>
          <a:lstStyle/>
          <a:p>
            <a:pPr>
              <a:buNone/>
            </a:pPr>
            <a:r>
              <a:rPr lang="en-IN" b="1" dirty="0">
                <a:highlight>
                  <a:srgbClr val="FFFF00"/>
                </a:highlight>
              </a:rPr>
              <a:t>Step 2 — Server Sends ACK</a:t>
            </a:r>
          </a:p>
          <a:p>
            <a:pPr>
              <a:buNone/>
            </a:pPr>
            <a:r>
              <a:rPr lang="en-IN" dirty="0"/>
              <a:t>The server receives the client's FIN.</a:t>
            </a:r>
          </a:p>
          <a:p>
            <a:pPr>
              <a:buNone/>
            </a:pPr>
            <a:r>
              <a:rPr lang="en-IN" dirty="0"/>
              <a:t>It needs to acknowledge it.</a:t>
            </a:r>
          </a:p>
          <a:p>
            <a:pPr>
              <a:buNone/>
            </a:pPr>
            <a:r>
              <a:rPr lang="en-IN" dirty="0"/>
              <a:t>So the server sends:</a:t>
            </a:r>
          </a:p>
          <a:p>
            <a:pPr rtl="0">
              <a:buNone/>
            </a:pPr>
            <a:r>
              <a:rPr lang="en-IN" dirty="0">
                <a:latin typeface="+mn-lt"/>
              </a:rPr>
              <a:t>ACK Flag = 1</a:t>
            </a:r>
          </a:p>
          <a:p>
            <a:pPr rtl="0">
              <a:buNone/>
            </a:pPr>
            <a:endParaRPr lang="en-IN" dirty="0">
              <a:latin typeface="+mn-lt"/>
            </a:endParaRPr>
          </a:p>
          <a:p>
            <a:pPr rtl="0">
              <a:buNone/>
            </a:pPr>
            <a:r>
              <a:rPr lang="en-IN" dirty="0">
                <a:latin typeface="+mn-lt"/>
              </a:rPr>
              <a:t>Acknowledgment Number = 3001</a:t>
            </a:r>
            <a:endParaRPr lang="en-IN" dirty="0">
              <a:latin typeface="Courier New" panose="02070309020205020404" pitchFamily="49" charset="0"/>
            </a:endParaRPr>
          </a:p>
        </p:txBody>
      </p:sp>
      <p:pic>
        <p:nvPicPr>
          <p:cNvPr id="9" name="Picture 8">
            <a:extLst>
              <a:ext uri="{FF2B5EF4-FFF2-40B4-BE49-F238E27FC236}">
                <a16:creationId xmlns:a16="http://schemas.microsoft.com/office/drawing/2014/main" id="{ED3E9290-91F7-4899-C14A-9BF780A8EB1D}"/>
              </a:ext>
            </a:extLst>
          </p:cNvPr>
          <p:cNvPicPr>
            <a:picLocks noChangeAspect="1"/>
          </p:cNvPicPr>
          <p:nvPr/>
        </p:nvPicPr>
        <p:blipFill>
          <a:blip r:embed="rId2"/>
          <a:stretch>
            <a:fillRect/>
          </a:stretch>
        </p:blipFill>
        <p:spPr>
          <a:xfrm>
            <a:off x="275844" y="3071107"/>
            <a:ext cx="4665124" cy="1901946"/>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FBAE2FE-23F0-62E5-8FA4-780FE2D66E72}"/>
                  </a:ext>
                </a:extLst>
              </p:cNvPr>
              <p:cNvSpPr txBox="1"/>
              <p:nvPr/>
            </p:nvSpPr>
            <p:spPr>
              <a:xfrm>
                <a:off x="129901" y="5139499"/>
                <a:ext cx="4957010" cy="1516762"/>
              </a:xfrm>
              <a:prstGeom prst="rect">
                <a:avLst/>
              </a:prstGeom>
              <a:noFill/>
            </p:spPr>
            <p:txBody>
              <a:bodyPr wrap="square">
                <a:spAutoFit/>
              </a:bodyPr>
              <a:lstStyle/>
              <a:p>
                <a:pPr>
                  <a:buNone/>
                </a:pPr>
                <a:r>
                  <a:rPr lang="en-IN" dirty="0"/>
                  <a:t>So we have a situation where communication is closed in </a:t>
                </a:r>
                <a:r>
                  <a:rPr lang="en-IN" b="1" dirty="0"/>
                  <a:t>one direction</a:t>
                </a:r>
                <a:r>
                  <a:rPr lang="en-IN" dirty="0"/>
                  <a:t>, but can continue in the other direction.</a:t>
                </a:r>
              </a:p>
              <a:p>
                <a:pPr>
                  <a:buNone/>
                </a:pPr>
                <a:r>
                  <a:rPr lang="en-IN" dirty="0"/>
                  <a:t>This is called:</a:t>
                </a:r>
              </a:p>
              <a:p>
                <a:pPr>
                  <a:buNone/>
                </a:pPr>
                <a14:m>
                  <m:oMathPara xmlns:m="http://schemas.openxmlformats.org/officeDocument/2006/math">
                    <m:oMath>
                      <m:borderBox>
                        <m:borderBoxPr>
                          <m:ctrlPr>
                            <a:rPr lang="en-IN" b="0" i="0"/>
                          </m:ctrlPr>
                        </m:borderBoxPr>
                        <m:e>
                          <m:r>
                            <m:rPr>
                              <m:nor/>
                            </m:rPr>
                            <a:rPr lang="en-IN" b="0" i="0"/>
                            <m:t>Half−Close</m:t>
                          </m:r>
                        </m:e>
                      </m:borderBox>
                    </m:oMath>
                  </m:oMathPara>
                </a14:m>
                <a:endParaRPr lang="en-IN" b="0" dirty="0"/>
              </a:p>
            </p:txBody>
          </p:sp>
        </mc:Choice>
        <mc:Fallback xmlns="">
          <p:sp>
            <p:nvSpPr>
              <p:cNvPr id="13" name="TextBox 12">
                <a:extLst>
                  <a:ext uri="{FF2B5EF4-FFF2-40B4-BE49-F238E27FC236}">
                    <a16:creationId xmlns:a16="http://schemas.microsoft.com/office/drawing/2014/main" id="{4FBAE2FE-23F0-62E5-8FA4-780FE2D66E72}"/>
                  </a:ext>
                </a:extLst>
              </p:cNvPr>
              <p:cNvSpPr txBox="1">
                <a:spLocks noRot="1" noChangeAspect="1" noMove="1" noResize="1" noEditPoints="1" noAdjustHandles="1" noChangeArrowheads="1" noChangeShapeType="1" noTextEdit="1"/>
              </p:cNvSpPr>
              <p:nvPr/>
            </p:nvSpPr>
            <p:spPr>
              <a:xfrm>
                <a:off x="129901" y="5139499"/>
                <a:ext cx="4957010" cy="1516762"/>
              </a:xfrm>
              <a:prstGeom prst="rect">
                <a:avLst/>
              </a:prstGeom>
              <a:blipFill>
                <a:blip r:embed="rId3"/>
                <a:stretch>
                  <a:fillRect l="-984" t="-2008"/>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AF65901F-FDF3-7798-FFBF-3BBFC8D683DE}"/>
              </a:ext>
            </a:extLst>
          </p:cNvPr>
          <p:cNvSpPr txBox="1"/>
          <p:nvPr/>
        </p:nvSpPr>
        <p:spPr>
          <a:xfrm>
            <a:off x="5245768" y="727670"/>
            <a:ext cx="6670388" cy="1477328"/>
          </a:xfrm>
          <a:prstGeom prst="rect">
            <a:avLst/>
          </a:prstGeom>
          <a:noFill/>
        </p:spPr>
        <p:txBody>
          <a:bodyPr wrap="square">
            <a:spAutoFit/>
          </a:bodyPr>
          <a:lstStyle/>
          <a:p>
            <a:pPr>
              <a:buNone/>
            </a:pPr>
            <a:r>
              <a:rPr lang="en-IN" b="1" dirty="0">
                <a:highlight>
                  <a:srgbClr val="FFFF00"/>
                </a:highlight>
              </a:rPr>
              <a:t>Step 3 — Server Sends FIN</a:t>
            </a:r>
          </a:p>
          <a:p>
            <a:pPr>
              <a:buNone/>
            </a:pPr>
            <a:r>
              <a:rPr lang="en-IN" dirty="0"/>
              <a:t>Eventually, the server also finishes sending its data.</a:t>
            </a:r>
          </a:p>
          <a:p>
            <a:pPr>
              <a:buNone/>
            </a:pPr>
            <a:r>
              <a:rPr lang="en-IN" dirty="0"/>
              <a:t>Now it sends:</a:t>
            </a:r>
          </a:p>
          <a:p>
            <a:pPr rtl="0">
              <a:buNone/>
            </a:pPr>
            <a:r>
              <a:rPr lang="en-IN" dirty="0">
                <a:latin typeface="+mn-lt"/>
              </a:rPr>
              <a:t>FIN Flag = 1</a:t>
            </a:r>
          </a:p>
          <a:p>
            <a:pPr rtl="0">
              <a:buNone/>
            </a:pPr>
            <a:r>
              <a:rPr lang="en-IN" dirty="0">
                <a:latin typeface="+mn-lt"/>
              </a:rPr>
              <a:t>Sequence Number = 7000</a:t>
            </a:r>
            <a:endParaRPr lang="en-IN" dirty="0">
              <a:latin typeface="Courier New" panose="02070309020205020404" pitchFamily="49" charset="0"/>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C7AC697-73F5-A068-2F70-EE7ABF014A22}"/>
                  </a:ext>
                </a:extLst>
              </p:cNvPr>
              <p:cNvSpPr txBox="1"/>
              <p:nvPr/>
            </p:nvSpPr>
            <p:spPr>
              <a:xfrm>
                <a:off x="5274726" y="2437448"/>
                <a:ext cx="6096000" cy="2031325"/>
              </a:xfrm>
              <a:prstGeom prst="rect">
                <a:avLst/>
              </a:prstGeom>
              <a:noFill/>
            </p:spPr>
            <p:txBody>
              <a:bodyPr wrap="square">
                <a:spAutoFit/>
              </a:bodyPr>
              <a:lstStyle/>
              <a:p>
                <a:pPr>
                  <a:buNone/>
                </a:pPr>
                <a:r>
                  <a:rPr lang="en-IN" b="1" dirty="0"/>
                  <a:t>Again, FIN Consumes One Sequence Number</a:t>
                </a:r>
              </a:p>
              <a:p>
                <a:pPr>
                  <a:buNone/>
                </a:pPr>
                <a:r>
                  <a:rPr lang="en-IN" dirty="0"/>
                  <a:t>Server sends:</a:t>
                </a:r>
              </a:p>
              <a:p>
                <a:pPr rtl="0">
                  <a:buNone/>
                </a:pPr>
                <a:r>
                  <a:rPr lang="en-IN" dirty="0">
                    <a:latin typeface="+mn-lt"/>
                  </a:rPr>
                  <a:t>FIN Sequence Number = 7000</a:t>
                </a:r>
              </a:p>
              <a:p>
                <a:pPr>
                  <a:buNone/>
                </a:pPr>
                <a:r>
                  <a:rPr lang="en-IN" dirty="0"/>
                  <a:t>Therefore:</a:t>
                </a:r>
              </a:p>
              <a:p>
                <a:pPr>
                  <a:buNone/>
                </a:pPr>
                <a14:m>
                  <m:oMathPara xmlns:m="http://schemas.openxmlformats.org/officeDocument/2006/math">
                    <m:oMath>
                      <m:r>
                        <a:rPr lang="en-IN">
                          <a:latin typeface="Cambria Math" panose="02040503050406030204" pitchFamily="18" charset="0"/>
                        </a:rPr>
                        <m:t>7000</m:t>
                      </m:r>
                      <m:r>
                        <a:rPr lang="en-IN" i="0">
                          <a:latin typeface="Cambria Math" panose="02040503050406030204" pitchFamily="18" charset="0"/>
                        </a:rPr>
                        <m:t>+1=7001</m:t>
                      </m:r>
                    </m:oMath>
                  </m:oMathPara>
                </a14:m>
                <a:endParaRPr lang="en-IN" dirty="0"/>
              </a:p>
              <a:p>
                <a:pPr>
                  <a:buNone/>
                </a:pPr>
                <a:r>
                  <a:rPr lang="en-IN" dirty="0"/>
                  <a:t>The client should acknowledge:</a:t>
                </a:r>
              </a:p>
              <a:p>
                <a:pPr>
                  <a:buNone/>
                </a:pPr>
                <a:r>
                  <a:rPr lang="en-IN" dirty="0"/>
                  <a:t>7001​</a:t>
                </a:r>
              </a:p>
            </p:txBody>
          </p:sp>
        </mc:Choice>
        <mc:Fallback xmlns="">
          <p:sp>
            <p:nvSpPr>
              <p:cNvPr id="17" name="TextBox 16">
                <a:extLst>
                  <a:ext uri="{FF2B5EF4-FFF2-40B4-BE49-F238E27FC236}">
                    <a16:creationId xmlns:a16="http://schemas.microsoft.com/office/drawing/2014/main" id="{0C7AC697-73F5-A068-2F70-EE7ABF014A22}"/>
                  </a:ext>
                </a:extLst>
              </p:cNvPr>
              <p:cNvSpPr txBox="1">
                <a:spLocks noRot="1" noChangeAspect="1" noMove="1" noResize="1" noEditPoints="1" noAdjustHandles="1" noChangeArrowheads="1" noChangeShapeType="1" noTextEdit="1"/>
              </p:cNvSpPr>
              <p:nvPr/>
            </p:nvSpPr>
            <p:spPr>
              <a:xfrm>
                <a:off x="5274726" y="2437448"/>
                <a:ext cx="6096000" cy="2031325"/>
              </a:xfrm>
              <a:prstGeom prst="rect">
                <a:avLst/>
              </a:prstGeom>
              <a:blipFill>
                <a:blip r:embed="rId4"/>
                <a:stretch>
                  <a:fillRect l="-800" t="-1802" b="-3904"/>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945B1831-16F3-8D41-0899-B20FF6683A99}"/>
              </a:ext>
            </a:extLst>
          </p:cNvPr>
          <p:cNvSpPr txBox="1"/>
          <p:nvPr/>
        </p:nvSpPr>
        <p:spPr>
          <a:xfrm>
            <a:off x="5532962" y="4885452"/>
            <a:ext cx="6096000" cy="1477328"/>
          </a:xfrm>
          <a:prstGeom prst="rect">
            <a:avLst/>
          </a:prstGeom>
          <a:noFill/>
        </p:spPr>
        <p:txBody>
          <a:bodyPr wrap="square">
            <a:spAutoFit/>
          </a:bodyPr>
          <a:lstStyle/>
          <a:p>
            <a:pPr>
              <a:buNone/>
            </a:pPr>
            <a:r>
              <a:rPr lang="en-IN" b="1" dirty="0">
                <a:highlight>
                  <a:srgbClr val="FFFF00"/>
                </a:highlight>
              </a:rPr>
              <a:t>Step 4 — Client Sends Final ACK</a:t>
            </a:r>
          </a:p>
          <a:p>
            <a:pPr>
              <a:buNone/>
            </a:pPr>
            <a:r>
              <a:rPr lang="en-IN" dirty="0"/>
              <a:t>Client receives the server's FIN.</a:t>
            </a:r>
          </a:p>
          <a:p>
            <a:pPr>
              <a:buNone/>
            </a:pPr>
            <a:r>
              <a:rPr lang="en-IN" dirty="0"/>
              <a:t>It responds:</a:t>
            </a:r>
          </a:p>
          <a:p>
            <a:pPr rtl="0">
              <a:buNone/>
            </a:pPr>
            <a:r>
              <a:rPr lang="en-IN" dirty="0">
                <a:latin typeface="+mn-lt"/>
              </a:rPr>
              <a:t>ACK Flag = 1</a:t>
            </a:r>
          </a:p>
          <a:p>
            <a:pPr rtl="0">
              <a:buNone/>
            </a:pPr>
            <a:r>
              <a:rPr lang="en-IN" dirty="0">
                <a:latin typeface="+mn-lt"/>
              </a:rPr>
              <a:t>Acknowledgment Number = 7001</a:t>
            </a:r>
            <a:endParaRPr lang="en-IN" dirty="0">
              <a:latin typeface="Courier New" panose="02070309020205020404" pitchFamily="49" charset="0"/>
            </a:endParaRPr>
          </a:p>
        </p:txBody>
      </p:sp>
      <p:sp>
        <p:nvSpPr>
          <p:cNvPr id="21" name="TextBox 20">
            <a:extLst>
              <a:ext uri="{FF2B5EF4-FFF2-40B4-BE49-F238E27FC236}">
                <a16:creationId xmlns:a16="http://schemas.microsoft.com/office/drawing/2014/main" id="{F47C8EB6-E30B-CBF7-45C4-FBF59DFCD371}"/>
              </a:ext>
            </a:extLst>
          </p:cNvPr>
          <p:cNvSpPr txBox="1"/>
          <p:nvPr/>
        </p:nvSpPr>
        <p:spPr>
          <a:xfrm>
            <a:off x="5532962" y="6471595"/>
            <a:ext cx="6096000" cy="369332"/>
          </a:xfrm>
          <a:prstGeom prst="rect">
            <a:avLst/>
          </a:prstGeom>
          <a:noFill/>
        </p:spPr>
        <p:txBody>
          <a:bodyPr wrap="square">
            <a:spAutoFit/>
          </a:bodyPr>
          <a:lstStyle/>
          <a:p>
            <a:r>
              <a:rPr lang="en-IN" dirty="0"/>
              <a:t>Now both sending directions have been closed.</a:t>
            </a:r>
          </a:p>
        </p:txBody>
      </p:sp>
    </p:spTree>
    <p:extLst>
      <p:ext uri="{BB962C8B-B14F-4D97-AF65-F5344CB8AC3E}">
        <p14:creationId xmlns:p14="http://schemas.microsoft.com/office/powerpoint/2010/main" val="4059433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6962-FE64-F53B-840D-B6DAEFE62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BED2C-A4FC-128A-6D09-52959D0AC644}"/>
              </a:ext>
            </a:extLst>
          </p:cNvPr>
          <p:cNvSpPr>
            <a:spLocks noGrp="1"/>
          </p:cNvSpPr>
          <p:nvPr>
            <p:ph type="title"/>
          </p:nvPr>
        </p:nvSpPr>
        <p:spPr>
          <a:xfrm>
            <a:off x="275844" y="495220"/>
            <a:ext cx="11640312" cy="464900"/>
          </a:xfrm>
        </p:spPr>
        <p:txBody>
          <a:bodyPr>
            <a:normAutofit/>
          </a:bodyPr>
          <a:lstStyle/>
          <a:p>
            <a:r>
              <a:rPr lang="en-IN" sz="2400" b="1" dirty="0"/>
              <a:t>TCP Flow Control</a:t>
            </a:r>
          </a:p>
        </p:txBody>
      </p:sp>
      <p:sp>
        <p:nvSpPr>
          <p:cNvPr id="4" name="TextBox 3">
            <a:extLst>
              <a:ext uri="{FF2B5EF4-FFF2-40B4-BE49-F238E27FC236}">
                <a16:creationId xmlns:a16="http://schemas.microsoft.com/office/drawing/2014/main" id="{D54FD34A-313C-7F6D-01E0-4F6B1BDB376A}"/>
              </a:ext>
            </a:extLst>
          </p:cNvPr>
          <p:cNvSpPr txBox="1"/>
          <p:nvPr/>
        </p:nvSpPr>
        <p:spPr>
          <a:xfrm>
            <a:off x="275844" y="960120"/>
            <a:ext cx="6096000" cy="369332"/>
          </a:xfrm>
          <a:prstGeom prst="rect">
            <a:avLst/>
          </a:prstGeom>
          <a:noFill/>
        </p:spPr>
        <p:txBody>
          <a:bodyPr wrap="square">
            <a:spAutoFit/>
          </a:bodyPr>
          <a:lstStyle/>
          <a:p>
            <a:r>
              <a:rPr lang="en-IN" dirty="0"/>
              <a:t>What Problem Does Flow Control Solve?</a:t>
            </a:r>
          </a:p>
        </p:txBody>
      </p:sp>
      <p:pic>
        <p:nvPicPr>
          <p:cNvPr id="6" name="Picture 5">
            <a:extLst>
              <a:ext uri="{FF2B5EF4-FFF2-40B4-BE49-F238E27FC236}">
                <a16:creationId xmlns:a16="http://schemas.microsoft.com/office/drawing/2014/main" id="{54B3B9FF-9035-C029-A276-48FB7D9F311D}"/>
              </a:ext>
            </a:extLst>
          </p:cNvPr>
          <p:cNvPicPr>
            <a:picLocks noChangeAspect="1"/>
          </p:cNvPicPr>
          <p:nvPr/>
        </p:nvPicPr>
        <p:blipFill>
          <a:blip r:embed="rId2"/>
          <a:stretch>
            <a:fillRect/>
          </a:stretch>
        </p:blipFill>
        <p:spPr>
          <a:xfrm>
            <a:off x="275843" y="1425020"/>
            <a:ext cx="6237251" cy="4189717"/>
          </a:xfrm>
          <a:prstGeom prst="rect">
            <a:avLst/>
          </a:prstGeom>
        </p:spPr>
      </p:pic>
      <p:sp>
        <p:nvSpPr>
          <p:cNvPr id="8" name="TextBox 7">
            <a:extLst>
              <a:ext uri="{FF2B5EF4-FFF2-40B4-BE49-F238E27FC236}">
                <a16:creationId xmlns:a16="http://schemas.microsoft.com/office/drawing/2014/main" id="{3A05E36C-2544-83FE-5F14-068674B2BE2E}"/>
              </a:ext>
            </a:extLst>
          </p:cNvPr>
          <p:cNvSpPr txBox="1"/>
          <p:nvPr/>
        </p:nvSpPr>
        <p:spPr>
          <a:xfrm>
            <a:off x="6898105" y="869405"/>
            <a:ext cx="5018051" cy="5632311"/>
          </a:xfrm>
          <a:prstGeom prst="rect">
            <a:avLst/>
          </a:prstGeom>
          <a:noFill/>
        </p:spPr>
        <p:txBody>
          <a:bodyPr wrap="square">
            <a:spAutoFit/>
          </a:bodyPr>
          <a:lstStyle/>
          <a:p>
            <a:pPr>
              <a:buNone/>
            </a:pPr>
            <a:r>
              <a:rPr lang="en-IN" b="1" dirty="0"/>
              <a:t>What if the Sender keeps sending?</a:t>
            </a:r>
          </a:p>
          <a:p>
            <a:pPr>
              <a:buNone/>
            </a:pPr>
            <a:r>
              <a:rPr lang="en-IN" dirty="0"/>
              <a:t>Suppose the receiver has a buffer of: 10,000 bytes</a:t>
            </a:r>
            <a:br>
              <a:rPr lang="en-IN" dirty="0"/>
            </a:br>
            <a:br>
              <a:rPr lang="en-IN" dirty="0"/>
            </a:br>
            <a:r>
              <a:rPr lang="en-IN" dirty="0"/>
              <a:t>Initially, buffer -&gt; Empty</a:t>
            </a:r>
            <a:br>
              <a:rPr lang="en-IN" dirty="0"/>
            </a:br>
            <a:br>
              <a:rPr lang="en-IN" dirty="0"/>
            </a:br>
            <a:r>
              <a:rPr lang="en-IN" dirty="0"/>
              <a:t>Now, 6000 bytes are waiting in the buffer.</a:t>
            </a:r>
            <a:br>
              <a:rPr lang="en-IN" dirty="0"/>
            </a:br>
            <a:br>
              <a:rPr lang="en-IN" dirty="0"/>
            </a:br>
            <a:r>
              <a:rPr lang="en-IN" dirty="0"/>
              <a:t>Available space: 10000 – 6000 = 4000</a:t>
            </a:r>
            <a:br>
              <a:rPr lang="en-IN" dirty="0"/>
            </a:br>
            <a:br>
              <a:rPr lang="en-IN" dirty="0"/>
            </a:br>
            <a:r>
              <a:rPr lang="en-IN" dirty="0"/>
              <a:t>If the sender blindly sends another 10,000 bytes, the receiver may not have enough buffer space.</a:t>
            </a:r>
            <a:br>
              <a:rPr lang="en-IN" dirty="0"/>
            </a:br>
            <a:br>
              <a:rPr lang="en-IN" dirty="0"/>
            </a:br>
            <a:r>
              <a:rPr lang="en-IN" dirty="0"/>
              <a:t>So the receiver needs a way to tell the sender:</a:t>
            </a:r>
            <a:br>
              <a:rPr lang="en-IN" dirty="0"/>
            </a:br>
            <a:r>
              <a:rPr lang="en-IN" b="1" dirty="0"/>
              <a:t>“This is how much receive-window space I currently have available.</a:t>
            </a:r>
            <a:br>
              <a:rPr lang="en-IN" dirty="0"/>
            </a:br>
            <a:br>
              <a:rPr lang="en-IN" dirty="0"/>
            </a:br>
            <a:r>
              <a:rPr lang="en-IN" dirty="0"/>
              <a:t>This is the basic idea of TCP Flow Control. </a:t>
            </a:r>
            <a:br>
              <a:rPr lang="en-IN" dirty="0"/>
            </a:br>
            <a:br>
              <a:rPr lang="en-IN" dirty="0"/>
            </a:br>
            <a:r>
              <a:rPr lang="en-IN" dirty="0"/>
              <a:t>Hence, Flow control mainly protects the: </a:t>
            </a:r>
            <a:br>
              <a:rPr lang="en-IN" dirty="0"/>
            </a:br>
            <a:r>
              <a:rPr lang="en-IN" dirty="0"/>
              <a:t>	</a:t>
            </a:r>
            <a:r>
              <a:rPr lang="en-IN" b="1" dirty="0"/>
              <a:t>Receiver</a:t>
            </a:r>
          </a:p>
        </p:txBody>
      </p:sp>
      <p:sp>
        <p:nvSpPr>
          <p:cNvPr id="10" name="TextBox 9">
            <a:extLst>
              <a:ext uri="{FF2B5EF4-FFF2-40B4-BE49-F238E27FC236}">
                <a16:creationId xmlns:a16="http://schemas.microsoft.com/office/drawing/2014/main" id="{BB9C161A-6879-0180-5A60-AE9DFC9A3836}"/>
              </a:ext>
            </a:extLst>
          </p:cNvPr>
          <p:cNvSpPr txBox="1"/>
          <p:nvPr/>
        </p:nvSpPr>
        <p:spPr>
          <a:xfrm>
            <a:off x="275844" y="5710305"/>
            <a:ext cx="6096000" cy="923330"/>
          </a:xfrm>
          <a:prstGeom prst="rect">
            <a:avLst/>
          </a:prstGeom>
          <a:noFill/>
        </p:spPr>
        <p:txBody>
          <a:bodyPr wrap="square">
            <a:spAutoFit/>
          </a:bodyPr>
          <a:lstStyle/>
          <a:p>
            <a:r>
              <a:rPr lang="en-IN" b="1" dirty="0"/>
              <a:t>TCP Flow Control is a mechanism that prevents a sender from sending more outstanding data than the receiver can currently accept in its receive buffer.</a:t>
            </a:r>
          </a:p>
        </p:txBody>
      </p:sp>
    </p:spTree>
    <p:extLst>
      <p:ext uri="{BB962C8B-B14F-4D97-AF65-F5344CB8AC3E}">
        <p14:creationId xmlns:p14="http://schemas.microsoft.com/office/powerpoint/2010/main" val="13489986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68794-52BD-7431-5829-77124737C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699C-ADBC-B3A4-E6B6-1E00C91EDAAE}"/>
              </a:ext>
            </a:extLst>
          </p:cNvPr>
          <p:cNvSpPr>
            <a:spLocks noGrp="1"/>
          </p:cNvSpPr>
          <p:nvPr>
            <p:ph type="title"/>
          </p:nvPr>
        </p:nvSpPr>
        <p:spPr>
          <a:xfrm>
            <a:off x="275844" y="495220"/>
            <a:ext cx="11640312" cy="464900"/>
          </a:xfrm>
        </p:spPr>
        <p:txBody>
          <a:bodyPr>
            <a:normAutofit/>
          </a:bodyPr>
          <a:lstStyle/>
          <a:p>
            <a:r>
              <a:rPr lang="en-IN" sz="2400" b="1" dirty="0"/>
              <a:t>How does the Receiver tell the Sender?</a:t>
            </a:r>
          </a:p>
        </p:txBody>
      </p:sp>
      <p:pic>
        <p:nvPicPr>
          <p:cNvPr id="4" name="Picture 3">
            <a:extLst>
              <a:ext uri="{FF2B5EF4-FFF2-40B4-BE49-F238E27FC236}">
                <a16:creationId xmlns:a16="http://schemas.microsoft.com/office/drawing/2014/main" id="{AB7E0808-4841-4675-ADBB-2E2AA4CC22F8}"/>
              </a:ext>
            </a:extLst>
          </p:cNvPr>
          <p:cNvPicPr>
            <a:picLocks noChangeAspect="1"/>
          </p:cNvPicPr>
          <p:nvPr/>
        </p:nvPicPr>
        <p:blipFill>
          <a:blip r:embed="rId2"/>
          <a:stretch>
            <a:fillRect/>
          </a:stretch>
        </p:blipFill>
        <p:spPr>
          <a:xfrm>
            <a:off x="275844" y="1089510"/>
            <a:ext cx="4055524" cy="1926406"/>
          </a:xfrm>
          <a:prstGeom prst="rect">
            <a:avLst/>
          </a:prstGeom>
        </p:spPr>
      </p:pic>
      <p:sp>
        <p:nvSpPr>
          <p:cNvPr id="6" name="TextBox 5">
            <a:extLst>
              <a:ext uri="{FF2B5EF4-FFF2-40B4-BE49-F238E27FC236}">
                <a16:creationId xmlns:a16="http://schemas.microsoft.com/office/drawing/2014/main" id="{CC9A35E7-C8AD-E784-EFD6-B4EDB0227F89}"/>
              </a:ext>
            </a:extLst>
          </p:cNvPr>
          <p:cNvSpPr txBox="1"/>
          <p:nvPr/>
        </p:nvSpPr>
        <p:spPr>
          <a:xfrm>
            <a:off x="433137" y="3380420"/>
            <a:ext cx="4764505" cy="923330"/>
          </a:xfrm>
          <a:prstGeom prst="rect">
            <a:avLst/>
          </a:prstGeom>
          <a:noFill/>
        </p:spPr>
        <p:txBody>
          <a:bodyPr wrap="square">
            <a:spAutoFit/>
          </a:bodyPr>
          <a:lstStyle/>
          <a:p>
            <a:pPr>
              <a:buNone/>
            </a:pPr>
            <a:r>
              <a:rPr lang="en-IN" dirty="0"/>
              <a:t>The receiver advertises its available receive window through TCP's </a:t>
            </a:r>
            <a:r>
              <a:rPr lang="en-IN" b="1" dirty="0"/>
              <a:t>Window</a:t>
            </a:r>
            <a:r>
              <a:rPr lang="en-IN" dirty="0"/>
              <a:t> field.</a:t>
            </a:r>
          </a:p>
          <a:p>
            <a:pPr>
              <a:buNone/>
            </a:pPr>
            <a:r>
              <a:rPr lang="en-IN" dirty="0"/>
              <a:t>This is called the: </a:t>
            </a:r>
            <a:r>
              <a:rPr lang="en-IN" b="1" dirty="0"/>
              <a:t>Receiver Window</a:t>
            </a:r>
          </a:p>
        </p:txBody>
      </p:sp>
      <p:sp>
        <p:nvSpPr>
          <p:cNvPr id="8" name="TextBox 7">
            <a:extLst>
              <a:ext uri="{FF2B5EF4-FFF2-40B4-BE49-F238E27FC236}">
                <a16:creationId xmlns:a16="http://schemas.microsoft.com/office/drawing/2014/main" id="{3314D425-3709-D41E-DBF0-3C59560EFFCB}"/>
              </a:ext>
            </a:extLst>
          </p:cNvPr>
          <p:cNvSpPr txBox="1"/>
          <p:nvPr/>
        </p:nvSpPr>
        <p:spPr>
          <a:xfrm>
            <a:off x="5662863" y="1089510"/>
            <a:ext cx="3753853" cy="369332"/>
          </a:xfrm>
          <a:prstGeom prst="rect">
            <a:avLst/>
          </a:prstGeom>
          <a:noFill/>
        </p:spPr>
        <p:txBody>
          <a:bodyPr wrap="square">
            <a:spAutoFit/>
          </a:bodyPr>
          <a:lstStyle/>
          <a:p>
            <a:r>
              <a:rPr lang="en-IN" b="1" dirty="0"/>
              <a:t>Receive Window keeps changing</a:t>
            </a:r>
          </a:p>
        </p:txBody>
      </p:sp>
      <p:graphicFrame>
        <p:nvGraphicFramePr>
          <p:cNvPr id="9" name="Table 8">
            <a:extLst>
              <a:ext uri="{FF2B5EF4-FFF2-40B4-BE49-F238E27FC236}">
                <a16:creationId xmlns:a16="http://schemas.microsoft.com/office/drawing/2014/main" id="{69DD5AF8-3A74-1F5E-38AB-9143926A6030}"/>
              </a:ext>
            </a:extLst>
          </p:cNvPr>
          <p:cNvGraphicFramePr>
            <a:graphicFrameLocks noGrp="1"/>
          </p:cNvGraphicFramePr>
          <p:nvPr>
            <p:extLst>
              <p:ext uri="{D42A27DB-BD31-4B8C-83A1-F6EECF244321}">
                <p14:modId xmlns:p14="http://schemas.microsoft.com/office/powerpoint/2010/main" val="3601160081"/>
              </p:ext>
            </p:extLst>
          </p:nvPr>
        </p:nvGraphicFramePr>
        <p:xfrm>
          <a:off x="5662863" y="2053925"/>
          <a:ext cx="4962357" cy="3576320"/>
        </p:xfrm>
        <a:graphic>
          <a:graphicData uri="http://schemas.openxmlformats.org/drawingml/2006/table">
            <a:tbl>
              <a:tblPr firstRow="1" bandRow="1">
                <a:tableStyleId>{5C22544A-7EE6-4342-B048-85BDC9FD1C3A}</a:tableStyleId>
              </a:tblPr>
              <a:tblGrid>
                <a:gridCol w="1654119">
                  <a:extLst>
                    <a:ext uri="{9D8B030D-6E8A-4147-A177-3AD203B41FA5}">
                      <a16:colId xmlns:a16="http://schemas.microsoft.com/office/drawing/2014/main" val="1018632373"/>
                    </a:ext>
                  </a:extLst>
                </a:gridCol>
                <a:gridCol w="1654119">
                  <a:extLst>
                    <a:ext uri="{9D8B030D-6E8A-4147-A177-3AD203B41FA5}">
                      <a16:colId xmlns:a16="http://schemas.microsoft.com/office/drawing/2014/main" val="170152698"/>
                    </a:ext>
                  </a:extLst>
                </a:gridCol>
                <a:gridCol w="1654119">
                  <a:extLst>
                    <a:ext uri="{9D8B030D-6E8A-4147-A177-3AD203B41FA5}">
                      <a16:colId xmlns:a16="http://schemas.microsoft.com/office/drawing/2014/main" val="109004273"/>
                    </a:ext>
                  </a:extLst>
                </a:gridCol>
              </a:tblGrid>
              <a:tr h="370840">
                <a:tc>
                  <a:txBody>
                    <a:bodyPr/>
                    <a:lstStyle/>
                    <a:p>
                      <a:pPr>
                        <a:buNone/>
                      </a:pPr>
                      <a:r>
                        <a:rPr lang="en-IN" dirty="0"/>
                        <a:t>Situation</a:t>
                      </a:r>
                    </a:p>
                  </a:txBody>
                  <a:tcPr anchor="ctr"/>
                </a:tc>
                <a:tc>
                  <a:txBody>
                    <a:bodyPr/>
                    <a:lstStyle/>
                    <a:p>
                      <a:pPr algn="r">
                        <a:buNone/>
                      </a:pPr>
                      <a:r>
                        <a:rPr lang="en-IN"/>
                        <a:t>Data Waiting in Buffer</a:t>
                      </a:r>
                    </a:p>
                  </a:txBody>
                  <a:tcPr anchor="ctr"/>
                </a:tc>
                <a:tc>
                  <a:txBody>
                    <a:bodyPr/>
                    <a:lstStyle/>
                    <a:p>
                      <a:pPr algn="r">
                        <a:buNone/>
                      </a:pPr>
                      <a:r>
                        <a:rPr lang="en-IN"/>
                        <a:t>Available Space</a:t>
                      </a:r>
                    </a:p>
                  </a:txBody>
                  <a:tcPr anchor="ctr"/>
                </a:tc>
                <a:extLst>
                  <a:ext uri="{0D108BD9-81ED-4DB2-BD59-A6C34878D82A}">
                    <a16:rowId xmlns:a16="http://schemas.microsoft.com/office/drawing/2014/main" val="1883653286"/>
                  </a:ext>
                </a:extLst>
              </a:tr>
              <a:tr h="370840">
                <a:tc>
                  <a:txBody>
                    <a:bodyPr/>
                    <a:lstStyle/>
                    <a:p>
                      <a:pPr>
                        <a:buNone/>
                      </a:pPr>
                      <a:r>
                        <a:rPr lang="en-IN"/>
                        <a:t>Initially</a:t>
                      </a:r>
                    </a:p>
                  </a:txBody>
                  <a:tcPr anchor="ctr"/>
                </a:tc>
                <a:tc>
                  <a:txBody>
                    <a:bodyPr/>
                    <a:lstStyle/>
                    <a:p>
                      <a:pPr algn="r">
                        <a:buNone/>
                      </a:pPr>
                      <a:r>
                        <a:rPr lang="en-IN"/>
                        <a:t>0</a:t>
                      </a:r>
                    </a:p>
                  </a:txBody>
                  <a:tcPr anchor="ctr"/>
                </a:tc>
                <a:tc>
                  <a:txBody>
                    <a:bodyPr/>
                    <a:lstStyle/>
                    <a:p>
                      <a:pPr algn="r">
                        <a:buNone/>
                      </a:pPr>
                      <a:r>
                        <a:rPr lang="en-IN"/>
                        <a:t>5000</a:t>
                      </a:r>
                    </a:p>
                  </a:txBody>
                  <a:tcPr anchor="ctr"/>
                </a:tc>
                <a:extLst>
                  <a:ext uri="{0D108BD9-81ED-4DB2-BD59-A6C34878D82A}">
                    <a16:rowId xmlns:a16="http://schemas.microsoft.com/office/drawing/2014/main" val="2887725975"/>
                  </a:ext>
                </a:extLst>
              </a:tr>
              <a:tr h="370840">
                <a:tc>
                  <a:txBody>
                    <a:bodyPr/>
                    <a:lstStyle/>
                    <a:p>
                      <a:pPr>
                        <a:buNone/>
                      </a:pPr>
                      <a:r>
                        <a:rPr lang="en-IN"/>
                        <a:t>Data arrives</a:t>
                      </a:r>
                    </a:p>
                  </a:txBody>
                  <a:tcPr anchor="ctr"/>
                </a:tc>
                <a:tc>
                  <a:txBody>
                    <a:bodyPr/>
                    <a:lstStyle/>
                    <a:p>
                      <a:pPr algn="r">
                        <a:buNone/>
                      </a:pPr>
                      <a:r>
                        <a:rPr lang="en-IN"/>
                        <a:t>2000</a:t>
                      </a:r>
                    </a:p>
                  </a:txBody>
                  <a:tcPr anchor="ctr"/>
                </a:tc>
                <a:tc>
                  <a:txBody>
                    <a:bodyPr/>
                    <a:lstStyle/>
                    <a:p>
                      <a:pPr algn="r">
                        <a:buNone/>
                      </a:pPr>
                      <a:r>
                        <a:rPr lang="en-IN"/>
                        <a:t>3000</a:t>
                      </a:r>
                    </a:p>
                  </a:txBody>
                  <a:tcPr anchor="ctr"/>
                </a:tc>
                <a:extLst>
                  <a:ext uri="{0D108BD9-81ED-4DB2-BD59-A6C34878D82A}">
                    <a16:rowId xmlns:a16="http://schemas.microsoft.com/office/drawing/2014/main" val="798205442"/>
                  </a:ext>
                </a:extLst>
              </a:tr>
              <a:tr h="370840">
                <a:tc>
                  <a:txBody>
                    <a:bodyPr/>
                    <a:lstStyle/>
                    <a:p>
                      <a:pPr>
                        <a:buNone/>
                      </a:pPr>
                      <a:r>
                        <a:rPr lang="en-IN"/>
                        <a:t>More data arrives</a:t>
                      </a:r>
                    </a:p>
                  </a:txBody>
                  <a:tcPr anchor="ctr"/>
                </a:tc>
                <a:tc>
                  <a:txBody>
                    <a:bodyPr/>
                    <a:lstStyle/>
                    <a:p>
                      <a:pPr algn="r">
                        <a:buNone/>
                      </a:pPr>
                      <a:r>
                        <a:rPr lang="en-IN"/>
                        <a:t>4000</a:t>
                      </a:r>
                    </a:p>
                  </a:txBody>
                  <a:tcPr anchor="ctr"/>
                </a:tc>
                <a:tc>
                  <a:txBody>
                    <a:bodyPr/>
                    <a:lstStyle/>
                    <a:p>
                      <a:pPr algn="r">
                        <a:buNone/>
                      </a:pPr>
                      <a:r>
                        <a:rPr lang="en-IN"/>
                        <a:t>1000</a:t>
                      </a:r>
                    </a:p>
                  </a:txBody>
                  <a:tcPr anchor="ctr"/>
                </a:tc>
                <a:extLst>
                  <a:ext uri="{0D108BD9-81ED-4DB2-BD59-A6C34878D82A}">
                    <a16:rowId xmlns:a16="http://schemas.microsoft.com/office/drawing/2014/main" val="1992009243"/>
                  </a:ext>
                </a:extLst>
              </a:tr>
              <a:tr h="370840">
                <a:tc>
                  <a:txBody>
                    <a:bodyPr/>
                    <a:lstStyle/>
                    <a:p>
                      <a:pPr>
                        <a:buNone/>
                      </a:pPr>
                      <a:r>
                        <a:rPr lang="en-IN"/>
                        <a:t>Application reads 3000</a:t>
                      </a:r>
                    </a:p>
                  </a:txBody>
                  <a:tcPr anchor="ctr"/>
                </a:tc>
                <a:tc>
                  <a:txBody>
                    <a:bodyPr/>
                    <a:lstStyle/>
                    <a:p>
                      <a:pPr algn="r">
                        <a:buNone/>
                      </a:pPr>
                      <a:r>
                        <a:rPr lang="en-IN"/>
                        <a:t>1000</a:t>
                      </a:r>
                    </a:p>
                  </a:txBody>
                  <a:tcPr anchor="ctr"/>
                </a:tc>
                <a:tc>
                  <a:txBody>
                    <a:bodyPr/>
                    <a:lstStyle/>
                    <a:p>
                      <a:pPr algn="r">
                        <a:buNone/>
                      </a:pPr>
                      <a:r>
                        <a:rPr lang="en-IN"/>
                        <a:t>4000</a:t>
                      </a:r>
                    </a:p>
                  </a:txBody>
                  <a:tcPr anchor="ctr"/>
                </a:tc>
                <a:extLst>
                  <a:ext uri="{0D108BD9-81ED-4DB2-BD59-A6C34878D82A}">
                    <a16:rowId xmlns:a16="http://schemas.microsoft.com/office/drawing/2014/main" val="2319490178"/>
                  </a:ext>
                </a:extLst>
              </a:tr>
              <a:tr h="370840">
                <a:tc>
                  <a:txBody>
                    <a:bodyPr/>
                    <a:lstStyle/>
                    <a:p>
                      <a:pPr>
                        <a:buNone/>
                      </a:pPr>
                      <a:r>
                        <a:rPr lang="en-IN"/>
                        <a:t>Application reads remaining data</a:t>
                      </a:r>
                    </a:p>
                  </a:txBody>
                  <a:tcPr anchor="ctr"/>
                </a:tc>
                <a:tc>
                  <a:txBody>
                    <a:bodyPr/>
                    <a:lstStyle/>
                    <a:p>
                      <a:pPr algn="r">
                        <a:buNone/>
                      </a:pPr>
                      <a:r>
                        <a:rPr lang="en-IN"/>
                        <a:t>0</a:t>
                      </a:r>
                    </a:p>
                  </a:txBody>
                  <a:tcPr anchor="ctr"/>
                </a:tc>
                <a:tc>
                  <a:txBody>
                    <a:bodyPr/>
                    <a:lstStyle/>
                    <a:p>
                      <a:pPr algn="r">
                        <a:buNone/>
                      </a:pPr>
                      <a:r>
                        <a:rPr lang="en-IN" dirty="0"/>
                        <a:t>5000</a:t>
                      </a:r>
                    </a:p>
                  </a:txBody>
                  <a:tcPr anchor="ctr"/>
                </a:tc>
                <a:extLst>
                  <a:ext uri="{0D108BD9-81ED-4DB2-BD59-A6C34878D82A}">
                    <a16:rowId xmlns:a16="http://schemas.microsoft.com/office/drawing/2014/main" val="1168710789"/>
                  </a:ext>
                </a:extLst>
              </a:tr>
            </a:tbl>
          </a:graphicData>
        </a:graphic>
      </p:graphicFrame>
      <p:sp>
        <p:nvSpPr>
          <p:cNvPr id="11" name="TextBox 10">
            <a:extLst>
              <a:ext uri="{FF2B5EF4-FFF2-40B4-BE49-F238E27FC236}">
                <a16:creationId xmlns:a16="http://schemas.microsoft.com/office/drawing/2014/main" id="{E45D068C-186C-0D79-3E4F-E5609F5C2587}"/>
              </a:ext>
            </a:extLst>
          </p:cNvPr>
          <p:cNvSpPr txBox="1"/>
          <p:nvPr/>
        </p:nvSpPr>
        <p:spPr>
          <a:xfrm>
            <a:off x="5630781" y="1571717"/>
            <a:ext cx="4459705" cy="369332"/>
          </a:xfrm>
          <a:prstGeom prst="rect">
            <a:avLst/>
          </a:prstGeom>
          <a:noFill/>
        </p:spPr>
        <p:txBody>
          <a:bodyPr wrap="square">
            <a:spAutoFit/>
          </a:bodyPr>
          <a:lstStyle/>
          <a:p>
            <a:r>
              <a:rPr lang="en-IN" dirty="0"/>
              <a:t>Suppose total buffer capacity is 5000 bytes.</a:t>
            </a:r>
          </a:p>
        </p:txBody>
      </p:sp>
      <p:sp>
        <p:nvSpPr>
          <p:cNvPr id="13" name="TextBox 12">
            <a:extLst>
              <a:ext uri="{FF2B5EF4-FFF2-40B4-BE49-F238E27FC236}">
                <a16:creationId xmlns:a16="http://schemas.microsoft.com/office/drawing/2014/main" id="{F007D25B-8D87-7D4D-340B-81B706DA0CAE}"/>
              </a:ext>
            </a:extLst>
          </p:cNvPr>
          <p:cNvSpPr txBox="1"/>
          <p:nvPr/>
        </p:nvSpPr>
        <p:spPr>
          <a:xfrm>
            <a:off x="5630781" y="5800720"/>
            <a:ext cx="6096000" cy="923330"/>
          </a:xfrm>
          <a:prstGeom prst="rect">
            <a:avLst/>
          </a:prstGeom>
          <a:noFill/>
        </p:spPr>
        <p:txBody>
          <a:bodyPr wrap="square">
            <a:spAutoFit/>
          </a:bodyPr>
          <a:lstStyle/>
          <a:p>
            <a:pPr>
              <a:buNone/>
            </a:pPr>
            <a:r>
              <a:rPr lang="en-IN" dirty="0"/>
              <a:t>So the receiver can keep updating the sender about its available window.</a:t>
            </a:r>
          </a:p>
          <a:p>
            <a:pPr>
              <a:buNone/>
            </a:pPr>
            <a:r>
              <a:rPr lang="en-IN" dirty="0"/>
              <a:t>This is why TCP flow control is </a:t>
            </a:r>
            <a:r>
              <a:rPr lang="en-IN" b="1" dirty="0"/>
              <a:t>dynamic</a:t>
            </a:r>
            <a:r>
              <a:rPr lang="en-IN" dirty="0"/>
              <a:t>.</a:t>
            </a:r>
          </a:p>
        </p:txBody>
      </p:sp>
      <p:sp>
        <p:nvSpPr>
          <p:cNvPr id="15" name="TextBox 14">
            <a:extLst>
              <a:ext uri="{FF2B5EF4-FFF2-40B4-BE49-F238E27FC236}">
                <a16:creationId xmlns:a16="http://schemas.microsoft.com/office/drawing/2014/main" id="{A800EA4C-3C58-9F14-F166-C7F6E5352EC8}"/>
              </a:ext>
            </a:extLst>
          </p:cNvPr>
          <p:cNvSpPr txBox="1"/>
          <p:nvPr/>
        </p:nvSpPr>
        <p:spPr>
          <a:xfrm>
            <a:off x="275844" y="4668254"/>
            <a:ext cx="4584914" cy="1200329"/>
          </a:xfrm>
          <a:prstGeom prst="rect">
            <a:avLst/>
          </a:prstGeom>
          <a:noFill/>
        </p:spPr>
        <p:txBody>
          <a:bodyPr wrap="square">
            <a:spAutoFit/>
          </a:bodyPr>
          <a:lstStyle/>
          <a:p>
            <a:r>
              <a:rPr lang="en-IN" b="1" dirty="0"/>
              <a:t>What is Zero Window?</a:t>
            </a:r>
            <a:br>
              <a:rPr lang="en-IN" dirty="0"/>
            </a:br>
            <a:r>
              <a:rPr lang="en-IN" dirty="0"/>
              <a:t>My receive window currently has no room for more normal data. Stop sending additional data for now.</a:t>
            </a:r>
          </a:p>
        </p:txBody>
      </p:sp>
    </p:spTree>
    <p:extLst>
      <p:ext uri="{BB962C8B-B14F-4D97-AF65-F5344CB8AC3E}">
        <p14:creationId xmlns:p14="http://schemas.microsoft.com/office/powerpoint/2010/main" val="28190291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20731-8F1F-E279-17FE-978EDA8A98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322AE7-E8B3-80DF-DF1A-ECCBDAA7D680}"/>
              </a:ext>
            </a:extLst>
          </p:cNvPr>
          <p:cNvSpPr>
            <a:spLocks noGrp="1"/>
          </p:cNvSpPr>
          <p:nvPr>
            <p:ph type="title"/>
          </p:nvPr>
        </p:nvSpPr>
        <p:spPr>
          <a:xfrm>
            <a:off x="275844" y="495220"/>
            <a:ext cx="11640312" cy="464900"/>
          </a:xfrm>
        </p:spPr>
        <p:txBody>
          <a:bodyPr>
            <a:normAutofit/>
          </a:bodyPr>
          <a:lstStyle/>
          <a:p>
            <a:r>
              <a:rPr lang="en-IN" sz="2400" b="1" dirty="0"/>
              <a:t>Why does TCP need a Sliding Window?</a:t>
            </a:r>
          </a:p>
        </p:txBody>
      </p:sp>
      <p:pic>
        <p:nvPicPr>
          <p:cNvPr id="4" name="Picture 3">
            <a:extLst>
              <a:ext uri="{FF2B5EF4-FFF2-40B4-BE49-F238E27FC236}">
                <a16:creationId xmlns:a16="http://schemas.microsoft.com/office/drawing/2014/main" id="{7DDEE147-98AC-4896-A1A2-04AF292F77F3}"/>
              </a:ext>
            </a:extLst>
          </p:cNvPr>
          <p:cNvPicPr>
            <a:picLocks noChangeAspect="1"/>
          </p:cNvPicPr>
          <p:nvPr/>
        </p:nvPicPr>
        <p:blipFill>
          <a:blip r:embed="rId2"/>
          <a:stretch>
            <a:fillRect/>
          </a:stretch>
        </p:blipFill>
        <p:spPr>
          <a:xfrm>
            <a:off x="275843" y="1125734"/>
            <a:ext cx="3782809" cy="4120034"/>
          </a:xfrm>
          <a:prstGeom prst="rect">
            <a:avLst/>
          </a:prstGeom>
        </p:spPr>
      </p:pic>
      <p:sp>
        <p:nvSpPr>
          <p:cNvPr id="6" name="TextBox 5">
            <a:extLst>
              <a:ext uri="{FF2B5EF4-FFF2-40B4-BE49-F238E27FC236}">
                <a16:creationId xmlns:a16="http://schemas.microsoft.com/office/drawing/2014/main" id="{50116EE9-71BB-F3C1-B739-38F25FD249E7}"/>
              </a:ext>
            </a:extLst>
          </p:cNvPr>
          <p:cNvSpPr txBox="1"/>
          <p:nvPr/>
        </p:nvSpPr>
        <p:spPr>
          <a:xfrm>
            <a:off x="4058652" y="1154426"/>
            <a:ext cx="7857504" cy="2585323"/>
          </a:xfrm>
          <a:prstGeom prst="rect">
            <a:avLst/>
          </a:prstGeom>
          <a:noFill/>
        </p:spPr>
        <p:txBody>
          <a:bodyPr wrap="square">
            <a:spAutoFit/>
          </a:bodyPr>
          <a:lstStyle/>
          <a:p>
            <a:pPr>
              <a:buNone/>
            </a:pPr>
            <a:r>
              <a:rPr lang="en-IN" dirty="0"/>
              <a:t>The sender sends some data and then waits for its acknowledgment before sending more.</a:t>
            </a:r>
          </a:p>
          <a:p>
            <a:pPr>
              <a:buNone/>
            </a:pPr>
            <a:endParaRPr lang="en-IN" dirty="0"/>
          </a:p>
          <a:p>
            <a:pPr>
              <a:buNone/>
            </a:pPr>
            <a:r>
              <a:rPr lang="en-IN" dirty="0"/>
              <a:t>This wastes time, especially when the network delay is large.</a:t>
            </a:r>
          </a:p>
          <a:p>
            <a:pPr>
              <a:buNone/>
            </a:pPr>
            <a:endParaRPr lang="en-IN" dirty="0"/>
          </a:p>
          <a:p>
            <a:pPr>
              <a:buNone/>
            </a:pPr>
            <a:r>
              <a:rPr lang="en-IN" dirty="0"/>
              <a:t>For example, suppose:</a:t>
            </a:r>
          </a:p>
          <a:p>
            <a:pPr marL="342900" lvl="0" indent="-342900">
              <a:buFont typeface="Arial" panose="020B0604020202020204" pitchFamily="34" charset="0"/>
              <a:buChar char="•"/>
            </a:pPr>
            <a:r>
              <a:rPr lang="en-IN" dirty="0"/>
              <a:t>Sender can send data very quickly. </a:t>
            </a:r>
          </a:p>
          <a:p>
            <a:pPr marL="342900" lvl="0" indent="-342900">
              <a:buFont typeface="Arial" panose="020B0604020202020204" pitchFamily="34" charset="0"/>
              <a:buChar char="•"/>
            </a:pPr>
            <a:r>
              <a:rPr lang="en-IN" dirty="0"/>
              <a:t>Receiver is far away. </a:t>
            </a:r>
          </a:p>
          <a:p>
            <a:pPr marL="342900" lvl="0" indent="-342900">
              <a:buFont typeface="Arial" panose="020B0604020202020204" pitchFamily="34" charset="0"/>
              <a:buChar char="•"/>
            </a:pPr>
            <a:r>
              <a:rPr lang="en-IN" dirty="0"/>
              <a:t>ACK takes time to return.</a:t>
            </a:r>
          </a:p>
        </p:txBody>
      </p:sp>
      <p:sp>
        <p:nvSpPr>
          <p:cNvPr id="8" name="TextBox 7">
            <a:extLst>
              <a:ext uri="{FF2B5EF4-FFF2-40B4-BE49-F238E27FC236}">
                <a16:creationId xmlns:a16="http://schemas.microsoft.com/office/drawing/2014/main" id="{5DE0BD7C-6609-6BDE-E232-2E62FC815CCA}"/>
              </a:ext>
            </a:extLst>
          </p:cNvPr>
          <p:cNvSpPr txBox="1"/>
          <p:nvPr/>
        </p:nvSpPr>
        <p:spPr>
          <a:xfrm>
            <a:off x="4235116" y="4045439"/>
            <a:ext cx="6096000" cy="1477328"/>
          </a:xfrm>
          <a:prstGeom prst="rect">
            <a:avLst/>
          </a:prstGeom>
          <a:noFill/>
        </p:spPr>
        <p:txBody>
          <a:bodyPr wrap="square">
            <a:spAutoFit/>
          </a:bodyPr>
          <a:lstStyle/>
          <a:p>
            <a:pPr>
              <a:buNone/>
            </a:pPr>
            <a:r>
              <a:rPr lang="en-IN" dirty="0"/>
              <a:t>TCP can do better.</a:t>
            </a:r>
          </a:p>
          <a:p>
            <a:pPr>
              <a:buNone/>
            </a:pPr>
            <a:endParaRPr lang="en-IN" dirty="0"/>
          </a:p>
          <a:p>
            <a:pPr>
              <a:buNone/>
            </a:pPr>
            <a:r>
              <a:rPr lang="en-IN" dirty="0"/>
              <a:t>It can allow </a:t>
            </a:r>
            <a:r>
              <a:rPr lang="en-IN" b="1" dirty="0"/>
              <a:t>multiple bytes/segments to be in transit before waiting for acknowledgments</a:t>
            </a:r>
            <a:r>
              <a:rPr lang="en-IN" dirty="0"/>
              <a:t>, as long as the allowed window is not exceeded.</a:t>
            </a:r>
          </a:p>
        </p:txBody>
      </p:sp>
    </p:spTree>
    <p:extLst>
      <p:ext uri="{BB962C8B-B14F-4D97-AF65-F5344CB8AC3E}">
        <p14:creationId xmlns:p14="http://schemas.microsoft.com/office/powerpoint/2010/main" val="42461972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7F09-8DF7-C4FE-C220-428A5C21A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2638D-D189-0900-9064-FEA25FB40806}"/>
              </a:ext>
            </a:extLst>
          </p:cNvPr>
          <p:cNvSpPr>
            <a:spLocks noGrp="1"/>
          </p:cNvSpPr>
          <p:nvPr>
            <p:ph type="title"/>
          </p:nvPr>
        </p:nvSpPr>
        <p:spPr>
          <a:xfrm>
            <a:off x="275844" y="495220"/>
            <a:ext cx="11640312" cy="464900"/>
          </a:xfrm>
        </p:spPr>
        <p:txBody>
          <a:bodyPr>
            <a:normAutofit/>
          </a:bodyPr>
          <a:lstStyle/>
          <a:p>
            <a:r>
              <a:rPr lang="en-IN" sz="2400" b="1" dirty="0"/>
              <a:t>TCP Sliding Window</a:t>
            </a:r>
          </a:p>
        </p:txBody>
      </p:sp>
      <p:sp>
        <p:nvSpPr>
          <p:cNvPr id="5" name="TextBox 4">
            <a:extLst>
              <a:ext uri="{FF2B5EF4-FFF2-40B4-BE49-F238E27FC236}">
                <a16:creationId xmlns:a16="http://schemas.microsoft.com/office/drawing/2014/main" id="{2541FBC6-0217-8CCE-899C-719C447F233F}"/>
              </a:ext>
            </a:extLst>
          </p:cNvPr>
          <p:cNvSpPr txBox="1"/>
          <p:nvPr/>
        </p:nvSpPr>
        <p:spPr>
          <a:xfrm>
            <a:off x="136358" y="960120"/>
            <a:ext cx="11919284" cy="646331"/>
          </a:xfrm>
          <a:prstGeom prst="rect">
            <a:avLst/>
          </a:prstGeom>
          <a:noFill/>
        </p:spPr>
        <p:txBody>
          <a:bodyPr wrap="square">
            <a:spAutoFit/>
          </a:bodyPr>
          <a:lstStyle/>
          <a:p>
            <a:r>
              <a:rPr lang="en-IN" dirty="0"/>
              <a:t>TCP Sliding Window allows the sender to have multiple bytes of data outstanding before receiving their acknowledgments, while staying within the allowed window.</a:t>
            </a:r>
          </a:p>
        </p:txBody>
      </p:sp>
      <p:sp>
        <p:nvSpPr>
          <p:cNvPr id="9" name="TextBox 8">
            <a:extLst>
              <a:ext uri="{FF2B5EF4-FFF2-40B4-BE49-F238E27FC236}">
                <a16:creationId xmlns:a16="http://schemas.microsoft.com/office/drawing/2014/main" id="{3C160081-83C7-A931-A7F2-96D0A2777FC3}"/>
              </a:ext>
            </a:extLst>
          </p:cNvPr>
          <p:cNvSpPr txBox="1"/>
          <p:nvPr/>
        </p:nvSpPr>
        <p:spPr>
          <a:xfrm>
            <a:off x="136358" y="1606451"/>
            <a:ext cx="11779798" cy="369332"/>
          </a:xfrm>
          <a:prstGeom prst="rect">
            <a:avLst/>
          </a:prstGeom>
          <a:noFill/>
        </p:spPr>
        <p:txBody>
          <a:bodyPr wrap="square">
            <a:spAutoFit/>
          </a:bodyPr>
          <a:lstStyle/>
          <a:p>
            <a:pPr>
              <a:buNone/>
            </a:pPr>
            <a:r>
              <a:rPr lang="en-IN" b="1" dirty="0"/>
              <a:t>Outstanding data</a:t>
            </a:r>
            <a:r>
              <a:rPr lang="en-IN" dirty="0"/>
              <a:t> means: Data that has been sent but has </a:t>
            </a:r>
            <a:r>
              <a:rPr lang="en-IN" b="1" dirty="0"/>
              <a:t>not yet been acknowledged</a:t>
            </a:r>
            <a:r>
              <a:rPr lang="en-IN" dirty="0"/>
              <a:t>.</a:t>
            </a:r>
          </a:p>
        </p:txBody>
      </p:sp>
      <p:sp>
        <p:nvSpPr>
          <p:cNvPr id="11" name="TextBox 10">
            <a:extLst>
              <a:ext uri="{FF2B5EF4-FFF2-40B4-BE49-F238E27FC236}">
                <a16:creationId xmlns:a16="http://schemas.microsoft.com/office/drawing/2014/main" id="{02076C83-315C-85D3-3962-934B81D891F9}"/>
              </a:ext>
            </a:extLst>
          </p:cNvPr>
          <p:cNvSpPr txBox="1"/>
          <p:nvPr/>
        </p:nvSpPr>
        <p:spPr>
          <a:xfrm>
            <a:off x="275844" y="2252782"/>
            <a:ext cx="6096000" cy="369332"/>
          </a:xfrm>
          <a:prstGeom prst="rect">
            <a:avLst/>
          </a:prstGeom>
          <a:noFill/>
        </p:spPr>
        <p:txBody>
          <a:bodyPr wrap="square">
            <a:spAutoFit/>
          </a:bodyPr>
          <a:lstStyle/>
          <a:p>
            <a:r>
              <a:rPr lang="en-IN" b="1" dirty="0"/>
              <a:t>TCP Window is based on BYTES</a:t>
            </a:r>
          </a:p>
        </p:txBody>
      </p:sp>
      <p:sp>
        <p:nvSpPr>
          <p:cNvPr id="13" name="TextBox 12">
            <a:extLst>
              <a:ext uri="{FF2B5EF4-FFF2-40B4-BE49-F238E27FC236}">
                <a16:creationId xmlns:a16="http://schemas.microsoft.com/office/drawing/2014/main" id="{4E01F8D0-E225-6FA9-7144-F602AA2791F4}"/>
              </a:ext>
            </a:extLst>
          </p:cNvPr>
          <p:cNvSpPr txBox="1"/>
          <p:nvPr/>
        </p:nvSpPr>
        <p:spPr>
          <a:xfrm>
            <a:off x="275843" y="2857874"/>
            <a:ext cx="11434893" cy="2308324"/>
          </a:xfrm>
          <a:prstGeom prst="rect">
            <a:avLst/>
          </a:prstGeom>
          <a:noFill/>
        </p:spPr>
        <p:txBody>
          <a:bodyPr wrap="square">
            <a:spAutoFit/>
          </a:bodyPr>
          <a:lstStyle/>
          <a:p>
            <a:pPr>
              <a:buNone/>
            </a:pPr>
            <a:r>
              <a:rPr lang="en-IN" dirty="0"/>
              <a:t>This is the major difference from the way we studied sliding-window protocols in the Data Link Layer.</a:t>
            </a:r>
          </a:p>
          <a:p>
            <a:pPr>
              <a:buNone/>
            </a:pPr>
            <a:r>
              <a:rPr lang="en-IN" dirty="0"/>
              <a:t>In DLL, we commonly talked about:</a:t>
            </a:r>
          </a:p>
          <a:p>
            <a:pPr rtl="0">
              <a:buNone/>
            </a:pPr>
            <a:r>
              <a:rPr lang="en-IN" dirty="0">
                <a:latin typeface="+mn-lt"/>
              </a:rPr>
              <a:t>Frame 0</a:t>
            </a:r>
          </a:p>
          <a:p>
            <a:pPr rtl="0">
              <a:buNone/>
            </a:pPr>
            <a:r>
              <a:rPr lang="en-IN" dirty="0">
                <a:latin typeface="+mn-lt"/>
              </a:rPr>
              <a:t>Frame 1</a:t>
            </a:r>
          </a:p>
          <a:p>
            <a:pPr rtl="0">
              <a:buNone/>
            </a:pPr>
            <a:r>
              <a:rPr lang="en-IN" dirty="0">
                <a:latin typeface="+mn-lt"/>
              </a:rPr>
              <a:t>Frame 2</a:t>
            </a:r>
          </a:p>
          <a:p>
            <a:pPr rtl="0">
              <a:buNone/>
            </a:pPr>
            <a:r>
              <a:rPr lang="en-IN" dirty="0">
                <a:latin typeface="+mn-lt"/>
              </a:rPr>
              <a:t>Frame 3</a:t>
            </a:r>
          </a:p>
          <a:p>
            <a:pPr rtl="0">
              <a:buNone/>
            </a:pPr>
            <a:endParaRPr lang="en-IN" dirty="0">
              <a:latin typeface="+mn-lt"/>
            </a:endParaRPr>
          </a:p>
          <a:p>
            <a:pPr>
              <a:buNone/>
            </a:pPr>
            <a:r>
              <a:rPr lang="en-IN" dirty="0"/>
              <a:t>For example:</a:t>
            </a:r>
          </a:p>
        </p:txBody>
      </p:sp>
      <p:pic>
        <p:nvPicPr>
          <p:cNvPr id="15" name="Picture 14">
            <a:extLst>
              <a:ext uri="{FF2B5EF4-FFF2-40B4-BE49-F238E27FC236}">
                <a16:creationId xmlns:a16="http://schemas.microsoft.com/office/drawing/2014/main" id="{E66FAD21-B3E6-DB7A-10CD-65B611785FDB}"/>
              </a:ext>
            </a:extLst>
          </p:cNvPr>
          <p:cNvPicPr>
            <a:picLocks noChangeAspect="1"/>
          </p:cNvPicPr>
          <p:nvPr/>
        </p:nvPicPr>
        <p:blipFill>
          <a:blip r:embed="rId2"/>
          <a:stretch>
            <a:fillRect/>
          </a:stretch>
        </p:blipFill>
        <p:spPr>
          <a:xfrm>
            <a:off x="275842" y="5251549"/>
            <a:ext cx="2707989" cy="1421967"/>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3004C77-1CF3-2AFF-A290-4166B94518FE}"/>
                  </a:ext>
                </a:extLst>
              </p:cNvPr>
              <p:cNvSpPr txBox="1"/>
              <p:nvPr/>
            </p:nvSpPr>
            <p:spPr>
              <a:xfrm>
                <a:off x="3609474" y="5126002"/>
                <a:ext cx="6096000" cy="1543756"/>
              </a:xfrm>
              <a:prstGeom prst="rect">
                <a:avLst/>
              </a:prstGeom>
              <a:noFill/>
            </p:spPr>
            <p:txBody>
              <a:bodyPr wrap="square">
                <a:spAutoFit/>
              </a:bodyPr>
              <a:lstStyle/>
              <a:p>
                <a:pPr>
                  <a:buNone/>
                </a:pPr>
                <a:r>
                  <a:rPr lang="en-IN" dirty="0"/>
                  <a:t>But TCP works with a </a:t>
                </a:r>
                <a:r>
                  <a:rPr lang="en-IN" b="1" dirty="0"/>
                  <a:t>byte stream</a:t>
                </a:r>
                <a:r>
                  <a:rPr lang="en-IN" dirty="0"/>
                  <a:t>.</a:t>
                </a:r>
              </a:p>
              <a:p>
                <a:pPr>
                  <a:buNone/>
                </a:pPr>
                <a:r>
                  <a:rPr lang="en-IN" dirty="0"/>
                  <a:t>Therefore, TCP's window is based on:</a:t>
                </a:r>
              </a:p>
              <a:p>
                <a:pPr>
                  <a:buNone/>
                </a:pPr>
                <a14:m>
                  <m:oMathPara xmlns:m="http://schemas.openxmlformats.org/officeDocument/2006/math">
                    <m:oMath>
                      <m:borderBox>
                        <m:borderBoxPr>
                          <m:ctrlPr>
                            <a:rPr lang="en-IN" b="0" i="0"/>
                          </m:ctrlPr>
                        </m:borderBoxPr>
                        <m:e>
                          <m:r>
                            <m:rPr>
                              <m:nor/>
                            </m:rPr>
                            <a:rPr lang="en-IN" b="0" i="0"/>
                            <m:t>Bytes</m:t>
                          </m:r>
                        </m:e>
                      </m:borderBox>
                    </m:oMath>
                  </m:oMathPara>
                </a14:m>
                <a:endParaRPr lang="en-IN" b="0" dirty="0"/>
              </a:p>
              <a:p>
                <a:pPr>
                  <a:buNone/>
                </a:pPr>
                <a:r>
                  <a:rPr lang="en-IN" dirty="0"/>
                  <a:t>For example:</a:t>
                </a:r>
              </a:p>
              <a:p>
                <a:pPr rtl="0">
                  <a:buNone/>
                </a:pPr>
                <a:r>
                  <a:rPr lang="en-IN" dirty="0">
                    <a:latin typeface="+mn-lt"/>
                  </a:rPr>
                  <a:t>Receive Window = 4000 bytes</a:t>
                </a:r>
                <a:endParaRPr lang="en-IN" dirty="0">
                  <a:latin typeface="Courier New" panose="02070309020205020404" pitchFamily="49" charset="0"/>
                </a:endParaRPr>
              </a:p>
            </p:txBody>
          </p:sp>
        </mc:Choice>
        <mc:Fallback xmlns="">
          <p:sp>
            <p:nvSpPr>
              <p:cNvPr id="17" name="TextBox 16">
                <a:extLst>
                  <a:ext uri="{FF2B5EF4-FFF2-40B4-BE49-F238E27FC236}">
                    <a16:creationId xmlns:a16="http://schemas.microsoft.com/office/drawing/2014/main" id="{C3004C77-1CF3-2AFF-A290-4166B94518FE}"/>
                  </a:ext>
                </a:extLst>
              </p:cNvPr>
              <p:cNvSpPr txBox="1">
                <a:spLocks noRot="1" noChangeAspect="1" noMove="1" noResize="1" noEditPoints="1" noAdjustHandles="1" noChangeArrowheads="1" noChangeShapeType="1" noTextEdit="1"/>
              </p:cNvSpPr>
              <p:nvPr/>
            </p:nvSpPr>
            <p:spPr>
              <a:xfrm>
                <a:off x="3609474" y="5126002"/>
                <a:ext cx="6096000" cy="1543756"/>
              </a:xfrm>
              <a:prstGeom prst="rect">
                <a:avLst/>
              </a:prstGeom>
              <a:blipFill>
                <a:blip r:embed="rId3"/>
                <a:stretch>
                  <a:fillRect l="-800" t="-2372" b="-4743"/>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E6D94AAB-3E4A-C6A7-2D5E-6A505BEF915B}"/>
              </a:ext>
            </a:extLst>
          </p:cNvPr>
          <p:cNvSpPr txBox="1"/>
          <p:nvPr/>
        </p:nvSpPr>
        <p:spPr>
          <a:xfrm>
            <a:off x="7748337" y="4374386"/>
            <a:ext cx="3914274" cy="2308324"/>
          </a:xfrm>
          <a:prstGeom prst="rect">
            <a:avLst/>
          </a:prstGeom>
          <a:noFill/>
        </p:spPr>
        <p:txBody>
          <a:bodyPr wrap="square">
            <a:spAutoFit/>
          </a:bodyPr>
          <a:lstStyle/>
          <a:p>
            <a:r>
              <a:rPr lang="en-IN" b="1" dirty="0"/>
              <a:t>Need for Window?</a:t>
            </a:r>
            <a:br>
              <a:rPr lang="en-IN" dirty="0"/>
            </a:br>
            <a:br>
              <a:rPr lang="en-IN" dirty="0"/>
            </a:br>
            <a:r>
              <a:rPr lang="en-IN" dirty="0" err="1"/>
              <a:t>Window</a:t>
            </a:r>
            <a:r>
              <a:rPr lang="en-IN" dirty="0"/>
              <a:t> allows the sender to send multiple bytes of data without waiting after every small transmission, but it also puts a limit on how much data can be sent before the window must move or change.</a:t>
            </a:r>
          </a:p>
        </p:txBody>
      </p:sp>
    </p:spTree>
    <p:extLst>
      <p:ext uri="{BB962C8B-B14F-4D97-AF65-F5344CB8AC3E}">
        <p14:creationId xmlns:p14="http://schemas.microsoft.com/office/powerpoint/2010/main" val="28827800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CF7E7-E1CE-B4C3-111A-A3760BE3D8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6DB65C4-1A7B-95A1-B8ED-30A10DD6FB80}"/>
              </a:ext>
            </a:extLst>
          </p:cNvPr>
          <p:cNvSpPr txBox="1"/>
          <p:nvPr/>
        </p:nvSpPr>
        <p:spPr>
          <a:xfrm>
            <a:off x="304800" y="619541"/>
            <a:ext cx="6096000" cy="5078313"/>
          </a:xfrm>
          <a:prstGeom prst="rect">
            <a:avLst/>
          </a:prstGeom>
          <a:noFill/>
        </p:spPr>
        <p:txBody>
          <a:bodyPr wrap="square">
            <a:spAutoFit/>
          </a:bodyPr>
          <a:lstStyle/>
          <a:p>
            <a:pPr>
              <a:buNone/>
            </a:pPr>
            <a:r>
              <a:rPr lang="en-IN" b="1" dirty="0"/>
              <a:t>TCP Window works with BYTES</a:t>
            </a:r>
          </a:p>
          <a:p>
            <a:pPr>
              <a:buNone/>
            </a:pPr>
            <a:r>
              <a:rPr lang="en-IN" dirty="0"/>
              <a:t>This is important. TCP treats application data as a </a:t>
            </a:r>
            <a:r>
              <a:rPr lang="en-IN" b="1" dirty="0"/>
              <a:t>stream of bytes</a:t>
            </a:r>
            <a:r>
              <a:rPr lang="en-IN" dirty="0"/>
              <a:t>.</a:t>
            </a:r>
          </a:p>
          <a:p>
            <a:pPr>
              <a:buNone/>
            </a:pPr>
            <a:endParaRPr lang="en-IN" dirty="0"/>
          </a:p>
          <a:p>
            <a:pPr>
              <a:buNone/>
            </a:pPr>
            <a:r>
              <a:rPr lang="en-IN" dirty="0"/>
              <a:t>Suppose we have:</a:t>
            </a:r>
          </a:p>
          <a:p>
            <a:pPr rtl="0">
              <a:buNone/>
            </a:pPr>
            <a:r>
              <a:rPr lang="en-IN" dirty="0">
                <a:latin typeface="+mn-lt"/>
              </a:rPr>
              <a:t>Byte numbers:</a:t>
            </a:r>
          </a:p>
          <a:p>
            <a:pPr rtl="0">
              <a:buNone/>
            </a:pPr>
            <a:endParaRPr lang="en-IN" dirty="0">
              <a:latin typeface="+mn-lt"/>
            </a:endParaRPr>
          </a:p>
          <a:p>
            <a:pPr rtl="0">
              <a:buNone/>
            </a:pPr>
            <a:r>
              <a:rPr lang="en-IN" dirty="0">
                <a:latin typeface="+mn-lt"/>
              </a:rPr>
              <a:t>1000 1001 1002 1003 1004 1005 ...</a:t>
            </a:r>
          </a:p>
          <a:p>
            <a:pPr>
              <a:buNone/>
            </a:pPr>
            <a:endParaRPr lang="en-IN" dirty="0"/>
          </a:p>
          <a:p>
            <a:pPr>
              <a:buNone/>
            </a:pPr>
            <a:r>
              <a:rPr lang="en-IN" dirty="0"/>
              <a:t>Therefore TCP's window is also described using </a:t>
            </a:r>
            <a:r>
              <a:rPr lang="en-IN" b="1" dirty="0"/>
              <a:t>byte sequence numbers</a:t>
            </a:r>
            <a:r>
              <a:rPr lang="en-IN" dirty="0"/>
              <a:t>.</a:t>
            </a:r>
          </a:p>
          <a:p>
            <a:pPr>
              <a:buNone/>
            </a:pPr>
            <a:endParaRPr lang="en-IN" dirty="0"/>
          </a:p>
          <a:p>
            <a:pPr>
              <a:buNone/>
            </a:pPr>
            <a:r>
              <a:rPr lang="en-IN" dirty="0"/>
              <a:t>Let's say:</a:t>
            </a:r>
          </a:p>
          <a:p>
            <a:pPr rtl="0">
              <a:buNone/>
            </a:pPr>
            <a:r>
              <a:rPr lang="en-IN" dirty="0">
                <a:latin typeface="+mn-lt"/>
              </a:rPr>
              <a:t>Next byte = 1000</a:t>
            </a:r>
          </a:p>
          <a:p>
            <a:pPr rtl="0">
              <a:buNone/>
            </a:pPr>
            <a:r>
              <a:rPr lang="en-IN" dirty="0">
                <a:latin typeface="+mn-lt"/>
              </a:rPr>
              <a:t>Window Size = 4000 bytes</a:t>
            </a:r>
          </a:p>
          <a:p>
            <a:pPr>
              <a:buNone/>
            </a:pPr>
            <a:endParaRPr lang="en-IN" dirty="0"/>
          </a:p>
          <a:p>
            <a:pPr>
              <a:buNone/>
            </a:pPr>
            <a:r>
              <a:rPr lang="en-IN" dirty="0"/>
              <a:t>Then the window covers: </a:t>
            </a:r>
            <a:r>
              <a:rPr lang="en-IN" dirty="0">
                <a:latin typeface="+mn-lt"/>
              </a:rPr>
              <a:t>1000 to 4999</a:t>
            </a:r>
          </a:p>
          <a:p>
            <a:pPr>
              <a:buNone/>
            </a:pPr>
            <a:r>
              <a:rPr lang="en-IN" dirty="0"/>
              <a:t>because: 1000 + 4000 – 1 = 4999</a:t>
            </a:r>
          </a:p>
        </p:txBody>
      </p:sp>
      <p:pic>
        <p:nvPicPr>
          <p:cNvPr id="6" name="Picture 5">
            <a:extLst>
              <a:ext uri="{FF2B5EF4-FFF2-40B4-BE49-F238E27FC236}">
                <a16:creationId xmlns:a16="http://schemas.microsoft.com/office/drawing/2014/main" id="{BE716AB5-EAD7-D69B-0BAC-71FF05AFE3CD}"/>
              </a:ext>
            </a:extLst>
          </p:cNvPr>
          <p:cNvPicPr>
            <a:picLocks noChangeAspect="1"/>
          </p:cNvPicPr>
          <p:nvPr/>
        </p:nvPicPr>
        <p:blipFill>
          <a:blip r:embed="rId2"/>
          <a:stretch>
            <a:fillRect/>
          </a:stretch>
        </p:blipFill>
        <p:spPr>
          <a:xfrm>
            <a:off x="6530182" y="748582"/>
            <a:ext cx="4314281" cy="2680417"/>
          </a:xfrm>
          <a:prstGeom prst="rect">
            <a:avLst/>
          </a:prstGeom>
        </p:spPr>
      </p:pic>
      <p:sp>
        <p:nvSpPr>
          <p:cNvPr id="8" name="TextBox 7">
            <a:extLst>
              <a:ext uri="{FF2B5EF4-FFF2-40B4-BE49-F238E27FC236}">
                <a16:creationId xmlns:a16="http://schemas.microsoft.com/office/drawing/2014/main" id="{ABCF97F7-C946-561C-485B-154F70036A4E}"/>
              </a:ext>
            </a:extLst>
          </p:cNvPr>
          <p:cNvSpPr txBox="1"/>
          <p:nvPr/>
        </p:nvSpPr>
        <p:spPr>
          <a:xfrm>
            <a:off x="6706644" y="4136540"/>
            <a:ext cx="4314282" cy="646331"/>
          </a:xfrm>
          <a:prstGeom prst="rect">
            <a:avLst/>
          </a:prstGeom>
          <a:noFill/>
        </p:spPr>
        <p:txBody>
          <a:bodyPr wrap="square">
            <a:spAutoFit/>
          </a:bodyPr>
          <a:lstStyle/>
          <a:p>
            <a:r>
              <a:rPr lang="en-IN" dirty="0"/>
              <a:t>This means the sender has a 4000-byte range available according to this window.</a:t>
            </a:r>
          </a:p>
        </p:txBody>
      </p:sp>
    </p:spTree>
    <p:extLst>
      <p:ext uri="{BB962C8B-B14F-4D97-AF65-F5344CB8AC3E}">
        <p14:creationId xmlns:p14="http://schemas.microsoft.com/office/powerpoint/2010/main" val="27914103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8EA22-A686-9A79-4BBF-E15023498B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4DB723-9A74-F9EA-6D36-A210DF4D7CF5}"/>
              </a:ext>
            </a:extLst>
          </p:cNvPr>
          <p:cNvSpPr txBox="1"/>
          <p:nvPr/>
        </p:nvSpPr>
        <p:spPr>
          <a:xfrm>
            <a:off x="240632" y="592830"/>
            <a:ext cx="6096000" cy="2031325"/>
          </a:xfrm>
          <a:prstGeom prst="rect">
            <a:avLst/>
          </a:prstGeom>
          <a:noFill/>
        </p:spPr>
        <p:txBody>
          <a:bodyPr wrap="square">
            <a:spAutoFit/>
          </a:bodyPr>
          <a:lstStyle/>
          <a:p>
            <a:pPr>
              <a:buNone/>
            </a:pPr>
            <a:r>
              <a:rPr lang="en-IN" b="1" dirty="0"/>
              <a:t>How will these 4000 bytes actually be sent?</a:t>
            </a:r>
          </a:p>
          <a:p>
            <a:pPr>
              <a:buNone/>
            </a:pPr>
            <a:r>
              <a:rPr lang="en-IN" dirty="0"/>
              <a:t>The sender does not have to put all 4000 bytes into one TCP segment.</a:t>
            </a:r>
          </a:p>
          <a:p>
            <a:pPr>
              <a:buNone/>
            </a:pPr>
            <a:r>
              <a:rPr lang="en-IN" dirty="0"/>
              <a:t>For easy understanding, suppose each TCP segment carries:</a:t>
            </a:r>
          </a:p>
          <a:p>
            <a:r>
              <a:rPr lang="en-IN" dirty="0">
                <a:latin typeface="+mn-lt"/>
              </a:rPr>
              <a:t>1000 bytes.</a:t>
            </a:r>
            <a:br>
              <a:rPr lang="en-IN" dirty="0">
                <a:latin typeface="+mn-lt"/>
              </a:rPr>
            </a:br>
            <a:br>
              <a:rPr lang="en-IN" dirty="0">
                <a:latin typeface="+mn-lt"/>
              </a:rPr>
            </a:br>
            <a:r>
              <a:rPr lang="en-IN" dirty="0"/>
              <a:t>Then the sender can divide the data like this:</a:t>
            </a:r>
            <a:endParaRPr lang="en-IN" dirty="0">
              <a:latin typeface="Courier New" panose="02070309020205020404" pitchFamily="49" charset="0"/>
            </a:endParaRPr>
          </a:p>
        </p:txBody>
      </p:sp>
      <p:graphicFrame>
        <p:nvGraphicFramePr>
          <p:cNvPr id="5" name="Table 4">
            <a:extLst>
              <a:ext uri="{FF2B5EF4-FFF2-40B4-BE49-F238E27FC236}">
                <a16:creationId xmlns:a16="http://schemas.microsoft.com/office/drawing/2014/main" id="{B9085A0D-0623-BE00-2273-236A56ED0429}"/>
              </a:ext>
            </a:extLst>
          </p:cNvPr>
          <p:cNvGraphicFramePr>
            <a:graphicFrameLocks noGrp="1"/>
          </p:cNvGraphicFramePr>
          <p:nvPr>
            <p:extLst>
              <p:ext uri="{D42A27DB-BD31-4B8C-83A1-F6EECF244321}">
                <p14:modId xmlns:p14="http://schemas.microsoft.com/office/powerpoint/2010/main" val="3660200858"/>
              </p:ext>
            </p:extLst>
          </p:nvPr>
        </p:nvGraphicFramePr>
        <p:xfrm>
          <a:off x="240632" y="2789098"/>
          <a:ext cx="5122779" cy="2123440"/>
        </p:xfrm>
        <a:graphic>
          <a:graphicData uri="http://schemas.openxmlformats.org/drawingml/2006/table">
            <a:tbl>
              <a:tblPr firstRow="1" bandRow="1">
                <a:tableStyleId>{5C22544A-7EE6-4342-B048-85BDC9FD1C3A}</a:tableStyleId>
              </a:tblPr>
              <a:tblGrid>
                <a:gridCol w="1707593">
                  <a:extLst>
                    <a:ext uri="{9D8B030D-6E8A-4147-A177-3AD203B41FA5}">
                      <a16:colId xmlns:a16="http://schemas.microsoft.com/office/drawing/2014/main" val="3272806545"/>
                    </a:ext>
                  </a:extLst>
                </a:gridCol>
                <a:gridCol w="1707593">
                  <a:extLst>
                    <a:ext uri="{9D8B030D-6E8A-4147-A177-3AD203B41FA5}">
                      <a16:colId xmlns:a16="http://schemas.microsoft.com/office/drawing/2014/main" val="3683471004"/>
                    </a:ext>
                  </a:extLst>
                </a:gridCol>
                <a:gridCol w="1707593">
                  <a:extLst>
                    <a:ext uri="{9D8B030D-6E8A-4147-A177-3AD203B41FA5}">
                      <a16:colId xmlns:a16="http://schemas.microsoft.com/office/drawing/2014/main" val="1053206834"/>
                    </a:ext>
                  </a:extLst>
                </a:gridCol>
              </a:tblGrid>
              <a:tr h="370840">
                <a:tc>
                  <a:txBody>
                    <a:bodyPr/>
                    <a:lstStyle/>
                    <a:p>
                      <a:pPr algn="ctr">
                        <a:buNone/>
                      </a:pPr>
                      <a:r>
                        <a:rPr lang="en-IN" dirty="0"/>
                        <a:t>TCP Segment</a:t>
                      </a:r>
                    </a:p>
                  </a:txBody>
                  <a:tcPr anchor="ctr"/>
                </a:tc>
                <a:tc>
                  <a:txBody>
                    <a:bodyPr/>
                    <a:lstStyle/>
                    <a:p>
                      <a:pPr algn="ctr">
                        <a:buNone/>
                      </a:pPr>
                      <a:r>
                        <a:rPr lang="en-IN"/>
                        <a:t>Sequence Number</a:t>
                      </a:r>
                    </a:p>
                  </a:txBody>
                  <a:tcPr anchor="ctr"/>
                </a:tc>
                <a:tc>
                  <a:txBody>
                    <a:bodyPr/>
                    <a:lstStyle/>
                    <a:p>
                      <a:pPr algn="ctr">
                        <a:buNone/>
                      </a:pPr>
                      <a:r>
                        <a:rPr lang="en-IN"/>
                        <a:t>Data Bytes</a:t>
                      </a:r>
                    </a:p>
                  </a:txBody>
                  <a:tcPr anchor="ctr"/>
                </a:tc>
                <a:extLst>
                  <a:ext uri="{0D108BD9-81ED-4DB2-BD59-A6C34878D82A}">
                    <a16:rowId xmlns:a16="http://schemas.microsoft.com/office/drawing/2014/main" val="1715103000"/>
                  </a:ext>
                </a:extLst>
              </a:tr>
              <a:tr h="370840">
                <a:tc>
                  <a:txBody>
                    <a:bodyPr/>
                    <a:lstStyle/>
                    <a:p>
                      <a:pPr algn="ctr">
                        <a:buNone/>
                      </a:pPr>
                      <a:r>
                        <a:rPr lang="en-IN"/>
                        <a:t>Segment 1</a:t>
                      </a:r>
                    </a:p>
                  </a:txBody>
                  <a:tcPr anchor="ctr"/>
                </a:tc>
                <a:tc>
                  <a:txBody>
                    <a:bodyPr/>
                    <a:lstStyle/>
                    <a:p>
                      <a:pPr algn="ctr">
                        <a:buNone/>
                      </a:pPr>
                      <a:r>
                        <a:rPr lang="en-IN"/>
                        <a:t>1000</a:t>
                      </a:r>
                    </a:p>
                  </a:txBody>
                  <a:tcPr anchor="ctr"/>
                </a:tc>
                <a:tc>
                  <a:txBody>
                    <a:bodyPr/>
                    <a:lstStyle/>
                    <a:p>
                      <a:pPr algn="ctr">
                        <a:buNone/>
                      </a:pPr>
                      <a:r>
                        <a:rPr lang="en-IN"/>
                        <a:t>1000–1999</a:t>
                      </a:r>
                    </a:p>
                  </a:txBody>
                  <a:tcPr anchor="ctr"/>
                </a:tc>
                <a:extLst>
                  <a:ext uri="{0D108BD9-81ED-4DB2-BD59-A6C34878D82A}">
                    <a16:rowId xmlns:a16="http://schemas.microsoft.com/office/drawing/2014/main" val="568356337"/>
                  </a:ext>
                </a:extLst>
              </a:tr>
              <a:tr h="370840">
                <a:tc>
                  <a:txBody>
                    <a:bodyPr/>
                    <a:lstStyle/>
                    <a:p>
                      <a:pPr algn="ctr">
                        <a:buNone/>
                      </a:pPr>
                      <a:r>
                        <a:rPr lang="en-IN"/>
                        <a:t>Segment 2</a:t>
                      </a:r>
                    </a:p>
                  </a:txBody>
                  <a:tcPr anchor="ctr"/>
                </a:tc>
                <a:tc>
                  <a:txBody>
                    <a:bodyPr/>
                    <a:lstStyle/>
                    <a:p>
                      <a:pPr algn="ctr">
                        <a:buNone/>
                      </a:pPr>
                      <a:r>
                        <a:rPr lang="en-IN"/>
                        <a:t>2000</a:t>
                      </a:r>
                    </a:p>
                  </a:txBody>
                  <a:tcPr anchor="ctr"/>
                </a:tc>
                <a:tc>
                  <a:txBody>
                    <a:bodyPr/>
                    <a:lstStyle/>
                    <a:p>
                      <a:pPr algn="ctr">
                        <a:buNone/>
                      </a:pPr>
                      <a:r>
                        <a:rPr lang="en-IN"/>
                        <a:t>2000–2999</a:t>
                      </a:r>
                    </a:p>
                  </a:txBody>
                  <a:tcPr anchor="ctr"/>
                </a:tc>
                <a:extLst>
                  <a:ext uri="{0D108BD9-81ED-4DB2-BD59-A6C34878D82A}">
                    <a16:rowId xmlns:a16="http://schemas.microsoft.com/office/drawing/2014/main" val="423274015"/>
                  </a:ext>
                </a:extLst>
              </a:tr>
              <a:tr h="370840">
                <a:tc>
                  <a:txBody>
                    <a:bodyPr/>
                    <a:lstStyle/>
                    <a:p>
                      <a:pPr algn="ctr">
                        <a:buNone/>
                      </a:pPr>
                      <a:r>
                        <a:rPr lang="en-IN"/>
                        <a:t>Segment 3</a:t>
                      </a:r>
                    </a:p>
                  </a:txBody>
                  <a:tcPr anchor="ctr"/>
                </a:tc>
                <a:tc>
                  <a:txBody>
                    <a:bodyPr/>
                    <a:lstStyle/>
                    <a:p>
                      <a:pPr algn="ctr">
                        <a:buNone/>
                      </a:pPr>
                      <a:r>
                        <a:rPr lang="en-IN"/>
                        <a:t>3000</a:t>
                      </a:r>
                    </a:p>
                  </a:txBody>
                  <a:tcPr anchor="ctr"/>
                </a:tc>
                <a:tc>
                  <a:txBody>
                    <a:bodyPr/>
                    <a:lstStyle/>
                    <a:p>
                      <a:pPr algn="ctr">
                        <a:buNone/>
                      </a:pPr>
                      <a:r>
                        <a:rPr lang="en-IN"/>
                        <a:t>3000–3999</a:t>
                      </a:r>
                    </a:p>
                  </a:txBody>
                  <a:tcPr anchor="ctr"/>
                </a:tc>
                <a:extLst>
                  <a:ext uri="{0D108BD9-81ED-4DB2-BD59-A6C34878D82A}">
                    <a16:rowId xmlns:a16="http://schemas.microsoft.com/office/drawing/2014/main" val="4247976339"/>
                  </a:ext>
                </a:extLst>
              </a:tr>
              <a:tr h="370840">
                <a:tc>
                  <a:txBody>
                    <a:bodyPr/>
                    <a:lstStyle/>
                    <a:p>
                      <a:pPr algn="ctr">
                        <a:buNone/>
                      </a:pPr>
                      <a:r>
                        <a:rPr lang="en-IN"/>
                        <a:t>Segment 4</a:t>
                      </a:r>
                    </a:p>
                  </a:txBody>
                  <a:tcPr anchor="ctr"/>
                </a:tc>
                <a:tc>
                  <a:txBody>
                    <a:bodyPr/>
                    <a:lstStyle/>
                    <a:p>
                      <a:pPr algn="ctr">
                        <a:buNone/>
                      </a:pPr>
                      <a:r>
                        <a:rPr lang="en-IN"/>
                        <a:t>4000</a:t>
                      </a:r>
                    </a:p>
                  </a:txBody>
                  <a:tcPr anchor="ctr"/>
                </a:tc>
                <a:tc>
                  <a:txBody>
                    <a:bodyPr/>
                    <a:lstStyle/>
                    <a:p>
                      <a:pPr algn="ctr">
                        <a:buNone/>
                      </a:pPr>
                      <a:r>
                        <a:rPr lang="en-IN" dirty="0"/>
                        <a:t>4000–4999</a:t>
                      </a:r>
                    </a:p>
                  </a:txBody>
                  <a:tcPr anchor="ctr"/>
                </a:tc>
                <a:extLst>
                  <a:ext uri="{0D108BD9-81ED-4DB2-BD59-A6C34878D82A}">
                    <a16:rowId xmlns:a16="http://schemas.microsoft.com/office/drawing/2014/main" val="768267541"/>
                  </a:ext>
                </a:extLst>
              </a:tr>
            </a:tbl>
          </a:graphicData>
        </a:graphic>
      </p:graphicFrame>
      <p:pic>
        <p:nvPicPr>
          <p:cNvPr id="9" name="Picture 8">
            <a:extLst>
              <a:ext uri="{FF2B5EF4-FFF2-40B4-BE49-F238E27FC236}">
                <a16:creationId xmlns:a16="http://schemas.microsoft.com/office/drawing/2014/main" id="{5B37013F-95C0-0B37-160F-BE86A1DD4614}"/>
              </a:ext>
            </a:extLst>
          </p:cNvPr>
          <p:cNvPicPr>
            <a:picLocks noChangeAspect="1"/>
          </p:cNvPicPr>
          <p:nvPr/>
        </p:nvPicPr>
        <p:blipFill>
          <a:blip r:embed="rId2"/>
          <a:stretch>
            <a:fillRect/>
          </a:stretch>
        </p:blipFill>
        <p:spPr>
          <a:xfrm>
            <a:off x="240632" y="5077481"/>
            <a:ext cx="4908884" cy="1780519"/>
          </a:xfrm>
          <a:prstGeom prst="rect">
            <a:avLst/>
          </a:prstGeom>
        </p:spPr>
      </p:pic>
      <p:sp>
        <p:nvSpPr>
          <p:cNvPr id="11" name="TextBox 10">
            <a:extLst>
              <a:ext uri="{FF2B5EF4-FFF2-40B4-BE49-F238E27FC236}">
                <a16:creationId xmlns:a16="http://schemas.microsoft.com/office/drawing/2014/main" id="{5F7E448F-830E-EEC4-9DA4-7BF729BD51F3}"/>
              </a:ext>
            </a:extLst>
          </p:cNvPr>
          <p:cNvSpPr txBox="1"/>
          <p:nvPr/>
        </p:nvSpPr>
        <p:spPr>
          <a:xfrm>
            <a:off x="5630779" y="5644574"/>
            <a:ext cx="6096000" cy="646331"/>
          </a:xfrm>
          <a:prstGeom prst="rect">
            <a:avLst/>
          </a:prstGeom>
          <a:noFill/>
        </p:spPr>
        <p:txBody>
          <a:bodyPr wrap="square">
            <a:spAutoFit/>
          </a:bodyPr>
          <a:lstStyle/>
          <a:p>
            <a:r>
              <a:rPr lang="en-IN" dirty="0"/>
              <a:t>Now the sender can send these segments without waiting for an ACK after every single segment.</a:t>
            </a:r>
          </a:p>
        </p:txBody>
      </p:sp>
    </p:spTree>
    <p:extLst>
      <p:ext uri="{BB962C8B-B14F-4D97-AF65-F5344CB8AC3E}">
        <p14:creationId xmlns:p14="http://schemas.microsoft.com/office/powerpoint/2010/main" val="33038296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0901-476F-4534-838E-012519DC992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CB1C01F-D118-E907-8EA5-0666F575850B}"/>
              </a:ext>
            </a:extLst>
          </p:cNvPr>
          <p:cNvSpPr txBox="1"/>
          <p:nvPr/>
        </p:nvSpPr>
        <p:spPr>
          <a:xfrm>
            <a:off x="385011" y="543108"/>
            <a:ext cx="6096000" cy="646331"/>
          </a:xfrm>
          <a:prstGeom prst="rect">
            <a:avLst/>
          </a:prstGeom>
          <a:noFill/>
        </p:spPr>
        <p:txBody>
          <a:bodyPr wrap="square">
            <a:spAutoFit/>
          </a:bodyPr>
          <a:lstStyle/>
          <a:p>
            <a:pPr>
              <a:buNone/>
            </a:pPr>
            <a:r>
              <a:rPr lang="en-IN" b="1" dirty="0"/>
              <a:t>Sending the Data</a:t>
            </a:r>
          </a:p>
          <a:p>
            <a:pPr>
              <a:buNone/>
            </a:pPr>
            <a:r>
              <a:rPr lang="en-IN" dirty="0"/>
              <a:t>The communication may look like:</a:t>
            </a:r>
          </a:p>
        </p:txBody>
      </p:sp>
      <p:pic>
        <p:nvPicPr>
          <p:cNvPr id="8" name="Picture 7">
            <a:extLst>
              <a:ext uri="{FF2B5EF4-FFF2-40B4-BE49-F238E27FC236}">
                <a16:creationId xmlns:a16="http://schemas.microsoft.com/office/drawing/2014/main" id="{E5BB193E-B5BE-204C-F47A-83D33D61A0B1}"/>
              </a:ext>
            </a:extLst>
          </p:cNvPr>
          <p:cNvPicPr>
            <a:picLocks noChangeAspect="1"/>
          </p:cNvPicPr>
          <p:nvPr/>
        </p:nvPicPr>
        <p:blipFill>
          <a:blip r:embed="rId2"/>
          <a:stretch>
            <a:fillRect/>
          </a:stretch>
        </p:blipFill>
        <p:spPr>
          <a:xfrm>
            <a:off x="385011" y="1189439"/>
            <a:ext cx="4957010" cy="4184666"/>
          </a:xfrm>
          <a:prstGeom prst="rect">
            <a:avLst/>
          </a:prstGeom>
        </p:spPr>
      </p:pic>
      <p:sp>
        <p:nvSpPr>
          <p:cNvPr id="12" name="TextBox 11">
            <a:extLst>
              <a:ext uri="{FF2B5EF4-FFF2-40B4-BE49-F238E27FC236}">
                <a16:creationId xmlns:a16="http://schemas.microsoft.com/office/drawing/2014/main" id="{5BF28618-D909-25FC-0B51-531EDB5D84B7}"/>
              </a:ext>
            </a:extLst>
          </p:cNvPr>
          <p:cNvSpPr txBox="1"/>
          <p:nvPr/>
        </p:nvSpPr>
        <p:spPr>
          <a:xfrm>
            <a:off x="5710989" y="1790109"/>
            <a:ext cx="6096000" cy="1754326"/>
          </a:xfrm>
          <a:prstGeom prst="rect">
            <a:avLst/>
          </a:prstGeom>
          <a:noFill/>
        </p:spPr>
        <p:txBody>
          <a:bodyPr wrap="square">
            <a:spAutoFit/>
          </a:bodyPr>
          <a:lstStyle/>
          <a:p>
            <a:pPr>
              <a:buNone/>
            </a:pPr>
            <a:r>
              <a:rPr lang="en-IN" dirty="0"/>
              <a:t>Now the sender has used the complete 4000-byte window.</a:t>
            </a:r>
          </a:p>
          <a:p>
            <a:pPr>
              <a:buNone/>
            </a:pPr>
            <a:endParaRPr lang="en-IN" dirty="0"/>
          </a:p>
          <a:p>
            <a:pPr>
              <a:buNone/>
            </a:pPr>
            <a:r>
              <a:rPr lang="en-IN" dirty="0"/>
              <a:t>At this point, it cannot simply keep sending unlimited new data.</a:t>
            </a:r>
          </a:p>
          <a:p>
            <a:pPr>
              <a:buNone/>
            </a:pPr>
            <a:endParaRPr lang="en-IN" dirty="0"/>
          </a:p>
          <a:p>
            <a:pPr>
              <a:buNone/>
            </a:pPr>
            <a:r>
              <a:rPr lang="en-IN" dirty="0"/>
              <a:t>It needs ACKs and updated window information to know that it can move forward.</a:t>
            </a:r>
          </a:p>
        </p:txBody>
      </p:sp>
    </p:spTree>
    <p:extLst>
      <p:ext uri="{BB962C8B-B14F-4D97-AF65-F5344CB8AC3E}">
        <p14:creationId xmlns:p14="http://schemas.microsoft.com/office/powerpoint/2010/main" val="36885322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66532-37C2-E34B-E35C-2B6C4102CE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A7794AE-31D6-97B8-E483-784DEC46FBDB}"/>
              </a:ext>
            </a:extLst>
          </p:cNvPr>
          <p:cNvSpPr txBox="1"/>
          <p:nvPr/>
        </p:nvSpPr>
        <p:spPr>
          <a:xfrm>
            <a:off x="224589" y="569313"/>
            <a:ext cx="6096000" cy="369332"/>
          </a:xfrm>
          <a:prstGeom prst="rect">
            <a:avLst/>
          </a:prstGeom>
          <a:noFill/>
        </p:spPr>
        <p:txBody>
          <a:bodyPr wrap="square">
            <a:spAutoFit/>
          </a:bodyPr>
          <a:lstStyle/>
          <a:p>
            <a:r>
              <a:rPr lang="en-IN" b="1" dirty="0"/>
              <a:t>Now ACK comes into the picture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021960A-03B5-B422-8F9E-BED340DCB4F8}"/>
                  </a:ext>
                </a:extLst>
              </p:cNvPr>
              <p:cNvSpPr txBox="1"/>
              <p:nvPr/>
            </p:nvSpPr>
            <p:spPr>
              <a:xfrm>
                <a:off x="368967" y="1130431"/>
                <a:ext cx="9192128" cy="4324967"/>
              </a:xfrm>
              <a:prstGeom prst="rect">
                <a:avLst/>
              </a:prstGeom>
              <a:noFill/>
            </p:spPr>
            <p:txBody>
              <a:bodyPr wrap="square">
                <a:spAutoFit/>
              </a:bodyPr>
              <a:lstStyle/>
              <a:p>
                <a:pPr>
                  <a:buNone/>
                </a:pPr>
                <a:r>
                  <a:rPr lang="en-IN" dirty="0"/>
                  <a:t>Suppose the receiver successfully receives:</a:t>
                </a:r>
              </a:p>
              <a:p>
                <a:pPr rtl="0">
                  <a:buNone/>
                </a:pPr>
                <a:r>
                  <a:rPr lang="en-IN" dirty="0">
                    <a:latin typeface="+mn-lt"/>
                  </a:rPr>
                  <a:t>Segment 1 → Bytes 1000–1999</a:t>
                </a:r>
              </a:p>
              <a:p>
                <a:pPr rtl="0">
                  <a:buNone/>
                </a:pPr>
                <a:endParaRPr lang="en-IN" dirty="0">
                  <a:latin typeface="+mn-lt"/>
                </a:endParaRPr>
              </a:p>
              <a:p>
                <a:pPr rtl="0">
                  <a:buNone/>
                </a:pPr>
                <a:r>
                  <a:rPr lang="en-IN" dirty="0">
                    <a:latin typeface="+mn-lt"/>
                  </a:rPr>
                  <a:t>Segment 2 → Bytes 2000–2999</a:t>
                </a:r>
              </a:p>
              <a:p>
                <a:pPr>
                  <a:buNone/>
                </a:pPr>
                <a:r>
                  <a:rPr lang="en-IN" dirty="0"/>
                  <a:t>The receiver has now received everything continuously from: </a:t>
                </a:r>
                <a:r>
                  <a:rPr lang="en-IN" dirty="0">
                    <a:latin typeface="+mn-lt"/>
                  </a:rPr>
                  <a:t>1000 to 2999</a:t>
                </a:r>
              </a:p>
              <a:p>
                <a:pPr>
                  <a:buNone/>
                </a:pPr>
                <a:endParaRPr lang="en-IN" dirty="0"/>
              </a:p>
              <a:p>
                <a:pPr>
                  <a:buNone/>
                </a:pPr>
                <a:r>
                  <a:rPr lang="en-IN" dirty="0"/>
                  <a:t>What byte does it want next?</a:t>
                </a:r>
              </a:p>
              <a:p>
                <a:pPr rtl="0">
                  <a:buNone/>
                </a:pPr>
                <a:r>
                  <a:rPr lang="en-IN" dirty="0">
                    <a:latin typeface="+mn-lt"/>
                  </a:rPr>
                  <a:t>3000</a:t>
                </a:r>
              </a:p>
              <a:p>
                <a:pPr>
                  <a:buNone/>
                </a:pPr>
                <a:endParaRPr lang="en-IN" dirty="0"/>
              </a:p>
              <a:p>
                <a:pPr>
                  <a:buNone/>
                </a:pPr>
                <a:r>
                  <a:rPr lang="en-IN" dirty="0"/>
                  <a:t>Therefore it sends:</a:t>
                </a:r>
              </a:p>
              <a:p>
                <a:pPr>
                  <a:buNone/>
                </a:pPr>
                <a14:m>
                  <m:oMathPara xmlns:m="http://schemas.openxmlformats.org/officeDocument/2006/math">
                    <m:oMath>
                      <m:borderBox>
                        <m:borderBoxPr>
                          <m:ctrlPr>
                            <a:rPr lang="en-IN" b="0" i="0"/>
                          </m:ctrlPr>
                        </m:borderBoxPr>
                        <m:e>
                          <m:r>
                            <m:rPr>
                              <m:nor/>
                            </m:rPr>
                            <a:rPr lang="en-IN" b="0" i="0"/>
                            <m:t>Acknowledgment Number</m:t>
                          </m:r>
                          <m:r>
                            <a:rPr lang="en-IN" b="0" i="0">
                              <a:latin typeface="Cambria Math" panose="02040503050406030204" pitchFamily="18" charset="0"/>
                            </a:rPr>
                            <m:t>=3000</m:t>
                          </m:r>
                        </m:e>
                      </m:borderBox>
                    </m:oMath>
                  </m:oMathPara>
                </a14:m>
                <a:endParaRPr lang="en-IN" b="0" dirty="0"/>
              </a:p>
              <a:p>
                <a:pPr>
                  <a:buNone/>
                </a:pPr>
                <a:endParaRPr lang="en-IN" dirty="0"/>
              </a:p>
              <a:p>
                <a:pPr>
                  <a:buNone/>
                </a:pPr>
                <a:r>
                  <a:rPr lang="en-IN" dirty="0"/>
                  <a:t>Remember the simple meaning:</a:t>
                </a:r>
              </a:p>
              <a:p>
                <a:pPr>
                  <a:buNone/>
                </a:pPr>
                <a:r>
                  <a:rPr lang="en-IN" b="1" dirty="0"/>
                  <a:t>ACK 3000 means: "I have received everything continuously before 3000. Send/continue from byte 3000."</a:t>
                </a:r>
                <a:endParaRPr lang="en-IN" dirty="0"/>
              </a:p>
            </p:txBody>
          </p:sp>
        </mc:Choice>
        <mc:Fallback xmlns="">
          <p:sp>
            <p:nvSpPr>
              <p:cNvPr id="5" name="TextBox 4">
                <a:extLst>
                  <a:ext uri="{FF2B5EF4-FFF2-40B4-BE49-F238E27FC236}">
                    <a16:creationId xmlns:a16="http://schemas.microsoft.com/office/drawing/2014/main" id="{A021960A-03B5-B422-8F9E-BED340DCB4F8}"/>
                  </a:ext>
                </a:extLst>
              </p:cNvPr>
              <p:cNvSpPr txBox="1">
                <a:spLocks noRot="1" noChangeAspect="1" noMove="1" noResize="1" noEditPoints="1" noAdjustHandles="1" noChangeArrowheads="1" noChangeShapeType="1" noTextEdit="1"/>
              </p:cNvSpPr>
              <p:nvPr/>
            </p:nvSpPr>
            <p:spPr>
              <a:xfrm>
                <a:off x="368967" y="1130431"/>
                <a:ext cx="9192128" cy="4324967"/>
              </a:xfrm>
              <a:prstGeom prst="rect">
                <a:avLst/>
              </a:prstGeom>
              <a:blipFill>
                <a:blip r:embed="rId2"/>
                <a:stretch>
                  <a:fillRect l="-597" t="-704" b="-1268"/>
                </a:stretch>
              </a:blipFill>
            </p:spPr>
            <p:txBody>
              <a:bodyPr/>
              <a:lstStyle/>
              <a:p>
                <a:r>
                  <a:rPr lang="en-IN">
                    <a:noFill/>
                  </a:rPr>
                  <a:t> </a:t>
                </a:r>
              </a:p>
            </p:txBody>
          </p:sp>
        </mc:Fallback>
      </mc:AlternateContent>
    </p:spTree>
    <p:extLst>
      <p:ext uri="{BB962C8B-B14F-4D97-AF65-F5344CB8AC3E}">
        <p14:creationId xmlns:p14="http://schemas.microsoft.com/office/powerpoint/2010/main" val="13144334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CD86B-F8EF-0555-489B-C06D8497850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4EDDB42-C0FC-5575-4754-705B01034AEC}"/>
              </a:ext>
            </a:extLst>
          </p:cNvPr>
          <p:cNvSpPr txBox="1"/>
          <p:nvPr/>
        </p:nvSpPr>
        <p:spPr>
          <a:xfrm>
            <a:off x="256674" y="613156"/>
            <a:ext cx="6096000" cy="1200329"/>
          </a:xfrm>
          <a:prstGeom prst="rect">
            <a:avLst/>
          </a:prstGeom>
          <a:noFill/>
        </p:spPr>
        <p:txBody>
          <a:bodyPr wrap="square">
            <a:spAutoFit/>
          </a:bodyPr>
          <a:lstStyle/>
          <a:p>
            <a:pPr>
              <a:buNone/>
            </a:pPr>
            <a:r>
              <a:rPr lang="en-IN" b="1" dirty="0"/>
              <a:t>Now what happens to the Window?</a:t>
            </a:r>
          </a:p>
          <a:p>
            <a:pPr>
              <a:buNone/>
            </a:pPr>
            <a:r>
              <a:rPr lang="en-IN" dirty="0"/>
              <a:t>This is the most important part of the topic.</a:t>
            </a:r>
          </a:p>
          <a:p>
            <a:pPr>
              <a:buNone/>
            </a:pPr>
            <a:endParaRPr lang="en-IN" dirty="0"/>
          </a:p>
          <a:p>
            <a:pPr>
              <a:buNone/>
            </a:pPr>
            <a:r>
              <a:rPr lang="en-IN" dirty="0"/>
              <a:t>Initially our window was:</a:t>
            </a:r>
          </a:p>
        </p:txBody>
      </p:sp>
      <p:pic>
        <p:nvPicPr>
          <p:cNvPr id="8" name="Picture 7">
            <a:extLst>
              <a:ext uri="{FF2B5EF4-FFF2-40B4-BE49-F238E27FC236}">
                <a16:creationId xmlns:a16="http://schemas.microsoft.com/office/drawing/2014/main" id="{8ED2579D-262A-91EE-EB2F-FDD9FD941689}"/>
              </a:ext>
            </a:extLst>
          </p:cNvPr>
          <p:cNvPicPr>
            <a:picLocks noChangeAspect="1"/>
          </p:cNvPicPr>
          <p:nvPr/>
        </p:nvPicPr>
        <p:blipFill>
          <a:blip r:embed="rId2"/>
          <a:stretch>
            <a:fillRect/>
          </a:stretch>
        </p:blipFill>
        <p:spPr>
          <a:xfrm>
            <a:off x="437504" y="2036661"/>
            <a:ext cx="3829696" cy="1765318"/>
          </a:xfrm>
          <a:prstGeom prst="rect">
            <a:avLst/>
          </a:prstGeom>
        </p:spPr>
      </p:pic>
      <p:sp>
        <p:nvSpPr>
          <p:cNvPr id="10" name="TextBox 9">
            <a:extLst>
              <a:ext uri="{FF2B5EF4-FFF2-40B4-BE49-F238E27FC236}">
                <a16:creationId xmlns:a16="http://schemas.microsoft.com/office/drawing/2014/main" id="{7D4A421F-DB2B-404D-BD3E-2A4C790D67B5}"/>
              </a:ext>
            </a:extLst>
          </p:cNvPr>
          <p:cNvSpPr txBox="1"/>
          <p:nvPr/>
        </p:nvSpPr>
        <p:spPr>
          <a:xfrm>
            <a:off x="4876802" y="934161"/>
            <a:ext cx="7058524" cy="4247317"/>
          </a:xfrm>
          <a:prstGeom prst="rect">
            <a:avLst/>
          </a:prstGeom>
          <a:noFill/>
        </p:spPr>
        <p:txBody>
          <a:bodyPr wrap="square">
            <a:spAutoFit/>
          </a:bodyPr>
          <a:lstStyle/>
          <a:p>
            <a:pPr>
              <a:buNone/>
            </a:pPr>
            <a:r>
              <a:rPr lang="en-IN" dirty="0"/>
              <a:t>Now bytes: </a:t>
            </a:r>
            <a:r>
              <a:rPr lang="en-IN" dirty="0">
                <a:latin typeface="+mn-lt"/>
              </a:rPr>
              <a:t>1000–2999</a:t>
            </a:r>
            <a:r>
              <a:rPr lang="en-IN" dirty="0"/>
              <a:t> have been acknowledged.</a:t>
            </a:r>
          </a:p>
          <a:p>
            <a:pPr>
              <a:buNone/>
            </a:pPr>
            <a:endParaRPr lang="en-IN" dirty="0"/>
          </a:p>
          <a:p>
            <a:pPr>
              <a:buNone/>
            </a:pPr>
            <a:r>
              <a:rPr lang="en-IN" dirty="0"/>
              <a:t>So we no longer need to keep those bytes at the beginning of the window.</a:t>
            </a:r>
          </a:p>
          <a:p>
            <a:pPr>
              <a:buNone/>
            </a:pPr>
            <a:endParaRPr lang="en-IN" dirty="0"/>
          </a:p>
          <a:p>
            <a:pPr>
              <a:buNone/>
            </a:pPr>
            <a:r>
              <a:rPr lang="en-IN" dirty="0"/>
              <a:t>The window can move forward.</a:t>
            </a:r>
          </a:p>
          <a:p>
            <a:pPr>
              <a:buNone/>
            </a:pPr>
            <a:endParaRPr lang="en-IN" dirty="0"/>
          </a:p>
          <a:p>
            <a:pPr>
              <a:buNone/>
            </a:pPr>
            <a:r>
              <a:rPr lang="en-IN" dirty="0"/>
              <a:t>Suppose the receiver continues to advertise a 4000-byte window.</a:t>
            </a:r>
          </a:p>
          <a:p>
            <a:pPr>
              <a:buNone/>
            </a:pPr>
            <a:endParaRPr lang="en-IN" dirty="0"/>
          </a:p>
          <a:p>
            <a:pPr>
              <a:buNone/>
            </a:pPr>
            <a:r>
              <a:rPr lang="en-IN" dirty="0"/>
              <a:t>Then:</a:t>
            </a:r>
          </a:p>
          <a:p>
            <a:pPr rtl="0">
              <a:buNone/>
            </a:pPr>
            <a:r>
              <a:rPr lang="en-IN" dirty="0">
                <a:latin typeface="+mn-lt"/>
              </a:rPr>
              <a:t>Acknowledgment Number = 3000</a:t>
            </a:r>
          </a:p>
          <a:p>
            <a:pPr rtl="0">
              <a:buNone/>
            </a:pPr>
            <a:r>
              <a:rPr lang="en-IN" dirty="0">
                <a:latin typeface="+mn-lt"/>
              </a:rPr>
              <a:t>Window Size = 4000</a:t>
            </a:r>
          </a:p>
          <a:p>
            <a:pPr>
              <a:buNone/>
            </a:pPr>
            <a:endParaRPr lang="en-IN" dirty="0"/>
          </a:p>
          <a:p>
            <a:pPr>
              <a:buNone/>
            </a:pPr>
            <a:r>
              <a:rPr lang="en-IN" dirty="0"/>
              <a:t>New window: </a:t>
            </a:r>
            <a:r>
              <a:rPr lang="en-IN" dirty="0">
                <a:latin typeface="+mn-lt"/>
              </a:rPr>
              <a:t>3000 to 6999</a:t>
            </a:r>
          </a:p>
          <a:p>
            <a:pPr>
              <a:buNone/>
            </a:pPr>
            <a:r>
              <a:rPr lang="en-IN" dirty="0"/>
              <a:t>because: 3000 + 4000 – 1 = 6999</a:t>
            </a:r>
          </a:p>
        </p:txBody>
      </p:sp>
    </p:spTree>
    <p:extLst>
      <p:ext uri="{BB962C8B-B14F-4D97-AF65-F5344CB8AC3E}">
        <p14:creationId xmlns:p14="http://schemas.microsoft.com/office/powerpoint/2010/main" val="14434035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8E02C-3213-A298-7CF1-7B7921DBF71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AFDCE6E-4081-EA1A-48DF-E6C14A0AD885}"/>
              </a:ext>
            </a:extLst>
          </p:cNvPr>
          <p:cNvPicPr>
            <a:picLocks noChangeAspect="1"/>
          </p:cNvPicPr>
          <p:nvPr/>
        </p:nvPicPr>
        <p:blipFill>
          <a:blip r:embed="rId2"/>
          <a:stretch>
            <a:fillRect/>
          </a:stretch>
        </p:blipFill>
        <p:spPr>
          <a:xfrm>
            <a:off x="227839" y="745628"/>
            <a:ext cx="5483150" cy="5943930"/>
          </a:xfrm>
          <a:prstGeom prst="rect">
            <a:avLst/>
          </a:prstGeom>
        </p:spPr>
      </p:pic>
      <p:sp>
        <p:nvSpPr>
          <p:cNvPr id="5" name="TextBox 4">
            <a:extLst>
              <a:ext uri="{FF2B5EF4-FFF2-40B4-BE49-F238E27FC236}">
                <a16:creationId xmlns:a16="http://schemas.microsoft.com/office/drawing/2014/main" id="{5F1A0328-ECA3-114F-FB4D-6CDEBBADC327}"/>
              </a:ext>
            </a:extLst>
          </p:cNvPr>
          <p:cNvSpPr txBox="1"/>
          <p:nvPr/>
        </p:nvSpPr>
        <p:spPr>
          <a:xfrm>
            <a:off x="6481013" y="904653"/>
            <a:ext cx="3801979" cy="2031325"/>
          </a:xfrm>
          <a:prstGeom prst="rect">
            <a:avLst/>
          </a:prstGeom>
          <a:noFill/>
        </p:spPr>
        <p:txBody>
          <a:bodyPr wrap="square">
            <a:spAutoFit/>
          </a:bodyPr>
          <a:lstStyle/>
          <a:p>
            <a:pPr>
              <a:buNone/>
            </a:pPr>
            <a:r>
              <a:rPr lang="en-IN" dirty="0"/>
              <a:t>The window was: </a:t>
            </a:r>
            <a:r>
              <a:rPr lang="en-IN" dirty="0">
                <a:latin typeface="+mn-lt"/>
              </a:rPr>
              <a:t>1000–4999</a:t>
            </a:r>
          </a:p>
          <a:p>
            <a:pPr>
              <a:buNone/>
            </a:pPr>
            <a:endParaRPr lang="en-IN" dirty="0"/>
          </a:p>
          <a:p>
            <a:pPr>
              <a:buNone/>
            </a:pPr>
            <a:r>
              <a:rPr lang="en-IN" dirty="0"/>
              <a:t>and then became: </a:t>
            </a:r>
            <a:r>
              <a:rPr lang="en-IN" dirty="0">
                <a:latin typeface="+mn-lt"/>
              </a:rPr>
              <a:t>3000–6999</a:t>
            </a:r>
          </a:p>
          <a:p>
            <a:pPr>
              <a:buNone/>
            </a:pPr>
            <a:endParaRPr lang="en-IN" dirty="0"/>
          </a:p>
          <a:p>
            <a:pPr>
              <a:buNone/>
            </a:pPr>
            <a:r>
              <a:rPr lang="en-IN" dirty="0"/>
              <a:t>So the window moved forward.</a:t>
            </a:r>
          </a:p>
          <a:p>
            <a:pPr>
              <a:buNone/>
            </a:pPr>
            <a:endParaRPr lang="en-IN" dirty="0"/>
          </a:p>
          <a:p>
            <a:pPr>
              <a:buNone/>
            </a:pPr>
            <a:r>
              <a:rPr lang="en-IN" dirty="0"/>
              <a:t>That is why it is called: </a:t>
            </a:r>
            <a:r>
              <a:rPr lang="en-IN" b="1" dirty="0"/>
              <a:t>Sliding Window</a:t>
            </a:r>
          </a:p>
        </p:txBody>
      </p:sp>
      <p:pic>
        <p:nvPicPr>
          <p:cNvPr id="9" name="Picture 8">
            <a:extLst>
              <a:ext uri="{FF2B5EF4-FFF2-40B4-BE49-F238E27FC236}">
                <a16:creationId xmlns:a16="http://schemas.microsoft.com/office/drawing/2014/main" id="{526CA2AF-E354-96F1-DC06-820FB0F2AB92}"/>
              </a:ext>
            </a:extLst>
          </p:cNvPr>
          <p:cNvPicPr>
            <a:picLocks noChangeAspect="1"/>
          </p:cNvPicPr>
          <p:nvPr/>
        </p:nvPicPr>
        <p:blipFill>
          <a:blip r:embed="rId3"/>
          <a:stretch>
            <a:fillRect/>
          </a:stretch>
        </p:blipFill>
        <p:spPr>
          <a:xfrm>
            <a:off x="6464971" y="3115492"/>
            <a:ext cx="4427618" cy="3574065"/>
          </a:xfrm>
          <a:prstGeom prst="rect">
            <a:avLst/>
          </a:prstGeom>
        </p:spPr>
      </p:pic>
    </p:spTree>
    <p:extLst>
      <p:ext uri="{BB962C8B-B14F-4D97-AF65-F5344CB8AC3E}">
        <p14:creationId xmlns:p14="http://schemas.microsoft.com/office/powerpoint/2010/main" val="23950284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54140-7A11-F2F5-3736-3346E16B3D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6D0735-AA6A-5502-C0B1-704F9D5635E2}"/>
              </a:ext>
            </a:extLst>
          </p:cNvPr>
          <p:cNvSpPr txBox="1"/>
          <p:nvPr/>
        </p:nvSpPr>
        <p:spPr>
          <a:xfrm>
            <a:off x="192505" y="569312"/>
            <a:ext cx="6096000" cy="369332"/>
          </a:xfrm>
          <a:prstGeom prst="rect">
            <a:avLst/>
          </a:prstGeom>
          <a:noFill/>
        </p:spPr>
        <p:txBody>
          <a:bodyPr wrap="square">
            <a:spAutoFit/>
          </a:bodyPr>
          <a:lstStyle/>
          <a:p>
            <a:r>
              <a:rPr lang="en-IN" b="1" dirty="0"/>
              <a:t>But there is one important thing here</a:t>
            </a:r>
          </a:p>
        </p:txBody>
      </p:sp>
      <p:pic>
        <p:nvPicPr>
          <p:cNvPr id="7" name="Picture 6">
            <a:extLst>
              <a:ext uri="{FF2B5EF4-FFF2-40B4-BE49-F238E27FC236}">
                <a16:creationId xmlns:a16="http://schemas.microsoft.com/office/drawing/2014/main" id="{C609E2E2-EAEC-CC6A-5F69-EE48DD70D084}"/>
              </a:ext>
            </a:extLst>
          </p:cNvPr>
          <p:cNvPicPr>
            <a:picLocks noChangeAspect="1"/>
          </p:cNvPicPr>
          <p:nvPr/>
        </p:nvPicPr>
        <p:blipFill>
          <a:blip r:embed="rId2"/>
          <a:stretch>
            <a:fillRect/>
          </a:stretch>
        </p:blipFill>
        <p:spPr>
          <a:xfrm>
            <a:off x="192505" y="938644"/>
            <a:ext cx="5325979" cy="5799040"/>
          </a:xfrm>
          <a:prstGeom prst="rect">
            <a:avLst/>
          </a:prstGeom>
        </p:spPr>
      </p:pic>
      <p:pic>
        <p:nvPicPr>
          <p:cNvPr id="10" name="Picture 9">
            <a:extLst>
              <a:ext uri="{FF2B5EF4-FFF2-40B4-BE49-F238E27FC236}">
                <a16:creationId xmlns:a16="http://schemas.microsoft.com/office/drawing/2014/main" id="{EBA97556-2088-641E-6C7D-AA2EB35D00BA}"/>
              </a:ext>
            </a:extLst>
          </p:cNvPr>
          <p:cNvPicPr>
            <a:picLocks noChangeAspect="1"/>
          </p:cNvPicPr>
          <p:nvPr/>
        </p:nvPicPr>
        <p:blipFill>
          <a:blip r:embed="rId3"/>
          <a:stretch>
            <a:fillRect/>
          </a:stretch>
        </p:blipFill>
        <p:spPr>
          <a:xfrm>
            <a:off x="5712998" y="533217"/>
            <a:ext cx="6096000" cy="6204467"/>
          </a:xfrm>
          <a:prstGeom prst="rect">
            <a:avLst/>
          </a:prstGeom>
        </p:spPr>
      </p:pic>
    </p:spTree>
    <p:extLst>
      <p:ext uri="{BB962C8B-B14F-4D97-AF65-F5344CB8AC3E}">
        <p14:creationId xmlns:p14="http://schemas.microsoft.com/office/powerpoint/2010/main" val="28017383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E077B-7BBD-8353-41F3-4F4B9E437A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DCF37F-F5CF-E77F-C50C-A489CC744D04}"/>
              </a:ext>
            </a:extLst>
          </p:cNvPr>
          <p:cNvSpPr txBox="1"/>
          <p:nvPr/>
        </p:nvSpPr>
        <p:spPr>
          <a:xfrm>
            <a:off x="288758" y="851100"/>
            <a:ext cx="8967537" cy="2585323"/>
          </a:xfrm>
          <a:prstGeom prst="rect">
            <a:avLst/>
          </a:prstGeom>
          <a:noFill/>
        </p:spPr>
        <p:txBody>
          <a:bodyPr wrap="square">
            <a:spAutoFit/>
          </a:bodyPr>
          <a:lstStyle/>
          <a:p>
            <a:pPr>
              <a:buNone/>
            </a:pPr>
            <a:r>
              <a:rPr lang="en-IN" b="1" dirty="0">
                <a:highlight>
                  <a:srgbClr val="FFFF00"/>
                </a:highlight>
              </a:rPr>
              <a:t>So what exactly is sliding?</a:t>
            </a:r>
          </a:p>
          <a:p>
            <a:pPr>
              <a:buNone/>
            </a:pPr>
            <a:endParaRPr lang="en-IN" dirty="0"/>
          </a:p>
          <a:p>
            <a:pPr>
              <a:buNone/>
            </a:pPr>
            <a:r>
              <a:rPr lang="en-IN" dirty="0"/>
              <a:t>The actual data is not called the sliding window.</a:t>
            </a:r>
          </a:p>
          <a:p>
            <a:pPr>
              <a:buNone/>
            </a:pPr>
            <a:endParaRPr lang="en-IN" dirty="0"/>
          </a:p>
          <a:p>
            <a:pPr>
              <a:buNone/>
            </a:pPr>
            <a:r>
              <a:rPr lang="en-IN" dirty="0"/>
              <a:t>The </a:t>
            </a:r>
            <a:r>
              <a:rPr lang="en-IN" b="1" dirty="0"/>
              <a:t>allowed range of byte sequence numbers moves forward</a:t>
            </a:r>
            <a:r>
              <a:rPr lang="en-IN" dirty="0"/>
              <a:t>.</a:t>
            </a:r>
          </a:p>
          <a:p>
            <a:pPr>
              <a:buNone/>
            </a:pPr>
            <a:endParaRPr lang="en-IN" dirty="0"/>
          </a:p>
          <a:p>
            <a:pPr>
              <a:buNone/>
            </a:pPr>
            <a:r>
              <a:rPr lang="en-IN" dirty="0"/>
              <a:t>In simple words:</a:t>
            </a:r>
          </a:p>
          <a:p>
            <a:pPr>
              <a:buNone/>
            </a:pPr>
            <a:r>
              <a:rPr lang="en-IN" b="1" dirty="0"/>
              <a:t>As old data is acknowledged, its space is removed from the beginning of the window and new space becomes available at the end.</a:t>
            </a:r>
            <a:endParaRPr lang="en-IN" dirty="0"/>
          </a:p>
        </p:txBody>
      </p:sp>
      <p:graphicFrame>
        <p:nvGraphicFramePr>
          <p:cNvPr id="5" name="Table 4">
            <a:extLst>
              <a:ext uri="{FF2B5EF4-FFF2-40B4-BE49-F238E27FC236}">
                <a16:creationId xmlns:a16="http://schemas.microsoft.com/office/drawing/2014/main" id="{00C1175B-09CD-A9AB-BC0E-2230E49CA0EF}"/>
              </a:ext>
            </a:extLst>
          </p:cNvPr>
          <p:cNvGraphicFramePr>
            <a:graphicFrameLocks noGrp="1"/>
          </p:cNvGraphicFramePr>
          <p:nvPr>
            <p:extLst>
              <p:ext uri="{D42A27DB-BD31-4B8C-83A1-F6EECF244321}">
                <p14:modId xmlns:p14="http://schemas.microsoft.com/office/powerpoint/2010/main" val="1655136671"/>
              </p:ext>
            </p:extLst>
          </p:nvPr>
        </p:nvGraphicFramePr>
        <p:xfrm>
          <a:off x="1310105" y="3614220"/>
          <a:ext cx="8128000" cy="2392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935176774"/>
                    </a:ext>
                  </a:extLst>
                </a:gridCol>
                <a:gridCol w="4064000">
                  <a:extLst>
                    <a:ext uri="{9D8B030D-6E8A-4147-A177-3AD203B41FA5}">
                      <a16:colId xmlns:a16="http://schemas.microsoft.com/office/drawing/2014/main" val="3559560246"/>
                    </a:ext>
                  </a:extLst>
                </a:gridCol>
              </a:tblGrid>
              <a:tr h="370840">
                <a:tc>
                  <a:txBody>
                    <a:bodyPr/>
                    <a:lstStyle/>
                    <a:p>
                      <a:pPr>
                        <a:buNone/>
                      </a:pPr>
                      <a:r>
                        <a:rPr lang="en-IN" dirty="0"/>
                        <a:t>Data Link Layer</a:t>
                      </a:r>
                    </a:p>
                  </a:txBody>
                  <a:tcPr anchor="ctr"/>
                </a:tc>
                <a:tc>
                  <a:txBody>
                    <a:bodyPr/>
                    <a:lstStyle/>
                    <a:p>
                      <a:pPr>
                        <a:buNone/>
                      </a:pPr>
                      <a:r>
                        <a:rPr lang="en-IN"/>
                        <a:t>TCP</a:t>
                      </a:r>
                    </a:p>
                  </a:txBody>
                  <a:tcPr anchor="ctr"/>
                </a:tc>
                <a:extLst>
                  <a:ext uri="{0D108BD9-81ED-4DB2-BD59-A6C34878D82A}">
                    <a16:rowId xmlns:a16="http://schemas.microsoft.com/office/drawing/2014/main" val="3506817189"/>
                  </a:ext>
                </a:extLst>
              </a:tr>
              <a:tr h="370840">
                <a:tc>
                  <a:txBody>
                    <a:bodyPr/>
                    <a:lstStyle/>
                    <a:p>
                      <a:pPr>
                        <a:buNone/>
                      </a:pPr>
                      <a:r>
                        <a:rPr lang="en-IN"/>
                        <a:t>We commonly worked with frames</a:t>
                      </a:r>
                    </a:p>
                  </a:txBody>
                  <a:tcPr anchor="ctr"/>
                </a:tc>
                <a:tc>
                  <a:txBody>
                    <a:bodyPr/>
                    <a:lstStyle/>
                    <a:p>
                      <a:pPr>
                        <a:buNone/>
                      </a:pPr>
                      <a:r>
                        <a:rPr lang="en-IN"/>
                        <a:t>TCP works with bytes</a:t>
                      </a:r>
                    </a:p>
                  </a:txBody>
                  <a:tcPr anchor="ctr"/>
                </a:tc>
                <a:extLst>
                  <a:ext uri="{0D108BD9-81ED-4DB2-BD59-A6C34878D82A}">
                    <a16:rowId xmlns:a16="http://schemas.microsoft.com/office/drawing/2014/main" val="3842336059"/>
                  </a:ext>
                </a:extLst>
              </a:tr>
              <a:tr h="370840">
                <a:tc>
                  <a:txBody>
                    <a:bodyPr/>
                    <a:lstStyle/>
                    <a:p>
                      <a:pPr>
                        <a:buNone/>
                      </a:pPr>
                      <a:r>
                        <a:rPr lang="en-IN"/>
                        <a:t>Window may be described as number of frames</a:t>
                      </a:r>
                    </a:p>
                  </a:txBody>
                  <a:tcPr anchor="ctr"/>
                </a:tc>
                <a:tc>
                  <a:txBody>
                    <a:bodyPr/>
                    <a:lstStyle/>
                    <a:p>
                      <a:pPr>
                        <a:buNone/>
                      </a:pPr>
                      <a:r>
                        <a:rPr lang="en-IN"/>
                        <a:t>TCP window is based on byte sequence numbers</a:t>
                      </a:r>
                    </a:p>
                  </a:txBody>
                  <a:tcPr anchor="ctr"/>
                </a:tc>
                <a:extLst>
                  <a:ext uri="{0D108BD9-81ED-4DB2-BD59-A6C34878D82A}">
                    <a16:rowId xmlns:a16="http://schemas.microsoft.com/office/drawing/2014/main" val="2473769392"/>
                  </a:ext>
                </a:extLst>
              </a:tr>
              <a:tr h="370840">
                <a:tc>
                  <a:txBody>
                    <a:bodyPr/>
                    <a:lstStyle/>
                    <a:p>
                      <a:pPr>
                        <a:buNone/>
                      </a:pPr>
                      <a:r>
                        <a:rPr lang="en-IN"/>
                        <a:t>We studied GBN and SR as separate protocols</a:t>
                      </a:r>
                    </a:p>
                  </a:txBody>
                  <a:tcPr anchor="ctr"/>
                </a:tc>
                <a:tc>
                  <a:txBody>
                    <a:bodyPr/>
                    <a:lstStyle/>
                    <a:p>
                      <a:pPr>
                        <a:buNone/>
                      </a:pPr>
                      <a:r>
                        <a:rPr lang="en-IN"/>
                        <a:t>TCP has its own ACK and retransmission mechanisms</a:t>
                      </a:r>
                    </a:p>
                  </a:txBody>
                  <a:tcPr anchor="ctr"/>
                </a:tc>
                <a:extLst>
                  <a:ext uri="{0D108BD9-81ED-4DB2-BD59-A6C34878D82A}">
                    <a16:rowId xmlns:a16="http://schemas.microsoft.com/office/drawing/2014/main" val="72404479"/>
                  </a:ext>
                </a:extLst>
              </a:tr>
              <a:tr h="370840">
                <a:tc>
                  <a:txBody>
                    <a:bodyPr/>
                    <a:lstStyle/>
                    <a:p>
                      <a:pPr>
                        <a:buNone/>
                      </a:pPr>
                      <a:r>
                        <a:rPr lang="en-IN" dirty="0"/>
                        <a:t>Example: Frames 0,1,2,3</a:t>
                      </a:r>
                    </a:p>
                  </a:txBody>
                  <a:tcPr anchor="ctr"/>
                </a:tc>
                <a:tc>
                  <a:txBody>
                    <a:bodyPr/>
                    <a:lstStyle/>
                    <a:p>
                      <a:pPr>
                        <a:buNone/>
                      </a:pPr>
                      <a:r>
                        <a:rPr lang="en-IN" dirty="0"/>
                        <a:t>Example: Bytes 1000–4999</a:t>
                      </a:r>
                    </a:p>
                  </a:txBody>
                  <a:tcPr anchor="ctr"/>
                </a:tc>
                <a:extLst>
                  <a:ext uri="{0D108BD9-81ED-4DB2-BD59-A6C34878D82A}">
                    <a16:rowId xmlns:a16="http://schemas.microsoft.com/office/drawing/2014/main" val="583309628"/>
                  </a:ext>
                </a:extLst>
              </a:tr>
            </a:tbl>
          </a:graphicData>
        </a:graphic>
      </p:graphicFrame>
      <p:sp>
        <p:nvSpPr>
          <p:cNvPr id="8" name="TextBox 7">
            <a:extLst>
              <a:ext uri="{FF2B5EF4-FFF2-40B4-BE49-F238E27FC236}">
                <a16:creationId xmlns:a16="http://schemas.microsoft.com/office/drawing/2014/main" id="{33E61A02-E991-D435-205B-A3DFCA4EA3C5}"/>
              </a:ext>
            </a:extLst>
          </p:cNvPr>
          <p:cNvSpPr txBox="1"/>
          <p:nvPr/>
        </p:nvSpPr>
        <p:spPr>
          <a:xfrm>
            <a:off x="3048000" y="6344471"/>
            <a:ext cx="6096000" cy="369332"/>
          </a:xfrm>
          <a:prstGeom prst="rect">
            <a:avLst/>
          </a:prstGeom>
          <a:noFill/>
        </p:spPr>
        <p:txBody>
          <a:bodyPr wrap="square">
            <a:spAutoFit/>
          </a:bodyPr>
          <a:lstStyle/>
          <a:p>
            <a:r>
              <a:rPr lang="en-IN" dirty="0"/>
              <a:t>TCP uses a byte-based Sliding Window mechanism.</a:t>
            </a:r>
          </a:p>
        </p:txBody>
      </p:sp>
    </p:spTree>
    <p:extLst>
      <p:ext uri="{BB962C8B-B14F-4D97-AF65-F5344CB8AC3E}">
        <p14:creationId xmlns:p14="http://schemas.microsoft.com/office/powerpoint/2010/main" val="11800432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2CB8C-F89B-951E-8B79-858CDB82DE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FB4DC0-660C-0A12-FDDB-6A9834289621}"/>
              </a:ext>
            </a:extLst>
          </p:cNvPr>
          <p:cNvSpPr>
            <a:spLocks noGrp="1"/>
          </p:cNvSpPr>
          <p:nvPr>
            <p:ph type="title"/>
          </p:nvPr>
        </p:nvSpPr>
        <p:spPr>
          <a:xfrm>
            <a:off x="275844" y="495220"/>
            <a:ext cx="11640312" cy="464900"/>
          </a:xfrm>
        </p:spPr>
        <p:txBody>
          <a:bodyPr>
            <a:normAutofit/>
          </a:bodyPr>
          <a:lstStyle/>
          <a:p>
            <a:r>
              <a:rPr lang="en-US" sz="2400" b="1" dirty="0"/>
              <a:t>Numerical Example:</a:t>
            </a:r>
            <a:endParaRPr lang="en-IN" sz="2400" b="1" dirty="0"/>
          </a:p>
        </p:txBody>
      </p:sp>
      <p:sp>
        <p:nvSpPr>
          <p:cNvPr id="4" name="TextBox 3">
            <a:extLst>
              <a:ext uri="{FF2B5EF4-FFF2-40B4-BE49-F238E27FC236}">
                <a16:creationId xmlns:a16="http://schemas.microsoft.com/office/drawing/2014/main" id="{ABE8BE1F-B66B-8475-6F47-9377126D4BD2}"/>
              </a:ext>
            </a:extLst>
          </p:cNvPr>
          <p:cNvSpPr txBox="1"/>
          <p:nvPr/>
        </p:nvSpPr>
        <p:spPr>
          <a:xfrm>
            <a:off x="275844" y="960120"/>
            <a:ext cx="6096000" cy="1754326"/>
          </a:xfrm>
          <a:prstGeom prst="rect">
            <a:avLst/>
          </a:prstGeom>
          <a:noFill/>
        </p:spPr>
        <p:txBody>
          <a:bodyPr wrap="square">
            <a:spAutoFit/>
          </a:bodyPr>
          <a:lstStyle/>
          <a:p>
            <a:pPr>
              <a:buNone/>
            </a:pPr>
            <a:r>
              <a:rPr lang="en-IN" dirty="0"/>
              <a:t>Suppose:</a:t>
            </a:r>
          </a:p>
          <a:p>
            <a:pPr rtl="0">
              <a:buNone/>
            </a:pPr>
            <a:r>
              <a:rPr lang="en-IN" dirty="0">
                <a:latin typeface="+mn-lt"/>
              </a:rPr>
              <a:t>Next Byte = 5000</a:t>
            </a:r>
          </a:p>
          <a:p>
            <a:pPr rtl="0">
              <a:buNone/>
            </a:pPr>
            <a:r>
              <a:rPr lang="en-IN" dirty="0">
                <a:latin typeface="+mn-lt"/>
              </a:rPr>
              <a:t>Window Size = 3000 bytes</a:t>
            </a:r>
          </a:p>
          <a:p>
            <a:pPr>
              <a:buNone/>
            </a:pPr>
            <a:r>
              <a:rPr lang="en-IN" b="1" dirty="0"/>
              <a:t>Find the window range</a:t>
            </a:r>
            <a:br>
              <a:rPr lang="en-IN" b="1" dirty="0"/>
            </a:br>
            <a:br>
              <a:rPr lang="en-IN" b="1" dirty="0"/>
            </a:br>
            <a:r>
              <a:rPr lang="en-IN" b="1" dirty="0"/>
              <a:t>Solution: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DA9C782-18C1-5A6E-F4B0-A93CCBF81DBC}"/>
                  </a:ext>
                </a:extLst>
              </p:cNvPr>
              <p:cNvSpPr txBox="1"/>
              <p:nvPr/>
            </p:nvSpPr>
            <p:spPr>
              <a:xfrm>
                <a:off x="401053" y="3179346"/>
                <a:ext cx="4186989" cy="2627964"/>
              </a:xfrm>
              <a:prstGeom prst="rect">
                <a:avLst/>
              </a:prstGeom>
              <a:noFill/>
            </p:spPr>
            <p:txBody>
              <a:bodyPr wrap="square">
                <a:spAutoFit/>
              </a:bodyPr>
              <a:lstStyle/>
              <a:p>
                <a:pPr>
                  <a:buNone/>
                </a:pPr>
                <a:r>
                  <a:rPr lang="en-IN" dirty="0"/>
                  <a:t>Starting byte:</a:t>
                </a:r>
              </a:p>
              <a:p>
                <a:pPr>
                  <a:buNone/>
                </a:pPr>
                <a14:m>
                  <m:oMathPara xmlns:m="http://schemas.openxmlformats.org/officeDocument/2006/math">
                    <m:oMath>
                      <m:r>
                        <a:rPr lang="en-IN">
                          <a:latin typeface="Cambria Math" panose="02040503050406030204" pitchFamily="18" charset="0"/>
                        </a:rPr>
                        <m:t>5000</m:t>
                      </m:r>
                    </m:oMath>
                  </m:oMathPara>
                </a14:m>
                <a:endParaRPr lang="en-IN" dirty="0"/>
              </a:p>
              <a:p>
                <a:pPr>
                  <a:buNone/>
                </a:pPr>
                <a:r>
                  <a:rPr lang="en-IN" dirty="0"/>
                  <a:t>Last byte:</a:t>
                </a:r>
              </a:p>
              <a:p>
                <a:pPr>
                  <a:buNone/>
                </a:pPr>
                <a14:m>
                  <m:oMathPara xmlns:m="http://schemas.openxmlformats.org/officeDocument/2006/math">
                    <m:oMath>
                      <m:r>
                        <a:rPr lang="en-IN">
                          <a:latin typeface="Cambria Math" panose="02040503050406030204" pitchFamily="18" charset="0"/>
                        </a:rPr>
                        <m:t>5000</m:t>
                      </m:r>
                      <m:r>
                        <a:rPr lang="en-IN" i="0">
                          <a:latin typeface="Cambria Math" panose="02040503050406030204" pitchFamily="18" charset="0"/>
                        </a:rPr>
                        <m:t>+3000−1</m:t>
                      </m:r>
                    </m:oMath>
                  </m:oMathPara>
                </a14:m>
                <a:endParaRPr lang="en-IN" dirty="0"/>
              </a:p>
              <a:p>
                <a:pPr>
                  <a:buNone/>
                </a:pPr>
                <a14:m>
                  <m:oMathPara xmlns:m="http://schemas.openxmlformats.org/officeDocument/2006/math">
                    <m:oMath>
                      <m:r>
                        <a:rPr lang="en-IN">
                          <a:latin typeface="Cambria Math" panose="02040503050406030204" pitchFamily="18" charset="0"/>
                        </a:rPr>
                        <m:t>=</m:t>
                      </m:r>
                      <m:r>
                        <a:rPr lang="en-IN" i="0">
                          <a:latin typeface="Cambria Math" panose="02040503050406030204" pitchFamily="18" charset="0"/>
                        </a:rPr>
                        <m:t>7999</m:t>
                      </m:r>
                    </m:oMath>
                  </m:oMathPara>
                </a14:m>
                <a:endParaRPr lang="en-IN" dirty="0"/>
              </a:p>
              <a:p>
                <a:pPr>
                  <a:buNone/>
                </a:pPr>
                <a:r>
                  <a:rPr lang="en-IN" dirty="0"/>
                  <a:t>Therefore:</a:t>
                </a:r>
              </a:p>
              <a:p>
                <a:pPr>
                  <a:buNone/>
                </a:pPr>
                <a14:m>
                  <m:oMathPara xmlns:m="http://schemas.openxmlformats.org/officeDocument/2006/math">
                    <m:oMath>
                      <m:borderBox>
                        <m:borderBoxPr>
                          <m:ctrlPr>
                            <a:rPr lang="en-IN">
                              <a:latin typeface="Cambria Math" panose="02040503050406030204" pitchFamily="18" charset="0"/>
                            </a:rPr>
                          </m:ctrlPr>
                        </m:borderBoxPr>
                        <m:e>
                          <m:r>
                            <a:rPr lang="en-IN">
                              <a:latin typeface="Cambria Math" panose="02040503050406030204" pitchFamily="18" charset="0"/>
                            </a:rPr>
                            <m:t>5000</m:t>
                          </m:r>
                          <m:r>
                            <a:rPr lang="en-IN" i="0">
                              <a:latin typeface="Cambria Math" panose="02040503050406030204" pitchFamily="18" charset="0"/>
                            </a:rPr>
                            <m:t>−7999</m:t>
                          </m:r>
                        </m:e>
                      </m:borderBox>
                    </m:oMath>
                  </m:oMathPara>
                </a14:m>
                <a:endParaRPr lang="en-IN" dirty="0"/>
              </a:p>
              <a:p>
                <a:pPr>
                  <a:buNone/>
                </a:pPr>
                <a:r>
                  <a:rPr lang="en-IN" dirty="0"/>
                  <a:t>Now suppose the receiver receives bytes:</a:t>
                </a:r>
              </a:p>
              <a:p>
                <a:pPr rtl="0">
                  <a:buNone/>
                </a:pPr>
                <a:r>
                  <a:rPr lang="en-IN" dirty="0">
                    <a:latin typeface="+mn-lt"/>
                  </a:rPr>
                  <a:t>5000–6499</a:t>
                </a:r>
                <a:endParaRPr lang="en-IN" dirty="0">
                  <a:latin typeface="Courier New" panose="02070309020205020404" pitchFamily="49" charset="0"/>
                </a:endParaRPr>
              </a:p>
            </p:txBody>
          </p:sp>
        </mc:Choice>
        <mc:Fallback xmlns="">
          <p:sp>
            <p:nvSpPr>
              <p:cNvPr id="6" name="TextBox 5">
                <a:extLst>
                  <a:ext uri="{FF2B5EF4-FFF2-40B4-BE49-F238E27FC236}">
                    <a16:creationId xmlns:a16="http://schemas.microsoft.com/office/drawing/2014/main" id="{7DA9C782-18C1-5A6E-F4B0-A93CCBF81DBC}"/>
                  </a:ext>
                </a:extLst>
              </p:cNvPr>
              <p:cNvSpPr txBox="1">
                <a:spLocks noRot="1" noChangeAspect="1" noMove="1" noResize="1" noEditPoints="1" noAdjustHandles="1" noChangeArrowheads="1" noChangeShapeType="1" noTextEdit="1"/>
              </p:cNvSpPr>
              <p:nvPr/>
            </p:nvSpPr>
            <p:spPr>
              <a:xfrm>
                <a:off x="401053" y="3179346"/>
                <a:ext cx="4186989" cy="2627964"/>
              </a:xfrm>
              <a:prstGeom prst="rect">
                <a:avLst/>
              </a:prstGeom>
              <a:blipFill>
                <a:blip r:embed="rId2"/>
                <a:stretch>
                  <a:fillRect l="-1310" t="-1392" b="-25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5FF40EF-05B8-6FEF-E909-0CFB5C8F55AA}"/>
                  </a:ext>
                </a:extLst>
              </p:cNvPr>
              <p:cNvSpPr txBox="1"/>
              <p:nvPr/>
            </p:nvSpPr>
            <p:spPr>
              <a:xfrm>
                <a:off x="5165558" y="727670"/>
                <a:ext cx="4555960" cy="2904962"/>
              </a:xfrm>
              <a:prstGeom prst="rect">
                <a:avLst/>
              </a:prstGeom>
              <a:noFill/>
            </p:spPr>
            <p:txBody>
              <a:bodyPr wrap="square">
                <a:spAutoFit/>
              </a:bodyPr>
              <a:lstStyle/>
              <a:p>
                <a:pPr>
                  <a:buNone/>
                </a:pPr>
                <a:r>
                  <a:rPr lang="en-IN" dirty="0"/>
                  <a:t>That is:</a:t>
                </a:r>
              </a:p>
              <a:p>
                <a:pPr>
                  <a:buNone/>
                </a:pPr>
                <a14:m>
                  <m:oMathPara xmlns:m="http://schemas.openxmlformats.org/officeDocument/2006/math">
                    <m:oMath>
                      <m:r>
                        <a:rPr lang="en-IN">
                          <a:latin typeface="Cambria Math" panose="02040503050406030204" pitchFamily="18" charset="0"/>
                        </a:rPr>
                        <m:t>1500</m:t>
                      </m:r>
                      <m:r>
                        <m:rPr>
                          <m:nor/>
                        </m:rPr>
                        <a:rPr lang="en-IN" b="0" i="0">
                          <a:latin typeface="+mn-lt"/>
                        </a:rPr>
                        <m:t> bytes</m:t>
                      </m:r>
                    </m:oMath>
                  </m:oMathPara>
                </a14:m>
                <a:endParaRPr lang="en-IN" b="0" dirty="0"/>
              </a:p>
              <a:p>
                <a:pPr>
                  <a:buNone/>
                </a:pPr>
                <a:r>
                  <a:rPr lang="en-IN" dirty="0"/>
                  <a:t>The next byte expected is:</a:t>
                </a:r>
              </a:p>
              <a:p>
                <a:pPr>
                  <a:buNone/>
                </a:pPr>
                <a14:m>
                  <m:oMathPara xmlns:m="http://schemas.openxmlformats.org/officeDocument/2006/math">
                    <m:oMath>
                      <m:r>
                        <a:rPr lang="en-IN">
                          <a:latin typeface="Cambria Math" panose="02040503050406030204" pitchFamily="18" charset="0"/>
                        </a:rPr>
                        <m:t>6500</m:t>
                      </m:r>
                    </m:oMath>
                  </m:oMathPara>
                </a14:m>
                <a:endParaRPr lang="en-IN" dirty="0"/>
              </a:p>
              <a:p>
                <a:pPr>
                  <a:buNone/>
                </a:pPr>
                <a:r>
                  <a:rPr lang="en-IN" dirty="0"/>
                  <a:t>So:</a:t>
                </a:r>
              </a:p>
              <a:p>
                <a:pPr>
                  <a:buNone/>
                </a:pPr>
                <a14:m>
                  <m:oMathPara xmlns:m="http://schemas.openxmlformats.org/officeDocument/2006/math">
                    <m:oMath>
                      <m:borderBox>
                        <m:borderBoxPr>
                          <m:ctrlPr>
                            <a:rPr lang="en-IN" i="1">
                              <a:latin typeface="Cambria Math" panose="02040503050406030204" pitchFamily="18" charset="0"/>
                            </a:rPr>
                          </m:ctrlPr>
                        </m:borderBoxPr>
                        <m:e>
                          <m:r>
                            <a:rPr lang="en-IN" i="1">
                              <a:latin typeface="Cambria Math" panose="02040503050406030204" pitchFamily="18" charset="0"/>
                            </a:rPr>
                            <m:t>𝐴𝐶𝐾</m:t>
                          </m:r>
                          <m:r>
                            <a:rPr lang="en-IN" i="0">
                              <a:latin typeface="Cambria Math" panose="02040503050406030204" pitchFamily="18" charset="0"/>
                            </a:rPr>
                            <m:t>=6500</m:t>
                          </m:r>
                        </m:e>
                      </m:borderBox>
                    </m:oMath>
                  </m:oMathPara>
                </a14:m>
                <a:endParaRPr lang="en-IN" dirty="0"/>
              </a:p>
              <a:p>
                <a:pPr>
                  <a:buNone/>
                </a:pPr>
                <a:r>
                  <a:rPr lang="en-IN" dirty="0"/>
                  <a:t>Suppose the receiver again advertises:</a:t>
                </a:r>
              </a:p>
              <a:p>
                <a:pPr rtl="0">
                  <a:buNone/>
                </a:pPr>
                <a:r>
                  <a:rPr lang="en-IN" dirty="0">
                    <a:latin typeface="+mn-lt"/>
                  </a:rPr>
                  <a:t>Window Size = 3000</a:t>
                </a:r>
              </a:p>
              <a:p>
                <a:pPr>
                  <a:buNone/>
                </a:pPr>
                <a:r>
                  <a:rPr lang="en-IN" dirty="0"/>
                  <a:t>Then the new window becomes:</a:t>
                </a:r>
              </a:p>
              <a:p>
                <a:pPr>
                  <a:buNone/>
                </a:pPr>
                <a:r>
                  <a:rPr lang="en-IN" dirty="0"/>
                  <a:t>6500 to 9499</a:t>
                </a:r>
              </a:p>
            </p:txBody>
          </p:sp>
        </mc:Choice>
        <mc:Fallback xmlns="">
          <p:sp>
            <p:nvSpPr>
              <p:cNvPr id="8" name="TextBox 7">
                <a:extLst>
                  <a:ext uri="{FF2B5EF4-FFF2-40B4-BE49-F238E27FC236}">
                    <a16:creationId xmlns:a16="http://schemas.microsoft.com/office/drawing/2014/main" id="{25FF40EF-05B8-6FEF-E909-0CFB5C8F55AA}"/>
                  </a:ext>
                </a:extLst>
              </p:cNvPr>
              <p:cNvSpPr txBox="1">
                <a:spLocks noRot="1" noChangeAspect="1" noMove="1" noResize="1" noEditPoints="1" noAdjustHandles="1" noChangeArrowheads="1" noChangeShapeType="1" noTextEdit="1"/>
              </p:cNvSpPr>
              <p:nvPr/>
            </p:nvSpPr>
            <p:spPr>
              <a:xfrm>
                <a:off x="5165558" y="727670"/>
                <a:ext cx="4555960" cy="2904962"/>
              </a:xfrm>
              <a:prstGeom prst="rect">
                <a:avLst/>
              </a:prstGeom>
              <a:blipFill>
                <a:blip r:embed="rId3"/>
                <a:stretch>
                  <a:fillRect l="-1070" t="-1048" b="-2306"/>
                </a:stretch>
              </a:blipFill>
            </p:spPr>
            <p:txBody>
              <a:bodyPr/>
              <a:lstStyle/>
              <a:p>
                <a:r>
                  <a:rPr lang="en-IN">
                    <a:noFill/>
                  </a:rPr>
                  <a:t> </a:t>
                </a:r>
              </a:p>
            </p:txBody>
          </p:sp>
        </mc:Fallback>
      </mc:AlternateContent>
    </p:spTree>
    <p:extLst>
      <p:ext uri="{BB962C8B-B14F-4D97-AF65-F5344CB8AC3E}">
        <p14:creationId xmlns:p14="http://schemas.microsoft.com/office/powerpoint/2010/main" val="112965652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0C049-DAB1-3FA6-4842-4F52192DE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03210-359C-22E1-805E-9BE67E4CF932}"/>
              </a:ext>
            </a:extLst>
          </p:cNvPr>
          <p:cNvSpPr>
            <a:spLocks noGrp="1"/>
          </p:cNvSpPr>
          <p:nvPr>
            <p:ph type="title"/>
          </p:nvPr>
        </p:nvSpPr>
        <p:spPr>
          <a:xfrm>
            <a:off x="275844" y="495220"/>
            <a:ext cx="11640312" cy="464900"/>
          </a:xfrm>
        </p:spPr>
        <p:txBody>
          <a:bodyPr>
            <a:normAutofit/>
          </a:bodyPr>
          <a:lstStyle/>
          <a:p>
            <a:r>
              <a:rPr lang="en-US" sz="2400" b="1" dirty="0"/>
              <a:t>Numerical Example:</a:t>
            </a:r>
            <a:endParaRPr lang="en-IN" sz="2400" b="1" dirty="0"/>
          </a:p>
        </p:txBody>
      </p:sp>
      <p:pic>
        <p:nvPicPr>
          <p:cNvPr id="5" name="Picture 4">
            <a:extLst>
              <a:ext uri="{FF2B5EF4-FFF2-40B4-BE49-F238E27FC236}">
                <a16:creationId xmlns:a16="http://schemas.microsoft.com/office/drawing/2014/main" id="{3A2A1C37-D6D7-9B44-DCC7-642E15CCF8BF}"/>
              </a:ext>
            </a:extLst>
          </p:cNvPr>
          <p:cNvPicPr>
            <a:picLocks noChangeAspect="1"/>
          </p:cNvPicPr>
          <p:nvPr/>
        </p:nvPicPr>
        <p:blipFill>
          <a:blip r:embed="rId2"/>
          <a:stretch>
            <a:fillRect/>
          </a:stretch>
        </p:blipFill>
        <p:spPr>
          <a:xfrm>
            <a:off x="108533" y="960120"/>
            <a:ext cx="5987467" cy="5536933"/>
          </a:xfrm>
          <a:prstGeom prst="rect">
            <a:avLst/>
          </a:prstGeom>
        </p:spPr>
      </p:pic>
    </p:spTree>
    <p:extLst>
      <p:ext uri="{BB962C8B-B14F-4D97-AF65-F5344CB8AC3E}">
        <p14:creationId xmlns:p14="http://schemas.microsoft.com/office/powerpoint/2010/main" val="23790346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D3239-9184-8A30-0F95-1A47BD3EF0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DF722-261D-E0D7-5B3B-A2774D01AC7D}"/>
              </a:ext>
            </a:extLst>
          </p:cNvPr>
          <p:cNvSpPr>
            <a:spLocks noGrp="1"/>
          </p:cNvSpPr>
          <p:nvPr>
            <p:ph type="title"/>
          </p:nvPr>
        </p:nvSpPr>
        <p:spPr>
          <a:xfrm>
            <a:off x="275844" y="495220"/>
            <a:ext cx="11640312" cy="464900"/>
          </a:xfrm>
        </p:spPr>
        <p:txBody>
          <a:bodyPr>
            <a:normAutofit/>
          </a:bodyPr>
          <a:lstStyle/>
          <a:p>
            <a:r>
              <a:rPr lang="en-IN" sz="2400" b="1" dirty="0"/>
              <a:t>Advantages of TCP Sliding Window</a:t>
            </a:r>
          </a:p>
        </p:txBody>
      </p:sp>
      <p:graphicFrame>
        <p:nvGraphicFramePr>
          <p:cNvPr id="3" name="Table 2">
            <a:extLst>
              <a:ext uri="{FF2B5EF4-FFF2-40B4-BE49-F238E27FC236}">
                <a16:creationId xmlns:a16="http://schemas.microsoft.com/office/drawing/2014/main" id="{68C7BA4C-4B70-F77D-293D-888838124B72}"/>
              </a:ext>
            </a:extLst>
          </p:cNvPr>
          <p:cNvGraphicFramePr>
            <a:graphicFrameLocks noGrp="1"/>
          </p:cNvGraphicFramePr>
          <p:nvPr>
            <p:extLst>
              <p:ext uri="{D42A27DB-BD31-4B8C-83A1-F6EECF244321}">
                <p14:modId xmlns:p14="http://schemas.microsoft.com/office/powerpoint/2010/main" val="4163335397"/>
              </p:ext>
            </p:extLst>
          </p:nvPr>
        </p:nvGraphicFramePr>
        <p:xfrm>
          <a:off x="275844" y="960120"/>
          <a:ext cx="8128000" cy="35712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130128237"/>
                    </a:ext>
                  </a:extLst>
                </a:gridCol>
                <a:gridCol w="4064000">
                  <a:extLst>
                    <a:ext uri="{9D8B030D-6E8A-4147-A177-3AD203B41FA5}">
                      <a16:colId xmlns:a16="http://schemas.microsoft.com/office/drawing/2014/main" val="884054364"/>
                    </a:ext>
                  </a:extLst>
                </a:gridCol>
              </a:tblGrid>
              <a:tr h="370840">
                <a:tc>
                  <a:txBody>
                    <a:bodyPr/>
                    <a:lstStyle/>
                    <a:p>
                      <a:pPr>
                        <a:buNone/>
                      </a:pPr>
                      <a:r>
                        <a:rPr lang="en-IN" dirty="0"/>
                        <a:t>Advantage</a:t>
                      </a:r>
                    </a:p>
                  </a:txBody>
                  <a:tcPr anchor="ctr"/>
                </a:tc>
                <a:tc>
                  <a:txBody>
                    <a:bodyPr/>
                    <a:lstStyle/>
                    <a:p>
                      <a:pPr>
                        <a:buNone/>
                      </a:pPr>
                      <a:r>
                        <a:rPr lang="en-IN"/>
                        <a:t>Simple Meaning</a:t>
                      </a:r>
                    </a:p>
                  </a:txBody>
                  <a:tcPr anchor="ctr"/>
                </a:tc>
                <a:extLst>
                  <a:ext uri="{0D108BD9-81ED-4DB2-BD59-A6C34878D82A}">
                    <a16:rowId xmlns:a16="http://schemas.microsoft.com/office/drawing/2014/main" val="4232233493"/>
                  </a:ext>
                </a:extLst>
              </a:tr>
              <a:tr h="370840">
                <a:tc>
                  <a:txBody>
                    <a:bodyPr/>
                    <a:lstStyle/>
                    <a:p>
                      <a:pPr>
                        <a:buNone/>
                      </a:pPr>
                      <a:r>
                        <a:rPr lang="en-IN"/>
                        <a:t>Faster communication</a:t>
                      </a:r>
                    </a:p>
                  </a:txBody>
                  <a:tcPr anchor="ctr"/>
                </a:tc>
                <a:tc>
                  <a:txBody>
                    <a:bodyPr/>
                    <a:lstStyle/>
                    <a:p>
                      <a:pPr>
                        <a:buNone/>
                      </a:pPr>
                      <a:r>
                        <a:rPr lang="en-IN"/>
                        <a:t>Sender does not wait after every small piece of data</a:t>
                      </a:r>
                    </a:p>
                  </a:txBody>
                  <a:tcPr anchor="ctr"/>
                </a:tc>
                <a:extLst>
                  <a:ext uri="{0D108BD9-81ED-4DB2-BD59-A6C34878D82A}">
                    <a16:rowId xmlns:a16="http://schemas.microsoft.com/office/drawing/2014/main" val="13385154"/>
                  </a:ext>
                </a:extLst>
              </a:tr>
              <a:tr h="370840">
                <a:tc>
                  <a:txBody>
                    <a:bodyPr/>
                    <a:lstStyle/>
                    <a:p>
                      <a:pPr>
                        <a:buNone/>
                      </a:pPr>
                      <a:r>
                        <a:rPr lang="en-IN"/>
                        <a:t>Better use of network</a:t>
                      </a:r>
                    </a:p>
                  </a:txBody>
                  <a:tcPr anchor="ctr"/>
                </a:tc>
                <a:tc>
                  <a:txBody>
                    <a:bodyPr/>
                    <a:lstStyle/>
                    <a:p>
                      <a:pPr>
                        <a:buNone/>
                      </a:pPr>
                      <a:r>
                        <a:rPr lang="en-IN"/>
                        <a:t>Multiple TCP segments can be travelling at the same time</a:t>
                      </a:r>
                    </a:p>
                  </a:txBody>
                  <a:tcPr anchor="ctr"/>
                </a:tc>
                <a:extLst>
                  <a:ext uri="{0D108BD9-81ED-4DB2-BD59-A6C34878D82A}">
                    <a16:rowId xmlns:a16="http://schemas.microsoft.com/office/drawing/2014/main" val="1883650456"/>
                  </a:ext>
                </a:extLst>
              </a:tr>
              <a:tr h="370840">
                <a:tc>
                  <a:txBody>
                    <a:bodyPr/>
                    <a:lstStyle/>
                    <a:p>
                      <a:pPr>
                        <a:buNone/>
                      </a:pPr>
                      <a:r>
                        <a:rPr lang="en-IN"/>
                        <a:t>Flow control</a:t>
                      </a:r>
                    </a:p>
                  </a:txBody>
                  <a:tcPr anchor="ctr"/>
                </a:tc>
                <a:tc>
                  <a:txBody>
                    <a:bodyPr/>
                    <a:lstStyle/>
                    <a:p>
                      <a:pPr>
                        <a:buNone/>
                      </a:pPr>
                      <a:r>
                        <a:rPr lang="en-IN"/>
                        <a:t>Sender follows the receiver's advertised window</a:t>
                      </a:r>
                    </a:p>
                  </a:txBody>
                  <a:tcPr anchor="ctr"/>
                </a:tc>
                <a:extLst>
                  <a:ext uri="{0D108BD9-81ED-4DB2-BD59-A6C34878D82A}">
                    <a16:rowId xmlns:a16="http://schemas.microsoft.com/office/drawing/2014/main" val="1300193099"/>
                  </a:ext>
                </a:extLst>
              </a:tr>
              <a:tr h="370840">
                <a:tc>
                  <a:txBody>
                    <a:bodyPr/>
                    <a:lstStyle/>
                    <a:p>
                      <a:pPr>
                        <a:buNone/>
                      </a:pPr>
                      <a:r>
                        <a:rPr lang="en-IN"/>
                        <a:t>Continuous transmission</a:t>
                      </a:r>
                    </a:p>
                  </a:txBody>
                  <a:tcPr anchor="ctr"/>
                </a:tc>
                <a:tc>
                  <a:txBody>
                    <a:bodyPr/>
                    <a:lstStyle/>
                    <a:p>
                      <a:pPr>
                        <a:buNone/>
                      </a:pPr>
                      <a:r>
                        <a:rPr lang="en-IN"/>
                        <a:t>ACKs allow the window to keep moving forward</a:t>
                      </a:r>
                    </a:p>
                  </a:txBody>
                  <a:tcPr anchor="ctr"/>
                </a:tc>
                <a:extLst>
                  <a:ext uri="{0D108BD9-81ED-4DB2-BD59-A6C34878D82A}">
                    <a16:rowId xmlns:a16="http://schemas.microsoft.com/office/drawing/2014/main" val="714518446"/>
                  </a:ext>
                </a:extLst>
              </a:tr>
              <a:tr h="370840">
                <a:tc>
                  <a:txBody>
                    <a:bodyPr/>
                    <a:lstStyle/>
                    <a:p>
                      <a:pPr>
                        <a:buNone/>
                      </a:pPr>
                      <a:r>
                        <a:rPr lang="en-IN"/>
                        <a:t>Reliable communication</a:t>
                      </a:r>
                    </a:p>
                  </a:txBody>
                  <a:tcPr anchor="ctr"/>
                </a:tc>
                <a:tc>
                  <a:txBody>
                    <a:bodyPr/>
                    <a:lstStyle/>
                    <a:p>
                      <a:pPr>
                        <a:buNone/>
                      </a:pPr>
                      <a:r>
                        <a:rPr lang="en-IN" dirty="0"/>
                        <a:t>Sequence numbers and ACKs help track the byte stream</a:t>
                      </a:r>
                    </a:p>
                  </a:txBody>
                  <a:tcPr anchor="ctr"/>
                </a:tc>
                <a:extLst>
                  <a:ext uri="{0D108BD9-81ED-4DB2-BD59-A6C34878D82A}">
                    <a16:rowId xmlns:a16="http://schemas.microsoft.com/office/drawing/2014/main" val="4027520115"/>
                  </a:ext>
                </a:extLst>
              </a:tr>
            </a:tbl>
          </a:graphicData>
        </a:graphic>
      </p:graphicFrame>
    </p:spTree>
    <p:extLst>
      <p:ext uri="{BB962C8B-B14F-4D97-AF65-F5344CB8AC3E}">
        <p14:creationId xmlns:p14="http://schemas.microsoft.com/office/powerpoint/2010/main" val="1594471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C89F-73C9-AF83-E93E-80721D9D36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650400-F3DD-8A56-6E51-1E7AB7F9566D}"/>
              </a:ext>
            </a:extLst>
          </p:cNvPr>
          <p:cNvSpPr>
            <a:spLocks noGrp="1"/>
          </p:cNvSpPr>
          <p:nvPr>
            <p:ph type="title"/>
          </p:nvPr>
        </p:nvSpPr>
        <p:spPr>
          <a:xfrm>
            <a:off x="275844" y="495220"/>
            <a:ext cx="11640312" cy="464900"/>
          </a:xfrm>
        </p:spPr>
        <p:txBody>
          <a:bodyPr>
            <a:normAutofit/>
          </a:bodyPr>
          <a:lstStyle/>
          <a:p>
            <a:r>
              <a:rPr lang="en-IN" sz="2400" b="1" dirty="0"/>
              <a:t>What is TCP Transmission Policy?</a:t>
            </a:r>
          </a:p>
        </p:txBody>
      </p:sp>
      <p:sp>
        <p:nvSpPr>
          <p:cNvPr id="4" name="TextBox 3">
            <a:extLst>
              <a:ext uri="{FF2B5EF4-FFF2-40B4-BE49-F238E27FC236}">
                <a16:creationId xmlns:a16="http://schemas.microsoft.com/office/drawing/2014/main" id="{CFAFEBB5-1D17-375E-7FB0-99B9C41EE58B}"/>
              </a:ext>
            </a:extLst>
          </p:cNvPr>
          <p:cNvSpPr txBox="1"/>
          <p:nvPr/>
        </p:nvSpPr>
        <p:spPr>
          <a:xfrm>
            <a:off x="275844" y="960120"/>
            <a:ext cx="11290514" cy="1477328"/>
          </a:xfrm>
          <a:prstGeom prst="rect">
            <a:avLst/>
          </a:prstGeom>
          <a:noFill/>
        </p:spPr>
        <p:txBody>
          <a:bodyPr wrap="square">
            <a:spAutoFit/>
          </a:bodyPr>
          <a:lstStyle/>
          <a:p>
            <a:r>
              <a:rPr lang="en-IN" dirty="0"/>
              <a:t>When an application gives data to TCP, TCP has to decide: </a:t>
            </a:r>
            <a:r>
              <a:rPr lang="en-IN" b="1" dirty="0"/>
              <a:t>Should I send this data immediately, or should I wait for some more data? </a:t>
            </a:r>
            <a:r>
              <a:rPr lang="en-IN" dirty="0"/>
              <a:t>This decision is called </a:t>
            </a:r>
            <a:r>
              <a:rPr lang="en-IN" b="1" dirty="0"/>
              <a:t>TCP Transmission Policy</a:t>
            </a:r>
            <a:r>
              <a:rPr lang="en-IN" dirty="0"/>
              <a:t>.</a:t>
            </a:r>
            <a:br>
              <a:rPr lang="en-IN" dirty="0"/>
            </a:br>
            <a:br>
              <a:rPr lang="en-IN" dirty="0"/>
            </a:br>
            <a:r>
              <a:rPr lang="en-IN" b="1" dirty="0"/>
              <a:t>Definition</a:t>
            </a:r>
          </a:p>
          <a:p>
            <a:r>
              <a:rPr lang="en-IN" b="1" dirty="0"/>
              <a:t>TCP Transmission Policy decides when TCP should send the available data to the receiver.</a:t>
            </a:r>
            <a:endParaRPr lang="en-IN" dirty="0"/>
          </a:p>
        </p:txBody>
      </p:sp>
      <p:sp>
        <p:nvSpPr>
          <p:cNvPr id="6" name="TextBox 5">
            <a:extLst>
              <a:ext uri="{FF2B5EF4-FFF2-40B4-BE49-F238E27FC236}">
                <a16:creationId xmlns:a16="http://schemas.microsoft.com/office/drawing/2014/main" id="{70335561-303F-48CE-0402-F4019884FE41}"/>
              </a:ext>
            </a:extLst>
          </p:cNvPr>
          <p:cNvSpPr txBox="1"/>
          <p:nvPr/>
        </p:nvSpPr>
        <p:spPr>
          <a:xfrm>
            <a:off x="275844" y="2568112"/>
            <a:ext cx="6096000" cy="3416320"/>
          </a:xfrm>
          <a:prstGeom prst="rect">
            <a:avLst/>
          </a:prstGeom>
          <a:noFill/>
        </p:spPr>
        <p:txBody>
          <a:bodyPr wrap="square">
            <a:spAutoFit/>
          </a:bodyPr>
          <a:lstStyle/>
          <a:p>
            <a:pPr>
              <a:buNone/>
            </a:pPr>
            <a:r>
              <a:rPr lang="en-IN" dirty="0"/>
              <a:t>For example, suppose an application gives TCP only </a:t>
            </a:r>
            <a:r>
              <a:rPr lang="en-IN" b="1" dirty="0"/>
              <a:t>10 bytes</a:t>
            </a:r>
            <a:r>
              <a:rPr lang="en-IN" dirty="0"/>
              <a:t> of data.</a:t>
            </a:r>
          </a:p>
          <a:p>
            <a:pPr>
              <a:buNone/>
            </a:pPr>
            <a:r>
              <a:rPr lang="en-IN" dirty="0"/>
              <a:t>TCP has two choices:</a:t>
            </a:r>
          </a:p>
          <a:p>
            <a:pPr rtl="0">
              <a:buNone/>
            </a:pPr>
            <a:endParaRPr lang="en-IN" dirty="0">
              <a:latin typeface="+mn-lt"/>
            </a:endParaRPr>
          </a:p>
          <a:p>
            <a:pPr rtl="0">
              <a:buNone/>
            </a:pPr>
            <a:r>
              <a:rPr lang="en-IN" dirty="0">
                <a:latin typeface="+mn-lt"/>
              </a:rPr>
              <a:t>Choice 1:</a:t>
            </a:r>
          </a:p>
          <a:p>
            <a:pPr rtl="0">
              <a:buNone/>
            </a:pPr>
            <a:endParaRPr lang="en-IN" dirty="0">
              <a:latin typeface="+mn-lt"/>
            </a:endParaRPr>
          </a:p>
          <a:p>
            <a:pPr rtl="0">
              <a:buNone/>
            </a:pPr>
            <a:r>
              <a:rPr lang="en-IN" dirty="0">
                <a:latin typeface="+mn-lt"/>
              </a:rPr>
              <a:t>10 bytes received</a:t>
            </a:r>
          </a:p>
          <a:p>
            <a:pPr rtl="0">
              <a:buNone/>
            </a:pPr>
            <a:r>
              <a:rPr lang="en-IN" dirty="0">
                <a:latin typeface="+mn-lt"/>
              </a:rPr>
              <a:t>      ↓</a:t>
            </a:r>
          </a:p>
          <a:p>
            <a:pPr rtl="0">
              <a:buNone/>
            </a:pPr>
            <a:r>
              <a:rPr lang="en-IN" dirty="0">
                <a:latin typeface="+mn-lt"/>
              </a:rPr>
              <a:t>Send immediately</a:t>
            </a:r>
          </a:p>
          <a:p>
            <a:pPr rtl="0">
              <a:buNone/>
            </a:pPr>
            <a:endParaRPr lang="en-IN" dirty="0">
              <a:latin typeface="+mn-lt"/>
            </a:endParaRPr>
          </a:p>
          <a:p>
            <a:pPr rtl="0">
              <a:buNone/>
            </a:pPr>
            <a:endParaRPr lang="en-IN" dirty="0">
              <a:latin typeface="+mn-lt"/>
            </a:endParaRPr>
          </a:p>
          <a:p>
            <a:pPr rtl="0">
              <a:buNone/>
            </a:pPr>
            <a:endParaRPr lang="en-IN" dirty="0">
              <a:latin typeface="Courier New" panose="02070309020205020404" pitchFamily="49" charset="0"/>
            </a:endParaRPr>
          </a:p>
        </p:txBody>
      </p:sp>
      <p:sp>
        <p:nvSpPr>
          <p:cNvPr id="8" name="TextBox 7">
            <a:extLst>
              <a:ext uri="{FF2B5EF4-FFF2-40B4-BE49-F238E27FC236}">
                <a16:creationId xmlns:a16="http://schemas.microsoft.com/office/drawing/2014/main" id="{36CF94F0-098E-11BB-B4AA-D029CF74B255}"/>
              </a:ext>
            </a:extLst>
          </p:cNvPr>
          <p:cNvSpPr txBox="1"/>
          <p:nvPr/>
        </p:nvSpPr>
        <p:spPr>
          <a:xfrm>
            <a:off x="3516350" y="3529773"/>
            <a:ext cx="4267200" cy="2585323"/>
          </a:xfrm>
          <a:prstGeom prst="rect">
            <a:avLst/>
          </a:prstGeom>
          <a:noFill/>
        </p:spPr>
        <p:txBody>
          <a:bodyPr wrap="square">
            <a:spAutoFit/>
          </a:bodyPr>
          <a:lstStyle/>
          <a:p>
            <a:pPr rtl="0">
              <a:buNone/>
            </a:pPr>
            <a:r>
              <a:rPr lang="en-IN" sz="1800" dirty="0">
                <a:latin typeface="+mn-lt"/>
              </a:rPr>
              <a:t>Choice 2:</a:t>
            </a:r>
          </a:p>
          <a:p>
            <a:pPr rtl="0">
              <a:buNone/>
            </a:pPr>
            <a:endParaRPr lang="en-IN" sz="1800" dirty="0">
              <a:latin typeface="+mn-lt"/>
            </a:endParaRPr>
          </a:p>
          <a:p>
            <a:pPr rtl="0">
              <a:buNone/>
            </a:pPr>
            <a:r>
              <a:rPr lang="en-IN" sz="1800" dirty="0">
                <a:latin typeface="+mn-lt"/>
              </a:rPr>
              <a:t>10 bytes received</a:t>
            </a:r>
          </a:p>
          <a:p>
            <a:pPr rtl="0">
              <a:buNone/>
            </a:pPr>
            <a:r>
              <a:rPr lang="en-IN" sz="1800" dirty="0">
                <a:latin typeface="+mn-lt"/>
              </a:rPr>
              <a:t>      ↓</a:t>
            </a:r>
          </a:p>
          <a:p>
            <a:pPr rtl="0">
              <a:buNone/>
            </a:pPr>
            <a:r>
              <a:rPr lang="en-IN" sz="1800" dirty="0">
                <a:latin typeface="+mn-lt"/>
              </a:rPr>
              <a:t>Wait for some more data</a:t>
            </a:r>
          </a:p>
          <a:p>
            <a:pPr rtl="0">
              <a:buNone/>
            </a:pPr>
            <a:r>
              <a:rPr lang="en-IN" sz="1800" dirty="0">
                <a:latin typeface="+mn-lt"/>
              </a:rPr>
              <a:t>      ↓</a:t>
            </a:r>
          </a:p>
          <a:p>
            <a:pPr rtl="0">
              <a:buNone/>
            </a:pPr>
            <a:r>
              <a:rPr lang="en-IN" sz="1800" dirty="0">
                <a:latin typeface="+mn-lt"/>
              </a:rPr>
              <a:t>Combine the data</a:t>
            </a:r>
          </a:p>
          <a:p>
            <a:pPr rtl="0">
              <a:buNone/>
            </a:pPr>
            <a:r>
              <a:rPr lang="en-IN" sz="1800" dirty="0">
                <a:latin typeface="+mn-lt"/>
              </a:rPr>
              <a:t>      ↓</a:t>
            </a:r>
          </a:p>
          <a:p>
            <a:pPr rtl="0">
              <a:buNone/>
            </a:pPr>
            <a:r>
              <a:rPr lang="en-IN" sz="1800" dirty="0">
                <a:latin typeface="+mn-lt"/>
              </a:rPr>
              <a:t>Send a larger TCP segment</a:t>
            </a:r>
            <a:endParaRPr lang="en-IN" dirty="0"/>
          </a:p>
        </p:txBody>
      </p:sp>
    </p:spTree>
    <p:extLst>
      <p:ext uri="{BB962C8B-B14F-4D97-AF65-F5344CB8AC3E}">
        <p14:creationId xmlns:p14="http://schemas.microsoft.com/office/powerpoint/2010/main" val="17866578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478CC-085C-7411-DBDF-AF9394F4D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783F96-701A-F7E8-32D5-F5636E23A32F}"/>
              </a:ext>
            </a:extLst>
          </p:cNvPr>
          <p:cNvSpPr>
            <a:spLocks noGrp="1"/>
          </p:cNvSpPr>
          <p:nvPr>
            <p:ph type="title"/>
          </p:nvPr>
        </p:nvSpPr>
        <p:spPr>
          <a:xfrm>
            <a:off x="275844" y="495220"/>
            <a:ext cx="11640312" cy="464900"/>
          </a:xfrm>
        </p:spPr>
        <p:txBody>
          <a:bodyPr>
            <a:normAutofit/>
          </a:bodyPr>
          <a:lstStyle/>
          <a:p>
            <a:r>
              <a:rPr lang="en-IN" sz="2400" b="1" dirty="0"/>
              <a:t>Why do we need a Transmission Policy?</a:t>
            </a:r>
          </a:p>
        </p:txBody>
      </p:sp>
      <p:sp>
        <p:nvSpPr>
          <p:cNvPr id="4" name="TextBox 3">
            <a:extLst>
              <a:ext uri="{FF2B5EF4-FFF2-40B4-BE49-F238E27FC236}">
                <a16:creationId xmlns:a16="http://schemas.microsoft.com/office/drawing/2014/main" id="{20B5BBAE-BEBF-F9FF-2D8B-64BB6A364D75}"/>
              </a:ext>
            </a:extLst>
          </p:cNvPr>
          <p:cNvSpPr txBox="1"/>
          <p:nvPr/>
        </p:nvSpPr>
        <p:spPr>
          <a:xfrm>
            <a:off x="320842" y="960120"/>
            <a:ext cx="5775158" cy="2308324"/>
          </a:xfrm>
          <a:prstGeom prst="rect">
            <a:avLst/>
          </a:prstGeom>
          <a:noFill/>
        </p:spPr>
        <p:txBody>
          <a:bodyPr wrap="square">
            <a:spAutoFit/>
          </a:bodyPr>
          <a:lstStyle/>
          <a:p>
            <a:pPr>
              <a:buNone/>
            </a:pPr>
            <a:r>
              <a:rPr lang="en-IN" dirty="0"/>
              <a:t>Remember that TCP does not send only application data.</a:t>
            </a:r>
          </a:p>
          <a:p>
            <a:pPr>
              <a:buNone/>
            </a:pPr>
            <a:endParaRPr lang="en-IN" dirty="0"/>
          </a:p>
          <a:p>
            <a:pPr>
              <a:buNone/>
            </a:pPr>
            <a:r>
              <a:rPr lang="en-IN" dirty="0"/>
              <a:t>Every TCP segment also contains a </a:t>
            </a:r>
            <a:r>
              <a:rPr lang="en-IN" b="1" dirty="0"/>
              <a:t>TCP header</a:t>
            </a:r>
            <a:r>
              <a:rPr lang="en-IN" dirty="0"/>
              <a:t>.</a:t>
            </a:r>
          </a:p>
          <a:p>
            <a:pPr>
              <a:buNone/>
            </a:pPr>
            <a:endParaRPr lang="en-IN" dirty="0"/>
          </a:p>
          <a:p>
            <a:pPr>
              <a:buNone/>
            </a:pPr>
            <a:r>
              <a:rPr lang="en-IN" dirty="0"/>
              <a:t>A basic TCP header is: </a:t>
            </a:r>
            <a:r>
              <a:rPr lang="en-IN" dirty="0">
                <a:latin typeface="+mn-lt"/>
              </a:rPr>
              <a:t>20 bytes</a:t>
            </a:r>
          </a:p>
          <a:p>
            <a:pPr>
              <a:buNone/>
            </a:pPr>
            <a:r>
              <a:rPr lang="en-IN" dirty="0"/>
              <a:t>Suppose the application gives TCP only: </a:t>
            </a:r>
            <a:r>
              <a:rPr lang="en-IN" dirty="0">
                <a:latin typeface="+mn-lt"/>
              </a:rPr>
              <a:t>1 byte of data</a:t>
            </a:r>
          </a:p>
          <a:p>
            <a:pPr>
              <a:buNone/>
            </a:pPr>
            <a:endParaRPr lang="en-IN" dirty="0"/>
          </a:p>
          <a:p>
            <a:pPr>
              <a:buNone/>
            </a:pPr>
            <a:r>
              <a:rPr lang="en-IN" dirty="0"/>
              <a:t>If TCP sends it immediately:</a:t>
            </a:r>
          </a:p>
        </p:txBody>
      </p:sp>
      <p:pic>
        <p:nvPicPr>
          <p:cNvPr id="6" name="Picture 5">
            <a:extLst>
              <a:ext uri="{FF2B5EF4-FFF2-40B4-BE49-F238E27FC236}">
                <a16:creationId xmlns:a16="http://schemas.microsoft.com/office/drawing/2014/main" id="{7E23965E-F8C6-44F1-D488-6DB718BCDA01}"/>
              </a:ext>
            </a:extLst>
          </p:cNvPr>
          <p:cNvPicPr>
            <a:picLocks noChangeAspect="1"/>
          </p:cNvPicPr>
          <p:nvPr/>
        </p:nvPicPr>
        <p:blipFill>
          <a:blip r:embed="rId2"/>
          <a:stretch>
            <a:fillRect/>
          </a:stretch>
        </p:blipFill>
        <p:spPr>
          <a:xfrm>
            <a:off x="320842" y="3232214"/>
            <a:ext cx="3625516" cy="1115197"/>
          </a:xfrm>
          <a:prstGeom prst="rect">
            <a:avLst/>
          </a:prstGeom>
        </p:spPr>
      </p:pic>
      <p:sp>
        <p:nvSpPr>
          <p:cNvPr id="8" name="TextBox 7">
            <a:extLst>
              <a:ext uri="{FF2B5EF4-FFF2-40B4-BE49-F238E27FC236}">
                <a16:creationId xmlns:a16="http://schemas.microsoft.com/office/drawing/2014/main" id="{ACD61322-71CE-26AE-C19D-D673405CE893}"/>
              </a:ext>
            </a:extLst>
          </p:cNvPr>
          <p:cNvSpPr txBox="1"/>
          <p:nvPr/>
        </p:nvSpPr>
        <p:spPr>
          <a:xfrm>
            <a:off x="465221" y="4595880"/>
            <a:ext cx="3866147" cy="646331"/>
          </a:xfrm>
          <a:prstGeom prst="rect">
            <a:avLst/>
          </a:prstGeom>
          <a:noFill/>
        </p:spPr>
        <p:txBody>
          <a:bodyPr wrap="square">
            <a:spAutoFit/>
          </a:bodyPr>
          <a:lstStyle/>
          <a:p>
            <a:r>
              <a:rPr lang="en-IN" dirty="0"/>
              <a:t>TCP is using a </a:t>
            </a:r>
            <a:r>
              <a:rPr lang="en-IN" b="1" dirty="0"/>
              <a:t>20-byte header to send only 1 byte of data</a:t>
            </a:r>
            <a:r>
              <a:rPr lang="en-IN" dirty="0"/>
              <a:t>.</a:t>
            </a:r>
          </a:p>
        </p:txBody>
      </p:sp>
      <p:sp>
        <p:nvSpPr>
          <p:cNvPr id="10" name="TextBox 9">
            <a:extLst>
              <a:ext uri="{FF2B5EF4-FFF2-40B4-BE49-F238E27FC236}">
                <a16:creationId xmlns:a16="http://schemas.microsoft.com/office/drawing/2014/main" id="{F80C07E2-17AF-5B59-9F02-0D313E9EA7F8}"/>
              </a:ext>
            </a:extLst>
          </p:cNvPr>
          <p:cNvSpPr txBox="1"/>
          <p:nvPr/>
        </p:nvSpPr>
        <p:spPr>
          <a:xfrm>
            <a:off x="6302983" y="1720840"/>
            <a:ext cx="5406189" cy="4247317"/>
          </a:xfrm>
          <a:prstGeom prst="rect">
            <a:avLst/>
          </a:prstGeom>
          <a:noFill/>
        </p:spPr>
        <p:txBody>
          <a:bodyPr wrap="square">
            <a:spAutoFit/>
          </a:bodyPr>
          <a:lstStyle/>
          <a:p>
            <a:pPr>
              <a:buNone/>
            </a:pPr>
            <a:r>
              <a:rPr lang="en-IN" dirty="0"/>
              <a:t>Now imagine the application keeps generating 1 byte at a time:</a:t>
            </a:r>
          </a:p>
          <a:p>
            <a:pPr>
              <a:buNone/>
            </a:pPr>
            <a:endParaRPr lang="en-IN" dirty="0"/>
          </a:p>
          <a:p>
            <a:pPr rtl="0">
              <a:buNone/>
            </a:pPr>
            <a:r>
              <a:rPr lang="en-IN" dirty="0">
                <a:latin typeface="+mn-lt"/>
              </a:rPr>
              <a:t>1 byte → TCP Segment</a:t>
            </a:r>
          </a:p>
          <a:p>
            <a:pPr rtl="0">
              <a:buNone/>
            </a:pPr>
            <a:r>
              <a:rPr lang="en-IN" dirty="0">
                <a:latin typeface="+mn-lt"/>
              </a:rPr>
              <a:t>1 byte → TCP Segment</a:t>
            </a:r>
          </a:p>
          <a:p>
            <a:pPr rtl="0">
              <a:buNone/>
            </a:pPr>
            <a:r>
              <a:rPr lang="en-IN" dirty="0">
                <a:latin typeface="+mn-lt"/>
              </a:rPr>
              <a:t>1 byte → TCP Segment</a:t>
            </a:r>
          </a:p>
          <a:p>
            <a:pPr rtl="0">
              <a:buNone/>
            </a:pPr>
            <a:r>
              <a:rPr lang="en-IN" dirty="0">
                <a:latin typeface="+mn-lt"/>
              </a:rPr>
              <a:t>1 byte → TCP Segment</a:t>
            </a:r>
          </a:p>
          <a:p>
            <a:pPr rtl="0">
              <a:buNone/>
            </a:pPr>
            <a:r>
              <a:rPr lang="en-IN" dirty="0">
                <a:latin typeface="+mn-lt"/>
              </a:rPr>
              <a:t>1 byte → TCP Segment</a:t>
            </a:r>
          </a:p>
          <a:p>
            <a:pPr rtl="0">
              <a:buNone/>
            </a:pPr>
            <a:endParaRPr lang="en-IN" dirty="0">
              <a:latin typeface="+mn-lt"/>
            </a:endParaRPr>
          </a:p>
          <a:p>
            <a:pPr>
              <a:buNone/>
            </a:pPr>
            <a:r>
              <a:rPr lang="en-IN" dirty="0"/>
              <a:t>A large number of very small TCP segments will be created.</a:t>
            </a:r>
          </a:p>
          <a:p>
            <a:pPr>
              <a:buNone/>
            </a:pPr>
            <a:endParaRPr lang="en-IN" dirty="0"/>
          </a:p>
          <a:p>
            <a:pPr>
              <a:buNone/>
            </a:pPr>
            <a:r>
              <a:rPr lang="en-IN" dirty="0"/>
              <a:t>This is not a good use of the network because a lot of header information is being sent for very little actual data.</a:t>
            </a:r>
          </a:p>
        </p:txBody>
      </p:sp>
      <p:sp>
        <p:nvSpPr>
          <p:cNvPr id="12" name="TextBox 11">
            <a:extLst>
              <a:ext uri="{FF2B5EF4-FFF2-40B4-BE49-F238E27FC236}">
                <a16:creationId xmlns:a16="http://schemas.microsoft.com/office/drawing/2014/main" id="{CCF7E2EC-AA2F-E778-47CF-6B83046D4BFE}"/>
              </a:ext>
            </a:extLst>
          </p:cNvPr>
          <p:cNvSpPr txBox="1"/>
          <p:nvPr/>
        </p:nvSpPr>
        <p:spPr>
          <a:xfrm>
            <a:off x="6302983" y="6178114"/>
            <a:ext cx="4908884" cy="369332"/>
          </a:xfrm>
          <a:prstGeom prst="rect">
            <a:avLst/>
          </a:prstGeom>
          <a:noFill/>
        </p:spPr>
        <p:txBody>
          <a:bodyPr wrap="square">
            <a:spAutoFit/>
          </a:bodyPr>
          <a:lstStyle/>
          <a:p>
            <a:r>
              <a:rPr lang="en-IN" b="1" dirty="0"/>
              <a:t>The Main Problem — Too Many Small Segments</a:t>
            </a:r>
          </a:p>
        </p:txBody>
      </p:sp>
      <p:sp>
        <p:nvSpPr>
          <p:cNvPr id="15" name="TextBox 14">
            <a:extLst>
              <a:ext uri="{FF2B5EF4-FFF2-40B4-BE49-F238E27FC236}">
                <a16:creationId xmlns:a16="http://schemas.microsoft.com/office/drawing/2014/main" id="{36AD0AA3-BB5B-E0B5-2062-D7E590C3FF2E}"/>
              </a:ext>
            </a:extLst>
          </p:cNvPr>
          <p:cNvSpPr txBox="1"/>
          <p:nvPr/>
        </p:nvSpPr>
        <p:spPr>
          <a:xfrm>
            <a:off x="753979" y="5540538"/>
            <a:ext cx="4491789" cy="923330"/>
          </a:xfrm>
          <a:prstGeom prst="rect">
            <a:avLst/>
          </a:prstGeom>
          <a:noFill/>
        </p:spPr>
        <p:txBody>
          <a:bodyPr wrap="square">
            <a:spAutoFit/>
          </a:bodyPr>
          <a:lstStyle/>
          <a:p>
            <a:r>
              <a:rPr lang="en-IN" b="1" dirty="0"/>
              <a:t>TCP Transmission Policy follows flow control to determine how much data the sender can transmit at a time.</a:t>
            </a:r>
          </a:p>
        </p:txBody>
      </p:sp>
    </p:spTree>
    <p:extLst>
      <p:ext uri="{BB962C8B-B14F-4D97-AF65-F5344CB8AC3E}">
        <p14:creationId xmlns:p14="http://schemas.microsoft.com/office/powerpoint/2010/main" val="14652882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FD17C-1CA5-739E-1526-202812543A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27FA5-6506-F43C-93A9-67EA17766D76}"/>
              </a:ext>
            </a:extLst>
          </p:cNvPr>
          <p:cNvSpPr>
            <a:spLocks noGrp="1"/>
          </p:cNvSpPr>
          <p:nvPr>
            <p:ph type="title"/>
          </p:nvPr>
        </p:nvSpPr>
        <p:spPr>
          <a:xfrm>
            <a:off x="275844" y="495220"/>
            <a:ext cx="11640312" cy="464900"/>
          </a:xfrm>
        </p:spPr>
        <p:txBody>
          <a:bodyPr>
            <a:normAutofit/>
          </a:bodyPr>
          <a:lstStyle/>
          <a:p>
            <a:r>
              <a:rPr lang="en-IN" sz="2400" b="1" dirty="0"/>
              <a:t>TCP Timer Management</a:t>
            </a:r>
          </a:p>
        </p:txBody>
      </p:sp>
      <p:sp>
        <p:nvSpPr>
          <p:cNvPr id="4" name="TextBox 3">
            <a:extLst>
              <a:ext uri="{FF2B5EF4-FFF2-40B4-BE49-F238E27FC236}">
                <a16:creationId xmlns:a16="http://schemas.microsoft.com/office/drawing/2014/main" id="{50EAB0BE-F8EF-2FEF-788D-334ECB59A69E}"/>
              </a:ext>
            </a:extLst>
          </p:cNvPr>
          <p:cNvSpPr txBox="1"/>
          <p:nvPr/>
        </p:nvSpPr>
        <p:spPr>
          <a:xfrm>
            <a:off x="275844" y="960120"/>
            <a:ext cx="4584914" cy="923330"/>
          </a:xfrm>
          <a:prstGeom prst="rect">
            <a:avLst/>
          </a:prstGeom>
          <a:noFill/>
        </p:spPr>
        <p:txBody>
          <a:bodyPr wrap="square">
            <a:spAutoFit/>
          </a:bodyPr>
          <a:lstStyle/>
          <a:p>
            <a:pPr>
              <a:buNone/>
            </a:pPr>
            <a:r>
              <a:rPr lang="en-IN" b="1" dirty="0"/>
              <a:t>Why does TCP need a Timer?</a:t>
            </a:r>
          </a:p>
          <a:p>
            <a:pPr>
              <a:buNone/>
            </a:pPr>
            <a:r>
              <a:rPr lang="en-IN" dirty="0"/>
              <a:t>We already know that TCP provides </a:t>
            </a:r>
            <a:r>
              <a:rPr lang="en-IN" b="1" dirty="0"/>
              <a:t>reliable communication</a:t>
            </a:r>
            <a:r>
              <a:rPr lang="en-IN" dirty="0"/>
              <a:t>.</a:t>
            </a:r>
          </a:p>
        </p:txBody>
      </p:sp>
      <p:pic>
        <p:nvPicPr>
          <p:cNvPr id="6" name="Picture 5">
            <a:extLst>
              <a:ext uri="{FF2B5EF4-FFF2-40B4-BE49-F238E27FC236}">
                <a16:creationId xmlns:a16="http://schemas.microsoft.com/office/drawing/2014/main" id="{6A76C9F3-392C-13D7-2C23-DB4C4A636065}"/>
              </a:ext>
            </a:extLst>
          </p:cNvPr>
          <p:cNvPicPr>
            <a:picLocks noChangeAspect="1"/>
          </p:cNvPicPr>
          <p:nvPr/>
        </p:nvPicPr>
        <p:blipFill>
          <a:blip r:embed="rId2"/>
          <a:stretch>
            <a:fillRect/>
          </a:stretch>
        </p:blipFill>
        <p:spPr>
          <a:xfrm>
            <a:off x="6464968" y="495220"/>
            <a:ext cx="5451188" cy="6226422"/>
          </a:xfrm>
          <a:prstGeom prst="rect">
            <a:avLst/>
          </a:prstGeom>
        </p:spPr>
      </p:pic>
      <p:sp>
        <p:nvSpPr>
          <p:cNvPr id="8" name="TextBox 7">
            <a:extLst>
              <a:ext uri="{FF2B5EF4-FFF2-40B4-BE49-F238E27FC236}">
                <a16:creationId xmlns:a16="http://schemas.microsoft.com/office/drawing/2014/main" id="{E2314303-F4A2-376D-A3AF-EE611058AD22}"/>
              </a:ext>
            </a:extLst>
          </p:cNvPr>
          <p:cNvSpPr txBox="1"/>
          <p:nvPr/>
        </p:nvSpPr>
        <p:spPr>
          <a:xfrm>
            <a:off x="275844" y="2202920"/>
            <a:ext cx="6096000" cy="2308324"/>
          </a:xfrm>
          <a:prstGeom prst="rect">
            <a:avLst/>
          </a:prstGeom>
          <a:noFill/>
        </p:spPr>
        <p:txBody>
          <a:bodyPr wrap="square">
            <a:spAutoFit/>
          </a:bodyPr>
          <a:lstStyle/>
          <a:p>
            <a:pPr>
              <a:buNone/>
            </a:pPr>
            <a:r>
              <a:rPr lang="en-IN" dirty="0"/>
              <a:t>The sender has already sent the data, but it has </a:t>
            </a:r>
            <a:r>
              <a:rPr lang="en-IN" b="1" dirty="0"/>
              <a:t>no idea whether the receiver received it</a:t>
            </a:r>
            <a:r>
              <a:rPr lang="en-IN" dirty="0"/>
              <a:t>.</a:t>
            </a:r>
          </a:p>
          <a:p>
            <a:pPr>
              <a:buNone/>
            </a:pPr>
            <a:endParaRPr lang="en-IN" dirty="0"/>
          </a:p>
          <a:p>
            <a:pPr>
              <a:buNone/>
            </a:pPr>
            <a:r>
              <a:rPr lang="en-IN" dirty="0"/>
              <a:t>The sender cannot wait forever.</a:t>
            </a:r>
          </a:p>
          <a:p>
            <a:pPr>
              <a:buNone/>
            </a:pPr>
            <a:endParaRPr lang="en-IN" dirty="0"/>
          </a:p>
          <a:p>
            <a:pPr>
              <a:buNone/>
            </a:pPr>
            <a:r>
              <a:rPr lang="en-IN" dirty="0"/>
              <a:t>Therefore, TCP needs a way to say:</a:t>
            </a:r>
          </a:p>
          <a:p>
            <a:pPr>
              <a:buNone/>
            </a:pPr>
            <a:r>
              <a:rPr lang="en-IN" b="1" dirty="0"/>
              <a:t>"I will wait for the ACK only for a certain amount of time. If the ACK does not arrive, I will take action."</a:t>
            </a:r>
            <a:endParaRPr lang="en-IN" dirty="0"/>
          </a:p>
        </p:txBody>
      </p:sp>
    </p:spTree>
    <p:extLst>
      <p:ext uri="{BB962C8B-B14F-4D97-AF65-F5344CB8AC3E}">
        <p14:creationId xmlns:p14="http://schemas.microsoft.com/office/powerpoint/2010/main" val="20642429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8A76-B20F-C011-A322-69FE3BAFE1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6CA10F-E507-084C-4BB9-80F7CC625FC5}"/>
              </a:ext>
            </a:extLst>
          </p:cNvPr>
          <p:cNvSpPr txBox="1"/>
          <p:nvPr/>
        </p:nvSpPr>
        <p:spPr>
          <a:xfrm>
            <a:off x="272716" y="565030"/>
            <a:ext cx="4491789" cy="923330"/>
          </a:xfrm>
          <a:prstGeom prst="rect">
            <a:avLst/>
          </a:prstGeom>
          <a:noFill/>
        </p:spPr>
        <p:txBody>
          <a:bodyPr wrap="square">
            <a:spAutoFit/>
          </a:bodyPr>
          <a:lstStyle/>
          <a:p>
            <a:pPr>
              <a:buNone/>
            </a:pPr>
            <a:r>
              <a:rPr lang="en-IN" b="1" dirty="0">
                <a:highlight>
                  <a:srgbClr val="FFFF00"/>
                </a:highlight>
              </a:rPr>
              <a:t>What is a TCP Timer?</a:t>
            </a:r>
          </a:p>
          <a:p>
            <a:pPr>
              <a:buNone/>
            </a:pPr>
            <a:r>
              <a:rPr lang="en-IN" dirty="0"/>
              <a:t>A timer is basically a </a:t>
            </a:r>
            <a:r>
              <a:rPr lang="en-IN" b="1" dirty="0"/>
              <a:t>countdown used by TCP while waiting for an expected event</a:t>
            </a:r>
            <a:r>
              <a:rPr lang="en-IN" dirty="0"/>
              <a:t>.</a:t>
            </a:r>
          </a:p>
        </p:txBody>
      </p:sp>
      <p:pic>
        <p:nvPicPr>
          <p:cNvPr id="6" name="Picture 5">
            <a:extLst>
              <a:ext uri="{FF2B5EF4-FFF2-40B4-BE49-F238E27FC236}">
                <a16:creationId xmlns:a16="http://schemas.microsoft.com/office/drawing/2014/main" id="{C22972E6-7F41-FEDF-CB26-5AB8D264CC7D}"/>
              </a:ext>
            </a:extLst>
          </p:cNvPr>
          <p:cNvPicPr>
            <a:picLocks noChangeAspect="1"/>
          </p:cNvPicPr>
          <p:nvPr/>
        </p:nvPicPr>
        <p:blipFill>
          <a:blip r:embed="rId2"/>
          <a:stretch>
            <a:fillRect/>
          </a:stretch>
        </p:blipFill>
        <p:spPr>
          <a:xfrm>
            <a:off x="272715" y="1643081"/>
            <a:ext cx="4203031" cy="4099993"/>
          </a:xfrm>
          <a:prstGeom prst="rect">
            <a:avLst/>
          </a:prstGeom>
        </p:spPr>
      </p:pic>
      <p:sp>
        <p:nvSpPr>
          <p:cNvPr id="8" name="TextBox 7">
            <a:extLst>
              <a:ext uri="{FF2B5EF4-FFF2-40B4-BE49-F238E27FC236}">
                <a16:creationId xmlns:a16="http://schemas.microsoft.com/office/drawing/2014/main" id="{07CD8A7C-FDD5-038C-7C3E-DB722BEFD206}"/>
              </a:ext>
            </a:extLst>
          </p:cNvPr>
          <p:cNvSpPr txBox="1"/>
          <p:nvPr/>
        </p:nvSpPr>
        <p:spPr>
          <a:xfrm>
            <a:off x="5694948" y="1488360"/>
            <a:ext cx="5197641" cy="3970318"/>
          </a:xfrm>
          <a:prstGeom prst="rect">
            <a:avLst/>
          </a:prstGeom>
          <a:noFill/>
        </p:spPr>
        <p:txBody>
          <a:bodyPr wrap="square">
            <a:spAutoFit/>
          </a:bodyPr>
          <a:lstStyle/>
          <a:p>
            <a:pPr>
              <a:buNone/>
            </a:pPr>
            <a:r>
              <a:rPr lang="en-IN" dirty="0"/>
              <a:t>The most important timer in this topic is:</a:t>
            </a:r>
          </a:p>
          <a:p>
            <a:pPr>
              <a:buNone/>
            </a:pPr>
            <a:endParaRPr lang="en-IN" dirty="0"/>
          </a:p>
          <a:p>
            <a:pPr>
              <a:buNone/>
            </a:pPr>
            <a:r>
              <a:rPr lang="en-IN" b="1" dirty="0">
                <a:highlight>
                  <a:srgbClr val="FFFF00"/>
                </a:highlight>
              </a:rPr>
              <a:t>RTO — Retransmission Timeout</a:t>
            </a:r>
          </a:p>
          <a:p>
            <a:pPr>
              <a:buNone/>
            </a:pPr>
            <a:endParaRPr lang="en-IN" b="1" dirty="0"/>
          </a:p>
          <a:p>
            <a:pPr>
              <a:buNone/>
            </a:pPr>
            <a:r>
              <a:rPr lang="en-IN" b="1" dirty="0"/>
              <a:t>Retransmission</a:t>
            </a:r>
            <a:r>
              <a:rPr lang="en-IN" dirty="0"/>
              <a:t> means:</a:t>
            </a:r>
          </a:p>
          <a:p>
            <a:pPr>
              <a:buNone/>
            </a:pPr>
            <a:r>
              <a:rPr lang="en-IN" dirty="0"/>
              <a:t>Sending the same data again.</a:t>
            </a:r>
          </a:p>
          <a:p>
            <a:pPr>
              <a:buNone/>
            </a:pPr>
            <a:endParaRPr lang="en-IN" b="1" dirty="0"/>
          </a:p>
          <a:p>
            <a:pPr>
              <a:buNone/>
            </a:pPr>
            <a:r>
              <a:rPr lang="en-IN" b="1" dirty="0"/>
              <a:t>Timeout</a:t>
            </a:r>
            <a:r>
              <a:rPr lang="en-IN" dirty="0"/>
              <a:t> means:</a:t>
            </a:r>
          </a:p>
          <a:p>
            <a:pPr>
              <a:buNone/>
            </a:pPr>
            <a:r>
              <a:rPr lang="en-IN" dirty="0"/>
              <a:t>The allowed waiting time has finished.</a:t>
            </a:r>
          </a:p>
          <a:p>
            <a:pPr>
              <a:buNone/>
            </a:pPr>
            <a:endParaRPr lang="en-IN" dirty="0"/>
          </a:p>
          <a:p>
            <a:pPr>
              <a:buNone/>
            </a:pPr>
            <a:r>
              <a:rPr lang="en-IN" dirty="0"/>
              <a:t>Therefore:</a:t>
            </a:r>
          </a:p>
          <a:p>
            <a:pPr>
              <a:buNone/>
            </a:pPr>
            <a:r>
              <a:rPr lang="en-IN" b="1" dirty="0"/>
              <a:t>RTO is the amount of time TCP waits for an ACK before deciding that retransmission may be required.</a:t>
            </a:r>
            <a:endParaRPr lang="en-IN" dirty="0"/>
          </a:p>
        </p:txBody>
      </p:sp>
    </p:spTree>
    <p:extLst>
      <p:ext uri="{BB962C8B-B14F-4D97-AF65-F5344CB8AC3E}">
        <p14:creationId xmlns:p14="http://schemas.microsoft.com/office/powerpoint/2010/main" val="177261526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86AC4-627B-98B6-5BB7-D048015EEF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0C44A9-911E-DF1A-D65A-DA991EAB0E07}"/>
              </a:ext>
            </a:extLst>
          </p:cNvPr>
          <p:cNvSpPr txBox="1"/>
          <p:nvPr/>
        </p:nvSpPr>
        <p:spPr>
          <a:xfrm>
            <a:off x="160421" y="601395"/>
            <a:ext cx="2470484" cy="369332"/>
          </a:xfrm>
          <a:prstGeom prst="rect">
            <a:avLst/>
          </a:prstGeom>
          <a:noFill/>
        </p:spPr>
        <p:txBody>
          <a:bodyPr wrap="square">
            <a:spAutoFit/>
          </a:bodyPr>
          <a:lstStyle/>
          <a:p>
            <a:r>
              <a:rPr lang="en-IN" b="1" dirty="0">
                <a:highlight>
                  <a:srgbClr val="FFFF00"/>
                </a:highlight>
              </a:rPr>
              <a:t>How does RTO work?</a:t>
            </a:r>
          </a:p>
        </p:txBody>
      </p:sp>
      <p:sp>
        <p:nvSpPr>
          <p:cNvPr id="7" name="TextBox 6">
            <a:extLst>
              <a:ext uri="{FF2B5EF4-FFF2-40B4-BE49-F238E27FC236}">
                <a16:creationId xmlns:a16="http://schemas.microsoft.com/office/drawing/2014/main" id="{AB49DA8C-D352-4589-550A-06203529DD13}"/>
              </a:ext>
            </a:extLst>
          </p:cNvPr>
          <p:cNvSpPr txBox="1"/>
          <p:nvPr/>
        </p:nvSpPr>
        <p:spPr>
          <a:xfrm>
            <a:off x="160421" y="970727"/>
            <a:ext cx="4652211" cy="1200329"/>
          </a:xfrm>
          <a:prstGeom prst="rect">
            <a:avLst/>
          </a:prstGeom>
          <a:noFill/>
        </p:spPr>
        <p:txBody>
          <a:bodyPr wrap="square">
            <a:spAutoFit/>
          </a:bodyPr>
          <a:lstStyle/>
          <a:p>
            <a:pPr>
              <a:buNone/>
            </a:pPr>
            <a:r>
              <a:rPr lang="en-IN" dirty="0"/>
              <a:t>Suppose:</a:t>
            </a:r>
          </a:p>
          <a:p>
            <a:pPr rtl="0">
              <a:buNone/>
            </a:pPr>
            <a:r>
              <a:rPr lang="en-IN" dirty="0">
                <a:latin typeface="+mn-lt"/>
              </a:rPr>
              <a:t>RTO = 500 </a:t>
            </a:r>
            <a:r>
              <a:rPr lang="en-IN" dirty="0" err="1">
                <a:latin typeface="+mn-lt"/>
              </a:rPr>
              <a:t>ms</a:t>
            </a:r>
            <a:endParaRPr lang="en-IN" dirty="0">
              <a:latin typeface="+mn-lt"/>
            </a:endParaRPr>
          </a:p>
          <a:p>
            <a:pPr>
              <a:buNone/>
            </a:pPr>
            <a:r>
              <a:rPr lang="en-IN" dirty="0"/>
              <a:t>Sender sends a TCP segment.</a:t>
            </a:r>
          </a:p>
          <a:p>
            <a:pPr>
              <a:buNone/>
            </a:pPr>
            <a:r>
              <a:rPr lang="en-IN" dirty="0"/>
              <a:t>Immediately, TCP starts its retransmission timer.</a:t>
            </a:r>
          </a:p>
        </p:txBody>
      </p:sp>
      <p:pic>
        <p:nvPicPr>
          <p:cNvPr id="10" name="Picture 9">
            <a:extLst>
              <a:ext uri="{FF2B5EF4-FFF2-40B4-BE49-F238E27FC236}">
                <a16:creationId xmlns:a16="http://schemas.microsoft.com/office/drawing/2014/main" id="{08A342F1-FD97-EC2A-47E3-411C6209649C}"/>
              </a:ext>
            </a:extLst>
          </p:cNvPr>
          <p:cNvPicPr>
            <a:picLocks noChangeAspect="1"/>
          </p:cNvPicPr>
          <p:nvPr/>
        </p:nvPicPr>
        <p:blipFill>
          <a:blip r:embed="rId2"/>
          <a:stretch>
            <a:fillRect/>
          </a:stretch>
        </p:blipFill>
        <p:spPr>
          <a:xfrm>
            <a:off x="160421" y="2171056"/>
            <a:ext cx="4491790" cy="2689702"/>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3011254-5413-9E78-DD7F-092043747314}"/>
                  </a:ext>
                </a:extLst>
              </p:cNvPr>
              <p:cNvSpPr txBox="1"/>
              <p:nvPr/>
            </p:nvSpPr>
            <p:spPr>
              <a:xfrm>
                <a:off x="336884" y="5026152"/>
                <a:ext cx="4138863" cy="1477328"/>
              </a:xfrm>
              <a:prstGeom prst="rect">
                <a:avLst/>
              </a:prstGeom>
              <a:noFill/>
            </p:spPr>
            <p:txBody>
              <a:bodyPr wrap="square">
                <a:spAutoFit/>
              </a:bodyPr>
              <a:lstStyle/>
              <a:p>
                <a:pPr>
                  <a:buNone/>
                </a:pPr>
                <a:r>
                  <a:rPr lang="en-IN" dirty="0"/>
                  <a:t>Now suppose ACK arrives after: </a:t>
                </a:r>
                <a:r>
                  <a:rPr lang="en-IN" dirty="0">
                    <a:latin typeface="+mn-lt"/>
                  </a:rPr>
                  <a:t>300 </a:t>
                </a:r>
                <a:r>
                  <a:rPr lang="en-IN" dirty="0" err="1">
                    <a:latin typeface="+mn-lt"/>
                  </a:rPr>
                  <a:t>ms</a:t>
                </a:r>
                <a:endParaRPr lang="en-IN" dirty="0">
                  <a:latin typeface="+mn-lt"/>
                </a:endParaRPr>
              </a:p>
              <a:p>
                <a:pPr>
                  <a:buNone/>
                </a:pPr>
                <a:r>
                  <a:rPr lang="en-IN" dirty="0"/>
                  <a:t>Since:</a:t>
                </a:r>
              </a:p>
              <a:p>
                <a:pPr>
                  <a:buNone/>
                </a:pPr>
                <a14:m>
                  <m:oMathPara xmlns:m="http://schemas.openxmlformats.org/officeDocument/2006/math">
                    <m:oMath>
                      <m:r>
                        <a:rPr lang="en-IN">
                          <a:latin typeface="Cambria Math" panose="02040503050406030204" pitchFamily="18" charset="0"/>
                        </a:rPr>
                        <m:t>300</m:t>
                      </m:r>
                      <m:r>
                        <a:rPr lang="en-IN" i="0">
                          <a:latin typeface="Cambria Math" panose="02040503050406030204" pitchFamily="18" charset="0"/>
                        </a:rPr>
                        <m:t>&lt;500</m:t>
                      </m:r>
                    </m:oMath>
                  </m:oMathPara>
                </a14:m>
                <a:endParaRPr lang="en-IN" dirty="0"/>
              </a:p>
              <a:p>
                <a:pPr>
                  <a:buNone/>
                </a:pPr>
                <a:r>
                  <a:rPr lang="en-IN" dirty="0"/>
                  <a:t>the ACK arrived before the RTO expired.</a:t>
                </a:r>
              </a:p>
              <a:p>
                <a:pPr>
                  <a:buNone/>
                </a:pPr>
                <a:r>
                  <a:rPr lang="en-IN" dirty="0"/>
                  <a:t>So retransmission is not needed.</a:t>
                </a:r>
              </a:p>
            </p:txBody>
          </p:sp>
        </mc:Choice>
        <mc:Fallback xmlns="">
          <p:sp>
            <p:nvSpPr>
              <p:cNvPr id="12" name="TextBox 11">
                <a:extLst>
                  <a:ext uri="{FF2B5EF4-FFF2-40B4-BE49-F238E27FC236}">
                    <a16:creationId xmlns:a16="http://schemas.microsoft.com/office/drawing/2014/main" id="{83011254-5413-9E78-DD7F-092043747314}"/>
                  </a:ext>
                </a:extLst>
              </p:cNvPr>
              <p:cNvSpPr txBox="1">
                <a:spLocks noRot="1" noChangeAspect="1" noMove="1" noResize="1" noEditPoints="1" noAdjustHandles="1" noChangeArrowheads="1" noChangeShapeType="1" noTextEdit="1"/>
              </p:cNvSpPr>
              <p:nvPr/>
            </p:nvSpPr>
            <p:spPr>
              <a:xfrm>
                <a:off x="336884" y="5026152"/>
                <a:ext cx="4138863" cy="1477328"/>
              </a:xfrm>
              <a:prstGeom prst="rect">
                <a:avLst/>
              </a:prstGeom>
              <a:blipFill>
                <a:blip r:embed="rId3"/>
                <a:stretch>
                  <a:fillRect l="-1178" t="-2479" b="-5372"/>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6CC72AE7-48B7-6AAC-6A9B-3FADF6494DCD}"/>
              </a:ext>
            </a:extLst>
          </p:cNvPr>
          <p:cNvSpPr txBox="1"/>
          <p:nvPr/>
        </p:nvSpPr>
        <p:spPr>
          <a:xfrm>
            <a:off x="5277853" y="681602"/>
            <a:ext cx="3400926" cy="369332"/>
          </a:xfrm>
          <a:prstGeom prst="rect">
            <a:avLst/>
          </a:prstGeom>
          <a:noFill/>
        </p:spPr>
        <p:txBody>
          <a:bodyPr wrap="square">
            <a:spAutoFit/>
          </a:bodyPr>
          <a:lstStyle/>
          <a:p>
            <a:r>
              <a:rPr lang="en-IN" b="1" dirty="0"/>
              <a:t>What if the ACK does not arrive?</a:t>
            </a:r>
          </a:p>
        </p:txBody>
      </p:sp>
      <p:sp>
        <p:nvSpPr>
          <p:cNvPr id="18" name="TextBox 17">
            <a:extLst>
              <a:ext uri="{FF2B5EF4-FFF2-40B4-BE49-F238E27FC236}">
                <a16:creationId xmlns:a16="http://schemas.microsoft.com/office/drawing/2014/main" id="{63B564B8-390F-166B-146F-841F1E8D32C7}"/>
              </a:ext>
            </a:extLst>
          </p:cNvPr>
          <p:cNvSpPr txBox="1"/>
          <p:nvPr/>
        </p:nvSpPr>
        <p:spPr>
          <a:xfrm>
            <a:off x="5277853" y="962886"/>
            <a:ext cx="2999874" cy="3693319"/>
          </a:xfrm>
          <a:prstGeom prst="rect">
            <a:avLst/>
          </a:prstGeom>
          <a:noFill/>
        </p:spPr>
        <p:txBody>
          <a:bodyPr wrap="square">
            <a:spAutoFit/>
          </a:bodyPr>
          <a:lstStyle/>
          <a:p>
            <a:pPr>
              <a:buNone/>
            </a:pPr>
            <a:r>
              <a:rPr lang="en-IN" dirty="0"/>
              <a:t>Suppose again:</a:t>
            </a:r>
          </a:p>
          <a:p>
            <a:pPr rtl="0">
              <a:buNone/>
            </a:pPr>
            <a:r>
              <a:rPr lang="en-IN" dirty="0">
                <a:latin typeface="+mn-lt"/>
              </a:rPr>
              <a:t>RTO = 500 </a:t>
            </a:r>
            <a:r>
              <a:rPr lang="en-IN" dirty="0" err="1">
                <a:latin typeface="+mn-lt"/>
              </a:rPr>
              <a:t>ms</a:t>
            </a:r>
            <a:endParaRPr lang="en-IN" dirty="0">
              <a:latin typeface="+mn-lt"/>
            </a:endParaRPr>
          </a:p>
          <a:p>
            <a:pPr rtl="0">
              <a:buNone/>
            </a:pPr>
            <a:endParaRPr lang="en-IN" dirty="0"/>
          </a:p>
          <a:p>
            <a:pPr rtl="0">
              <a:buNone/>
            </a:pPr>
            <a:r>
              <a:rPr lang="en-IN" dirty="0">
                <a:latin typeface="Courier New" panose="02070309020205020404" pitchFamily="49" charset="0"/>
              </a:rPr>
              <a:t>Timer Continues:</a:t>
            </a:r>
          </a:p>
          <a:p>
            <a:pPr rtl="0">
              <a:buNone/>
            </a:pPr>
            <a:r>
              <a:rPr lang="en-IN" dirty="0">
                <a:latin typeface="Courier New" panose="02070309020205020404" pitchFamily="49" charset="0"/>
              </a:rPr>
              <a:t>0ms</a:t>
            </a:r>
          </a:p>
          <a:p>
            <a:pPr rtl="0">
              <a:buNone/>
            </a:pPr>
            <a:r>
              <a:rPr lang="en-IN" dirty="0">
                <a:latin typeface="Courier New" panose="02070309020205020404" pitchFamily="49" charset="0"/>
              </a:rPr>
              <a:t>100ms</a:t>
            </a:r>
          </a:p>
          <a:p>
            <a:pPr rtl="0">
              <a:buNone/>
            </a:pPr>
            <a:r>
              <a:rPr lang="en-IN" dirty="0">
                <a:latin typeface="Courier New" panose="02070309020205020404" pitchFamily="49" charset="0"/>
              </a:rPr>
              <a:t>200ms</a:t>
            </a:r>
          </a:p>
          <a:p>
            <a:pPr rtl="0">
              <a:buNone/>
            </a:pPr>
            <a:r>
              <a:rPr lang="en-IN" dirty="0">
                <a:latin typeface="Courier New" panose="02070309020205020404" pitchFamily="49" charset="0"/>
              </a:rPr>
              <a:t>300ms</a:t>
            </a:r>
          </a:p>
          <a:p>
            <a:pPr rtl="0">
              <a:buNone/>
            </a:pPr>
            <a:r>
              <a:rPr lang="en-IN" dirty="0">
                <a:latin typeface="Courier New" panose="02070309020205020404" pitchFamily="49" charset="0"/>
              </a:rPr>
              <a:t>400ms</a:t>
            </a:r>
          </a:p>
          <a:p>
            <a:pPr rtl="0">
              <a:buNone/>
            </a:pPr>
            <a:r>
              <a:rPr lang="en-IN" dirty="0">
                <a:latin typeface="Courier New" panose="02070309020205020404" pitchFamily="49" charset="0"/>
              </a:rPr>
              <a:t>500ms</a:t>
            </a:r>
          </a:p>
          <a:p>
            <a:pPr rtl="0">
              <a:buNone/>
            </a:pPr>
            <a:r>
              <a:rPr lang="en-IN" dirty="0">
                <a:latin typeface="Courier New" panose="02070309020205020404" pitchFamily="49" charset="0"/>
              </a:rPr>
              <a:t>|</a:t>
            </a:r>
          </a:p>
          <a:p>
            <a:pPr rtl="0">
              <a:buNone/>
            </a:pPr>
            <a:r>
              <a:rPr lang="en-IN" dirty="0">
                <a:latin typeface="Courier New" panose="02070309020205020404" pitchFamily="49" charset="0"/>
              </a:rPr>
              <a:t>RTO Expires</a:t>
            </a:r>
            <a:br>
              <a:rPr lang="en-IN" dirty="0">
                <a:latin typeface="Courier New" panose="02070309020205020404" pitchFamily="49" charset="0"/>
              </a:rPr>
            </a:br>
            <a:r>
              <a:rPr lang="en-IN" dirty="0">
                <a:latin typeface="Courier New" panose="02070309020205020404" pitchFamily="49" charset="0"/>
              </a:rPr>
              <a:t>No ACK has Received</a:t>
            </a:r>
          </a:p>
        </p:txBody>
      </p:sp>
      <p:pic>
        <p:nvPicPr>
          <p:cNvPr id="22" name="Picture 21">
            <a:extLst>
              <a:ext uri="{FF2B5EF4-FFF2-40B4-BE49-F238E27FC236}">
                <a16:creationId xmlns:a16="http://schemas.microsoft.com/office/drawing/2014/main" id="{77BC7694-5549-742C-AD38-246042F45A8D}"/>
              </a:ext>
            </a:extLst>
          </p:cNvPr>
          <p:cNvPicPr>
            <a:picLocks noChangeAspect="1"/>
          </p:cNvPicPr>
          <p:nvPr/>
        </p:nvPicPr>
        <p:blipFill>
          <a:blip r:embed="rId4"/>
          <a:stretch>
            <a:fillRect/>
          </a:stretch>
        </p:blipFill>
        <p:spPr>
          <a:xfrm>
            <a:off x="5277852" y="4656204"/>
            <a:ext cx="5053263" cy="2201795"/>
          </a:xfrm>
          <a:prstGeom prst="rect">
            <a:avLst/>
          </a:prstGeom>
        </p:spPr>
      </p:pic>
    </p:spTree>
    <p:extLst>
      <p:ext uri="{BB962C8B-B14F-4D97-AF65-F5344CB8AC3E}">
        <p14:creationId xmlns:p14="http://schemas.microsoft.com/office/powerpoint/2010/main" val="37996549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6603F-7621-0B1C-57FB-D24B25EEF6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A135803-96ED-9552-A384-CDC4BEC7A844}"/>
              </a:ext>
            </a:extLst>
          </p:cNvPr>
          <p:cNvSpPr txBox="1"/>
          <p:nvPr/>
        </p:nvSpPr>
        <p:spPr>
          <a:xfrm>
            <a:off x="144379" y="585354"/>
            <a:ext cx="3721768" cy="369332"/>
          </a:xfrm>
          <a:prstGeom prst="rect">
            <a:avLst/>
          </a:prstGeom>
          <a:noFill/>
        </p:spPr>
        <p:txBody>
          <a:bodyPr wrap="square">
            <a:spAutoFit/>
          </a:bodyPr>
          <a:lstStyle/>
          <a:p>
            <a:r>
              <a:rPr lang="en-IN" b="1" dirty="0"/>
              <a:t>How does TCP decide the RTO value?</a:t>
            </a:r>
          </a:p>
        </p:txBody>
      </p:sp>
      <p:sp>
        <p:nvSpPr>
          <p:cNvPr id="8" name="TextBox 7">
            <a:extLst>
              <a:ext uri="{FF2B5EF4-FFF2-40B4-BE49-F238E27FC236}">
                <a16:creationId xmlns:a16="http://schemas.microsoft.com/office/drawing/2014/main" id="{C2D9D40B-A0CC-B2C5-6661-5057681ECA20}"/>
              </a:ext>
            </a:extLst>
          </p:cNvPr>
          <p:cNvSpPr txBox="1"/>
          <p:nvPr/>
        </p:nvSpPr>
        <p:spPr>
          <a:xfrm>
            <a:off x="144379" y="954686"/>
            <a:ext cx="6096000" cy="1200329"/>
          </a:xfrm>
          <a:prstGeom prst="rect">
            <a:avLst/>
          </a:prstGeom>
          <a:noFill/>
        </p:spPr>
        <p:txBody>
          <a:bodyPr wrap="square">
            <a:spAutoFit/>
          </a:bodyPr>
          <a:lstStyle/>
          <a:p>
            <a:pPr>
              <a:buNone/>
            </a:pPr>
            <a:r>
              <a:rPr lang="en-IN" dirty="0"/>
              <a:t>This is where the topic becomes interesting.</a:t>
            </a:r>
          </a:p>
          <a:p>
            <a:pPr>
              <a:buNone/>
            </a:pPr>
            <a:r>
              <a:rPr lang="en-IN" dirty="0"/>
              <a:t>Why can't we simply say: </a:t>
            </a:r>
            <a:r>
              <a:rPr lang="en-IN" dirty="0">
                <a:latin typeface="+mn-lt"/>
              </a:rPr>
              <a:t>RTO = 1 second </a:t>
            </a:r>
            <a:r>
              <a:rPr lang="en-IN" dirty="0"/>
              <a:t>for every connection?</a:t>
            </a:r>
          </a:p>
          <a:p>
            <a:pPr>
              <a:buNone/>
            </a:pPr>
            <a:endParaRPr lang="en-IN" dirty="0"/>
          </a:p>
          <a:p>
            <a:pPr>
              <a:buNone/>
            </a:pPr>
            <a:r>
              <a:rPr lang="en-IN" dirty="0"/>
              <a:t>Because network delay is </a:t>
            </a:r>
            <a:r>
              <a:rPr lang="en-IN" b="1" dirty="0"/>
              <a:t>not always the same</a:t>
            </a:r>
            <a:r>
              <a:rPr lang="en-IN" dirty="0"/>
              <a:t>.</a:t>
            </a:r>
          </a:p>
        </p:txBody>
      </p:sp>
      <p:pic>
        <p:nvPicPr>
          <p:cNvPr id="11" name="Picture 10">
            <a:extLst>
              <a:ext uri="{FF2B5EF4-FFF2-40B4-BE49-F238E27FC236}">
                <a16:creationId xmlns:a16="http://schemas.microsoft.com/office/drawing/2014/main" id="{D31BC9CC-0F2E-4CE1-A7A2-1357C49338E5}"/>
              </a:ext>
            </a:extLst>
          </p:cNvPr>
          <p:cNvPicPr>
            <a:picLocks noChangeAspect="1"/>
          </p:cNvPicPr>
          <p:nvPr/>
        </p:nvPicPr>
        <p:blipFill>
          <a:blip r:embed="rId2"/>
          <a:stretch>
            <a:fillRect/>
          </a:stretch>
        </p:blipFill>
        <p:spPr>
          <a:xfrm>
            <a:off x="304813" y="2134962"/>
            <a:ext cx="4732408" cy="3768352"/>
          </a:xfrm>
          <a:prstGeom prst="rect">
            <a:avLst/>
          </a:prstGeom>
        </p:spPr>
      </p:pic>
      <p:sp>
        <p:nvSpPr>
          <p:cNvPr id="14" name="TextBox 13">
            <a:extLst>
              <a:ext uri="{FF2B5EF4-FFF2-40B4-BE49-F238E27FC236}">
                <a16:creationId xmlns:a16="http://schemas.microsoft.com/office/drawing/2014/main" id="{0E766068-3AE6-513A-6D61-EF042C31D5BD}"/>
              </a:ext>
            </a:extLst>
          </p:cNvPr>
          <p:cNvSpPr txBox="1"/>
          <p:nvPr/>
        </p:nvSpPr>
        <p:spPr>
          <a:xfrm>
            <a:off x="5438274" y="2818809"/>
            <a:ext cx="6096000" cy="1477328"/>
          </a:xfrm>
          <a:prstGeom prst="rect">
            <a:avLst/>
          </a:prstGeom>
          <a:noFill/>
        </p:spPr>
        <p:txBody>
          <a:bodyPr wrap="square">
            <a:spAutoFit/>
          </a:bodyPr>
          <a:lstStyle/>
          <a:p>
            <a:pPr>
              <a:buNone/>
            </a:pPr>
            <a:r>
              <a:rPr lang="en-IN" dirty="0"/>
              <a:t>So TCP needs to estimate how long communication is currently taking.</a:t>
            </a:r>
          </a:p>
          <a:p>
            <a:pPr>
              <a:buNone/>
            </a:pPr>
            <a:r>
              <a:rPr lang="en-IN" dirty="0"/>
              <a:t>For this, we first need to understand:</a:t>
            </a:r>
          </a:p>
          <a:p>
            <a:pPr>
              <a:buNone/>
            </a:pPr>
            <a:endParaRPr lang="en-IN" b="1" dirty="0"/>
          </a:p>
          <a:p>
            <a:pPr>
              <a:buNone/>
            </a:pPr>
            <a:r>
              <a:rPr lang="en-IN" b="1" dirty="0">
                <a:highlight>
                  <a:srgbClr val="FFFF00"/>
                </a:highlight>
              </a:rPr>
              <a:t>RTT — Round-Trip Time</a:t>
            </a:r>
          </a:p>
        </p:txBody>
      </p:sp>
    </p:spTree>
    <p:extLst>
      <p:ext uri="{BB962C8B-B14F-4D97-AF65-F5344CB8AC3E}">
        <p14:creationId xmlns:p14="http://schemas.microsoft.com/office/powerpoint/2010/main" val="150521380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C80F4-AB40-B8EF-0249-5883FDA32F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2A1FAE-6565-3190-E8B6-27DB58DCAC78}"/>
              </a:ext>
            </a:extLst>
          </p:cNvPr>
          <p:cNvSpPr txBox="1"/>
          <p:nvPr/>
        </p:nvSpPr>
        <p:spPr>
          <a:xfrm>
            <a:off x="224590" y="689083"/>
            <a:ext cx="11726778" cy="1200329"/>
          </a:xfrm>
          <a:prstGeom prst="rect">
            <a:avLst/>
          </a:prstGeom>
          <a:noFill/>
        </p:spPr>
        <p:txBody>
          <a:bodyPr wrap="square">
            <a:spAutoFit/>
          </a:bodyPr>
          <a:lstStyle/>
          <a:p>
            <a:r>
              <a:rPr lang="en-IN" b="1" dirty="0">
                <a:highlight>
                  <a:srgbClr val="FFFF00"/>
                </a:highlight>
              </a:rPr>
              <a:t>What is RTT? RTT = Round-Trip Time</a:t>
            </a:r>
          </a:p>
          <a:p>
            <a:pPr>
              <a:buNone/>
            </a:pPr>
            <a:endParaRPr lang="en-IN" dirty="0"/>
          </a:p>
          <a:p>
            <a:pPr>
              <a:buNone/>
            </a:pPr>
            <a:r>
              <a:rPr lang="en-IN" dirty="0"/>
              <a:t>It means: </a:t>
            </a:r>
            <a:r>
              <a:rPr lang="en-IN" b="1" dirty="0"/>
              <a:t>The time taken for data to travel from the sender to the receiver and for the response/ACK to come back to the sender.</a:t>
            </a:r>
            <a:endParaRPr lang="en-IN"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FEABA54-0735-2D46-9899-62A232FA82A3}"/>
                  </a:ext>
                </a:extLst>
              </p:cNvPr>
              <p:cNvSpPr txBox="1"/>
              <p:nvPr/>
            </p:nvSpPr>
            <p:spPr>
              <a:xfrm>
                <a:off x="224590" y="1997839"/>
                <a:ext cx="6096000" cy="2308324"/>
              </a:xfrm>
              <a:prstGeom prst="rect">
                <a:avLst/>
              </a:prstGeom>
              <a:noFill/>
            </p:spPr>
            <p:txBody>
              <a:bodyPr wrap="square">
                <a:spAutoFit/>
              </a:bodyPr>
              <a:lstStyle/>
              <a:p>
                <a:pPr>
                  <a:buNone/>
                </a:pPr>
                <a:r>
                  <a:rPr lang="en-IN" dirty="0"/>
                  <a:t>For example:</a:t>
                </a:r>
              </a:p>
              <a:p>
                <a:pPr>
                  <a:buNone/>
                </a:pPr>
                <a:r>
                  <a:rPr lang="en-IN" dirty="0"/>
                  <a:t>Data takes approximately: </a:t>
                </a:r>
                <a:r>
                  <a:rPr lang="en-IN" dirty="0">
                    <a:latin typeface="+mn-lt"/>
                  </a:rPr>
                  <a:t>50 </a:t>
                </a:r>
                <a:r>
                  <a:rPr lang="en-IN" dirty="0" err="1">
                    <a:latin typeface="+mn-lt"/>
                  </a:rPr>
                  <a:t>ms</a:t>
                </a:r>
                <a:r>
                  <a:rPr lang="en-IN" dirty="0"/>
                  <a:t> to reach the receiver.</a:t>
                </a:r>
              </a:p>
              <a:p>
                <a:pPr>
                  <a:buNone/>
                </a:pPr>
                <a:endParaRPr lang="en-IN" dirty="0"/>
              </a:p>
              <a:p>
                <a:pPr>
                  <a:buNone/>
                </a:pPr>
                <a:r>
                  <a:rPr lang="en-IN" dirty="0"/>
                  <a:t>ACK takes approximately: </a:t>
                </a:r>
                <a:r>
                  <a:rPr lang="en-IN" dirty="0">
                    <a:latin typeface="+mn-lt"/>
                  </a:rPr>
                  <a:t>50 </a:t>
                </a:r>
                <a:r>
                  <a:rPr lang="en-IN" dirty="0" err="1">
                    <a:latin typeface="+mn-lt"/>
                  </a:rPr>
                  <a:t>ms</a:t>
                </a:r>
                <a:r>
                  <a:rPr lang="en-IN" dirty="0"/>
                  <a:t> to return.</a:t>
                </a:r>
              </a:p>
              <a:p>
                <a:pPr>
                  <a:buNone/>
                </a:pPr>
                <a:endParaRPr lang="en-IN" dirty="0"/>
              </a:p>
              <a:p>
                <a:pPr>
                  <a:buNone/>
                </a:pPr>
                <a:r>
                  <a:rPr lang="en-IN" dirty="0"/>
                  <a:t>Then, in this simplified example:</a:t>
                </a:r>
              </a:p>
              <a:p>
                <a:pPr>
                  <a:buNone/>
                </a:pPr>
                <a14:m>
                  <m:oMathPara xmlns:m="http://schemas.openxmlformats.org/officeDocument/2006/math">
                    <m:oMath>
                      <m:r>
                        <a:rPr lang="en-IN" i="1">
                          <a:latin typeface="Cambria Math" panose="02040503050406030204" pitchFamily="18" charset="0"/>
                        </a:rPr>
                        <m:t>𝑅𝑇𝑇</m:t>
                      </m:r>
                      <m:r>
                        <a:rPr lang="en-IN" i="0">
                          <a:latin typeface="Cambria Math" panose="02040503050406030204" pitchFamily="18" charset="0"/>
                        </a:rPr>
                        <m:t>=50+50</m:t>
                      </m:r>
                    </m:oMath>
                  </m:oMathPara>
                </a14:m>
                <a:endParaRPr lang="en-IN" dirty="0"/>
              </a:p>
              <a:p>
                <a:pPr>
                  <a:buNone/>
                </a:pPr>
                <a:r>
                  <a:rPr lang="en-IN" dirty="0"/>
                  <a:t>RTT=100 </a:t>
                </a:r>
                <a:r>
                  <a:rPr lang="en-IN" dirty="0" err="1"/>
                  <a:t>ms</a:t>
                </a:r>
                <a:r>
                  <a:rPr lang="en-IN" dirty="0"/>
                  <a:t>​</a:t>
                </a:r>
              </a:p>
            </p:txBody>
          </p:sp>
        </mc:Choice>
        <mc:Fallback xmlns="">
          <p:sp>
            <p:nvSpPr>
              <p:cNvPr id="7" name="TextBox 6">
                <a:extLst>
                  <a:ext uri="{FF2B5EF4-FFF2-40B4-BE49-F238E27FC236}">
                    <a16:creationId xmlns:a16="http://schemas.microsoft.com/office/drawing/2014/main" id="{DFEABA54-0735-2D46-9899-62A232FA82A3}"/>
                  </a:ext>
                </a:extLst>
              </p:cNvPr>
              <p:cNvSpPr txBox="1">
                <a:spLocks noRot="1" noChangeAspect="1" noMove="1" noResize="1" noEditPoints="1" noAdjustHandles="1" noChangeArrowheads="1" noChangeShapeType="1" noTextEdit="1"/>
              </p:cNvSpPr>
              <p:nvPr/>
            </p:nvSpPr>
            <p:spPr>
              <a:xfrm>
                <a:off x="224590" y="1997839"/>
                <a:ext cx="6096000" cy="2308324"/>
              </a:xfrm>
              <a:prstGeom prst="rect">
                <a:avLst/>
              </a:prstGeom>
              <a:blipFill>
                <a:blip r:embed="rId2"/>
                <a:stretch>
                  <a:fillRect l="-900" t="-1587" b="-343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2C5733A-AA9D-F5A1-B0A0-B5A0514B4753}"/>
                  </a:ext>
                </a:extLst>
              </p:cNvPr>
              <p:cNvSpPr txBox="1"/>
              <p:nvPr/>
            </p:nvSpPr>
            <p:spPr>
              <a:xfrm>
                <a:off x="6096000" y="1997839"/>
                <a:ext cx="5422232" cy="2887137"/>
              </a:xfrm>
              <a:prstGeom prst="rect">
                <a:avLst/>
              </a:prstGeom>
              <a:noFill/>
            </p:spPr>
            <p:txBody>
              <a:bodyPr wrap="square">
                <a:spAutoFit/>
              </a:bodyPr>
              <a:lstStyle/>
              <a:p>
                <a:pPr>
                  <a:buNone/>
                </a:pPr>
                <a:r>
                  <a:rPr lang="en-IN" b="1" dirty="0">
                    <a:highlight>
                      <a:srgbClr val="FFFF00"/>
                    </a:highlight>
                  </a:rPr>
                  <a:t>RTT Sample</a:t>
                </a:r>
              </a:p>
              <a:p>
                <a:pPr>
                  <a:buNone/>
                </a:pPr>
                <a:r>
                  <a:rPr lang="en-IN" dirty="0"/>
                  <a:t>Suppose TCP sends one segment and measures:</a:t>
                </a:r>
              </a:p>
              <a:p>
                <a:pPr rtl="0">
                  <a:buNone/>
                </a:pPr>
                <a:r>
                  <a:rPr lang="en-IN" dirty="0">
                    <a:latin typeface="+mn-lt"/>
                  </a:rPr>
                  <a:t>Segment sent at: 10:00:00.000</a:t>
                </a:r>
              </a:p>
              <a:p>
                <a:pPr>
                  <a:buNone/>
                </a:pPr>
                <a:endParaRPr lang="en-IN" dirty="0"/>
              </a:p>
              <a:p>
                <a:pPr>
                  <a:buNone/>
                </a:pPr>
                <a:r>
                  <a:rPr lang="en-IN" dirty="0"/>
                  <a:t>ACK arrives at: </a:t>
                </a:r>
                <a:r>
                  <a:rPr lang="en-IN" dirty="0">
                    <a:latin typeface="+mn-lt"/>
                  </a:rPr>
                  <a:t>10:00:00.120</a:t>
                </a:r>
              </a:p>
              <a:p>
                <a:pPr>
                  <a:buNone/>
                </a:pPr>
                <a:r>
                  <a:rPr lang="en-IN" dirty="0"/>
                  <a:t>Difference:</a:t>
                </a:r>
              </a:p>
              <a:p>
                <a:pPr>
                  <a:buNone/>
                </a:pPr>
                <a14:m>
                  <m:oMathPara xmlns:m="http://schemas.openxmlformats.org/officeDocument/2006/math">
                    <m:oMath>
                      <m:r>
                        <a:rPr lang="en-IN">
                          <a:latin typeface="Cambria Math" panose="02040503050406030204" pitchFamily="18" charset="0"/>
                        </a:rPr>
                        <m:t>120</m:t>
                      </m:r>
                      <m:r>
                        <a:rPr lang="en-IN" i="1">
                          <a:latin typeface="Cambria Math" panose="02040503050406030204" pitchFamily="18" charset="0"/>
                        </a:rPr>
                        <m:t>𝑚𝑠</m:t>
                      </m:r>
                    </m:oMath>
                  </m:oMathPara>
                </a14:m>
                <a:endParaRPr lang="en-IN" dirty="0"/>
              </a:p>
              <a:p>
                <a:pPr>
                  <a:buNone/>
                </a:pPr>
                <a:r>
                  <a:rPr lang="en-IN" dirty="0"/>
                  <a:t>Therefore:</a:t>
                </a:r>
              </a:p>
              <a:p>
                <a:pPr>
                  <a:buNone/>
                </a:pPr>
                <a14:m>
                  <m:oMathPara xmlns:m="http://schemas.openxmlformats.org/officeDocument/2006/math">
                    <m:o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𝑠𝑎𝑚𝑝𝑙𝑒</m:t>
                          </m:r>
                        </m:sub>
                      </m:sSub>
                      <m:r>
                        <a:rPr lang="en-IN" i="0">
                          <a:latin typeface="Cambria Math" panose="02040503050406030204" pitchFamily="18" charset="0"/>
                        </a:rPr>
                        <m:t>=120</m:t>
                      </m:r>
                      <m:r>
                        <a:rPr lang="en-IN" i="1">
                          <a:latin typeface="Cambria Math" panose="02040503050406030204" pitchFamily="18" charset="0"/>
                        </a:rPr>
                        <m:t>𝑚𝑠</m:t>
                      </m:r>
                    </m:oMath>
                  </m:oMathPara>
                </a14:m>
                <a:endParaRPr lang="en-IN" dirty="0"/>
              </a:p>
              <a:p>
                <a:pPr>
                  <a:buNone/>
                </a:pPr>
                <a:r>
                  <a:rPr lang="en-IN" dirty="0"/>
                  <a:t>This is one measured RTT value.</a:t>
                </a:r>
              </a:p>
            </p:txBody>
          </p:sp>
        </mc:Choice>
        <mc:Fallback xmlns="">
          <p:sp>
            <p:nvSpPr>
              <p:cNvPr id="10" name="TextBox 9">
                <a:extLst>
                  <a:ext uri="{FF2B5EF4-FFF2-40B4-BE49-F238E27FC236}">
                    <a16:creationId xmlns:a16="http://schemas.microsoft.com/office/drawing/2014/main" id="{02C5733A-AA9D-F5A1-B0A0-B5A0514B4753}"/>
                  </a:ext>
                </a:extLst>
              </p:cNvPr>
              <p:cNvSpPr txBox="1">
                <a:spLocks noRot="1" noChangeAspect="1" noMove="1" noResize="1" noEditPoints="1" noAdjustHandles="1" noChangeArrowheads="1" noChangeShapeType="1" noTextEdit="1"/>
              </p:cNvSpPr>
              <p:nvPr/>
            </p:nvSpPr>
            <p:spPr>
              <a:xfrm>
                <a:off x="6096000" y="1997839"/>
                <a:ext cx="5422232" cy="2887137"/>
              </a:xfrm>
              <a:prstGeom prst="rect">
                <a:avLst/>
              </a:prstGeom>
              <a:blipFill>
                <a:blip r:embed="rId3"/>
                <a:stretch>
                  <a:fillRect l="-900" t="-1268" b="-2537"/>
                </a:stretch>
              </a:blipFill>
            </p:spPr>
            <p:txBody>
              <a:bodyPr/>
              <a:lstStyle/>
              <a:p>
                <a:r>
                  <a:rPr lang="en-IN">
                    <a:noFill/>
                  </a:rPr>
                  <a:t> </a:t>
                </a:r>
              </a:p>
            </p:txBody>
          </p:sp>
        </mc:Fallback>
      </mc:AlternateContent>
    </p:spTree>
    <p:extLst>
      <p:ext uri="{BB962C8B-B14F-4D97-AF65-F5344CB8AC3E}">
        <p14:creationId xmlns:p14="http://schemas.microsoft.com/office/powerpoint/2010/main" val="32950270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9B16F-7448-5366-5BA4-B8760B5F0D3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E568E9-16CF-8232-3279-6E25449E70FA}"/>
              </a:ext>
            </a:extLst>
          </p:cNvPr>
          <p:cNvSpPr txBox="1"/>
          <p:nvPr/>
        </p:nvSpPr>
        <p:spPr>
          <a:xfrm>
            <a:off x="240629" y="1730729"/>
            <a:ext cx="5229727" cy="923330"/>
          </a:xfrm>
          <a:prstGeom prst="rect">
            <a:avLst/>
          </a:prstGeom>
          <a:noFill/>
        </p:spPr>
        <p:txBody>
          <a:bodyPr wrap="square">
            <a:spAutoFit/>
          </a:bodyPr>
          <a:lstStyle/>
          <a:p>
            <a:pPr>
              <a:buNone/>
            </a:pPr>
            <a:r>
              <a:rPr lang="en-IN" b="1" dirty="0">
                <a:highlight>
                  <a:srgbClr val="FFFF00"/>
                </a:highlight>
              </a:rPr>
              <a:t>Why can't TCP simply use one RTT sample?</a:t>
            </a:r>
          </a:p>
          <a:p>
            <a:pPr>
              <a:buNone/>
            </a:pPr>
            <a:r>
              <a:rPr lang="en-IN" dirty="0"/>
              <a:t>Because network conditions keep changing.</a:t>
            </a:r>
          </a:p>
          <a:p>
            <a:pPr>
              <a:buNone/>
            </a:pPr>
            <a:endParaRPr lang="en-IN" dirty="0"/>
          </a:p>
        </p:txBody>
      </p:sp>
      <p:sp>
        <p:nvSpPr>
          <p:cNvPr id="14" name="TextBox 13">
            <a:extLst>
              <a:ext uri="{FF2B5EF4-FFF2-40B4-BE49-F238E27FC236}">
                <a16:creationId xmlns:a16="http://schemas.microsoft.com/office/drawing/2014/main" id="{DFC02C8E-5E84-C7AA-DD6D-49FADBA6C155}"/>
              </a:ext>
            </a:extLst>
          </p:cNvPr>
          <p:cNvSpPr txBox="1"/>
          <p:nvPr/>
        </p:nvSpPr>
        <p:spPr>
          <a:xfrm>
            <a:off x="240630" y="626221"/>
            <a:ext cx="5229727" cy="923330"/>
          </a:xfrm>
          <a:prstGeom prst="rect">
            <a:avLst/>
          </a:prstGeom>
          <a:noFill/>
        </p:spPr>
        <p:txBody>
          <a:bodyPr wrap="square">
            <a:spAutoFit/>
          </a:bodyPr>
          <a:lstStyle/>
          <a:p>
            <a:pPr>
              <a:buNone/>
            </a:pPr>
            <a:r>
              <a:rPr lang="en-IN" b="1" dirty="0">
                <a:highlight>
                  <a:srgbClr val="FFFF00"/>
                </a:highlight>
              </a:rPr>
              <a:t>What is RTT Sample?</a:t>
            </a:r>
          </a:p>
          <a:p>
            <a:pPr>
              <a:buNone/>
            </a:pPr>
            <a:r>
              <a:rPr lang="en-IN" b="1" dirty="0"/>
              <a:t>RTT Sample is the RTT measured for one particular transmission.</a:t>
            </a:r>
            <a:endParaRPr lang="en-IN" dirty="0"/>
          </a:p>
        </p:txBody>
      </p:sp>
      <p:graphicFrame>
        <p:nvGraphicFramePr>
          <p:cNvPr id="15" name="Table 14">
            <a:extLst>
              <a:ext uri="{FF2B5EF4-FFF2-40B4-BE49-F238E27FC236}">
                <a16:creationId xmlns:a16="http://schemas.microsoft.com/office/drawing/2014/main" id="{1B8ED611-BCEB-1247-88C7-331E4004D805}"/>
              </a:ext>
            </a:extLst>
          </p:cNvPr>
          <p:cNvGraphicFramePr>
            <a:graphicFrameLocks noGrp="1"/>
          </p:cNvGraphicFramePr>
          <p:nvPr>
            <p:extLst>
              <p:ext uri="{D42A27DB-BD31-4B8C-83A1-F6EECF244321}">
                <p14:modId xmlns:p14="http://schemas.microsoft.com/office/powerpoint/2010/main" val="917138330"/>
              </p:ext>
            </p:extLst>
          </p:nvPr>
        </p:nvGraphicFramePr>
        <p:xfrm>
          <a:off x="427789" y="2542343"/>
          <a:ext cx="3181684" cy="1854200"/>
        </p:xfrm>
        <a:graphic>
          <a:graphicData uri="http://schemas.openxmlformats.org/drawingml/2006/table">
            <a:tbl>
              <a:tblPr firstRow="1" bandRow="1">
                <a:tableStyleId>{5C22544A-7EE6-4342-B048-85BDC9FD1C3A}</a:tableStyleId>
              </a:tblPr>
              <a:tblGrid>
                <a:gridCol w="1590842">
                  <a:extLst>
                    <a:ext uri="{9D8B030D-6E8A-4147-A177-3AD203B41FA5}">
                      <a16:colId xmlns:a16="http://schemas.microsoft.com/office/drawing/2014/main" val="2548363654"/>
                    </a:ext>
                  </a:extLst>
                </a:gridCol>
                <a:gridCol w="1590842">
                  <a:extLst>
                    <a:ext uri="{9D8B030D-6E8A-4147-A177-3AD203B41FA5}">
                      <a16:colId xmlns:a16="http://schemas.microsoft.com/office/drawing/2014/main" val="2394346699"/>
                    </a:ext>
                  </a:extLst>
                </a:gridCol>
              </a:tblGrid>
              <a:tr h="370840">
                <a:tc>
                  <a:txBody>
                    <a:bodyPr/>
                    <a:lstStyle/>
                    <a:p>
                      <a:pPr>
                        <a:buNone/>
                      </a:pPr>
                      <a:r>
                        <a:rPr lang="en-IN" dirty="0"/>
                        <a:t>Transmission</a:t>
                      </a:r>
                    </a:p>
                  </a:txBody>
                  <a:tcPr anchor="ctr"/>
                </a:tc>
                <a:tc>
                  <a:txBody>
                    <a:bodyPr/>
                    <a:lstStyle/>
                    <a:p>
                      <a:pPr algn="r">
                        <a:buNone/>
                      </a:pPr>
                      <a:r>
                        <a:rPr lang="en-IN"/>
                        <a:t>Measured RTT</a:t>
                      </a:r>
                    </a:p>
                  </a:txBody>
                  <a:tcPr anchor="ctr"/>
                </a:tc>
                <a:extLst>
                  <a:ext uri="{0D108BD9-81ED-4DB2-BD59-A6C34878D82A}">
                    <a16:rowId xmlns:a16="http://schemas.microsoft.com/office/drawing/2014/main" val="1533023627"/>
                  </a:ext>
                </a:extLst>
              </a:tr>
              <a:tr h="370840">
                <a:tc>
                  <a:txBody>
                    <a:bodyPr/>
                    <a:lstStyle/>
                    <a:p>
                      <a:pPr>
                        <a:buNone/>
                      </a:pPr>
                      <a:r>
                        <a:rPr lang="en-IN"/>
                        <a:t>Segment 1</a:t>
                      </a:r>
                    </a:p>
                  </a:txBody>
                  <a:tcPr anchor="ctr"/>
                </a:tc>
                <a:tc>
                  <a:txBody>
                    <a:bodyPr/>
                    <a:lstStyle/>
                    <a:p>
                      <a:pPr algn="r">
                        <a:buNone/>
                      </a:pPr>
                      <a:r>
                        <a:rPr lang="en-IN"/>
                        <a:t>100 ms</a:t>
                      </a:r>
                    </a:p>
                  </a:txBody>
                  <a:tcPr anchor="ctr"/>
                </a:tc>
                <a:extLst>
                  <a:ext uri="{0D108BD9-81ED-4DB2-BD59-A6C34878D82A}">
                    <a16:rowId xmlns:a16="http://schemas.microsoft.com/office/drawing/2014/main" val="654345586"/>
                  </a:ext>
                </a:extLst>
              </a:tr>
              <a:tr h="370840">
                <a:tc>
                  <a:txBody>
                    <a:bodyPr/>
                    <a:lstStyle/>
                    <a:p>
                      <a:pPr>
                        <a:buNone/>
                      </a:pPr>
                      <a:r>
                        <a:rPr lang="en-IN"/>
                        <a:t>Segment 2</a:t>
                      </a:r>
                    </a:p>
                  </a:txBody>
                  <a:tcPr anchor="ctr"/>
                </a:tc>
                <a:tc>
                  <a:txBody>
                    <a:bodyPr/>
                    <a:lstStyle/>
                    <a:p>
                      <a:pPr algn="r">
                        <a:buNone/>
                      </a:pPr>
                      <a:r>
                        <a:rPr lang="en-IN"/>
                        <a:t>120 ms</a:t>
                      </a:r>
                    </a:p>
                  </a:txBody>
                  <a:tcPr anchor="ctr"/>
                </a:tc>
                <a:extLst>
                  <a:ext uri="{0D108BD9-81ED-4DB2-BD59-A6C34878D82A}">
                    <a16:rowId xmlns:a16="http://schemas.microsoft.com/office/drawing/2014/main" val="1145436735"/>
                  </a:ext>
                </a:extLst>
              </a:tr>
              <a:tr h="370840">
                <a:tc>
                  <a:txBody>
                    <a:bodyPr/>
                    <a:lstStyle/>
                    <a:p>
                      <a:pPr>
                        <a:buNone/>
                      </a:pPr>
                      <a:r>
                        <a:rPr lang="en-IN"/>
                        <a:t>Segment 3</a:t>
                      </a:r>
                    </a:p>
                  </a:txBody>
                  <a:tcPr anchor="ctr"/>
                </a:tc>
                <a:tc>
                  <a:txBody>
                    <a:bodyPr/>
                    <a:lstStyle/>
                    <a:p>
                      <a:pPr algn="r">
                        <a:buNone/>
                      </a:pPr>
                      <a:r>
                        <a:rPr lang="en-IN"/>
                        <a:t>90 ms</a:t>
                      </a:r>
                    </a:p>
                  </a:txBody>
                  <a:tcPr anchor="ctr"/>
                </a:tc>
                <a:extLst>
                  <a:ext uri="{0D108BD9-81ED-4DB2-BD59-A6C34878D82A}">
                    <a16:rowId xmlns:a16="http://schemas.microsoft.com/office/drawing/2014/main" val="2988451657"/>
                  </a:ext>
                </a:extLst>
              </a:tr>
              <a:tr h="370840">
                <a:tc>
                  <a:txBody>
                    <a:bodyPr/>
                    <a:lstStyle/>
                    <a:p>
                      <a:pPr>
                        <a:buNone/>
                      </a:pPr>
                      <a:r>
                        <a:rPr lang="en-IN"/>
                        <a:t>Segment 4</a:t>
                      </a:r>
                    </a:p>
                  </a:txBody>
                  <a:tcPr anchor="ctr"/>
                </a:tc>
                <a:tc>
                  <a:txBody>
                    <a:bodyPr/>
                    <a:lstStyle/>
                    <a:p>
                      <a:pPr algn="r">
                        <a:buNone/>
                      </a:pPr>
                      <a:r>
                        <a:rPr lang="en-IN" dirty="0"/>
                        <a:t>130 </a:t>
                      </a:r>
                      <a:r>
                        <a:rPr lang="en-IN" dirty="0" err="1"/>
                        <a:t>ms</a:t>
                      </a:r>
                      <a:endParaRPr lang="en-IN" dirty="0"/>
                    </a:p>
                  </a:txBody>
                  <a:tcPr anchor="ctr"/>
                </a:tc>
                <a:extLst>
                  <a:ext uri="{0D108BD9-81ED-4DB2-BD59-A6C34878D82A}">
                    <a16:rowId xmlns:a16="http://schemas.microsoft.com/office/drawing/2014/main" val="2837580225"/>
                  </a:ext>
                </a:extLst>
              </a:tr>
            </a:tbl>
          </a:graphicData>
        </a:graphic>
      </p:graphicFrame>
      <p:sp>
        <p:nvSpPr>
          <p:cNvPr id="17" name="TextBox 16">
            <a:extLst>
              <a:ext uri="{FF2B5EF4-FFF2-40B4-BE49-F238E27FC236}">
                <a16:creationId xmlns:a16="http://schemas.microsoft.com/office/drawing/2014/main" id="{363CA1F9-1725-0D3B-1167-1CACD664956A}"/>
              </a:ext>
            </a:extLst>
          </p:cNvPr>
          <p:cNvSpPr txBox="1"/>
          <p:nvPr/>
        </p:nvSpPr>
        <p:spPr>
          <a:xfrm>
            <a:off x="240629" y="4445675"/>
            <a:ext cx="6096000" cy="2308324"/>
          </a:xfrm>
          <a:prstGeom prst="rect">
            <a:avLst/>
          </a:prstGeom>
          <a:noFill/>
        </p:spPr>
        <p:txBody>
          <a:bodyPr wrap="square">
            <a:spAutoFit/>
          </a:bodyPr>
          <a:lstStyle/>
          <a:p>
            <a:pPr>
              <a:buNone/>
            </a:pPr>
            <a:r>
              <a:rPr lang="en-IN" dirty="0"/>
              <a:t>Now we have a question. </a:t>
            </a:r>
            <a:r>
              <a:rPr lang="en-IN" b="1" dirty="0"/>
              <a:t>Which RTT should TCP use?</a:t>
            </a:r>
            <a:endParaRPr lang="en-IN" dirty="0"/>
          </a:p>
          <a:p>
            <a:pPr>
              <a:buNone/>
            </a:pPr>
            <a:r>
              <a:rPr lang="en-IN" dirty="0"/>
              <a:t>100 </a:t>
            </a:r>
            <a:r>
              <a:rPr lang="en-IN" dirty="0" err="1"/>
              <a:t>ms</a:t>
            </a:r>
            <a:r>
              <a:rPr lang="en-IN" dirty="0"/>
              <a:t>?</a:t>
            </a:r>
          </a:p>
          <a:p>
            <a:pPr>
              <a:buNone/>
            </a:pPr>
            <a:r>
              <a:rPr lang="en-IN" dirty="0"/>
              <a:t>120 </a:t>
            </a:r>
            <a:r>
              <a:rPr lang="en-IN" dirty="0" err="1"/>
              <a:t>ms</a:t>
            </a:r>
            <a:r>
              <a:rPr lang="en-IN" dirty="0"/>
              <a:t>?</a:t>
            </a:r>
          </a:p>
          <a:p>
            <a:pPr>
              <a:buNone/>
            </a:pPr>
            <a:r>
              <a:rPr lang="en-IN" dirty="0"/>
              <a:t>90 </a:t>
            </a:r>
            <a:r>
              <a:rPr lang="en-IN" dirty="0" err="1"/>
              <a:t>ms</a:t>
            </a:r>
            <a:r>
              <a:rPr lang="en-IN" dirty="0"/>
              <a:t>?</a:t>
            </a:r>
          </a:p>
          <a:p>
            <a:pPr>
              <a:buNone/>
            </a:pPr>
            <a:r>
              <a:rPr lang="en-IN" dirty="0"/>
              <a:t>130 </a:t>
            </a:r>
            <a:r>
              <a:rPr lang="en-IN" dirty="0" err="1"/>
              <a:t>ms</a:t>
            </a:r>
            <a:r>
              <a:rPr lang="en-IN" dirty="0"/>
              <a:t>?</a:t>
            </a:r>
          </a:p>
          <a:p>
            <a:pPr>
              <a:buNone/>
            </a:pPr>
            <a:r>
              <a:rPr lang="en-IN" dirty="0"/>
              <a:t>TCP cannot simply depend on one measurement because network delay keeps changing.</a:t>
            </a:r>
          </a:p>
          <a:p>
            <a:pPr>
              <a:buNone/>
            </a:pPr>
            <a:r>
              <a:rPr lang="en-IN" dirty="0"/>
              <a:t>That is why we need </a:t>
            </a:r>
            <a:r>
              <a:rPr lang="en-IN" b="1" dirty="0"/>
              <a:t>Estimated RTT</a:t>
            </a:r>
            <a:r>
              <a:rPr lang="en-IN" dirty="0"/>
              <a:t>.</a:t>
            </a:r>
          </a:p>
        </p:txBody>
      </p:sp>
      <p:sp>
        <p:nvSpPr>
          <p:cNvPr id="19" name="TextBox 18">
            <a:extLst>
              <a:ext uri="{FF2B5EF4-FFF2-40B4-BE49-F238E27FC236}">
                <a16:creationId xmlns:a16="http://schemas.microsoft.com/office/drawing/2014/main" id="{1B9AC53E-7AF1-B0E0-AEAE-2381213DDB2F}"/>
              </a:ext>
            </a:extLst>
          </p:cNvPr>
          <p:cNvSpPr txBox="1"/>
          <p:nvPr/>
        </p:nvSpPr>
        <p:spPr>
          <a:xfrm>
            <a:off x="6096000" y="626221"/>
            <a:ext cx="5662863" cy="1200329"/>
          </a:xfrm>
          <a:prstGeom prst="rect">
            <a:avLst/>
          </a:prstGeom>
          <a:noFill/>
        </p:spPr>
        <p:txBody>
          <a:bodyPr wrap="square">
            <a:spAutoFit/>
          </a:bodyPr>
          <a:lstStyle/>
          <a:p>
            <a:pPr>
              <a:buNone/>
            </a:pPr>
            <a:r>
              <a:rPr lang="en-IN" b="1" dirty="0">
                <a:highlight>
                  <a:srgbClr val="FFFF00"/>
                </a:highlight>
              </a:rPr>
              <a:t>What is Estimated RTT?</a:t>
            </a:r>
          </a:p>
          <a:p>
            <a:pPr>
              <a:buNone/>
            </a:pPr>
            <a:r>
              <a:rPr lang="en-IN" b="1" dirty="0"/>
              <a:t>Estimated RTT is TCP's calculated average-like value that represents the current expected Round-Trip Time of the connection.</a:t>
            </a:r>
            <a:endParaRPr lang="en-IN" dirty="0"/>
          </a:p>
        </p:txBody>
      </p:sp>
      <p:sp>
        <p:nvSpPr>
          <p:cNvPr id="21" name="TextBox 20">
            <a:extLst>
              <a:ext uri="{FF2B5EF4-FFF2-40B4-BE49-F238E27FC236}">
                <a16:creationId xmlns:a16="http://schemas.microsoft.com/office/drawing/2014/main" id="{304C69AB-1B91-586B-2993-3D730B4DF720}"/>
              </a:ext>
            </a:extLst>
          </p:cNvPr>
          <p:cNvSpPr txBox="1"/>
          <p:nvPr/>
        </p:nvSpPr>
        <p:spPr>
          <a:xfrm>
            <a:off x="6096000" y="1951672"/>
            <a:ext cx="5358063" cy="1754326"/>
          </a:xfrm>
          <a:prstGeom prst="rect">
            <a:avLst/>
          </a:prstGeom>
          <a:noFill/>
        </p:spPr>
        <p:txBody>
          <a:bodyPr wrap="square">
            <a:spAutoFit/>
          </a:bodyPr>
          <a:lstStyle/>
          <a:p>
            <a:pPr>
              <a:buNone/>
            </a:pPr>
            <a:r>
              <a:rPr lang="en-IN" dirty="0"/>
              <a:t>In simple words:</a:t>
            </a:r>
          </a:p>
          <a:p>
            <a:pPr>
              <a:buNone/>
            </a:pPr>
            <a:r>
              <a:rPr lang="en-IN" b="1" dirty="0"/>
              <a:t>RTT Sample = latest measured RTT</a:t>
            </a:r>
            <a:endParaRPr lang="en-IN" dirty="0"/>
          </a:p>
          <a:p>
            <a:pPr>
              <a:buNone/>
            </a:pPr>
            <a:endParaRPr lang="en-IN" dirty="0"/>
          </a:p>
          <a:p>
            <a:pPr>
              <a:buNone/>
            </a:pPr>
            <a:r>
              <a:rPr lang="en-IN" dirty="0"/>
              <a:t>whereas</a:t>
            </a:r>
          </a:p>
          <a:p>
            <a:pPr>
              <a:buNone/>
            </a:pPr>
            <a:r>
              <a:rPr lang="en-IN" b="1" dirty="0"/>
              <a:t>Estimated RTT = TCP's current estimate based on previous RTT information and the latest RTT sample.</a:t>
            </a:r>
            <a:endParaRPr lang="en-IN" dirty="0"/>
          </a:p>
        </p:txBody>
      </p:sp>
    </p:spTree>
    <p:extLst>
      <p:ext uri="{BB962C8B-B14F-4D97-AF65-F5344CB8AC3E}">
        <p14:creationId xmlns:p14="http://schemas.microsoft.com/office/powerpoint/2010/main" val="12624180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FD535-E10C-2FD1-4DA1-9A1857B3A39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92B6A2-3AB3-C008-F1A6-F51B3DF7ED7A}"/>
              </a:ext>
            </a:extLst>
          </p:cNvPr>
          <p:cNvSpPr txBox="1"/>
          <p:nvPr/>
        </p:nvSpPr>
        <p:spPr>
          <a:xfrm>
            <a:off x="192506" y="601396"/>
            <a:ext cx="2518611" cy="369332"/>
          </a:xfrm>
          <a:prstGeom prst="rect">
            <a:avLst/>
          </a:prstGeom>
          <a:noFill/>
        </p:spPr>
        <p:txBody>
          <a:bodyPr wrap="square">
            <a:spAutoFit/>
          </a:bodyPr>
          <a:lstStyle/>
          <a:p>
            <a:r>
              <a:rPr lang="en-IN" b="1" dirty="0">
                <a:highlight>
                  <a:srgbClr val="FFFF00"/>
                </a:highlight>
              </a:rPr>
              <a:t>Estimated RTT Formula</a:t>
            </a:r>
          </a:p>
        </p:txBody>
      </p:sp>
      <p:pic>
        <p:nvPicPr>
          <p:cNvPr id="7" name="Picture 6">
            <a:extLst>
              <a:ext uri="{FF2B5EF4-FFF2-40B4-BE49-F238E27FC236}">
                <a16:creationId xmlns:a16="http://schemas.microsoft.com/office/drawing/2014/main" id="{DAEFB04C-024C-2C45-7DA0-FDB37B7ACEAF}"/>
              </a:ext>
            </a:extLst>
          </p:cNvPr>
          <p:cNvPicPr>
            <a:picLocks noChangeAspect="1"/>
          </p:cNvPicPr>
          <p:nvPr/>
        </p:nvPicPr>
        <p:blipFill>
          <a:blip r:embed="rId2"/>
          <a:stretch>
            <a:fillRect/>
          </a:stretch>
        </p:blipFill>
        <p:spPr>
          <a:xfrm>
            <a:off x="0" y="1116378"/>
            <a:ext cx="6906589" cy="743054"/>
          </a:xfrm>
          <a:prstGeom prst="rect">
            <a:avLst/>
          </a:prstGeom>
        </p:spPr>
      </p:pic>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434C04F6-ECF6-42AD-F1F4-826B3994F26D}"/>
                  </a:ext>
                </a:extLst>
              </p:cNvPr>
              <p:cNvGraphicFramePr>
                <a:graphicFrameLocks noGrp="1"/>
              </p:cNvGraphicFramePr>
              <p:nvPr>
                <p:extLst>
                  <p:ext uri="{D42A27DB-BD31-4B8C-83A1-F6EECF244321}">
                    <p14:modId xmlns:p14="http://schemas.microsoft.com/office/powerpoint/2010/main" val="3439086967"/>
                  </p:ext>
                </p:extLst>
              </p:nvPr>
            </p:nvGraphicFramePr>
            <p:xfrm>
              <a:off x="192506" y="3474124"/>
              <a:ext cx="8128000" cy="3048889"/>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345233089"/>
                        </a:ext>
                      </a:extLst>
                    </a:gridCol>
                    <a:gridCol w="4064000">
                      <a:extLst>
                        <a:ext uri="{9D8B030D-6E8A-4147-A177-3AD203B41FA5}">
                          <a16:colId xmlns:a16="http://schemas.microsoft.com/office/drawing/2014/main" val="3147463028"/>
                        </a:ext>
                      </a:extLst>
                    </a:gridCol>
                  </a:tblGrid>
                  <a:tr h="370840">
                    <a:tc>
                      <a:txBody>
                        <a:bodyPr/>
                        <a:lstStyle/>
                        <a:p>
                          <a:pPr>
                            <a:buNone/>
                          </a:pPr>
                          <a:r>
                            <a:rPr lang="en-IN" dirty="0"/>
                            <a:t>Term</a:t>
                          </a:r>
                        </a:p>
                      </a:txBody>
                      <a:tcPr anchor="ctr"/>
                    </a:tc>
                    <a:tc>
                      <a:txBody>
                        <a:bodyPr/>
                        <a:lstStyle/>
                        <a:p>
                          <a:pPr>
                            <a:buNone/>
                          </a:pPr>
                          <a:r>
                            <a:rPr lang="en-IN"/>
                            <a:t>Meaning</a:t>
                          </a:r>
                        </a:p>
                      </a:txBody>
                      <a:tcPr anchor="ctr"/>
                    </a:tc>
                    <a:extLst>
                      <a:ext uri="{0D108BD9-81ED-4DB2-BD59-A6C34878D82A}">
                        <a16:rowId xmlns:a16="http://schemas.microsoft.com/office/drawing/2014/main" val="3031785793"/>
                      </a:ext>
                    </a:extLst>
                  </a:tr>
                  <a:tr h="370840">
                    <a:tc>
                      <a:txBody>
                        <a:bodyPr/>
                        <a:lstStyle/>
                        <a:p>
                          <a:pPr>
                            <a:buNone/>
                          </a:pPr>
                          <a14:m>
                            <m:oMath xmlns:m="http://schemas.openxmlformats.org/officeDocument/2006/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𝑒𝑠𝑡</m:t>
                                  </m:r>
                                </m:sub>
                              </m:sSub>
                            </m:oMath>
                          </a14:m>
                          <a:r>
                            <a:rPr lang="en-IN"/>
                            <a:t>on the left</a:t>
                          </a:r>
                        </a:p>
                      </a:txBody>
                      <a:tcPr anchor="ctr"/>
                    </a:tc>
                    <a:tc>
                      <a:txBody>
                        <a:bodyPr/>
                        <a:lstStyle/>
                        <a:p>
                          <a:pPr>
                            <a:buNone/>
                          </a:pPr>
                          <a:r>
                            <a:rPr lang="en-IN" b="1"/>
                            <a:t>New Estimated RTT</a:t>
                          </a:r>
                          <a:r>
                            <a:rPr lang="en-IN"/>
                            <a:t> that we are calculating</a:t>
                          </a:r>
                        </a:p>
                      </a:txBody>
                      <a:tcPr anchor="ctr"/>
                    </a:tc>
                    <a:extLst>
                      <a:ext uri="{0D108BD9-81ED-4DB2-BD59-A6C34878D82A}">
                        <a16:rowId xmlns:a16="http://schemas.microsoft.com/office/drawing/2014/main" val="687603945"/>
                      </a:ext>
                    </a:extLst>
                  </a:tr>
                  <a:tr h="370840">
                    <a:tc>
                      <a:txBody>
                        <a:bodyPr/>
                        <a:lstStyle/>
                        <a:p>
                          <a:pPr>
                            <a:buNone/>
                          </a:pPr>
                          <a14:m>
                            <m:oMath xmlns:m="http://schemas.openxmlformats.org/officeDocument/2006/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𝑒𝑠𝑡</m:t>
                                  </m:r>
                                </m:sub>
                              </m:sSub>
                            </m:oMath>
                          </a14:m>
                          <a:r>
                            <a:rPr lang="en-IN"/>
                            <a:t>on the right</a:t>
                          </a:r>
                        </a:p>
                      </a:txBody>
                      <a:tcPr anchor="ctr"/>
                    </a:tc>
                    <a:tc>
                      <a:txBody>
                        <a:bodyPr/>
                        <a:lstStyle/>
                        <a:p>
                          <a:pPr>
                            <a:buNone/>
                          </a:pPr>
                          <a:r>
                            <a:rPr lang="en-IN" b="1"/>
                            <a:t>Previous/old Estimated RTT</a:t>
                          </a:r>
                          <a:endParaRPr lang="en-IN"/>
                        </a:p>
                      </a:txBody>
                      <a:tcPr anchor="ctr"/>
                    </a:tc>
                    <a:extLst>
                      <a:ext uri="{0D108BD9-81ED-4DB2-BD59-A6C34878D82A}">
                        <a16:rowId xmlns:a16="http://schemas.microsoft.com/office/drawing/2014/main" val="45449527"/>
                      </a:ext>
                    </a:extLst>
                  </a:tr>
                  <a:tr h="370840">
                    <a:tc>
                      <a:txBody>
                        <a:bodyPr/>
                        <a:lstStyle/>
                        <a:p>
                          <a:pPr>
                            <a:buNone/>
                          </a:pPr>
                          <a14:m>
                            <m:oMathPara xmlns:m="http://schemas.openxmlformats.org/officeDocument/2006/math">
                              <m:o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𝑠𝑎𝑚𝑝𝑙𝑒</m:t>
                                    </m:r>
                                  </m:sub>
                                </m:sSub>
                              </m:oMath>
                            </m:oMathPara>
                          </a14:m>
                          <a:endParaRPr lang="en-IN"/>
                        </a:p>
                      </a:txBody>
                      <a:tcPr anchor="ctr"/>
                    </a:tc>
                    <a:tc>
                      <a:txBody>
                        <a:bodyPr/>
                        <a:lstStyle/>
                        <a:p>
                          <a:pPr>
                            <a:buNone/>
                          </a:pPr>
                          <a:r>
                            <a:rPr lang="en-IN"/>
                            <a:t>Latest RTT that TCP just measured</a:t>
                          </a:r>
                        </a:p>
                      </a:txBody>
                      <a:tcPr anchor="ctr"/>
                    </a:tc>
                    <a:extLst>
                      <a:ext uri="{0D108BD9-81ED-4DB2-BD59-A6C34878D82A}">
                        <a16:rowId xmlns:a16="http://schemas.microsoft.com/office/drawing/2014/main" val="2908110104"/>
                      </a:ext>
                    </a:extLst>
                  </a:tr>
                  <a:tr h="370840">
                    <a:tc>
                      <a:txBody>
                        <a:bodyPr/>
                        <a:lstStyle/>
                        <a:p>
                          <a:pPr>
                            <a:buNone/>
                          </a:pPr>
                          <a14:m>
                            <m:oMath xmlns:m="http://schemas.openxmlformats.org/officeDocument/2006/math">
                              <m:r>
                                <a:rPr lang="en-IN" i="1">
                                  <a:latin typeface="Cambria Math" panose="02040503050406030204" pitchFamily="18" charset="0"/>
                                </a:rPr>
                                <m:t>𝛼</m:t>
                              </m:r>
                            </m:oMath>
                          </a14:m>
                          <a:r>
                            <a:rPr lang="en-IN"/>
                            <a:t>(alpha)</a:t>
                          </a:r>
                        </a:p>
                      </a:txBody>
                      <a:tcPr anchor="ctr"/>
                    </a:tc>
                    <a:tc>
                      <a:txBody>
                        <a:bodyPr/>
                        <a:lstStyle/>
                        <a:p>
                          <a:pPr>
                            <a:buNone/>
                          </a:pPr>
                          <a:r>
                            <a:rPr lang="en-IN"/>
                            <a:t>Decides how much importance is given to the new RTT sample</a:t>
                          </a:r>
                        </a:p>
                      </a:txBody>
                      <a:tcPr anchor="ctr"/>
                    </a:tc>
                    <a:extLst>
                      <a:ext uri="{0D108BD9-81ED-4DB2-BD59-A6C34878D82A}">
                        <a16:rowId xmlns:a16="http://schemas.microsoft.com/office/drawing/2014/main" val="1344207882"/>
                      </a:ext>
                    </a:extLst>
                  </a:tr>
                  <a:tr h="370840">
                    <a:tc>
                      <a:txBody>
                        <a:bodyPr/>
                        <a:lstStyle/>
                        <a:p>
                          <a:pPr>
                            <a:buNone/>
                          </a:pPr>
                          <a14:m>
                            <m:oMathPara xmlns:m="http://schemas.openxmlformats.org/officeDocument/2006/math">
                              <m:oMath>
                                <m:r>
                                  <a:rPr lang="en-IN">
                                    <a:latin typeface="Cambria Math" panose="02040503050406030204" pitchFamily="18" charset="0"/>
                                  </a:rPr>
                                  <m:t>1</m:t>
                                </m:r>
                                <m:r>
                                  <a:rPr lang="en-IN" i="0">
                                    <a:latin typeface="Cambria Math" panose="02040503050406030204" pitchFamily="18" charset="0"/>
                                  </a:rPr>
                                  <m:t>−</m:t>
                                </m:r>
                                <m:r>
                                  <a:rPr lang="en-IN" i="1">
                                    <a:latin typeface="Cambria Math" panose="02040503050406030204" pitchFamily="18" charset="0"/>
                                  </a:rPr>
                                  <m:t>𝛼</m:t>
                                </m:r>
                              </m:oMath>
                            </m:oMathPara>
                          </a14:m>
                          <a:endParaRPr lang="en-IN"/>
                        </a:p>
                      </a:txBody>
                      <a:tcPr anchor="ctr"/>
                    </a:tc>
                    <a:tc>
                      <a:txBody>
                        <a:bodyPr/>
                        <a:lstStyle/>
                        <a:p>
                          <a:pPr>
                            <a:buNone/>
                          </a:pPr>
                          <a:r>
                            <a:rPr lang="en-IN" dirty="0"/>
                            <a:t>Decides how much importance is given to the old Estimated RTT</a:t>
                          </a:r>
                        </a:p>
                      </a:txBody>
                      <a:tcPr anchor="ctr"/>
                    </a:tc>
                    <a:extLst>
                      <a:ext uri="{0D108BD9-81ED-4DB2-BD59-A6C34878D82A}">
                        <a16:rowId xmlns:a16="http://schemas.microsoft.com/office/drawing/2014/main" val="379181914"/>
                      </a:ext>
                    </a:extLst>
                  </a:tr>
                </a:tbl>
              </a:graphicData>
            </a:graphic>
          </p:graphicFrame>
        </mc:Choice>
        <mc:Fallback xmlns="">
          <p:graphicFrame>
            <p:nvGraphicFramePr>
              <p:cNvPr id="8" name="Table 7">
                <a:extLst>
                  <a:ext uri="{FF2B5EF4-FFF2-40B4-BE49-F238E27FC236}">
                    <a16:creationId xmlns:a16="http://schemas.microsoft.com/office/drawing/2014/main" id="{434C04F6-ECF6-42AD-F1F4-826B3994F26D}"/>
                  </a:ext>
                </a:extLst>
              </p:cNvPr>
              <p:cNvGraphicFramePr>
                <a:graphicFrameLocks noGrp="1"/>
              </p:cNvGraphicFramePr>
              <p:nvPr>
                <p:extLst>
                  <p:ext uri="{D42A27DB-BD31-4B8C-83A1-F6EECF244321}">
                    <p14:modId xmlns:p14="http://schemas.microsoft.com/office/powerpoint/2010/main" val="3439086967"/>
                  </p:ext>
                </p:extLst>
              </p:nvPr>
            </p:nvGraphicFramePr>
            <p:xfrm>
              <a:off x="192506" y="3474124"/>
              <a:ext cx="8128000" cy="3048889"/>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345233089"/>
                        </a:ext>
                      </a:extLst>
                    </a:gridCol>
                    <a:gridCol w="4064000">
                      <a:extLst>
                        <a:ext uri="{9D8B030D-6E8A-4147-A177-3AD203B41FA5}">
                          <a16:colId xmlns:a16="http://schemas.microsoft.com/office/drawing/2014/main" val="3147463028"/>
                        </a:ext>
                      </a:extLst>
                    </a:gridCol>
                  </a:tblGrid>
                  <a:tr h="370840">
                    <a:tc>
                      <a:txBody>
                        <a:bodyPr/>
                        <a:lstStyle/>
                        <a:p>
                          <a:pPr>
                            <a:buNone/>
                          </a:pPr>
                          <a:r>
                            <a:rPr lang="en-IN" dirty="0"/>
                            <a:t>Term</a:t>
                          </a:r>
                        </a:p>
                      </a:txBody>
                      <a:tcPr anchor="ctr"/>
                    </a:tc>
                    <a:tc>
                      <a:txBody>
                        <a:bodyPr/>
                        <a:lstStyle/>
                        <a:p>
                          <a:pPr>
                            <a:buNone/>
                          </a:pPr>
                          <a:r>
                            <a:rPr lang="en-IN"/>
                            <a:t>Meaning</a:t>
                          </a:r>
                        </a:p>
                      </a:txBody>
                      <a:tcPr anchor="ctr"/>
                    </a:tc>
                    <a:extLst>
                      <a:ext uri="{0D108BD9-81ED-4DB2-BD59-A6C34878D82A}">
                        <a16:rowId xmlns:a16="http://schemas.microsoft.com/office/drawing/2014/main" val="3031785793"/>
                      </a:ext>
                    </a:extLst>
                  </a:tr>
                  <a:tr h="640080">
                    <a:tc>
                      <a:txBody>
                        <a:bodyPr/>
                        <a:lstStyle/>
                        <a:p>
                          <a:endParaRPr lang="en-US"/>
                        </a:p>
                      </a:txBody>
                      <a:tcPr anchor="ctr">
                        <a:blipFill>
                          <a:blip r:embed="rId3"/>
                          <a:stretch>
                            <a:fillRect l="-150" t="-61905" r="-100750" b="-334286"/>
                          </a:stretch>
                        </a:blipFill>
                      </a:tcPr>
                    </a:tc>
                    <a:tc>
                      <a:txBody>
                        <a:bodyPr/>
                        <a:lstStyle/>
                        <a:p>
                          <a:pPr>
                            <a:buNone/>
                          </a:pPr>
                          <a:r>
                            <a:rPr lang="en-IN" b="1"/>
                            <a:t>New Estimated RTT</a:t>
                          </a:r>
                          <a:r>
                            <a:rPr lang="en-IN"/>
                            <a:t> that we are calculating</a:t>
                          </a:r>
                        </a:p>
                      </a:txBody>
                      <a:tcPr anchor="ctr"/>
                    </a:tc>
                    <a:extLst>
                      <a:ext uri="{0D108BD9-81ED-4DB2-BD59-A6C34878D82A}">
                        <a16:rowId xmlns:a16="http://schemas.microsoft.com/office/drawing/2014/main" val="687603945"/>
                      </a:ext>
                    </a:extLst>
                  </a:tr>
                  <a:tr h="370840">
                    <a:tc>
                      <a:txBody>
                        <a:bodyPr/>
                        <a:lstStyle/>
                        <a:p>
                          <a:endParaRPr lang="en-US"/>
                        </a:p>
                      </a:txBody>
                      <a:tcPr anchor="ctr">
                        <a:blipFill>
                          <a:blip r:embed="rId3"/>
                          <a:stretch>
                            <a:fillRect l="-150" t="-274194" r="-100750" b="-466129"/>
                          </a:stretch>
                        </a:blipFill>
                      </a:tcPr>
                    </a:tc>
                    <a:tc>
                      <a:txBody>
                        <a:bodyPr/>
                        <a:lstStyle/>
                        <a:p>
                          <a:pPr>
                            <a:buNone/>
                          </a:pPr>
                          <a:r>
                            <a:rPr lang="en-IN" b="1"/>
                            <a:t>Previous/old Estimated RTT</a:t>
                          </a:r>
                          <a:endParaRPr lang="en-IN"/>
                        </a:p>
                      </a:txBody>
                      <a:tcPr anchor="ctr"/>
                    </a:tc>
                    <a:extLst>
                      <a:ext uri="{0D108BD9-81ED-4DB2-BD59-A6C34878D82A}">
                        <a16:rowId xmlns:a16="http://schemas.microsoft.com/office/drawing/2014/main" val="45449527"/>
                      </a:ext>
                    </a:extLst>
                  </a:tr>
                  <a:tr h="386969">
                    <a:tc>
                      <a:txBody>
                        <a:bodyPr/>
                        <a:lstStyle/>
                        <a:p>
                          <a:endParaRPr lang="en-US"/>
                        </a:p>
                      </a:txBody>
                      <a:tcPr anchor="ctr">
                        <a:blipFill>
                          <a:blip r:embed="rId3"/>
                          <a:stretch>
                            <a:fillRect l="-150" t="-368254" r="-100750" b="-358730"/>
                          </a:stretch>
                        </a:blipFill>
                      </a:tcPr>
                    </a:tc>
                    <a:tc>
                      <a:txBody>
                        <a:bodyPr/>
                        <a:lstStyle/>
                        <a:p>
                          <a:pPr>
                            <a:buNone/>
                          </a:pPr>
                          <a:r>
                            <a:rPr lang="en-IN"/>
                            <a:t>Latest RTT that TCP just measured</a:t>
                          </a:r>
                        </a:p>
                      </a:txBody>
                      <a:tcPr anchor="ctr"/>
                    </a:tc>
                    <a:extLst>
                      <a:ext uri="{0D108BD9-81ED-4DB2-BD59-A6C34878D82A}">
                        <a16:rowId xmlns:a16="http://schemas.microsoft.com/office/drawing/2014/main" val="2908110104"/>
                      </a:ext>
                    </a:extLst>
                  </a:tr>
                  <a:tr h="640080">
                    <a:tc>
                      <a:txBody>
                        <a:bodyPr/>
                        <a:lstStyle/>
                        <a:p>
                          <a:endParaRPr lang="en-US"/>
                        </a:p>
                      </a:txBody>
                      <a:tcPr anchor="ctr">
                        <a:blipFill>
                          <a:blip r:embed="rId3"/>
                          <a:stretch>
                            <a:fillRect l="-150" t="-278302" r="-100750" b="-113208"/>
                          </a:stretch>
                        </a:blipFill>
                      </a:tcPr>
                    </a:tc>
                    <a:tc>
                      <a:txBody>
                        <a:bodyPr/>
                        <a:lstStyle/>
                        <a:p>
                          <a:pPr>
                            <a:buNone/>
                          </a:pPr>
                          <a:r>
                            <a:rPr lang="en-IN"/>
                            <a:t>Decides how much importance is given to the new RTT sample</a:t>
                          </a:r>
                        </a:p>
                      </a:txBody>
                      <a:tcPr anchor="ctr"/>
                    </a:tc>
                    <a:extLst>
                      <a:ext uri="{0D108BD9-81ED-4DB2-BD59-A6C34878D82A}">
                        <a16:rowId xmlns:a16="http://schemas.microsoft.com/office/drawing/2014/main" val="1344207882"/>
                      </a:ext>
                    </a:extLst>
                  </a:tr>
                  <a:tr h="640080">
                    <a:tc>
                      <a:txBody>
                        <a:bodyPr/>
                        <a:lstStyle/>
                        <a:p>
                          <a:endParaRPr lang="en-US"/>
                        </a:p>
                      </a:txBody>
                      <a:tcPr anchor="ctr">
                        <a:blipFill>
                          <a:blip r:embed="rId3"/>
                          <a:stretch>
                            <a:fillRect l="-150" t="-381905" r="-100750" b="-14286"/>
                          </a:stretch>
                        </a:blipFill>
                      </a:tcPr>
                    </a:tc>
                    <a:tc>
                      <a:txBody>
                        <a:bodyPr/>
                        <a:lstStyle/>
                        <a:p>
                          <a:pPr>
                            <a:buNone/>
                          </a:pPr>
                          <a:r>
                            <a:rPr lang="en-IN" dirty="0"/>
                            <a:t>Decides how much importance is given to the old Estimated RTT</a:t>
                          </a:r>
                        </a:p>
                      </a:txBody>
                      <a:tcPr anchor="ctr"/>
                    </a:tc>
                    <a:extLst>
                      <a:ext uri="{0D108BD9-81ED-4DB2-BD59-A6C34878D82A}">
                        <a16:rowId xmlns:a16="http://schemas.microsoft.com/office/drawing/2014/main" val="379181914"/>
                      </a:ext>
                    </a:extLst>
                  </a:tr>
                </a:tbl>
              </a:graphicData>
            </a:graphic>
          </p:graphicFrame>
        </mc:Fallback>
      </mc:AlternateContent>
      <p:sp>
        <p:nvSpPr>
          <p:cNvPr id="9" name="TextBox 8">
            <a:extLst>
              <a:ext uri="{FF2B5EF4-FFF2-40B4-BE49-F238E27FC236}">
                <a16:creationId xmlns:a16="http://schemas.microsoft.com/office/drawing/2014/main" id="{23064445-5861-C56F-C5E6-AF6D61994FDB}"/>
              </a:ext>
            </a:extLst>
          </p:cNvPr>
          <p:cNvSpPr txBox="1"/>
          <p:nvPr/>
        </p:nvSpPr>
        <p:spPr>
          <a:xfrm>
            <a:off x="2991308" y="1859432"/>
            <a:ext cx="461986" cy="369332"/>
          </a:xfrm>
          <a:prstGeom prst="rect">
            <a:avLst/>
          </a:prstGeom>
          <a:noFill/>
        </p:spPr>
        <p:txBody>
          <a:bodyPr wrap="none" rtlCol="0">
            <a:spAutoFit/>
          </a:bodyPr>
          <a:lstStyle/>
          <a:p>
            <a:r>
              <a:rPr lang="en-US" dirty="0"/>
              <a:t>OR</a:t>
            </a:r>
            <a:endParaRPr lang="en-IN" dirty="0"/>
          </a:p>
        </p:txBody>
      </p:sp>
      <p:pic>
        <p:nvPicPr>
          <p:cNvPr id="13" name="Picture 12">
            <a:extLst>
              <a:ext uri="{FF2B5EF4-FFF2-40B4-BE49-F238E27FC236}">
                <a16:creationId xmlns:a16="http://schemas.microsoft.com/office/drawing/2014/main" id="{5B2D4C12-3536-9A04-4826-22F1C714D214}"/>
              </a:ext>
            </a:extLst>
          </p:cNvPr>
          <p:cNvPicPr>
            <a:picLocks noChangeAspect="1"/>
          </p:cNvPicPr>
          <p:nvPr/>
        </p:nvPicPr>
        <p:blipFill>
          <a:blip r:embed="rId4"/>
          <a:stretch>
            <a:fillRect/>
          </a:stretch>
        </p:blipFill>
        <p:spPr>
          <a:xfrm>
            <a:off x="0" y="2216088"/>
            <a:ext cx="8335538" cy="962159"/>
          </a:xfrm>
          <a:prstGeom prst="rect">
            <a:avLst/>
          </a:prstGeom>
        </p:spPr>
      </p:pic>
    </p:spTree>
    <p:extLst>
      <p:ext uri="{BB962C8B-B14F-4D97-AF65-F5344CB8AC3E}">
        <p14:creationId xmlns:p14="http://schemas.microsoft.com/office/powerpoint/2010/main" val="37345593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14A50-B1D2-35BA-3173-0244DD65FF9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CC6411-D0FC-CB9E-8440-BE4990E2803F}"/>
              </a:ext>
            </a:extLst>
          </p:cNvPr>
          <p:cNvSpPr txBox="1"/>
          <p:nvPr/>
        </p:nvSpPr>
        <p:spPr>
          <a:xfrm>
            <a:off x="208547" y="602993"/>
            <a:ext cx="11774906" cy="646331"/>
          </a:xfrm>
          <a:prstGeom prst="rect">
            <a:avLst/>
          </a:prstGeom>
          <a:noFill/>
        </p:spPr>
        <p:txBody>
          <a:bodyPr wrap="square">
            <a:spAutoFit/>
          </a:bodyPr>
          <a:lstStyle/>
          <a:p>
            <a:pPr>
              <a:buNone/>
            </a:pPr>
            <a:r>
              <a:rPr lang="en-IN" b="1" dirty="0">
                <a:highlight>
                  <a:srgbClr val="FFFF00"/>
                </a:highlight>
              </a:rPr>
              <a:t>What exactly is α (Alpha)?</a:t>
            </a:r>
          </a:p>
          <a:p>
            <a:pPr>
              <a:buNone/>
            </a:pPr>
            <a:r>
              <a:rPr lang="en-IN" b="1" dirty="0"/>
              <a:t>α is a value between 0 and 1 that decides how much importance we give to the latest RTT measurement.</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14D3F90-2462-14F9-B292-317117E9899F}"/>
                  </a:ext>
                </a:extLst>
              </p:cNvPr>
              <p:cNvSpPr txBox="1"/>
              <p:nvPr/>
            </p:nvSpPr>
            <p:spPr>
              <a:xfrm>
                <a:off x="320842" y="1427269"/>
                <a:ext cx="7796463" cy="4568879"/>
              </a:xfrm>
              <a:prstGeom prst="rect">
                <a:avLst/>
              </a:prstGeom>
              <a:noFill/>
            </p:spPr>
            <p:txBody>
              <a:bodyPr wrap="square">
                <a:spAutoFit/>
              </a:bodyPr>
              <a:lstStyle/>
              <a:p>
                <a:pPr>
                  <a:buNone/>
                </a:pPr>
                <a:r>
                  <a:rPr lang="en-IN" dirty="0"/>
                  <a:t>α typically ranges from </a:t>
                </a:r>
                <a:r>
                  <a:rPr lang="en-IN" b="1" dirty="0"/>
                  <a:t>0.125 to 0.25</a:t>
                </a:r>
                <a:r>
                  <a:rPr lang="en-IN" dirty="0"/>
                  <a:t>. </a:t>
                </a:r>
              </a:p>
              <a:p>
                <a:pPr>
                  <a:buNone/>
                </a:pPr>
                <a:r>
                  <a:rPr lang="en-IN" dirty="0"/>
                  <a:t>Suppose:</a:t>
                </a:r>
              </a:p>
              <a:p>
                <a:pPr>
                  <a:buNone/>
                </a:pPr>
                <a14:m>
                  <m:oMathPara xmlns:m="http://schemas.openxmlformats.org/officeDocument/2006/math">
                    <m:oMath>
                      <m:r>
                        <a:rPr lang="en-IN" i="1">
                          <a:latin typeface="Cambria Math" panose="02040503050406030204" pitchFamily="18" charset="0"/>
                        </a:rPr>
                        <m:t>𝛼</m:t>
                      </m:r>
                      <m:r>
                        <a:rPr lang="en-IN" i="0">
                          <a:latin typeface="Cambria Math" panose="02040503050406030204" pitchFamily="18" charset="0"/>
                        </a:rPr>
                        <m:t>=0.125</m:t>
                      </m:r>
                    </m:oMath>
                  </m:oMathPara>
                </a14:m>
                <a:endParaRPr lang="en-IN" dirty="0"/>
              </a:p>
              <a:p>
                <a:pPr>
                  <a:buNone/>
                </a:pPr>
                <a:r>
                  <a:rPr lang="en-IN" dirty="0"/>
                  <a:t>Then:</a:t>
                </a:r>
              </a:p>
              <a:p>
                <a:pPr>
                  <a:buNone/>
                </a:pPr>
                <a14:m>
                  <m:oMathPara xmlns:m="http://schemas.openxmlformats.org/officeDocument/2006/math">
                    <m:oMath>
                      <m:r>
                        <a:rPr lang="en-IN">
                          <a:latin typeface="Cambria Math" panose="02040503050406030204" pitchFamily="18" charset="0"/>
                        </a:rPr>
                        <m:t>1</m:t>
                      </m:r>
                      <m:r>
                        <a:rPr lang="en-IN" i="0">
                          <a:latin typeface="Cambria Math" panose="02040503050406030204" pitchFamily="18" charset="0"/>
                        </a:rPr>
                        <m:t>−</m:t>
                      </m:r>
                      <m:r>
                        <a:rPr lang="en-IN" i="1">
                          <a:latin typeface="Cambria Math" panose="02040503050406030204" pitchFamily="18" charset="0"/>
                        </a:rPr>
                        <m:t>𝛼</m:t>
                      </m:r>
                      <m:r>
                        <a:rPr lang="en-IN" i="0">
                          <a:latin typeface="Cambria Math" panose="02040503050406030204" pitchFamily="18" charset="0"/>
                        </a:rPr>
                        <m:t>=1−0.125=0.875</m:t>
                      </m:r>
                    </m:oMath>
                  </m:oMathPara>
                </a14:m>
                <a:endParaRPr lang="en-IN" dirty="0"/>
              </a:p>
              <a:p>
                <a:pPr>
                  <a:buNone/>
                </a:pPr>
                <a:r>
                  <a:rPr lang="en-IN" dirty="0"/>
                  <a:t>So the formula becomes:</a:t>
                </a:r>
              </a:p>
              <a:p>
                <a:pPr>
                  <a:buNone/>
                </a:pPr>
                <a14:m>
                  <m:oMathPara xmlns:m="http://schemas.openxmlformats.org/officeDocument/2006/math">
                    <m:oMath>
                      <m:r>
                        <a:rPr lang="en-IN" i="1">
                          <a:latin typeface="Cambria Math" panose="02040503050406030204" pitchFamily="18" charset="0"/>
                        </a:rPr>
                        <m:t>𝑁𝑒𝑤</m:t>
                      </m:r>
                      <m:r>
                        <m:rPr>
                          <m:nor/>
                        </m:rPr>
                        <a:rPr lang="en-IN" b="0" i="0">
                          <a:latin typeface="+mn-lt"/>
                        </a:rPr>
                        <m:t> </m:t>
                      </m:r>
                      <m:r>
                        <a:rPr lang="en-IN" b="0" i="1">
                          <a:latin typeface="Cambria Math" panose="02040503050406030204" pitchFamily="18" charset="0"/>
                        </a:rPr>
                        <m:t>𝑅𝑇</m:t>
                      </m:r>
                      <m:sSub>
                        <m:sSubPr>
                          <m:ctrlPr>
                            <a:rPr lang="en-IN" b="0" i="1">
                              <a:latin typeface="Cambria Math" panose="02040503050406030204" pitchFamily="18" charset="0"/>
                            </a:rPr>
                          </m:ctrlPr>
                        </m:sSubPr>
                        <m:e>
                          <m:r>
                            <a:rPr lang="en-IN" b="0" i="1">
                              <a:latin typeface="Cambria Math" panose="02040503050406030204" pitchFamily="18" charset="0"/>
                            </a:rPr>
                            <m:t>𝑇</m:t>
                          </m:r>
                        </m:e>
                        <m:sub>
                          <m:r>
                            <a:rPr lang="en-IN" b="0" i="1">
                              <a:latin typeface="Cambria Math" panose="02040503050406030204" pitchFamily="18" charset="0"/>
                            </a:rPr>
                            <m:t>𝑒𝑠𝑡</m:t>
                          </m:r>
                        </m:sub>
                      </m:sSub>
                      <m:r>
                        <a:rPr lang="en-IN" b="0" i="0">
                          <a:latin typeface="Cambria Math" panose="02040503050406030204" pitchFamily="18" charset="0"/>
                        </a:rPr>
                        <m:t>=0.875</m:t>
                      </m:r>
                      <m:d>
                        <m:dPr>
                          <m:ctrlPr>
                            <a:rPr lang="en-IN" b="0" i="1">
                              <a:latin typeface="Cambria Math" panose="02040503050406030204" pitchFamily="18" charset="0"/>
                            </a:rPr>
                          </m:ctrlPr>
                        </m:dPr>
                        <m:e>
                          <m:r>
                            <a:rPr lang="en-IN" b="0" i="1">
                              <a:latin typeface="Cambria Math" panose="02040503050406030204" pitchFamily="18" charset="0"/>
                            </a:rPr>
                            <m:t>𝑂𝑙𝑑</m:t>
                          </m:r>
                          <m:r>
                            <m:rPr>
                              <m:nor/>
                            </m:rPr>
                            <a:rPr lang="en-IN" b="0" i="0">
                              <a:latin typeface="+mn-lt"/>
                            </a:rPr>
                            <m:t> </m:t>
                          </m:r>
                          <m:r>
                            <a:rPr lang="en-IN" b="0" i="1">
                              <a:latin typeface="Cambria Math" panose="02040503050406030204" pitchFamily="18" charset="0"/>
                            </a:rPr>
                            <m:t>𝑅𝑇</m:t>
                          </m:r>
                          <m:sSub>
                            <m:sSubPr>
                              <m:ctrlPr>
                                <a:rPr lang="en-IN" b="0" i="1">
                                  <a:latin typeface="Cambria Math" panose="02040503050406030204" pitchFamily="18" charset="0"/>
                                </a:rPr>
                              </m:ctrlPr>
                            </m:sSubPr>
                            <m:e>
                              <m:r>
                                <a:rPr lang="en-IN" b="0" i="1">
                                  <a:latin typeface="Cambria Math" panose="02040503050406030204" pitchFamily="18" charset="0"/>
                                </a:rPr>
                                <m:t>𝑇</m:t>
                              </m:r>
                            </m:e>
                            <m:sub>
                              <m:r>
                                <a:rPr lang="en-IN" b="0" i="1">
                                  <a:latin typeface="Cambria Math" panose="02040503050406030204" pitchFamily="18" charset="0"/>
                                </a:rPr>
                                <m:t>𝑒𝑠𝑡</m:t>
                              </m:r>
                            </m:sub>
                          </m:sSub>
                        </m:e>
                      </m:d>
                      <m:r>
                        <a:rPr lang="en-IN" b="0" i="0">
                          <a:latin typeface="Cambria Math" panose="02040503050406030204" pitchFamily="18" charset="0"/>
                        </a:rPr>
                        <m:t>+0.125</m:t>
                      </m:r>
                      <m:d>
                        <m:dPr>
                          <m:ctrlPr>
                            <a:rPr lang="en-IN" b="0" i="1">
                              <a:latin typeface="Cambria Math" panose="02040503050406030204" pitchFamily="18" charset="0"/>
                            </a:rPr>
                          </m:ctrlPr>
                        </m:dPr>
                        <m:e>
                          <m:r>
                            <a:rPr lang="en-IN" b="0" i="1">
                              <a:latin typeface="Cambria Math" panose="02040503050406030204" pitchFamily="18" charset="0"/>
                            </a:rPr>
                            <m:t>𝑅𝑇</m:t>
                          </m:r>
                          <m:sSub>
                            <m:sSubPr>
                              <m:ctrlPr>
                                <a:rPr lang="en-IN" b="0" i="1">
                                  <a:latin typeface="Cambria Math" panose="02040503050406030204" pitchFamily="18" charset="0"/>
                                </a:rPr>
                              </m:ctrlPr>
                            </m:sSubPr>
                            <m:e>
                              <m:r>
                                <a:rPr lang="en-IN" b="0" i="1">
                                  <a:latin typeface="Cambria Math" panose="02040503050406030204" pitchFamily="18" charset="0"/>
                                </a:rPr>
                                <m:t>𝑇</m:t>
                              </m:r>
                            </m:e>
                            <m:sub>
                              <m:r>
                                <a:rPr lang="en-IN" b="0" i="1">
                                  <a:latin typeface="Cambria Math" panose="02040503050406030204" pitchFamily="18" charset="0"/>
                                </a:rPr>
                                <m:t>𝑠𝑎𝑚𝑝𝑙𝑒</m:t>
                              </m:r>
                            </m:sub>
                          </m:sSub>
                        </m:e>
                      </m:d>
                    </m:oMath>
                  </m:oMathPara>
                </a14:m>
                <a:endParaRPr lang="en-IN" b="0" dirty="0"/>
              </a:p>
              <a:p>
                <a:pPr>
                  <a:buNone/>
                </a:pPr>
                <a:r>
                  <a:rPr lang="en-IN" dirty="0"/>
                  <a:t>Convert these into percentages:</a:t>
                </a:r>
              </a:p>
              <a:p>
                <a:pPr rtl="0">
                  <a:buNone/>
                </a:pPr>
                <a:r>
                  <a:rPr lang="en-IN" dirty="0">
                    <a:latin typeface="+mn-lt"/>
                  </a:rPr>
                  <a:t>0.875 = 87.5%</a:t>
                </a:r>
              </a:p>
              <a:p>
                <a:pPr rtl="0">
                  <a:buNone/>
                </a:pPr>
                <a:endParaRPr lang="en-IN" dirty="0">
                  <a:latin typeface="+mn-lt"/>
                </a:endParaRPr>
              </a:p>
              <a:p>
                <a:pPr rtl="0">
                  <a:buNone/>
                </a:pPr>
                <a:r>
                  <a:rPr lang="en-IN" dirty="0">
                    <a:latin typeface="+mn-lt"/>
                  </a:rPr>
                  <a:t>0.125 = 12.5%</a:t>
                </a:r>
              </a:p>
              <a:p>
                <a:pPr>
                  <a:buNone/>
                </a:pPr>
                <a:endParaRPr lang="en-IN" dirty="0"/>
              </a:p>
              <a:p>
                <a:pPr>
                  <a:buNone/>
                </a:pPr>
                <a:r>
                  <a:rPr lang="en-IN" dirty="0"/>
                  <a:t>Therefore TCP is basically saying: </a:t>
                </a:r>
              </a:p>
              <a:p>
                <a:pPr>
                  <a:buNone/>
                </a:pPr>
                <a:endParaRPr lang="en-IN" b="1" dirty="0"/>
              </a:p>
              <a:p>
                <a:pPr>
                  <a:buNone/>
                </a:pPr>
                <a:r>
                  <a:rPr lang="en-IN" b="1" dirty="0"/>
                  <a:t>Give 87.5% importance to the previous estimate and 12.5% importance to the latest measurement.</a:t>
                </a:r>
                <a:endParaRPr lang="en-IN" dirty="0"/>
              </a:p>
            </p:txBody>
          </p:sp>
        </mc:Choice>
        <mc:Fallback xmlns="">
          <p:sp>
            <p:nvSpPr>
              <p:cNvPr id="6" name="TextBox 5">
                <a:extLst>
                  <a:ext uri="{FF2B5EF4-FFF2-40B4-BE49-F238E27FC236}">
                    <a16:creationId xmlns:a16="http://schemas.microsoft.com/office/drawing/2014/main" id="{114D3F90-2462-14F9-B292-317117E9899F}"/>
                  </a:ext>
                </a:extLst>
              </p:cNvPr>
              <p:cNvSpPr txBox="1">
                <a:spLocks noRot="1" noChangeAspect="1" noMove="1" noResize="1" noEditPoints="1" noAdjustHandles="1" noChangeArrowheads="1" noChangeShapeType="1" noTextEdit="1"/>
              </p:cNvSpPr>
              <p:nvPr/>
            </p:nvSpPr>
            <p:spPr>
              <a:xfrm>
                <a:off x="320842" y="1427269"/>
                <a:ext cx="7796463" cy="4568879"/>
              </a:xfrm>
              <a:prstGeom prst="rect">
                <a:avLst/>
              </a:prstGeom>
              <a:blipFill>
                <a:blip r:embed="rId2"/>
                <a:stretch>
                  <a:fillRect l="-704" t="-667" b="-1067"/>
                </a:stretch>
              </a:blipFill>
            </p:spPr>
            <p:txBody>
              <a:bodyPr/>
              <a:lstStyle/>
              <a:p>
                <a:r>
                  <a:rPr lang="en-IN">
                    <a:noFill/>
                  </a:rPr>
                  <a:t> </a:t>
                </a:r>
              </a:p>
            </p:txBody>
          </p:sp>
        </mc:Fallback>
      </mc:AlternateContent>
    </p:spTree>
    <p:extLst>
      <p:ext uri="{BB962C8B-B14F-4D97-AF65-F5344CB8AC3E}">
        <p14:creationId xmlns:p14="http://schemas.microsoft.com/office/powerpoint/2010/main" val="13197666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E7641-D341-A5D5-21B3-F16425D021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A94671-8ED4-3EE9-F9A6-F2AE2C71A2AE}"/>
              </a:ext>
            </a:extLst>
          </p:cNvPr>
          <p:cNvSpPr txBox="1"/>
          <p:nvPr/>
        </p:nvSpPr>
        <p:spPr>
          <a:xfrm>
            <a:off x="320842" y="561474"/>
            <a:ext cx="1059521" cy="369332"/>
          </a:xfrm>
          <a:prstGeom prst="rect">
            <a:avLst/>
          </a:prstGeom>
          <a:noFill/>
        </p:spPr>
        <p:txBody>
          <a:bodyPr wrap="none" rtlCol="0">
            <a:spAutoFit/>
          </a:bodyPr>
          <a:lstStyle/>
          <a:p>
            <a:r>
              <a:rPr lang="en-US" b="1" dirty="0"/>
              <a:t>Example:</a:t>
            </a:r>
            <a:endParaRPr lang="en-IN" b="1" dirty="0"/>
          </a:p>
        </p:txBody>
      </p:sp>
      <p:pic>
        <p:nvPicPr>
          <p:cNvPr id="5" name="Picture 4">
            <a:extLst>
              <a:ext uri="{FF2B5EF4-FFF2-40B4-BE49-F238E27FC236}">
                <a16:creationId xmlns:a16="http://schemas.microsoft.com/office/drawing/2014/main" id="{BB5279CA-03AE-AA9B-E99A-5FB77140381A}"/>
              </a:ext>
            </a:extLst>
          </p:cNvPr>
          <p:cNvPicPr>
            <a:picLocks noChangeAspect="1"/>
          </p:cNvPicPr>
          <p:nvPr/>
        </p:nvPicPr>
        <p:blipFill>
          <a:blip r:embed="rId2"/>
          <a:stretch>
            <a:fillRect/>
          </a:stretch>
        </p:blipFill>
        <p:spPr>
          <a:xfrm>
            <a:off x="320842" y="1157323"/>
            <a:ext cx="6160169" cy="3591139"/>
          </a:xfrm>
          <a:prstGeom prst="rect">
            <a:avLst/>
          </a:prstGeom>
        </p:spPr>
      </p:pic>
      <p:pic>
        <p:nvPicPr>
          <p:cNvPr id="8" name="Picture 7">
            <a:extLst>
              <a:ext uri="{FF2B5EF4-FFF2-40B4-BE49-F238E27FC236}">
                <a16:creationId xmlns:a16="http://schemas.microsoft.com/office/drawing/2014/main" id="{58600D78-73D1-6709-F01D-9F53A44C8EF7}"/>
              </a:ext>
            </a:extLst>
          </p:cNvPr>
          <p:cNvPicPr>
            <a:picLocks noChangeAspect="1"/>
          </p:cNvPicPr>
          <p:nvPr/>
        </p:nvPicPr>
        <p:blipFill>
          <a:blip r:embed="rId3"/>
          <a:stretch>
            <a:fillRect/>
          </a:stretch>
        </p:blipFill>
        <p:spPr>
          <a:xfrm>
            <a:off x="320842" y="4677050"/>
            <a:ext cx="6160168" cy="2044592"/>
          </a:xfrm>
          <a:prstGeom prst="rect">
            <a:avLst/>
          </a:prstGeom>
        </p:spPr>
      </p:pic>
      <p:pic>
        <p:nvPicPr>
          <p:cNvPr id="10" name="Picture 9">
            <a:extLst>
              <a:ext uri="{FF2B5EF4-FFF2-40B4-BE49-F238E27FC236}">
                <a16:creationId xmlns:a16="http://schemas.microsoft.com/office/drawing/2014/main" id="{B9F068D2-8E69-BA1A-22D1-97D3A5B12826}"/>
              </a:ext>
            </a:extLst>
          </p:cNvPr>
          <p:cNvPicPr>
            <a:picLocks noChangeAspect="1"/>
          </p:cNvPicPr>
          <p:nvPr/>
        </p:nvPicPr>
        <p:blipFill>
          <a:blip r:embed="rId4"/>
          <a:stretch>
            <a:fillRect/>
          </a:stretch>
        </p:blipFill>
        <p:spPr>
          <a:xfrm>
            <a:off x="6349365" y="746140"/>
            <a:ext cx="5714298" cy="3930910"/>
          </a:xfrm>
          <a:prstGeom prst="rect">
            <a:avLst/>
          </a:prstGeom>
        </p:spPr>
      </p:pic>
    </p:spTree>
    <p:extLst>
      <p:ext uri="{BB962C8B-B14F-4D97-AF65-F5344CB8AC3E}">
        <p14:creationId xmlns:p14="http://schemas.microsoft.com/office/powerpoint/2010/main" val="28622468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79022-F10F-4362-1DE6-AA04DD0CBB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6659554-C578-96D1-6FF7-D31AC59974B2}"/>
              </a:ext>
            </a:extLst>
          </p:cNvPr>
          <p:cNvSpPr txBox="1"/>
          <p:nvPr/>
        </p:nvSpPr>
        <p:spPr>
          <a:xfrm>
            <a:off x="320842" y="561474"/>
            <a:ext cx="1378391" cy="369332"/>
          </a:xfrm>
          <a:prstGeom prst="rect">
            <a:avLst/>
          </a:prstGeom>
          <a:noFill/>
        </p:spPr>
        <p:txBody>
          <a:bodyPr wrap="none" rtlCol="0">
            <a:spAutoFit/>
          </a:bodyPr>
          <a:lstStyle/>
          <a:p>
            <a:r>
              <a:rPr lang="en-US" b="1" dirty="0">
                <a:highlight>
                  <a:srgbClr val="FFFF00"/>
                </a:highlight>
              </a:rPr>
              <a:t>Explanation:</a:t>
            </a:r>
            <a:endParaRPr lang="en-IN" b="1" dirty="0">
              <a:highlight>
                <a:srgbClr val="FFFF00"/>
              </a:highlight>
            </a:endParaRPr>
          </a:p>
        </p:txBody>
      </p:sp>
      <p:sp>
        <p:nvSpPr>
          <p:cNvPr id="4" name="TextBox 3">
            <a:extLst>
              <a:ext uri="{FF2B5EF4-FFF2-40B4-BE49-F238E27FC236}">
                <a16:creationId xmlns:a16="http://schemas.microsoft.com/office/drawing/2014/main" id="{767CF259-9763-8FE4-0C22-5580DCD16E97}"/>
              </a:ext>
            </a:extLst>
          </p:cNvPr>
          <p:cNvSpPr txBox="1"/>
          <p:nvPr/>
        </p:nvSpPr>
        <p:spPr>
          <a:xfrm>
            <a:off x="433137" y="1085853"/>
            <a:ext cx="9480884" cy="1754326"/>
          </a:xfrm>
          <a:prstGeom prst="rect">
            <a:avLst/>
          </a:prstGeom>
          <a:noFill/>
        </p:spPr>
        <p:txBody>
          <a:bodyPr wrap="square">
            <a:spAutoFit/>
          </a:bodyPr>
          <a:lstStyle/>
          <a:p>
            <a:pPr>
              <a:buNone/>
            </a:pPr>
            <a:r>
              <a:rPr lang="en-IN" dirty="0"/>
              <a:t>This is more important than just solving the formula.</a:t>
            </a:r>
          </a:p>
          <a:p>
            <a:pPr>
              <a:buNone/>
            </a:pPr>
            <a:r>
              <a:rPr lang="en-IN" dirty="0"/>
              <a:t>Previously TCP thought: </a:t>
            </a:r>
            <a:r>
              <a:rPr lang="en-IN" b="1" dirty="0">
                <a:latin typeface="+mn-lt"/>
              </a:rPr>
              <a:t>Expected RTT ≈ 100 </a:t>
            </a:r>
            <a:r>
              <a:rPr lang="en-IN" b="1" dirty="0" err="1">
                <a:latin typeface="+mn-lt"/>
              </a:rPr>
              <a:t>ms</a:t>
            </a:r>
            <a:endParaRPr lang="en-IN" b="1" dirty="0">
              <a:latin typeface="+mn-lt"/>
            </a:endParaRPr>
          </a:p>
          <a:p>
            <a:pPr>
              <a:buNone/>
            </a:pPr>
            <a:endParaRPr lang="en-IN" dirty="0"/>
          </a:p>
          <a:p>
            <a:pPr>
              <a:buNone/>
            </a:pPr>
            <a:r>
              <a:rPr lang="en-IN" dirty="0"/>
              <a:t>TCP then measured a new RTT: </a:t>
            </a:r>
            <a:r>
              <a:rPr lang="en-IN" b="1" dirty="0">
                <a:latin typeface="+mn-lt"/>
              </a:rPr>
              <a:t>Latest RTT = 120 </a:t>
            </a:r>
            <a:r>
              <a:rPr lang="en-IN" b="1" dirty="0" err="1">
                <a:latin typeface="+mn-lt"/>
              </a:rPr>
              <a:t>ms</a:t>
            </a:r>
            <a:endParaRPr lang="en-IN" b="1" dirty="0">
              <a:latin typeface="+mn-lt"/>
            </a:endParaRPr>
          </a:p>
          <a:p>
            <a:pPr>
              <a:buNone/>
            </a:pPr>
            <a:endParaRPr lang="en-IN" b="1" dirty="0">
              <a:latin typeface="+mn-lt"/>
            </a:endParaRPr>
          </a:p>
          <a:p>
            <a:pPr>
              <a:buNone/>
            </a:pPr>
            <a:r>
              <a:rPr lang="en-IN" dirty="0"/>
              <a:t>Instead of immediately changing its estimate to: </a:t>
            </a:r>
            <a:r>
              <a:rPr lang="en-IN" dirty="0">
                <a:latin typeface="+mn-lt"/>
              </a:rPr>
              <a:t>120 </a:t>
            </a:r>
            <a:r>
              <a:rPr lang="en-IN" dirty="0" err="1">
                <a:latin typeface="+mn-lt"/>
              </a:rPr>
              <a:t>ms</a:t>
            </a:r>
            <a:endParaRPr lang="en-IN" dirty="0">
              <a:latin typeface="Courier New" panose="02070309020205020404" pitchFamily="49" charset="0"/>
            </a:endParaRPr>
          </a:p>
        </p:txBody>
      </p:sp>
      <p:pic>
        <p:nvPicPr>
          <p:cNvPr id="7" name="Picture 6">
            <a:extLst>
              <a:ext uri="{FF2B5EF4-FFF2-40B4-BE49-F238E27FC236}">
                <a16:creationId xmlns:a16="http://schemas.microsoft.com/office/drawing/2014/main" id="{B642136A-9DFF-DA9E-3FAC-18D69C26EE9B}"/>
              </a:ext>
            </a:extLst>
          </p:cNvPr>
          <p:cNvPicPr>
            <a:picLocks noChangeAspect="1"/>
          </p:cNvPicPr>
          <p:nvPr/>
        </p:nvPicPr>
        <p:blipFill>
          <a:blip r:embed="rId2"/>
          <a:stretch>
            <a:fillRect/>
          </a:stretch>
        </p:blipFill>
        <p:spPr>
          <a:xfrm>
            <a:off x="433137" y="2822267"/>
            <a:ext cx="4652210" cy="3474259"/>
          </a:xfrm>
          <a:prstGeom prst="rect">
            <a:avLst/>
          </a:prstGeom>
        </p:spPr>
      </p:pic>
      <p:sp>
        <p:nvSpPr>
          <p:cNvPr id="11" name="TextBox 10">
            <a:extLst>
              <a:ext uri="{FF2B5EF4-FFF2-40B4-BE49-F238E27FC236}">
                <a16:creationId xmlns:a16="http://schemas.microsoft.com/office/drawing/2014/main" id="{B4336B78-384A-11E0-F25C-7F74B03EC676}"/>
              </a:ext>
            </a:extLst>
          </p:cNvPr>
          <p:cNvSpPr txBox="1"/>
          <p:nvPr/>
        </p:nvSpPr>
        <p:spPr>
          <a:xfrm>
            <a:off x="5662863" y="4871897"/>
            <a:ext cx="6096000" cy="646331"/>
          </a:xfrm>
          <a:prstGeom prst="rect">
            <a:avLst/>
          </a:prstGeom>
          <a:noFill/>
        </p:spPr>
        <p:txBody>
          <a:bodyPr wrap="square">
            <a:spAutoFit/>
          </a:bodyPr>
          <a:lstStyle/>
          <a:p>
            <a:r>
              <a:rPr lang="en-IN" dirty="0"/>
              <a:t>It keeps adjusting the expected RTT as new measurements arrive.</a:t>
            </a:r>
          </a:p>
        </p:txBody>
      </p:sp>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113CB257-EEAB-FDB1-D90E-049BC85A3339}"/>
                  </a:ext>
                </a:extLst>
              </p:cNvPr>
              <p:cNvGraphicFramePr>
                <a:graphicFrameLocks noGrp="1"/>
              </p:cNvGraphicFramePr>
              <p:nvPr>
                <p:extLst>
                  <p:ext uri="{D42A27DB-BD31-4B8C-83A1-F6EECF244321}">
                    <p14:modId xmlns:p14="http://schemas.microsoft.com/office/powerpoint/2010/main" val="314729105"/>
                  </p:ext>
                </p:extLst>
              </p:nvPr>
            </p:nvGraphicFramePr>
            <p:xfrm>
              <a:off x="6095999" y="1963016"/>
              <a:ext cx="5662864" cy="2678049"/>
            </p:xfrm>
            <a:graphic>
              <a:graphicData uri="http://schemas.openxmlformats.org/drawingml/2006/table">
                <a:tbl>
                  <a:tblPr firstRow="1" bandRow="1">
                    <a:tableStyleId>{5C22544A-7EE6-4342-B048-85BDC9FD1C3A}</a:tableStyleId>
                  </a:tblPr>
                  <a:tblGrid>
                    <a:gridCol w="2831432">
                      <a:extLst>
                        <a:ext uri="{9D8B030D-6E8A-4147-A177-3AD203B41FA5}">
                          <a16:colId xmlns:a16="http://schemas.microsoft.com/office/drawing/2014/main" val="3752807738"/>
                        </a:ext>
                      </a:extLst>
                    </a:gridCol>
                    <a:gridCol w="2831432">
                      <a:extLst>
                        <a:ext uri="{9D8B030D-6E8A-4147-A177-3AD203B41FA5}">
                          <a16:colId xmlns:a16="http://schemas.microsoft.com/office/drawing/2014/main" val="987321571"/>
                        </a:ext>
                      </a:extLst>
                    </a:gridCol>
                  </a:tblGrid>
                  <a:tr h="370840">
                    <a:tc>
                      <a:txBody>
                        <a:bodyPr/>
                        <a:lstStyle/>
                        <a:p>
                          <a:pPr>
                            <a:buNone/>
                          </a:pPr>
                          <a:r>
                            <a:rPr lang="en-IN" dirty="0"/>
                            <a:t>RTT Sample</a:t>
                          </a:r>
                        </a:p>
                      </a:txBody>
                      <a:tcPr anchor="ctr"/>
                    </a:tc>
                    <a:tc>
                      <a:txBody>
                        <a:bodyPr/>
                        <a:lstStyle/>
                        <a:p>
                          <a:pPr>
                            <a:buNone/>
                          </a:pPr>
                          <a:r>
                            <a:rPr lang="en-IN"/>
                            <a:t>Estimated RTT</a:t>
                          </a:r>
                        </a:p>
                      </a:txBody>
                      <a:tcPr anchor="ctr"/>
                    </a:tc>
                    <a:extLst>
                      <a:ext uri="{0D108BD9-81ED-4DB2-BD59-A6C34878D82A}">
                        <a16:rowId xmlns:a16="http://schemas.microsoft.com/office/drawing/2014/main" val="2729444470"/>
                      </a:ext>
                    </a:extLst>
                  </a:tr>
                  <a:tr h="370840">
                    <a:tc>
                      <a:txBody>
                        <a:bodyPr/>
                        <a:lstStyle/>
                        <a:p>
                          <a:pPr>
                            <a:buNone/>
                          </a:pPr>
                          <a:r>
                            <a:rPr lang="en-IN"/>
                            <a:t>Actual RTT measured for one transmission</a:t>
                          </a:r>
                        </a:p>
                      </a:txBody>
                      <a:tcPr anchor="ctr"/>
                    </a:tc>
                    <a:tc>
                      <a:txBody>
                        <a:bodyPr/>
                        <a:lstStyle/>
                        <a:p>
                          <a:pPr>
                            <a:buNone/>
                          </a:pPr>
                          <a:r>
                            <a:rPr lang="en-IN"/>
                            <a:t>TCP's calculated expected RTT</a:t>
                          </a:r>
                        </a:p>
                      </a:txBody>
                      <a:tcPr anchor="ctr"/>
                    </a:tc>
                    <a:extLst>
                      <a:ext uri="{0D108BD9-81ED-4DB2-BD59-A6C34878D82A}">
                        <a16:rowId xmlns:a16="http://schemas.microsoft.com/office/drawing/2014/main" val="3799897241"/>
                      </a:ext>
                    </a:extLst>
                  </a:tr>
                  <a:tr h="370840">
                    <a:tc>
                      <a:txBody>
                        <a:bodyPr/>
                        <a:lstStyle/>
                        <a:p>
                          <a:pPr>
                            <a:buNone/>
                          </a:pPr>
                          <a:r>
                            <a:rPr lang="en-IN"/>
                            <a:t>Represents one latest measurement</a:t>
                          </a:r>
                        </a:p>
                      </a:txBody>
                      <a:tcPr anchor="ctr"/>
                    </a:tc>
                    <a:tc>
                      <a:txBody>
                        <a:bodyPr/>
                        <a:lstStyle/>
                        <a:p>
                          <a:pPr>
                            <a:buNone/>
                          </a:pPr>
                          <a:r>
                            <a:rPr lang="en-IN"/>
                            <a:t>Uses previous estimate + latest measurement</a:t>
                          </a:r>
                        </a:p>
                      </a:txBody>
                      <a:tcPr anchor="ctr"/>
                    </a:tc>
                    <a:extLst>
                      <a:ext uri="{0D108BD9-81ED-4DB2-BD59-A6C34878D82A}">
                        <a16:rowId xmlns:a16="http://schemas.microsoft.com/office/drawing/2014/main" val="2384216032"/>
                      </a:ext>
                    </a:extLst>
                  </a:tr>
                  <a:tr h="370840">
                    <a:tc>
                      <a:txBody>
                        <a:bodyPr/>
                        <a:lstStyle/>
                        <a:p>
                          <a:pPr>
                            <a:buNone/>
                          </a:pPr>
                          <a:r>
                            <a:rPr lang="en-IN"/>
                            <a:t>Can change a lot from one transmission to another</a:t>
                          </a:r>
                        </a:p>
                      </a:txBody>
                      <a:tcPr anchor="ctr"/>
                    </a:tc>
                    <a:tc>
                      <a:txBody>
                        <a:bodyPr/>
                        <a:lstStyle/>
                        <a:p>
                          <a:pPr>
                            <a:buNone/>
                          </a:pPr>
                          <a:r>
                            <a:rPr lang="en-IN"/>
                            <a:t>Changes more smoothly</a:t>
                          </a:r>
                        </a:p>
                      </a:txBody>
                      <a:tcPr anchor="ctr"/>
                    </a:tc>
                    <a:extLst>
                      <a:ext uri="{0D108BD9-81ED-4DB2-BD59-A6C34878D82A}">
                        <a16:rowId xmlns:a16="http://schemas.microsoft.com/office/drawing/2014/main" val="4083380253"/>
                      </a:ext>
                    </a:extLst>
                  </a:tr>
                  <a:tr h="370840">
                    <a:tc>
                      <a:txBody>
                        <a:bodyPr/>
                        <a:lstStyle/>
                        <a:p>
                          <a:pPr>
                            <a:buNone/>
                          </a:pPr>
                          <a:r>
                            <a:rPr lang="en-IN"/>
                            <a:t>Written as </a:t>
                          </a:r>
                          <a14:m>
                            <m:oMath xmlns:m="http://schemas.openxmlformats.org/officeDocument/2006/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𝑠𝑎𝑚𝑝𝑙𝑒</m:t>
                                  </m:r>
                                </m:sub>
                              </m:sSub>
                            </m:oMath>
                          </a14:m>
                          <a:endParaRPr lang="en-IN"/>
                        </a:p>
                      </a:txBody>
                      <a:tcPr anchor="ctr"/>
                    </a:tc>
                    <a:tc>
                      <a:txBody>
                        <a:bodyPr/>
                        <a:lstStyle/>
                        <a:p>
                          <a:pPr>
                            <a:buNone/>
                          </a:pPr>
                          <a:r>
                            <a:rPr lang="en-IN" dirty="0"/>
                            <a:t>Written as </a:t>
                          </a:r>
                          <a14:m>
                            <m:oMath xmlns:m="http://schemas.openxmlformats.org/officeDocument/2006/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𝑒𝑠𝑡</m:t>
                                  </m:r>
                                </m:sub>
                              </m:sSub>
                            </m:oMath>
                          </a14:m>
                          <a:endParaRPr lang="en-IN" dirty="0"/>
                        </a:p>
                      </a:txBody>
                      <a:tcPr anchor="ctr"/>
                    </a:tc>
                    <a:extLst>
                      <a:ext uri="{0D108BD9-81ED-4DB2-BD59-A6C34878D82A}">
                        <a16:rowId xmlns:a16="http://schemas.microsoft.com/office/drawing/2014/main" val="44320753"/>
                      </a:ext>
                    </a:extLst>
                  </a:tr>
                </a:tbl>
              </a:graphicData>
            </a:graphic>
          </p:graphicFrame>
        </mc:Choice>
        <mc:Fallback xmlns="">
          <p:graphicFrame>
            <p:nvGraphicFramePr>
              <p:cNvPr id="12" name="Table 11">
                <a:extLst>
                  <a:ext uri="{FF2B5EF4-FFF2-40B4-BE49-F238E27FC236}">
                    <a16:creationId xmlns:a16="http://schemas.microsoft.com/office/drawing/2014/main" id="{113CB257-EEAB-FDB1-D90E-049BC85A3339}"/>
                  </a:ext>
                </a:extLst>
              </p:cNvPr>
              <p:cNvGraphicFramePr>
                <a:graphicFrameLocks noGrp="1"/>
              </p:cNvGraphicFramePr>
              <p:nvPr>
                <p:extLst>
                  <p:ext uri="{D42A27DB-BD31-4B8C-83A1-F6EECF244321}">
                    <p14:modId xmlns:p14="http://schemas.microsoft.com/office/powerpoint/2010/main" val="314729105"/>
                  </p:ext>
                </p:extLst>
              </p:nvPr>
            </p:nvGraphicFramePr>
            <p:xfrm>
              <a:off x="6095999" y="1963016"/>
              <a:ext cx="5662864" cy="2678049"/>
            </p:xfrm>
            <a:graphic>
              <a:graphicData uri="http://schemas.openxmlformats.org/drawingml/2006/table">
                <a:tbl>
                  <a:tblPr firstRow="1" bandRow="1">
                    <a:tableStyleId>{5C22544A-7EE6-4342-B048-85BDC9FD1C3A}</a:tableStyleId>
                  </a:tblPr>
                  <a:tblGrid>
                    <a:gridCol w="2831432">
                      <a:extLst>
                        <a:ext uri="{9D8B030D-6E8A-4147-A177-3AD203B41FA5}">
                          <a16:colId xmlns:a16="http://schemas.microsoft.com/office/drawing/2014/main" val="3752807738"/>
                        </a:ext>
                      </a:extLst>
                    </a:gridCol>
                    <a:gridCol w="2831432">
                      <a:extLst>
                        <a:ext uri="{9D8B030D-6E8A-4147-A177-3AD203B41FA5}">
                          <a16:colId xmlns:a16="http://schemas.microsoft.com/office/drawing/2014/main" val="987321571"/>
                        </a:ext>
                      </a:extLst>
                    </a:gridCol>
                  </a:tblGrid>
                  <a:tr h="370840">
                    <a:tc>
                      <a:txBody>
                        <a:bodyPr/>
                        <a:lstStyle/>
                        <a:p>
                          <a:pPr>
                            <a:buNone/>
                          </a:pPr>
                          <a:r>
                            <a:rPr lang="en-IN" dirty="0"/>
                            <a:t>RTT Sample</a:t>
                          </a:r>
                        </a:p>
                      </a:txBody>
                      <a:tcPr anchor="ctr"/>
                    </a:tc>
                    <a:tc>
                      <a:txBody>
                        <a:bodyPr/>
                        <a:lstStyle/>
                        <a:p>
                          <a:pPr>
                            <a:buNone/>
                          </a:pPr>
                          <a:r>
                            <a:rPr lang="en-IN"/>
                            <a:t>Estimated RTT</a:t>
                          </a:r>
                        </a:p>
                      </a:txBody>
                      <a:tcPr anchor="ctr"/>
                    </a:tc>
                    <a:extLst>
                      <a:ext uri="{0D108BD9-81ED-4DB2-BD59-A6C34878D82A}">
                        <a16:rowId xmlns:a16="http://schemas.microsoft.com/office/drawing/2014/main" val="2729444470"/>
                      </a:ext>
                    </a:extLst>
                  </a:tr>
                  <a:tr h="640080">
                    <a:tc>
                      <a:txBody>
                        <a:bodyPr/>
                        <a:lstStyle/>
                        <a:p>
                          <a:pPr>
                            <a:buNone/>
                          </a:pPr>
                          <a:r>
                            <a:rPr lang="en-IN"/>
                            <a:t>Actual RTT measured for one transmission</a:t>
                          </a:r>
                        </a:p>
                      </a:txBody>
                      <a:tcPr anchor="ctr"/>
                    </a:tc>
                    <a:tc>
                      <a:txBody>
                        <a:bodyPr/>
                        <a:lstStyle/>
                        <a:p>
                          <a:pPr>
                            <a:buNone/>
                          </a:pPr>
                          <a:r>
                            <a:rPr lang="en-IN"/>
                            <a:t>TCP's calculated expected RTT</a:t>
                          </a:r>
                        </a:p>
                      </a:txBody>
                      <a:tcPr anchor="ctr"/>
                    </a:tc>
                    <a:extLst>
                      <a:ext uri="{0D108BD9-81ED-4DB2-BD59-A6C34878D82A}">
                        <a16:rowId xmlns:a16="http://schemas.microsoft.com/office/drawing/2014/main" val="3799897241"/>
                      </a:ext>
                    </a:extLst>
                  </a:tr>
                  <a:tr h="640080">
                    <a:tc>
                      <a:txBody>
                        <a:bodyPr/>
                        <a:lstStyle/>
                        <a:p>
                          <a:pPr>
                            <a:buNone/>
                          </a:pPr>
                          <a:r>
                            <a:rPr lang="en-IN"/>
                            <a:t>Represents one latest measurement</a:t>
                          </a:r>
                        </a:p>
                      </a:txBody>
                      <a:tcPr anchor="ctr"/>
                    </a:tc>
                    <a:tc>
                      <a:txBody>
                        <a:bodyPr/>
                        <a:lstStyle/>
                        <a:p>
                          <a:pPr>
                            <a:buNone/>
                          </a:pPr>
                          <a:r>
                            <a:rPr lang="en-IN"/>
                            <a:t>Uses previous estimate + latest measurement</a:t>
                          </a:r>
                        </a:p>
                      </a:txBody>
                      <a:tcPr anchor="ctr"/>
                    </a:tc>
                    <a:extLst>
                      <a:ext uri="{0D108BD9-81ED-4DB2-BD59-A6C34878D82A}">
                        <a16:rowId xmlns:a16="http://schemas.microsoft.com/office/drawing/2014/main" val="2384216032"/>
                      </a:ext>
                    </a:extLst>
                  </a:tr>
                  <a:tr h="640080">
                    <a:tc>
                      <a:txBody>
                        <a:bodyPr/>
                        <a:lstStyle/>
                        <a:p>
                          <a:pPr>
                            <a:buNone/>
                          </a:pPr>
                          <a:r>
                            <a:rPr lang="en-IN"/>
                            <a:t>Can change a lot from one transmission to another</a:t>
                          </a:r>
                        </a:p>
                      </a:txBody>
                      <a:tcPr anchor="ctr"/>
                    </a:tc>
                    <a:tc>
                      <a:txBody>
                        <a:bodyPr/>
                        <a:lstStyle/>
                        <a:p>
                          <a:pPr>
                            <a:buNone/>
                          </a:pPr>
                          <a:r>
                            <a:rPr lang="en-IN"/>
                            <a:t>Changes more smoothly</a:t>
                          </a:r>
                        </a:p>
                      </a:txBody>
                      <a:tcPr anchor="ctr"/>
                    </a:tc>
                    <a:extLst>
                      <a:ext uri="{0D108BD9-81ED-4DB2-BD59-A6C34878D82A}">
                        <a16:rowId xmlns:a16="http://schemas.microsoft.com/office/drawing/2014/main" val="4083380253"/>
                      </a:ext>
                    </a:extLst>
                  </a:tr>
                  <a:tr h="386969">
                    <a:tc>
                      <a:txBody>
                        <a:bodyPr/>
                        <a:lstStyle/>
                        <a:p>
                          <a:endParaRPr lang="en-US"/>
                        </a:p>
                      </a:txBody>
                      <a:tcPr anchor="ctr">
                        <a:blipFill>
                          <a:blip r:embed="rId3"/>
                          <a:stretch>
                            <a:fillRect l="-215" t="-595313" r="-101075" b="-21875"/>
                          </a:stretch>
                        </a:blipFill>
                      </a:tcPr>
                    </a:tc>
                    <a:tc>
                      <a:txBody>
                        <a:bodyPr/>
                        <a:lstStyle/>
                        <a:p>
                          <a:endParaRPr lang="en-US"/>
                        </a:p>
                      </a:txBody>
                      <a:tcPr anchor="ctr">
                        <a:blipFill>
                          <a:blip r:embed="rId3"/>
                          <a:stretch>
                            <a:fillRect l="-100215" t="-595313" r="-1075" b="-21875"/>
                          </a:stretch>
                        </a:blipFill>
                      </a:tcPr>
                    </a:tc>
                    <a:extLst>
                      <a:ext uri="{0D108BD9-81ED-4DB2-BD59-A6C34878D82A}">
                        <a16:rowId xmlns:a16="http://schemas.microsoft.com/office/drawing/2014/main" val="44320753"/>
                      </a:ext>
                    </a:extLst>
                  </a:tr>
                </a:tbl>
              </a:graphicData>
            </a:graphic>
          </p:graphicFrame>
        </mc:Fallback>
      </mc:AlternateContent>
    </p:spTree>
    <p:extLst>
      <p:ext uri="{BB962C8B-B14F-4D97-AF65-F5344CB8AC3E}">
        <p14:creationId xmlns:p14="http://schemas.microsoft.com/office/powerpoint/2010/main" val="12370476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40FB5-23F5-08EE-0616-72D51191958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F7382DA-A5AB-5F4E-7126-6DBA70EB9A76}"/>
              </a:ext>
            </a:extLst>
          </p:cNvPr>
          <p:cNvSpPr txBox="1"/>
          <p:nvPr/>
        </p:nvSpPr>
        <p:spPr>
          <a:xfrm>
            <a:off x="256674" y="633481"/>
            <a:ext cx="4010526" cy="377172"/>
          </a:xfrm>
          <a:prstGeom prst="rect">
            <a:avLst/>
          </a:prstGeom>
          <a:noFill/>
        </p:spPr>
        <p:txBody>
          <a:bodyPr wrap="square">
            <a:spAutoFit/>
          </a:bodyPr>
          <a:lstStyle/>
          <a:p>
            <a:r>
              <a:rPr lang="en-IN" b="1" dirty="0"/>
              <a:t>Estimated RTT Alone Is Not Enough</a:t>
            </a:r>
          </a:p>
        </p:txBody>
      </p:sp>
      <p:sp>
        <p:nvSpPr>
          <p:cNvPr id="8" name="TextBox 7">
            <a:extLst>
              <a:ext uri="{FF2B5EF4-FFF2-40B4-BE49-F238E27FC236}">
                <a16:creationId xmlns:a16="http://schemas.microsoft.com/office/drawing/2014/main" id="{EC602A3F-C50D-C608-EE6C-F2F491F27E12}"/>
              </a:ext>
            </a:extLst>
          </p:cNvPr>
          <p:cNvSpPr txBox="1"/>
          <p:nvPr/>
        </p:nvSpPr>
        <p:spPr>
          <a:xfrm>
            <a:off x="256674" y="1010653"/>
            <a:ext cx="3176337" cy="2308324"/>
          </a:xfrm>
          <a:prstGeom prst="rect">
            <a:avLst/>
          </a:prstGeom>
          <a:noFill/>
        </p:spPr>
        <p:txBody>
          <a:bodyPr wrap="square">
            <a:spAutoFit/>
          </a:bodyPr>
          <a:lstStyle/>
          <a:p>
            <a:pPr>
              <a:buNone/>
            </a:pPr>
            <a:r>
              <a:rPr lang="en-IN" b="1" dirty="0"/>
              <a:t>Network A</a:t>
            </a:r>
          </a:p>
          <a:p>
            <a:pPr>
              <a:buNone/>
            </a:pPr>
            <a:r>
              <a:rPr lang="en-IN" dirty="0"/>
              <a:t>Its RTT measurements are:</a:t>
            </a:r>
          </a:p>
          <a:p>
            <a:pPr rtl="0">
              <a:buNone/>
            </a:pPr>
            <a:r>
              <a:rPr lang="en-IN" dirty="0">
                <a:latin typeface="+mn-lt"/>
              </a:rPr>
              <a:t>98 </a:t>
            </a:r>
            <a:r>
              <a:rPr lang="en-IN" dirty="0" err="1">
                <a:latin typeface="+mn-lt"/>
              </a:rPr>
              <a:t>ms</a:t>
            </a:r>
            <a:endParaRPr lang="en-IN" dirty="0">
              <a:latin typeface="+mn-lt"/>
            </a:endParaRPr>
          </a:p>
          <a:p>
            <a:pPr rtl="0">
              <a:buNone/>
            </a:pPr>
            <a:r>
              <a:rPr lang="en-IN" dirty="0">
                <a:latin typeface="+mn-lt"/>
              </a:rPr>
              <a:t>101 </a:t>
            </a:r>
            <a:r>
              <a:rPr lang="en-IN" dirty="0" err="1">
                <a:latin typeface="+mn-lt"/>
              </a:rPr>
              <a:t>ms</a:t>
            </a:r>
            <a:endParaRPr lang="en-IN" dirty="0">
              <a:latin typeface="+mn-lt"/>
            </a:endParaRPr>
          </a:p>
          <a:p>
            <a:pPr rtl="0">
              <a:buNone/>
            </a:pPr>
            <a:r>
              <a:rPr lang="en-IN" dirty="0">
                <a:latin typeface="+mn-lt"/>
              </a:rPr>
              <a:t>100 </a:t>
            </a:r>
            <a:r>
              <a:rPr lang="en-IN" dirty="0" err="1">
                <a:latin typeface="+mn-lt"/>
              </a:rPr>
              <a:t>ms</a:t>
            </a:r>
            <a:endParaRPr lang="en-IN" dirty="0">
              <a:latin typeface="+mn-lt"/>
            </a:endParaRPr>
          </a:p>
          <a:p>
            <a:pPr rtl="0">
              <a:buNone/>
            </a:pPr>
            <a:r>
              <a:rPr lang="en-IN" dirty="0">
                <a:latin typeface="+mn-lt"/>
              </a:rPr>
              <a:t>102 </a:t>
            </a:r>
            <a:r>
              <a:rPr lang="en-IN" dirty="0" err="1">
                <a:latin typeface="+mn-lt"/>
              </a:rPr>
              <a:t>ms</a:t>
            </a:r>
            <a:endParaRPr lang="en-IN" dirty="0">
              <a:latin typeface="+mn-lt"/>
            </a:endParaRPr>
          </a:p>
          <a:p>
            <a:pPr rtl="0">
              <a:buNone/>
            </a:pPr>
            <a:r>
              <a:rPr lang="en-IN" dirty="0">
                <a:latin typeface="+mn-lt"/>
              </a:rPr>
              <a:t>99 </a:t>
            </a:r>
            <a:r>
              <a:rPr lang="en-IN" dirty="0" err="1">
                <a:latin typeface="+mn-lt"/>
              </a:rPr>
              <a:t>ms</a:t>
            </a:r>
            <a:endParaRPr lang="en-IN" dirty="0">
              <a:latin typeface="+mn-lt"/>
            </a:endParaRPr>
          </a:p>
          <a:p>
            <a:pPr>
              <a:buNone/>
            </a:pPr>
            <a:r>
              <a:rPr lang="en-IN" dirty="0"/>
              <a:t>The values stay close to </a:t>
            </a:r>
            <a:r>
              <a:rPr lang="en-IN" b="1" dirty="0"/>
              <a:t>100 </a:t>
            </a:r>
            <a:r>
              <a:rPr lang="en-IN" b="1" dirty="0" err="1"/>
              <a:t>ms</a:t>
            </a:r>
            <a:r>
              <a:rPr lang="en-IN" dirty="0"/>
              <a:t>.</a:t>
            </a:r>
          </a:p>
        </p:txBody>
      </p:sp>
      <p:sp>
        <p:nvSpPr>
          <p:cNvPr id="10" name="TextBox 9">
            <a:extLst>
              <a:ext uri="{FF2B5EF4-FFF2-40B4-BE49-F238E27FC236}">
                <a16:creationId xmlns:a16="http://schemas.microsoft.com/office/drawing/2014/main" id="{410CC2B4-31DD-D59A-6814-38379E6D187A}"/>
              </a:ext>
            </a:extLst>
          </p:cNvPr>
          <p:cNvSpPr txBox="1"/>
          <p:nvPr/>
        </p:nvSpPr>
        <p:spPr>
          <a:xfrm>
            <a:off x="385011" y="3429000"/>
            <a:ext cx="10748210" cy="3139321"/>
          </a:xfrm>
          <a:prstGeom prst="rect">
            <a:avLst/>
          </a:prstGeom>
          <a:noFill/>
        </p:spPr>
        <p:txBody>
          <a:bodyPr wrap="square">
            <a:spAutoFit/>
          </a:bodyPr>
          <a:lstStyle/>
          <a:p>
            <a:pPr>
              <a:buNone/>
            </a:pPr>
            <a:r>
              <a:rPr lang="en-IN" b="1" dirty="0"/>
              <a:t>Network B</a:t>
            </a:r>
          </a:p>
          <a:p>
            <a:pPr rtl="0">
              <a:buNone/>
            </a:pPr>
            <a:r>
              <a:rPr lang="en-IN" dirty="0">
                <a:latin typeface="+mn-lt"/>
              </a:rPr>
              <a:t>60 </a:t>
            </a:r>
            <a:r>
              <a:rPr lang="en-IN" dirty="0" err="1">
                <a:latin typeface="+mn-lt"/>
              </a:rPr>
              <a:t>ms</a:t>
            </a:r>
            <a:endParaRPr lang="en-IN" dirty="0">
              <a:latin typeface="+mn-lt"/>
            </a:endParaRPr>
          </a:p>
          <a:p>
            <a:pPr rtl="0">
              <a:buNone/>
            </a:pPr>
            <a:r>
              <a:rPr lang="en-IN" dirty="0">
                <a:latin typeface="+mn-lt"/>
              </a:rPr>
              <a:t>150 </a:t>
            </a:r>
            <a:r>
              <a:rPr lang="en-IN" dirty="0" err="1">
                <a:latin typeface="+mn-lt"/>
              </a:rPr>
              <a:t>ms</a:t>
            </a:r>
            <a:endParaRPr lang="en-IN" dirty="0">
              <a:latin typeface="+mn-lt"/>
            </a:endParaRPr>
          </a:p>
          <a:p>
            <a:pPr rtl="0">
              <a:buNone/>
            </a:pPr>
            <a:r>
              <a:rPr lang="en-IN" dirty="0">
                <a:latin typeface="+mn-lt"/>
              </a:rPr>
              <a:t>80 </a:t>
            </a:r>
            <a:r>
              <a:rPr lang="en-IN" dirty="0" err="1">
                <a:latin typeface="+mn-lt"/>
              </a:rPr>
              <a:t>ms</a:t>
            </a:r>
            <a:endParaRPr lang="en-IN" dirty="0">
              <a:latin typeface="+mn-lt"/>
            </a:endParaRPr>
          </a:p>
          <a:p>
            <a:pPr rtl="0">
              <a:buNone/>
            </a:pPr>
            <a:r>
              <a:rPr lang="en-IN" dirty="0">
                <a:latin typeface="+mn-lt"/>
              </a:rPr>
              <a:t>180 </a:t>
            </a:r>
            <a:r>
              <a:rPr lang="en-IN" dirty="0" err="1">
                <a:latin typeface="+mn-lt"/>
              </a:rPr>
              <a:t>ms</a:t>
            </a:r>
            <a:endParaRPr lang="en-IN" dirty="0">
              <a:latin typeface="+mn-lt"/>
            </a:endParaRPr>
          </a:p>
          <a:p>
            <a:pPr rtl="0">
              <a:buNone/>
            </a:pPr>
            <a:r>
              <a:rPr lang="en-IN" dirty="0">
                <a:latin typeface="+mn-lt"/>
              </a:rPr>
              <a:t>90 </a:t>
            </a:r>
            <a:r>
              <a:rPr lang="en-IN" dirty="0" err="1">
                <a:latin typeface="+mn-lt"/>
              </a:rPr>
              <a:t>ms</a:t>
            </a:r>
            <a:endParaRPr lang="en-IN" dirty="0">
              <a:latin typeface="+mn-lt"/>
            </a:endParaRPr>
          </a:p>
          <a:p>
            <a:pPr>
              <a:buNone/>
            </a:pPr>
            <a:r>
              <a:rPr lang="en-IN" dirty="0"/>
              <a:t>Here the delay changes a lot.</a:t>
            </a:r>
          </a:p>
          <a:p>
            <a:pPr>
              <a:buNone/>
            </a:pPr>
            <a:r>
              <a:rPr lang="en-IN" dirty="0"/>
              <a:t>Even if both networks sometimes have a similar </a:t>
            </a:r>
            <a:r>
              <a:rPr lang="en-IN" b="1" dirty="0"/>
              <a:t>average/estimated RTT</a:t>
            </a:r>
            <a:r>
              <a:rPr lang="en-IN" dirty="0"/>
              <a:t>, their </a:t>
            </a:r>
            <a:r>
              <a:rPr lang="en-IN" dirty="0" err="1"/>
              <a:t>behavior</a:t>
            </a:r>
            <a:r>
              <a:rPr lang="en-IN" dirty="0"/>
              <a:t> is very different.</a:t>
            </a:r>
          </a:p>
          <a:p>
            <a:pPr>
              <a:buNone/>
            </a:pPr>
            <a:r>
              <a:rPr lang="en-IN" dirty="0"/>
              <a:t>So TCP also needs to know: </a:t>
            </a:r>
            <a:r>
              <a:rPr lang="en-IN" b="1" dirty="0"/>
              <a:t>How much is the RTT changing?</a:t>
            </a:r>
            <a:endParaRPr lang="en-IN" dirty="0"/>
          </a:p>
          <a:p>
            <a:pPr>
              <a:buNone/>
            </a:pPr>
            <a:endParaRPr lang="en-IN" dirty="0">
              <a:highlight>
                <a:srgbClr val="FFFF00"/>
              </a:highlight>
            </a:endParaRPr>
          </a:p>
          <a:p>
            <a:pPr>
              <a:buNone/>
            </a:pPr>
            <a:r>
              <a:rPr lang="en-IN" dirty="0">
                <a:highlight>
                  <a:srgbClr val="FFFF00"/>
                </a:highlight>
              </a:rPr>
              <a:t>This is where </a:t>
            </a:r>
            <a:r>
              <a:rPr lang="en-IN" b="1" dirty="0">
                <a:highlight>
                  <a:srgbClr val="FFFF00"/>
                </a:highlight>
              </a:rPr>
              <a:t>RTT Variation</a:t>
            </a:r>
            <a:r>
              <a:rPr lang="en-IN" dirty="0">
                <a:highlight>
                  <a:srgbClr val="FFFF00"/>
                </a:highlight>
              </a:rPr>
              <a:t> comes in.</a:t>
            </a:r>
          </a:p>
        </p:txBody>
      </p:sp>
    </p:spTree>
    <p:extLst>
      <p:ext uri="{BB962C8B-B14F-4D97-AF65-F5344CB8AC3E}">
        <p14:creationId xmlns:p14="http://schemas.microsoft.com/office/powerpoint/2010/main" val="298532043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FE0AC-5BF9-BAE0-B3BA-039B6E4F975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21488E8-EF42-B0E2-69A4-9DDCE773C4CF}"/>
                  </a:ext>
                </a:extLst>
              </p:cNvPr>
              <p:cNvSpPr txBox="1"/>
              <p:nvPr/>
            </p:nvSpPr>
            <p:spPr>
              <a:xfrm>
                <a:off x="312821" y="582668"/>
                <a:ext cx="11566358" cy="1477328"/>
              </a:xfrm>
              <a:prstGeom prst="rect">
                <a:avLst/>
              </a:prstGeom>
              <a:noFill/>
            </p:spPr>
            <p:txBody>
              <a:bodyPr wrap="square">
                <a:spAutoFit/>
              </a:bodyPr>
              <a:lstStyle/>
              <a:p>
                <a:pPr>
                  <a:buNone/>
                </a:pPr>
                <a:r>
                  <a:rPr lang="en-IN" b="1" dirty="0">
                    <a:highlight>
                      <a:srgbClr val="FFFF00"/>
                    </a:highlight>
                  </a:rPr>
                  <a:t>What is RTT Variation?</a:t>
                </a:r>
              </a:p>
              <a:p>
                <a:pPr>
                  <a:buNone/>
                </a:pPr>
                <a:r>
                  <a:rPr lang="en-IN" dirty="0"/>
                  <a:t>RTT Variation is written as:</a:t>
                </a:r>
              </a:p>
              <a:p>
                <a:pPr>
                  <a:buNone/>
                </a:pPr>
                <a14:m>
                  <m:oMathPara xmlns:m="http://schemas.openxmlformats.org/officeDocument/2006/math">
                    <m:o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𝑣𝑎𝑟</m:t>
                          </m:r>
                        </m:sub>
                      </m:sSub>
                    </m:oMath>
                  </m:oMathPara>
                </a14:m>
                <a:endParaRPr lang="en-IN" dirty="0"/>
              </a:p>
              <a:p>
                <a:pPr>
                  <a:buNone/>
                </a:pPr>
                <a:r>
                  <a:rPr lang="en-IN" dirty="0"/>
                  <a:t>In simple words:</a:t>
                </a:r>
              </a:p>
              <a:p>
                <a:pPr>
                  <a:buNone/>
                </a:pPr>
                <a:r>
                  <a:rPr lang="en-IN" b="1" dirty="0"/>
                  <a:t>RTT Variation tells TCP how much the measured RTT is changing around the Estimated RTT.</a:t>
                </a:r>
                <a:endParaRPr lang="en-IN" dirty="0"/>
              </a:p>
            </p:txBody>
          </p:sp>
        </mc:Choice>
        <mc:Fallback xmlns="">
          <p:sp>
            <p:nvSpPr>
              <p:cNvPr id="4" name="TextBox 3">
                <a:extLst>
                  <a:ext uri="{FF2B5EF4-FFF2-40B4-BE49-F238E27FC236}">
                    <a16:creationId xmlns:a16="http://schemas.microsoft.com/office/drawing/2014/main" id="{B21488E8-EF42-B0E2-69A4-9DDCE773C4CF}"/>
                  </a:ext>
                </a:extLst>
              </p:cNvPr>
              <p:cNvSpPr txBox="1">
                <a:spLocks noRot="1" noChangeAspect="1" noMove="1" noResize="1" noEditPoints="1" noAdjustHandles="1" noChangeArrowheads="1" noChangeShapeType="1" noTextEdit="1"/>
              </p:cNvSpPr>
              <p:nvPr/>
            </p:nvSpPr>
            <p:spPr>
              <a:xfrm>
                <a:off x="312821" y="582668"/>
                <a:ext cx="11566358" cy="1477328"/>
              </a:xfrm>
              <a:prstGeom prst="rect">
                <a:avLst/>
              </a:prstGeom>
              <a:blipFill>
                <a:blip r:embed="rId2"/>
                <a:stretch>
                  <a:fillRect l="-421" t="-2479" b="-578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61B46A2-2C99-8836-B01F-044546CE3254}"/>
                  </a:ext>
                </a:extLst>
              </p:cNvPr>
              <p:cNvSpPr txBox="1"/>
              <p:nvPr/>
            </p:nvSpPr>
            <p:spPr>
              <a:xfrm>
                <a:off x="156410" y="2741383"/>
                <a:ext cx="11879179" cy="3970318"/>
              </a:xfrm>
              <a:prstGeom prst="rect">
                <a:avLst/>
              </a:prstGeom>
              <a:noFill/>
            </p:spPr>
            <p:txBody>
              <a:bodyPr wrap="square">
                <a:spAutoFit/>
              </a:bodyPr>
              <a:lstStyle/>
              <a:p>
                <a:pPr>
                  <a:buNone/>
                </a:pPr>
                <a:r>
                  <a:rPr lang="en-IN" b="1" dirty="0">
                    <a:highlight>
                      <a:srgbClr val="FFFF00"/>
                    </a:highlight>
                  </a:rPr>
                  <a:t>Why Does TCP Need RTT Variation?</a:t>
                </a:r>
              </a:p>
              <a:p>
                <a:pPr>
                  <a:buNone/>
                </a:pPr>
                <a:endParaRPr lang="en-IN" dirty="0"/>
              </a:p>
              <a:p>
                <a:pPr>
                  <a:buNone/>
                </a:pPr>
                <a:r>
                  <a:rPr lang="en-IN" dirty="0"/>
                  <a:t>Remember what we are ultimately trying to calculate: </a:t>
                </a:r>
                <a:r>
                  <a:rPr lang="en-IN" b="1" dirty="0"/>
                  <a:t>RTO — Retransmission Timeout</a:t>
                </a:r>
              </a:p>
              <a:p>
                <a:pPr>
                  <a:buNone/>
                </a:pPr>
                <a:endParaRPr lang="en-IN" dirty="0"/>
              </a:p>
              <a:p>
                <a:pPr>
                  <a:buNone/>
                </a:pPr>
                <a:r>
                  <a:rPr lang="en-IN" dirty="0"/>
                  <a:t>RTO tells TCP approximately </a:t>
                </a:r>
                <a:r>
                  <a:rPr lang="en-IN" b="1" dirty="0"/>
                  <a:t>how long it should wait for an ACK before the timeout occurs</a:t>
                </a:r>
                <a:r>
                  <a:rPr lang="en-IN" dirty="0"/>
                  <a:t>.</a:t>
                </a:r>
              </a:p>
              <a:p>
                <a:pPr>
                  <a:buNone/>
                </a:pPr>
                <a:r>
                  <a:rPr lang="en-IN" dirty="0"/>
                  <a:t>Suppose:</a:t>
                </a:r>
              </a:p>
              <a:p>
                <a:pPr>
                  <a:buNone/>
                </a:pPr>
                <a14:m>
                  <m:oMathPara xmlns:m="http://schemas.openxmlformats.org/officeDocument/2006/math">
                    <m:oMath>
                      <m:r>
                        <a:rPr lang="en-IN" i="1">
                          <a:latin typeface="Cambria Math" panose="02040503050406030204" pitchFamily="18" charset="0"/>
                        </a:rPr>
                        <m:t>𝐸𝑠𝑡𝑖𝑚𝑎𝑡𝑒𝑑</m:t>
                      </m:r>
                      <m:r>
                        <m:rPr>
                          <m:nor/>
                        </m:rPr>
                        <a:rPr lang="en-IN" b="0" i="0">
                          <a:latin typeface="+mn-lt"/>
                        </a:rPr>
                        <m:t> </m:t>
                      </m:r>
                      <m:r>
                        <a:rPr lang="en-IN" b="0" i="1">
                          <a:latin typeface="Cambria Math" panose="02040503050406030204" pitchFamily="18" charset="0"/>
                        </a:rPr>
                        <m:t>𝑅𝑇𝑇</m:t>
                      </m:r>
                      <m:r>
                        <a:rPr lang="en-IN" b="0" i="0">
                          <a:latin typeface="Cambria Math" panose="02040503050406030204" pitchFamily="18" charset="0"/>
                        </a:rPr>
                        <m:t>=100</m:t>
                      </m:r>
                      <m:r>
                        <a:rPr lang="en-IN" b="0" i="1">
                          <a:latin typeface="Cambria Math" panose="02040503050406030204" pitchFamily="18" charset="0"/>
                        </a:rPr>
                        <m:t>𝑚𝑠</m:t>
                      </m:r>
                    </m:oMath>
                  </m:oMathPara>
                </a14:m>
                <a:endParaRPr lang="en-IN" b="0" dirty="0"/>
              </a:p>
              <a:p>
                <a:pPr>
                  <a:buNone/>
                </a:pPr>
                <a:r>
                  <a:rPr lang="en-IN" dirty="0"/>
                  <a:t>If network delay is very stable, an ACK will normally arrive somewhere close to that expected time.</a:t>
                </a:r>
              </a:p>
              <a:p>
                <a:pPr>
                  <a:buNone/>
                </a:pPr>
                <a:endParaRPr lang="en-IN" dirty="0"/>
              </a:p>
              <a:p>
                <a:pPr>
                  <a:buNone/>
                </a:pPr>
                <a:r>
                  <a:rPr lang="en-IN" dirty="0"/>
                  <a:t>But if network delay changes a lot, an ACK may sometimes take much longer.</a:t>
                </a:r>
              </a:p>
              <a:p>
                <a:pPr>
                  <a:buNone/>
                </a:pPr>
                <a:endParaRPr lang="en-IN" dirty="0"/>
              </a:p>
              <a:p>
                <a:pPr>
                  <a:buNone/>
                </a:pPr>
                <a:r>
                  <a:rPr lang="en-IN" dirty="0"/>
                  <a:t>So TCP needs some </a:t>
                </a:r>
                <a:r>
                  <a:rPr lang="en-IN" b="1" dirty="0"/>
                  <a:t>extra waiting time</a:t>
                </a:r>
                <a:r>
                  <a:rPr lang="en-IN" dirty="0"/>
                  <a:t>.</a:t>
                </a:r>
              </a:p>
              <a:p>
                <a:pPr>
                  <a:buNone/>
                </a:pPr>
                <a:endParaRPr lang="en-IN" dirty="0"/>
              </a:p>
              <a:p>
                <a:pPr>
                  <a:buNone/>
                </a:pPr>
                <a:r>
                  <a:rPr lang="en-IN" dirty="0"/>
                  <a:t>That extra safety margin depends on RTT </a:t>
                </a:r>
                <a:r>
                  <a:rPr lang="en-IN" dirty="0" err="1"/>
                  <a:t>variatio</a:t>
                </a:r>
                <a:endParaRPr lang="en-IN" dirty="0"/>
              </a:p>
            </p:txBody>
          </p:sp>
        </mc:Choice>
        <mc:Fallback xmlns="">
          <p:sp>
            <p:nvSpPr>
              <p:cNvPr id="7" name="TextBox 6">
                <a:extLst>
                  <a:ext uri="{FF2B5EF4-FFF2-40B4-BE49-F238E27FC236}">
                    <a16:creationId xmlns:a16="http://schemas.microsoft.com/office/drawing/2014/main" id="{661B46A2-2C99-8836-B01F-044546CE3254}"/>
                  </a:ext>
                </a:extLst>
              </p:cNvPr>
              <p:cNvSpPr txBox="1">
                <a:spLocks noRot="1" noChangeAspect="1" noMove="1" noResize="1" noEditPoints="1" noAdjustHandles="1" noChangeArrowheads="1" noChangeShapeType="1" noTextEdit="1"/>
              </p:cNvSpPr>
              <p:nvPr/>
            </p:nvSpPr>
            <p:spPr>
              <a:xfrm>
                <a:off x="156410" y="2741383"/>
                <a:ext cx="11879179" cy="3970318"/>
              </a:xfrm>
              <a:prstGeom prst="rect">
                <a:avLst/>
              </a:prstGeom>
              <a:blipFill>
                <a:blip r:embed="rId3"/>
                <a:stretch>
                  <a:fillRect l="-462" t="-922" b="-1536"/>
                </a:stretch>
              </a:blipFill>
            </p:spPr>
            <p:txBody>
              <a:bodyPr/>
              <a:lstStyle/>
              <a:p>
                <a:r>
                  <a:rPr lang="en-IN">
                    <a:noFill/>
                  </a:rPr>
                  <a:t> </a:t>
                </a:r>
              </a:p>
            </p:txBody>
          </p:sp>
        </mc:Fallback>
      </mc:AlternateContent>
    </p:spTree>
    <p:extLst>
      <p:ext uri="{BB962C8B-B14F-4D97-AF65-F5344CB8AC3E}">
        <p14:creationId xmlns:p14="http://schemas.microsoft.com/office/powerpoint/2010/main" val="25668387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4A3B0-8A5E-61C5-FF58-6194D1D8C86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15F8AA-752D-E160-C663-358E0CD5FB26}"/>
              </a:ext>
            </a:extLst>
          </p:cNvPr>
          <p:cNvSpPr txBox="1"/>
          <p:nvPr/>
        </p:nvSpPr>
        <p:spPr>
          <a:xfrm>
            <a:off x="208548" y="601397"/>
            <a:ext cx="2406315" cy="369332"/>
          </a:xfrm>
          <a:prstGeom prst="rect">
            <a:avLst/>
          </a:prstGeom>
          <a:noFill/>
        </p:spPr>
        <p:txBody>
          <a:bodyPr wrap="square">
            <a:spAutoFit/>
          </a:bodyPr>
          <a:lstStyle/>
          <a:p>
            <a:r>
              <a:rPr lang="en-IN" b="1" dirty="0">
                <a:highlight>
                  <a:srgbClr val="FFFF00"/>
                </a:highlight>
              </a:rPr>
              <a:t>RTT Variation Formula</a:t>
            </a:r>
          </a:p>
        </p:txBody>
      </p:sp>
      <p:pic>
        <p:nvPicPr>
          <p:cNvPr id="6" name="Picture 5">
            <a:extLst>
              <a:ext uri="{FF2B5EF4-FFF2-40B4-BE49-F238E27FC236}">
                <a16:creationId xmlns:a16="http://schemas.microsoft.com/office/drawing/2014/main" id="{D1437B53-3D2C-1188-9BE3-D5A74A818A25}"/>
              </a:ext>
            </a:extLst>
          </p:cNvPr>
          <p:cNvPicPr>
            <a:picLocks noChangeAspect="1"/>
          </p:cNvPicPr>
          <p:nvPr/>
        </p:nvPicPr>
        <p:blipFill>
          <a:blip r:embed="rId2"/>
          <a:stretch>
            <a:fillRect/>
          </a:stretch>
        </p:blipFill>
        <p:spPr>
          <a:xfrm>
            <a:off x="208548" y="970729"/>
            <a:ext cx="6192114" cy="628738"/>
          </a:xfrm>
          <a:prstGeom prst="rect">
            <a:avLst/>
          </a:prstGeom>
        </p:spPr>
      </p:pic>
      <p:sp>
        <p:nvSpPr>
          <p:cNvPr id="8" name="TextBox 7">
            <a:extLst>
              <a:ext uri="{FF2B5EF4-FFF2-40B4-BE49-F238E27FC236}">
                <a16:creationId xmlns:a16="http://schemas.microsoft.com/office/drawing/2014/main" id="{CAED5FC6-C8EA-0D63-75BA-E3E4CA11AF3A}"/>
              </a:ext>
            </a:extLst>
          </p:cNvPr>
          <p:cNvSpPr txBox="1"/>
          <p:nvPr/>
        </p:nvSpPr>
        <p:spPr>
          <a:xfrm>
            <a:off x="2842619" y="1599467"/>
            <a:ext cx="461986" cy="369332"/>
          </a:xfrm>
          <a:prstGeom prst="rect">
            <a:avLst/>
          </a:prstGeom>
          <a:noFill/>
        </p:spPr>
        <p:txBody>
          <a:bodyPr wrap="none" rtlCol="0">
            <a:spAutoFit/>
          </a:bodyPr>
          <a:lstStyle/>
          <a:p>
            <a:r>
              <a:rPr lang="en-US" dirty="0"/>
              <a:t>OR</a:t>
            </a:r>
            <a:endParaRPr lang="en-IN" dirty="0"/>
          </a:p>
        </p:txBody>
      </p:sp>
      <p:pic>
        <p:nvPicPr>
          <p:cNvPr id="10" name="Picture 9">
            <a:extLst>
              <a:ext uri="{FF2B5EF4-FFF2-40B4-BE49-F238E27FC236}">
                <a16:creationId xmlns:a16="http://schemas.microsoft.com/office/drawing/2014/main" id="{88649DCC-68BA-58EF-5021-0A4DE3C8EB99}"/>
              </a:ext>
            </a:extLst>
          </p:cNvPr>
          <p:cNvPicPr>
            <a:picLocks noChangeAspect="1"/>
          </p:cNvPicPr>
          <p:nvPr/>
        </p:nvPicPr>
        <p:blipFill>
          <a:blip r:embed="rId3"/>
          <a:stretch>
            <a:fillRect/>
          </a:stretch>
        </p:blipFill>
        <p:spPr>
          <a:xfrm>
            <a:off x="208548" y="1968799"/>
            <a:ext cx="7573432" cy="695422"/>
          </a:xfrm>
          <a:prstGeom prst="rect">
            <a:avLst/>
          </a:prstGeom>
        </p:spPr>
      </p:pic>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10A08972-9629-5B3A-618C-E97964F9FCE4}"/>
                  </a:ext>
                </a:extLst>
              </p:cNvPr>
              <p:cNvGraphicFramePr>
                <a:graphicFrameLocks noGrp="1"/>
              </p:cNvGraphicFramePr>
              <p:nvPr>
                <p:extLst>
                  <p:ext uri="{D42A27DB-BD31-4B8C-83A1-F6EECF244321}">
                    <p14:modId xmlns:p14="http://schemas.microsoft.com/office/powerpoint/2010/main" val="3284800335"/>
                  </p:ext>
                </p:extLst>
              </p:nvPr>
            </p:nvGraphicFramePr>
            <p:xfrm>
              <a:off x="443831" y="3009671"/>
              <a:ext cx="8128000" cy="3516249"/>
            </p:xfrm>
            <a:graphic>
              <a:graphicData uri="http://schemas.openxmlformats.org/drawingml/2006/table">
                <a:tbl>
                  <a:tblPr firstRow="1" bandRow="1">
                    <a:tableStyleId>{5C22544A-7EE6-4342-B048-85BDC9FD1C3A}</a:tableStyleId>
                  </a:tblPr>
                  <a:tblGrid>
                    <a:gridCol w="3117516">
                      <a:extLst>
                        <a:ext uri="{9D8B030D-6E8A-4147-A177-3AD203B41FA5}">
                          <a16:colId xmlns:a16="http://schemas.microsoft.com/office/drawing/2014/main" val="868542552"/>
                        </a:ext>
                      </a:extLst>
                    </a:gridCol>
                    <a:gridCol w="5010484">
                      <a:extLst>
                        <a:ext uri="{9D8B030D-6E8A-4147-A177-3AD203B41FA5}">
                          <a16:colId xmlns:a16="http://schemas.microsoft.com/office/drawing/2014/main" val="3018294597"/>
                        </a:ext>
                      </a:extLst>
                    </a:gridCol>
                  </a:tblGrid>
                  <a:tr h="0">
                    <a:tc>
                      <a:txBody>
                        <a:bodyPr/>
                        <a:lstStyle/>
                        <a:p>
                          <a:pPr>
                            <a:buNone/>
                          </a:pPr>
                          <a:r>
                            <a:rPr lang="en-IN" dirty="0"/>
                            <a:t>Term</a:t>
                          </a:r>
                        </a:p>
                      </a:txBody>
                      <a:tcPr anchor="ctr"/>
                    </a:tc>
                    <a:tc>
                      <a:txBody>
                        <a:bodyPr/>
                        <a:lstStyle/>
                        <a:p>
                          <a:pPr>
                            <a:buNone/>
                          </a:pPr>
                          <a:r>
                            <a:rPr lang="en-IN" dirty="0"/>
                            <a:t>Meaning</a:t>
                          </a:r>
                        </a:p>
                      </a:txBody>
                      <a:tcPr anchor="ctr"/>
                    </a:tc>
                    <a:extLst>
                      <a:ext uri="{0D108BD9-81ED-4DB2-BD59-A6C34878D82A}">
                        <a16:rowId xmlns:a16="http://schemas.microsoft.com/office/drawing/2014/main" val="2874699352"/>
                      </a:ext>
                    </a:extLst>
                  </a:tr>
                  <a:tr h="370840">
                    <a:tc>
                      <a:txBody>
                        <a:bodyPr/>
                        <a:lstStyle/>
                        <a:p>
                          <a:pPr>
                            <a:buNone/>
                          </a:pPr>
                          <a:r>
                            <a:rPr lang="en-IN"/>
                            <a:t>New </a:t>
                          </a:r>
                          <a14:m>
                            <m:oMath xmlns:m="http://schemas.openxmlformats.org/officeDocument/2006/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𝑣𝑎𝑟</m:t>
                                  </m:r>
                                </m:sub>
                              </m:sSub>
                            </m:oMath>
                          </a14:m>
                          <a:endParaRPr lang="en-IN"/>
                        </a:p>
                      </a:txBody>
                      <a:tcPr anchor="ctr"/>
                    </a:tc>
                    <a:tc>
                      <a:txBody>
                        <a:bodyPr/>
                        <a:lstStyle/>
                        <a:p>
                          <a:pPr>
                            <a:buNone/>
                          </a:pPr>
                          <a:r>
                            <a:rPr lang="en-IN"/>
                            <a:t>New RTT variation that we are calculating</a:t>
                          </a:r>
                        </a:p>
                      </a:txBody>
                      <a:tcPr anchor="ctr"/>
                    </a:tc>
                    <a:extLst>
                      <a:ext uri="{0D108BD9-81ED-4DB2-BD59-A6C34878D82A}">
                        <a16:rowId xmlns:a16="http://schemas.microsoft.com/office/drawing/2014/main" val="2523753196"/>
                      </a:ext>
                    </a:extLst>
                  </a:tr>
                  <a:tr h="370840">
                    <a:tc>
                      <a:txBody>
                        <a:bodyPr/>
                        <a:lstStyle/>
                        <a:p>
                          <a:pPr>
                            <a:buNone/>
                          </a:pPr>
                          <a:r>
                            <a:rPr lang="en-IN"/>
                            <a:t>Old </a:t>
                          </a:r>
                          <a14:m>
                            <m:oMath xmlns:m="http://schemas.openxmlformats.org/officeDocument/2006/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𝑣𝑎𝑟</m:t>
                                  </m:r>
                                </m:sub>
                              </m:sSub>
                            </m:oMath>
                          </a14:m>
                          <a:endParaRPr lang="en-IN"/>
                        </a:p>
                      </a:txBody>
                      <a:tcPr anchor="ctr"/>
                    </a:tc>
                    <a:tc>
                      <a:txBody>
                        <a:bodyPr/>
                        <a:lstStyle/>
                        <a:p>
                          <a:pPr>
                            <a:buNone/>
                          </a:pPr>
                          <a:r>
                            <a:rPr lang="en-IN"/>
                            <a:t>Previous RTT variation</a:t>
                          </a:r>
                        </a:p>
                      </a:txBody>
                      <a:tcPr anchor="ctr"/>
                    </a:tc>
                    <a:extLst>
                      <a:ext uri="{0D108BD9-81ED-4DB2-BD59-A6C34878D82A}">
                        <a16:rowId xmlns:a16="http://schemas.microsoft.com/office/drawing/2014/main" val="149593699"/>
                      </a:ext>
                    </a:extLst>
                  </a:tr>
                  <a:tr h="370840">
                    <a:tc>
                      <a:txBody>
                        <a:bodyPr/>
                        <a:lstStyle/>
                        <a:p>
                          <a:pPr>
                            <a:buNone/>
                          </a:pPr>
                          <a14:m>
                            <m:oMathPara xmlns:m="http://schemas.openxmlformats.org/officeDocument/2006/math">
                              <m:o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𝑠𝑎𝑚𝑝𝑙𝑒</m:t>
                                    </m:r>
                                  </m:sub>
                                </m:sSub>
                              </m:oMath>
                            </m:oMathPara>
                          </a14:m>
                          <a:endParaRPr lang="en-IN"/>
                        </a:p>
                      </a:txBody>
                      <a:tcPr anchor="ctr"/>
                    </a:tc>
                    <a:tc>
                      <a:txBody>
                        <a:bodyPr/>
                        <a:lstStyle/>
                        <a:p>
                          <a:pPr>
                            <a:buNone/>
                          </a:pPr>
                          <a:r>
                            <a:rPr lang="en-IN"/>
                            <a:t>Latest RTT measured by TCP</a:t>
                          </a:r>
                        </a:p>
                      </a:txBody>
                      <a:tcPr anchor="ctr"/>
                    </a:tc>
                    <a:extLst>
                      <a:ext uri="{0D108BD9-81ED-4DB2-BD59-A6C34878D82A}">
                        <a16:rowId xmlns:a16="http://schemas.microsoft.com/office/drawing/2014/main" val="2139355811"/>
                      </a:ext>
                    </a:extLst>
                  </a:tr>
                  <a:tr h="370840">
                    <a:tc>
                      <a:txBody>
                        <a:bodyPr/>
                        <a:lstStyle/>
                        <a:p>
                          <a:pPr>
                            <a:buNone/>
                          </a:pPr>
                          <a14:m>
                            <m:oMathPara xmlns:m="http://schemas.openxmlformats.org/officeDocument/2006/math">
                              <m:o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𝑒𝑠𝑡</m:t>
                                    </m:r>
                                  </m:sub>
                                </m:sSub>
                              </m:oMath>
                            </m:oMathPara>
                          </a14:m>
                          <a:endParaRPr lang="en-IN"/>
                        </a:p>
                      </a:txBody>
                      <a:tcPr anchor="ctr"/>
                    </a:tc>
                    <a:tc>
                      <a:txBody>
                        <a:bodyPr/>
                        <a:lstStyle/>
                        <a:p>
                          <a:pPr>
                            <a:buNone/>
                          </a:pPr>
                          <a:r>
                            <a:rPr lang="en-IN"/>
                            <a:t>Current Estimated RTT</a:t>
                          </a:r>
                        </a:p>
                      </a:txBody>
                      <a:tcPr anchor="ctr"/>
                    </a:tc>
                    <a:extLst>
                      <a:ext uri="{0D108BD9-81ED-4DB2-BD59-A6C34878D82A}">
                        <a16:rowId xmlns:a16="http://schemas.microsoft.com/office/drawing/2014/main" val="1347090264"/>
                      </a:ext>
                    </a:extLst>
                  </a:tr>
                  <a:tr h="370840">
                    <a:tc>
                      <a:txBody>
                        <a:bodyPr/>
                        <a:lstStyle/>
                        <a:p>
                          <a:pPr>
                            <a:buNone/>
                          </a:pPr>
                          <a14:m>
                            <m:oMathPara xmlns:m="http://schemas.openxmlformats.org/officeDocument/2006/math">
                              <m:oMath>
                                <m:r>
                                  <a:rPr lang="en-IN" i="1">
                                    <a:latin typeface="Cambria Math" panose="02040503050406030204" pitchFamily="18" charset="0"/>
                                  </a:rPr>
                                  <m:t>𝛽</m:t>
                                </m:r>
                              </m:oMath>
                            </m:oMathPara>
                          </a14:m>
                          <a:endParaRPr lang="en-IN"/>
                        </a:p>
                      </a:txBody>
                      <a:tcPr anchor="ctr"/>
                    </a:tc>
                    <a:tc>
                      <a:txBody>
                        <a:bodyPr/>
                        <a:lstStyle/>
                        <a:p>
                          <a:pPr>
                            <a:buNone/>
                          </a:pPr>
                          <a:r>
                            <a:rPr lang="en-IN"/>
                            <a:t>Decides how much importance is given to the latest change</a:t>
                          </a:r>
                        </a:p>
                      </a:txBody>
                      <a:tcPr anchor="ctr"/>
                    </a:tc>
                    <a:extLst>
                      <a:ext uri="{0D108BD9-81ED-4DB2-BD59-A6C34878D82A}">
                        <a16:rowId xmlns:a16="http://schemas.microsoft.com/office/drawing/2014/main" val="3578959603"/>
                      </a:ext>
                    </a:extLst>
                  </a:tr>
                  <a:tr h="370840">
                    <a:tc>
                      <a:txBody>
                        <a:bodyPr/>
                        <a:lstStyle/>
                        <a:p>
                          <a:pPr>
                            <a:buNone/>
                          </a:pPr>
                          <a14:m>
                            <m:oMathPara xmlns:m="http://schemas.openxmlformats.org/officeDocument/2006/math">
                              <m:oMath>
                                <m:r>
                                  <a:rPr lang="en-IN">
                                    <a:latin typeface="Cambria Math" panose="02040503050406030204" pitchFamily="18" charset="0"/>
                                  </a:rPr>
                                  <m:t>1</m:t>
                                </m:r>
                                <m:r>
                                  <a:rPr lang="en-IN" i="0">
                                    <a:latin typeface="Cambria Math" panose="02040503050406030204" pitchFamily="18" charset="0"/>
                                  </a:rPr>
                                  <m:t>−</m:t>
                                </m:r>
                                <m:r>
                                  <a:rPr lang="en-IN" i="1">
                                    <a:latin typeface="Cambria Math" panose="02040503050406030204" pitchFamily="18" charset="0"/>
                                  </a:rPr>
                                  <m:t>𝛽</m:t>
                                </m:r>
                              </m:oMath>
                            </m:oMathPara>
                          </a14:m>
                          <a:endParaRPr lang="en-IN"/>
                        </a:p>
                      </a:txBody>
                      <a:tcPr anchor="ctr"/>
                    </a:tc>
                    <a:tc>
                      <a:txBody>
                        <a:bodyPr/>
                        <a:lstStyle/>
                        <a:p>
                          <a:pPr>
                            <a:buNone/>
                          </a:pPr>
                          <a:r>
                            <a:rPr lang="en-IN"/>
                            <a:t>Decides how much importance is given to the old variation</a:t>
                          </a:r>
                        </a:p>
                      </a:txBody>
                      <a:tcPr anchor="ctr"/>
                    </a:tc>
                    <a:extLst>
                      <a:ext uri="{0D108BD9-81ED-4DB2-BD59-A6C34878D82A}">
                        <a16:rowId xmlns:a16="http://schemas.microsoft.com/office/drawing/2014/main" val="1525704834"/>
                      </a:ext>
                    </a:extLst>
                  </a:tr>
                  <a:tr h="370840">
                    <a:tc>
                      <a:txBody>
                        <a:bodyPr/>
                        <a:lstStyle/>
                        <a:p>
                          <a:pPr>
                            <a:buNone/>
                          </a:pPr>
                          <a:r>
                            <a:rPr lang="en-IN">
                              <a:latin typeface="Courier New" panose="02070309020205020404" pitchFamily="49" charset="0"/>
                            </a:rPr>
                            <a:t>| |</a:t>
                          </a:r>
                          <a:endParaRPr lang="en-IN"/>
                        </a:p>
                      </a:txBody>
                      <a:tcPr anchor="ctr"/>
                    </a:tc>
                    <a:tc>
                      <a:txBody>
                        <a:bodyPr/>
                        <a:lstStyle/>
                        <a:p>
                          <a:pPr>
                            <a:buNone/>
                          </a:pPr>
                          <a:r>
                            <a:rPr lang="en-IN" dirty="0"/>
                            <a:t>Take only the positive difference</a:t>
                          </a:r>
                        </a:p>
                      </a:txBody>
                      <a:tcPr anchor="ctr"/>
                    </a:tc>
                    <a:extLst>
                      <a:ext uri="{0D108BD9-81ED-4DB2-BD59-A6C34878D82A}">
                        <a16:rowId xmlns:a16="http://schemas.microsoft.com/office/drawing/2014/main" val="3009580185"/>
                      </a:ext>
                    </a:extLst>
                  </a:tr>
                </a:tbl>
              </a:graphicData>
            </a:graphic>
          </p:graphicFrame>
        </mc:Choice>
        <mc:Fallback xmlns="">
          <p:graphicFrame>
            <p:nvGraphicFramePr>
              <p:cNvPr id="11" name="Table 10">
                <a:extLst>
                  <a:ext uri="{FF2B5EF4-FFF2-40B4-BE49-F238E27FC236}">
                    <a16:creationId xmlns:a16="http://schemas.microsoft.com/office/drawing/2014/main" id="{10A08972-9629-5B3A-618C-E97964F9FCE4}"/>
                  </a:ext>
                </a:extLst>
              </p:cNvPr>
              <p:cNvGraphicFramePr>
                <a:graphicFrameLocks noGrp="1"/>
              </p:cNvGraphicFramePr>
              <p:nvPr>
                <p:extLst>
                  <p:ext uri="{D42A27DB-BD31-4B8C-83A1-F6EECF244321}">
                    <p14:modId xmlns:p14="http://schemas.microsoft.com/office/powerpoint/2010/main" val="3284800335"/>
                  </p:ext>
                </p:extLst>
              </p:nvPr>
            </p:nvGraphicFramePr>
            <p:xfrm>
              <a:off x="443831" y="3009671"/>
              <a:ext cx="8128000" cy="3516249"/>
            </p:xfrm>
            <a:graphic>
              <a:graphicData uri="http://schemas.openxmlformats.org/drawingml/2006/table">
                <a:tbl>
                  <a:tblPr firstRow="1" bandRow="1">
                    <a:tableStyleId>{5C22544A-7EE6-4342-B048-85BDC9FD1C3A}</a:tableStyleId>
                  </a:tblPr>
                  <a:tblGrid>
                    <a:gridCol w="3117516">
                      <a:extLst>
                        <a:ext uri="{9D8B030D-6E8A-4147-A177-3AD203B41FA5}">
                          <a16:colId xmlns:a16="http://schemas.microsoft.com/office/drawing/2014/main" val="868542552"/>
                        </a:ext>
                      </a:extLst>
                    </a:gridCol>
                    <a:gridCol w="5010484">
                      <a:extLst>
                        <a:ext uri="{9D8B030D-6E8A-4147-A177-3AD203B41FA5}">
                          <a16:colId xmlns:a16="http://schemas.microsoft.com/office/drawing/2014/main" val="3018294597"/>
                        </a:ext>
                      </a:extLst>
                    </a:gridCol>
                  </a:tblGrid>
                  <a:tr h="365760">
                    <a:tc>
                      <a:txBody>
                        <a:bodyPr/>
                        <a:lstStyle/>
                        <a:p>
                          <a:pPr>
                            <a:buNone/>
                          </a:pPr>
                          <a:r>
                            <a:rPr lang="en-IN" dirty="0"/>
                            <a:t>Term</a:t>
                          </a:r>
                        </a:p>
                      </a:txBody>
                      <a:tcPr anchor="ctr"/>
                    </a:tc>
                    <a:tc>
                      <a:txBody>
                        <a:bodyPr/>
                        <a:lstStyle/>
                        <a:p>
                          <a:pPr>
                            <a:buNone/>
                          </a:pPr>
                          <a:r>
                            <a:rPr lang="en-IN" dirty="0"/>
                            <a:t>Meaning</a:t>
                          </a:r>
                        </a:p>
                      </a:txBody>
                      <a:tcPr anchor="ctr"/>
                    </a:tc>
                    <a:extLst>
                      <a:ext uri="{0D108BD9-81ED-4DB2-BD59-A6C34878D82A}">
                        <a16:rowId xmlns:a16="http://schemas.microsoft.com/office/drawing/2014/main" val="2874699352"/>
                      </a:ext>
                    </a:extLst>
                  </a:tr>
                  <a:tr h="370840">
                    <a:tc>
                      <a:txBody>
                        <a:bodyPr/>
                        <a:lstStyle/>
                        <a:p>
                          <a:endParaRPr lang="en-US"/>
                        </a:p>
                      </a:txBody>
                      <a:tcPr anchor="ctr">
                        <a:blipFill>
                          <a:blip r:embed="rId4"/>
                          <a:stretch>
                            <a:fillRect l="-195" t="-106557" r="-161523" b="-775410"/>
                          </a:stretch>
                        </a:blipFill>
                      </a:tcPr>
                    </a:tc>
                    <a:tc>
                      <a:txBody>
                        <a:bodyPr/>
                        <a:lstStyle/>
                        <a:p>
                          <a:pPr>
                            <a:buNone/>
                          </a:pPr>
                          <a:r>
                            <a:rPr lang="en-IN"/>
                            <a:t>New RTT variation that we are calculating</a:t>
                          </a:r>
                        </a:p>
                      </a:txBody>
                      <a:tcPr anchor="ctr"/>
                    </a:tc>
                    <a:extLst>
                      <a:ext uri="{0D108BD9-81ED-4DB2-BD59-A6C34878D82A}">
                        <a16:rowId xmlns:a16="http://schemas.microsoft.com/office/drawing/2014/main" val="2523753196"/>
                      </a:ext>
                    </a:extLst>
                  </a:tr>
                  <a:tr h="370840">
                    <a:tc>
                      <a:txBody>
                        <a:bodyPr/>
                        <a:lstStyle/>
                        <a:p>
                          <a:endParaRPr lang="en-US"/>
                        </a:p>
                      </a:txBody>
                      <a:tcPr anchor="ctr">
                        <a:blipFill>
                          <a:blip r:embed="rId4"/>
                          <a:stretch>
                            <a:fillRect l="-195" t="-206557" r="-161523" b="-675410"/>
                          </a:stretch>
                        </a:blipFill>
                      </a:tcPr>
                    </a:tc>
                    <a:tc>
                      <a:txBody>
                        <a:bodyPr/>
                        <a:lstStyle/>
                        <a:p>
                          <a:pPr>
                            <a:buNone/>
                          </a:pPr>
                          <a:r>
                            <a:rPr lang="en-IN"/>
                            <a:t>Previous RTT variation</a:t>
                          </a:r>
                        </a:p>
                      </a:txBody>
                      <a:tcPr anchor="ctr"/>
                    </a:tc>
                    <a:extLst>
                      <a:ext uri="{0D108BD9-81ED-4DB2-BD59-A6C34878D82A}">
                        <a16:rowId xmlns:a16="http://schemas.microsoft.com/office/drawing/2014/main" val="149593699"/>
                      </a:ext>
                    </a:extLst>
                  </a:tr>
                  <a:tr h="386969">
                    <a:tc>
                      <a:txBody>
                        <a:bodyPr/>
                        <a:lstStyle/>
                        <a:p>
                          <a:endParaRPr lang="en-US"/>
                        </a:p>
                      </a:txBody>
                      <a:tcPr anchor="ctr">
                        <a:blipFill>
                          <a:blip r:embed="rId4"/>
                          <a:stretch>
                            <a:fillRect l="-195" t="-292188" r="-161523" b="-543750"/>
                          </a:stretch>
                        </a:blipFill>
                      </a:tcPr>
                    </a:tc>
                    <a:tc>
                      <a:txBody>
                        <a:bodyPr/>
                        <a:lstStyle/>
                        <a:p>
                          <a:pPr>
                            <a:buNone/>
                          </a:pPr>
                          <a:r>
                            <a:rPr lang="en-IN"/>
                            <a:t>Latest RTT measured by TCP</a:t>
                          </a:r>
                        </a:p>
                      </a:txBody>
                      <a:tcPr anchor="ctr"/>
                    </a:tc>
                    <a:extLst>
                      <a:ext uri="{0D108BD9-81ED-4DB2-BD59-A6C34878D82A}">
                        <a16:rowId xmlns:a16="http://schemas.microsoft.com/office/drawing/2014/main" val="2139355811"/>
                      </a:ext>
                    </a:extLst>
                  </a:tr>
                  <a:tr h="370840">
                    <a:tc>
                      <a:txBody>
                        <a:bodyPr/>
                        <a:lstStyle/>
                        <a:p>
                          <a:endParaRPr lang="en-US"/>
                        </a:p>
                      </a:txBody>
                      <a:tcPr anchor="ctr">
                        <a:blipFill>
                          <a:blip r:embed="rId4"/>
                          <a:stretch>
                            <a:fillRect l="-195" t="-411475" r="-161523" b="-470492"/>
                          </a:stretch>
                        </a:blipFill>
                      </a:tcPr>
                    </a:tc>
                    <a:tc>
                      <a:txBody>
                        <a:bodyPr/>
                        <a:lstStyle/>
                        <a:p>
                          <a:pPr>
                            <a:buNone/>
                          </a:pPr>
                          <a:r>
                            <a:rPr lang="en-IN"/>
                            <a:t>Current Estimated RTT</a:t>
                          </a:r>
                        </a:p>
                      </a:txBody>
                      <a:tcPr anchor="ctr"/>
                    </a:tc>
                    <a:extLst>
                      <a:ext uri="{0D108BD9-81ED-4DB2-BD59-A6C34878D82A}">
                        <a16:rowId xmlns:a16="http://schemas.microsoft.com/office/drawing/2014/main" val="1347090264"/>
                      </a:ext>
                    </a:extLst>
                  </a:tr>
                  <a:tr h="640080">
                    <a:tc>
                      <a:txBody>
                        <a:bodyPr/>
                        <a:lstStyle/>
                        <a:p>
                          <a:endParaRPr lang="en-US"/>
                        </a:p>
                      </a:txBody>
                      <a:tcPr anchor="ctr">
                        <a:blipFill>
                          <a:blip r:embed="rId4"/>
                          <a:stretch>
                            <a:fillRect l="-195" t="-297143" r="-161523" b="-173333"/>
                          </a:stretch>
                        </a:blipFill>
                      </a:tcPr>
                    </a:tc>
                    <a:tc>
                      <a:txBody>
                        <a:bodyPr/>
                        <a:lstStyle/>
                        <a:p>
                          <a:pPr>
                            <a:buNone/>
                          </a:pPr>
                          <a:r>
                            <a:rPr lang="en-IN"/>
                            <a:t>Decides how much importance is given to the latest change</a:t>
                          </a:r>
                        </a:p>
                      </a:txBody>
                      <a:tcPr anchor="ctr"/>
                    </a:tc>
                    <a:extLst>
                      <a:ext uri="{0D108BD9-81ED-4DB2-BD59-A6C34878D82A}">
                        <a16:rowId xmlns:a16="http://schemas.microsoft.com/office/drawing/2014/main" val="3578959603"/>
                      </a:ext>
                    </a:extLst>
                  </a:tr>
                  <a:tr h="640080">
                    <a:tc>
                      <a:txBody>
                        <a:bodyPr/>
                        <a:lstStyle/>
                        <a:p>
                          <a:endParaRPr lang="en-US"/>
                        </a:p>
                      </a:txBody>
                      <a:tcPr anchor="ctr">
                        <a:blipFill>
                          <a:blip r:embed="rId4"/>
                          <a:stretch>
                            <a:fillRect l="-195" t="-397143" r="-161523" b="-73333"/>
                          </a:stretch>
                        </a:blipFill>
                      </a:tcPr>
                    </a:tc>
                    <a:tc>
                      <a:txBody>
                        <a:bodyPr/>
                        <a:lstStyle/>
                        <a:p>
                          <a:pPr>
                            <a:buNone/>
                          </a:pPr>
                          <a:r>
                            <a:rPr lang="en-IN"/>
                            <a:t>Decides how much importance is given to the old variation</a:t>
                          </a:r>
                        </a:p>
                      </a:txBody>
                      <a:tcPr anchor="ctr"/>
                    </a:tc>
                    <a:extLst>
                      <a:ext uri="{0D108BD9-81ED-4DB2-BD59-A6C34878D82A}">
                        <a16:rowId xmlns:a16="http://schemas.microsoft.com/office/drawing/2014/main" val="1525704834"/>
                      </a:ext>
                    </a:extLst>
                  </a:tr>
                  <a:tr h="370840">
                    <a:tc>
                      <a:txBody>
                        <a:bodyPr/>
                        <a:lstStyle/>
                        <a:p>
                          <a:pPr>
                            <a:buNone/>
                          </a:pPr>
                          <a:r>
                            <a:rPr lang="en-IN">
                              <a:latin typeface="Courier New" panose="02070309020205020404" pitchFamily="49" charset="0"/>
                            </a:rPr>
                            <a:t>| |</a:t>
                          </a:r>
                          <a:endParaRPr lang="en-IN"/>
                        </a:p>
                      </a:txBody>
                      <a:tcPr anchor="ctr"/>
                    </a:tc>
                    <a:tc>
                      <a:txBody>
                        <a:bodyPr/>
                        <a:lstStyle/>
                        <a:p>
                          <a:pPr>
                            <a:buNone/>
                          </a:pPr>
                          <a:r>
                            <a:rPr lang="en-IN" dirty="0"/>
                            <a:t>Take only the positive difference</a:t>
                          </a:r>
                        </a:p>
                      </a:txBody>
                      <a:tcPr anchor="ctr"/>
                    </a:tc>
                    <a:extLst>
                      <a:ext uri="{0D108BD9-81ED-4DB2-BD59-A6C34878D82A}">
                        <a16:rowId xmlns:a16="http://schemas.microsoft.com/office/drawing/2014/main" val="3009580185"/>
                      </a:ext>
                    </a:extLst>
                  </a:tr>
                </a:tbl>
              </a:graphicData>
            </a:graphic>
          </p:graphicFrame>
        </mc:Fallback>
      </mc:AlternateContent>
    </p:spTree>
    <p:extLst>
      <p:ext uri="{BB962C8B-B14F-4D97-AF65-F5344CB8AC3E}">
        <p14:creationId xmlns:p14="http://schemas.microsoft.com/office/powerpoint/2010/main" val="39700518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0239-3C98-29D6-EA00-F3BCFDF46F3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2C56B14-C4B4-FAAD-98C5-BF2DC8E03D29}"/>
                  </a:ext>
                </a:extLst>
              </p:cNvPr>
              <p:cNvSpPr txBox="1"/>
              <p:nvPr/>
            </p:nvSpPr>
            <p:spPr>
              <a:xfrm>
                <a:off x="256673" y="614167"/>
                <a:ext cx="4572001" cy="4850943"/>
              </a:xfrm>
              <a:prstGeom prst="rect">
                <a:avLst/>
              </a:prstGeom>
              <a:noFill/>
            </p:spPr>
            <p:txBody>
              <a:bodyPr wrap="square">
                <a:spAutoFit/>
              </a:bodyPr>
              <a:lstStyle/>
              <a:p>
                <a:pPr>
                  <a:buNone/>
                </a:pPr>
                <a:r>
                  <a:rPr lang="en-IN" b="1" dirty="0"/>
                  <a:t>What Does This Part Mean?</a:t>
                </a:r>
              </a:p>
              <a:p>
                <a:pPr>
                  <a:buNone/>
                </a:pPr>
                <a:r>
                  <a:rPr lang="en-IN" dirty="0"/>
                  <a:t>The most important part is:</a:t>
                </a:r>
              </a:p>
              <a:p>
                <a:pPr>
                  <a:buNone/>
                </a:pPr>
                <a14:m>
                  <m:oMathPara xmlns:m="http://schemas.openxmlformats.org/officeDocument/2006/math">
                    <m:oMath>
                      <m:r>
                        <a:rPr lang="en-IN">
                          <a:latin typeface="Cambria Math" panose="02040503050406030204" pitchFamily="18" charset="0"/>
                        </a:rPr>
                        <m:t>∣</m:t>
                      </m:r>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𝑠𝑎𝑚𝑝𝑙𝑒</m:t>
                          </m:r>
                        </m:sub>
                      </m:sSub>
                      <m:r>
                        <a:rPr lang="en-IN" i="0">
                          <a:latin typeface="Cambria Math" panose="02040503050406030204" pitchFamily="18" charset="0"/>
                        </a:rPr>
                        <m:t>−</m:t>
                      </m:r>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𝑒𝑠𝑡</m:t>
                          </m:r>
                        </m:sub>
                      </m:sSub>
                      <m:r>
                        <a:rPr lang="en-IN" i="0">
                          <a:latin typeface="Cambria Math" panose="02040503050406030204" pitchFamily="18" charset="0"/>
                        </a:rPr>
                        <m:t>∣</m:t>
                      </m:r>
                    </m:oMath>
                  </m:oMathPara>
                </a14:m>
                <a:endParaRPr lang="en-IN" dirty="0"/>
              </a:p>
              <a:p>
                <a:pPr>
                  <a:buNone/>
                </a:pPr>
                <a:endParaRPr lang="en-IN" dirty="0"/>
              </a:p>
              <a:p>
                <a:pPr>
                  <a:buNone/>
                </a:pPr>
                <a:r>
                  <a:rPr lang="en-IN" dirty="0"/>
                  <a:t>Suppose:</a:t>
                </a:r>
              </a:p>
              <a:p>
                <a:pPr>
                  <a:buNone/>
                </a:pPr>
                <a14:m>
                  <m:oMathPara xmlns:m="http://schemas.openxmlformats.org/officeDocument/2006/math">
                    <m:o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𝑠𝑎𝑚𝑝𝑙𝑒</m:t>
                          </m:r>
                        </m:sub>
                      </m:sSub>
                      <m:r>
                        <a:rPr lang="en-IN" i="0">
                          <a:latin typeface="Cambria Math" panose="02040503050406030204" pitchFamily="18" charset="0"/>
                        </a:rPr>
                        <m:t>=120</m:t>
                      </m:r>
                      <m:r>
                        <a:rPr lang="en-IN" i="1">
                          <a:latin typeface="Cambria Math" panose="02040503050406030204" pitchFamily="18" charset="0"/>
                        </a:rPr>
                        <m:t>𝑚𝑠</m:t>
                      </m:r>
                    </m:oMath>
                  </m:oMathPara>
                </a14:m>
                <a:endParaRPr lang="en-IN" dirty="0"/>
              </a:p>
              <a:p>
                <a:pPr>
                  <a:buNone/>
                </a:pPr>
                <a:r>
                  <a:rPr lang="en-IN" dirty="0"/>
                  <a:t>and:</a:t>
                </a:r>
              </a:p>
              <a:p>
                <a:pPr>
                  <a:buNone/>
                </a:pPr>
                <a14:m>
                  <m:oMathPara xmlns:m="http://schemas.openxmlformats.org/officeDocument/2006/math">
                    <m:oMath>
                      <m:r>
                        <a:rPr lang="en-IN" i="1">
                          <a:latin typeface="Cambria Math" panose="02040503050406030204" pitchFamily="18" charset="0"/>
                        </a:rPr>
                        <m:t>𝑅𝑇</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𝑒𝑠𝑡</m:t>
                          </m:r>
                        </m:sub>
                      </m:sSub>
                      <m:r>
                        <a:rPr lang="en-IN" i="0">
                          <a:latin typeface="Cambria Math" panose="02040503050406030204" pitchFamily="18" charset="0"/>
                        </a:rPr>
                        <m:t>=102.5</m:t>
                      </m:r>
                      <m:r>
                        <a:rPr lang="en-IN" i="1">
                          <a:latin typeface="Cambria Math" panose="02040503050406030204" pitchFamily="18" charset="0"/>
                        </a:rPr>
                        <m:t>𝑚𝑠</m:t>
                      </m:r>
                    </m:oMath>
                  </m:oMathPara>
                </a14:m>
                <a:endParaRPr lang="en-IN" dirty="0"/>
              </a:p>
              <a:p>
                <a:pPr>
                  <a:buNone/>
                </a:pPr>
                <a:r>
                  <a:rPr lang="en-IN" dirty="0"/>
                  <a:t>Then:</a:t>
                </a:r>
              </a:p>
              <a:p>
                <a:pPr>
                  <a:buNone/>
                </a:pPr>
                <a14:m>
                  <m:oMathPara xmlns:m="http://schemas.openxmlformats.org/officeDocument/2006/math">
                    <m:oMath>
                      <m:r>
                        <a:rPr lang="en-IN">
                          <a:latin typeface="Cambria Math" panose="02040503050406030204" pitchFamily="18" charset="0"/>
                        </a:rPr>
                        <m:t>∣</m:t>
                      </m:r>
                      <m:r>
                        <a:rPr lang="en-IN" i="0">
                          <a:latin typeface="Cambria Math" panose="02040503050406030204" pitchFamily="18" charset="0"/>
                        </a:rPr>
                        <m:t>120−102.5∣</m:t>
                      </m:r>
                    </m:oMath>
                  </m:oMathPara>
                </a14:m>
                <a:endParaRPr lang="en-IN" dirty="0"/>
              </a:p>
              <a:p>
                <a:pPr>
                  <a:buNone/>
                </a:pPr>
                <a14:m>
                  <m:oMathPara xmlns:m="http://schemas.openxmlformats.org/officeDocument/2006/math">
                    <m:oMath>
                      <m:r>
                        <a:rPr lang="en-IN">
                          <a:latin typeface="Cambria Math" panose="02040503050406030204" pitchFamily="18" charset="0"/>
                        </a:rPr>
                        <m:t>=</m:t>
                      </m:r>
                      <m:r>
                        <a:rPr lang="en-IN" i="0">
                          <a:latin typeface="Cambria Math" panose="02040503050406030204" pitchFamily="18" charset="0"/>
                        </a:rPr>
                        <m:t>17.5</m:t>
                      </m:r>
                      <m:r>
                        <a:rPr lang="en-IN" i="1">
                          <a:latin typeface="Cambria Math" panose="02040503050406030204" pitchFamily="18" charset="0"/>
                        </a:rPr>
                        <m:t>𝑚𝑠</m:t>
                      </m:r>
                    </m:oMath>
                  </m:oMathPara>
                </a14:m>
                <a:endParaRPr lang="en-IN" dirty="0"/>
              </a:p>
              <a:p>
                <a:pPr>
                  <a:buNone/>
                </a:pPr>
                <a:endParaRPr lang="en-IN" dirty="0"/>
              </a:p>
              <a:p>
                <a:pPr>
                  <a:buNone/>
                </a:pPr>
                <a:r>
                  <a:rPr lang="en-IN" dirty="0"/>
                  <a:t>What does </a:t>
                </a:r>
                <a:r>
                  <a:rPr lang="en-IN" b="1" dirty="0"/>
                  <a:t>17.5 </a:t>
                </a:r>
                <a:r>
                  <a:rPr lang="en-IN" b="1" dirty="0" err="1"/>
                  <a:t>ms</a:t>
                </a:r>
                <a:r>
                  <a:rPr lang="en-IN" dirty="0"/>
                  <a:t> tell us?</a:t>
                </a:r>
              </a:p>
              <a:p>
                <a:pPr>
                  <a:buNone/>
                </a:pPr>
                <a:r>
                  <a:rPr lang="en-IN" dirty="0"/>
                  <a:t>It tells us:</a:t>
                </a:r>
              </a:p>
              <a:p>
                <a:pPr>
                  <a:buNone/>
                </a:pPr>
                <a:endParaRPr lang="en-IN" dirty="0"/>
              </a:p>
              <a:p>
                <a:pPr>
                  <a:buNone/>
                </a:pPr>
                <a:r>
                  <a:rPr lang="en-IN" dirty="0"/>
                  <a:t>The latest measured RTT is </a:t>
                </a:r>
                <a:r>
                  <a:rPr lang="en-IN" b="1" dirty="0"/>
                  <a:t>17.5 </a:t>
                </a:r>
                <a:r>
                  <a:rPr lang="en-IN" b="1" dirty="0" err="1"/>
                  <a:t>ms</a:t>
                </a:r>
                <a:r>
                  <a:rPr lang="en-IN" b="1" dirty="0"/>
                  <a:t> away from the Estimated RTT</a:t>
                </a:r>
                <a:r>
                  <a:rPr lang="en-IN" dirty="0"/>
                  <a:t>.</a:t>
                </a:r>
              </a:p>
            </p:txBody>
          </p:sp>
        </mc:Choice>
        <mc:Fallback xmlns="">
          <p:sp>
            <p:nvSpPr>
              <p:cNvPr id="4" name="TextBox 3">
                <a:extLst>
                  <a:ext uri="{FF2B5EF4-FFF2-40B4-BE49-F238E27FC236}">
                    <a16:creationId xmlns:a16="http://schemas.microsoft.com/office/drawing/2014/main" id="{32C56B14-C4B4-FAAD-98C5-BF2DC8E03D29}"/>
                  </a:ext>
                </a:extLst>
              </p:cNvPr>
              <p:cNvSpPr txBox="1">
                <a:spLocks noRot="1" noChangeAspect="1" noMove="1" noResize="1" noEditPoints="1" noAdjustHandles="1" noChangeArrowheads="1" noChangeShapeType="1" noTextEdit="1"/>
              </p:cNvSpPr>
              <p:nvPr/>
            </p:nvSpPr>
            <p:spPr>
              <a:xfrm>
                <a:off x="256673" y="614167"/>
                <a:ext cx="4572001" cy="4850943"/>
              </a:xfrm>
              <a:prstGeom prst="rect">
                <a:avLst/>
              </a:prstGeom>
              <a:blipFill>
                <a:blip r:embed="rId2"/>
                <a:stretch>
                  <a:fillRect l="-1067" t="-754" r="-1067" b="-100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FE760DD-4805-0A1B-2882-9FC71AD16FB5}"/>
                  </a:ext>
                </a:extLst>
              </p:cNvPr>
              <p:cNvSpPr txBox="1"/>
              <p:nvPr/>
            </p:nvSpPr>
            <p:spPr>
              <a:xfrm>
                <a:off x="5181599" y="390815"/>
                <a:ext cx="6753727" cy="4826129"/>
              </a:xfrm>
              <a:prstGeom prst="rect">
                <a:avLst/>
              </a:prstGeom>
              <a:noFill/>
            </p:spPr>
            <p:txBody>
              <a:bodyPr wrap="square">
                <a:spAutoFit/>
              </a:bodyPr>
              <a:lstStyle/>
              <a:p>
                <a:pPr>
                  <a:buNone/>
                </a:pPr>
                <a:r>
                  <a:rPr lang="en-IN" b="1" dirty="0">
                    <a:highlight>
                      <a:srgbClr val="FFFF00"/>
                    </a:highlight>
                  </a:rPr>
                  <a:t>What is β (Beta)?</a:t>
                </a:r>
              </a:p>
              <a:p>
                <a:pPr>
                  <a:buNone/>
                </a:pPr>
                <a:r>
                  <a:rPr lang="en-IN" dirty="0"/>
                  <a:t>Beta works similarly to the alpha we saw earlier.</a:t>
                </a:r>
              </a:p>
              <a:p>
                <a:pPr>
                  <a:buNone/>
                </a:pPr>
                <a:r>
                  <a:rPr lang="en-IN" dirty="0"/>
                  <a:t>It controls how much importance is given to the </a:t>
                </a:r>
                <a:r>
                  <a:rPr lang="en-IN" b="1" dirty="0"/>
                  <a:t>new change in RTT</a:t>
                </a:r>
                <a:r>
                  <a:rPr lang="en-IN" dirty="0"/>
                  <a:t>.</a:t>
                </a:r>
              </a:p>
              <a:p>
                <a:pPr>
                  <a:buNone/>
                </a:pPr>
                <a14:m>
                  <m:oMathPara xmlns:m="http://schemas.openxmlformats.org/officeDocument/2006/math">
                    <m:oMath>
                      <m:r>
                        <a:rPr lang="en-IN" i="1">
                          <a:latin typeface="Cambria Math" panose="02040503050406030204" pitchFamily="18" charset="0"/>
                        </a:rPr>
                        <m:t>𝛽</m:t>
                      </m:r>
                      <m:r>
                        <a:rPr lang="en-IN" i="0">
                          <a:latin typeface="Cambria Math" panose="02040503050406030204" pitchFamily="18" charset="0"/>
                        </a:rPr>
                        <m:t>=0.25</m:t>
                      </m:r>
                    </m:oMath>
                  </m:oMathPara>
                </a14:m>
                <a:endParaRPr lang="en-IN" dirty="0"/>
              </a:p>
              <a:p>
                <a:pPr>
                  <a:buNone/>
                </a:pPr>
                <a:r>
                  <a:rPr lang="en-IN" dirty="0"/>
                  <a:t>Therefore:</a:t>
                </a:r>
              </a:p>
              <a:p>
                <a:pPr>
                  <a:buNone/>
                </a:pPr>
                <a14:m>
                  <m:oMathPara xmlns:m="http://schemas.openxmlformats.org/officeDocument/2006/math">
                    <m:oMath>
                      <m:r>
                        <a:rPr lang="en-IN">
                          <a:latin typeface="Cambria Math" panose="02040503050406030204" pitchFamily="18" charset="0"/>
                        </a:rPr>
                        <m:t>1</m:t>
                      </m:r>
                      <m:r>
                        <a:rPr lang="en-IN" i="0">
                          <a:latin typeface="Cambria Math" panose="02040503050406030204" pitchFamily="18" charset="0"/>
                        </a:rPr>
                        <m:t>−</m:t>
                      </m:r>
                      <m:r>
                        <a:rPr lang="en-IN" i="1">
                          <a:latin typeface="Cambria Math" panose="02040503050406030204" pitchFamily="18" charset="0"/>
                        </a:rPr>
                        <m:t>𝛽</m:t>
                      </m:r>
                      <m:r>
                        <a:rPr lang="en-IN" i="0">
                          <a:latin typeface="Cambria Math" panose="02040503050406030204" pitchFamily="18" charset="0"/>
                        </a:rPr>
                        <m:t>=1−0.25=0.75</m:t>
                      </m:r>
                    </m:oMath>
                  </m:oMathPara>
                </a14:m>
                <a:endParaRPr lang="en-IN" dirty="0"/>
              </a:p>
              <a:p>
                <a:pPr>
                  <a:buNone/>
                </a:pPr>
                <a:endParaRPr lang="en-IN" dirty="0"/>
              </a:p>
              <a:p>
                <a:pPr>
                  <a:buNone/>
                </a:pPr>
                <a:r>
                  <a:rPr lang="en-IN" dirty="0"/>
                  <a:t>So the formula becomes:</a:t>
                </a:r>
              </a:p>
              <a:p>
                <a:pPr>
                  <a:buNone/>
                </a:pPr>
                <a14:m>
                  <m:oMathPara xmlns:m="http://schemas.openxmlformats.org/officeDocument/2006/math">
                    <m:oMath>
                      <m:r>
                        <a:rPr lang="en-IN" i="1">
                          <a:latin typeface="Cambria Math" panose="02040503050406030204" pitchFamily="18" charset="0"/>
                        </a:rPr>
                        <m:t>𝑁𝑒𝑤</m:t>
                      </m:r>
                      <m:r>
                        <m:rPr>
                          <m:nor/>
                        </m:rPr>
                        <a:rPr lang="en-IN" b="0" i="0">
                          <a:latin typeface="+mn-lt"/>
                        </a:rPr>
                        <m:t> </m:t>
                      </m:r>
                      <m:r>
                        <a:rPr lang="en-IN" b="0" i="1">
                          <a:latin typeface="Cambria Math" panose="02040503050406030204" pitchFamily="18" charset="0"/>
                        </a:rPr>
                        <m:t>𝑅𝑇</m:t>
                      </m:r>
                      <m:sSub>
                        <m:sSubPr>
                          <m:ctrlPr>
                            <a:rPr lang="en-IN" b="0" i="1">
                              <a:latin typeface="Cambria Math" panose="02040503050406030204" pitchFamily="18" charset="0"/>
                            </a:rPr>
                          </m:ctrlPr>
                        </m:sSubPr>
                        <m:e>
                          <m:r>
                            <a:rPr lang="en-IN" b="0" i="1">
                              <a:latin typeface="Cambria Math" panose="02040503050406030204" pitchFamily="18" charset="0"/>
                            </a:rPr>
                            <m:t>𝑇</m:t>
                          </m:r>
                        </m:e>
                        <m:sub>
                          <m:r>
                            <a:rPr lang="en-IN" b="0" i="1">
                              <a:latin typeface="Cambria Math" panose="02040503050406030204" pitchFamily="18" charset="0"/>
                            </a:rPr>
                            <m:t>𝑣𝑎𝑟</m:t>
                          </m:r>
                        </m:sub>
                      </m:sSub>
                      <m:r>
                        <a:rPr lang="en-IN" b="0" i="0">
                          <a:latin typeface="Cambria Math" panose="02040503050406030204" pitchFamily="18" charset="0"/>
                        </a:rPr>
                        <m:t>=0.75</m:t>
                      </m:r>
                      <m:d>
                        <m:dPr>
                          <m:ctrlPr>
                            <a:rPr lang="en-IN" b="0" i="1">
                              <a:latin typeface="Cambria Math" panose="02040503050406030204" pitchFamily="18" charset="0"/>
                            </a:rPr>
                          </m:ctrlPr>
                        </m:dPr>
                        <m:e>
                          <m:r>
                            <a:rPr lang="en-IN" b="0" i="1">
                              <a:latin typeface="Cambria Math" panose="02040503050406030204" pitchFamily="18" charset="0"/>
                            </a:rPr>
                            <m:t>𝑂𝑙𝑑</m:t>
                          </m:r>
                          <m:r>
                            <m:rPr>
                              <m:nor/>
                            </m:rPr>
                            <a:rPr lang="en-IN" b="0" i="0">
                              <a:latin typeface="+mn-lt"/>
                            </a:rPr>
                            <m:t> </m:t>
                          </m:r>
                          <m:r>
                            <a:rPr lang="en-IN" b="0" i="1">
                              <a:latin typeface="Cambria Math" panose="02040503050406030204" pitchFamily="18" charset="0"/>
                            </a:rPr>
                            <m:t>𝑅𝑇</m:t>
                          </m:r>
                          <m:sSub>
                            <m:sSubPr>
                              <m:ctrlPr>
                                <a:rPr lang="en-IN" b="0" i="1">
                                  <a:latin typeface="Cambria Math" panose="02040503050406030204" pitchFamily="18" charset="0"/>
                                </a:rPr>
                              </m:ctrlPr>
                            </m:sSubPr>
                            <m:e>
                              <m:r>
                                <a:rPr lang="en-IN" b="0" i="1">
                                  <a:latin typeface="Cambria Math" panose="02040503050406030204" pitchFamily="18" charset="0"/>
                                </a:rPr>
                                <m:t>𝑇</m:t>
                              </m:r>
                            </m:e>
                            <m:sub>
                              <m:r>
                                <a:rPr lang="en-IN" b="0" i="1">
                                  <a:latin typeface="Cambria Math" panose="02040503050406030204" pitchFamily="18" charset="0"/>
                                </a:rPr>
                                <m:t>𝑣𝑎𝑟</m:t>
                              </m:r>
                            </m:sub>
                          </m:sSub>
                        </m:e>
                      </m:d>
                      <m:r>
                        <a:rPr lang="en-IN" b="0" i="0">
                          <a:latin typeface="Cambria Math" panose="02040503050406030204" pitchFamily="18" charset="0"/>
                        </a:rPr>
                        <m:t>+0.25∣</m:t>
                      </m:r>
                      <m:r>
                        <a:rPr lang="en-IN" b="0" i="1">
                          <a:latin typeface="Cambria Math" panose="02040503050406030204" pitchFamily="18" charset="0"/>
                        </a:rPr>
                        <m:t>𝑅𝑇</m:t>
                      </m:r>
                      <m:sSub>
                        <m:sSubPr>
                          <m:ctrlPr>
                            <a:rPr lang="en-IN" b="0" i="1">
                              <a:latin typeface="Cambria Math" panose="02040503050406030204" pitchFamily="18" charset="0"/>
                            </a:rPr>
                          </m:ctrlPr>
                        </m:sSubPr>
                        <m:e>
                          <m:r>
                            <a:rPr lang="en-IN" b="0" i="1">
                              <a:latin typeface="Cambria Math" panose="02040503050406030204" pitchFamily="18" charset="0"/>
                            </a:rPr>
                            <m:t>𝑇</m:t>
                          </m:r>
                        </m:e>
                        <m:sub>
                          <m:r>
                            <a:rPr lang="en-IN" b="0" i="1">
                              <a:latin typeface="Cambria Math" panose="02040503050406030204" pitchFamily="18" charset="0"/>
                            </a:rPr>
                            <m:t>𝑠𝑎𝑚𝑝𝑙𝑒</m:t>
                          </m:r>
                        </m:sub>
                      </m:sSub>
                      <m:r>
                        <a:rPr lang="en-IN" b="0" i="0">
                          <a:latin typeface="Cambria Math" panose="02040503050406030204" pitchFamily="18" charset="0"/>
                        </a:rPr>
                        <m:t>−</m:t>
                      </m:r>
                      <m:r>
                        <a:rPr lang="en-IN" b="0" i="1">
                          <a:latin typeface="Cambria Math" panose="02040503050406030204" pitchFamily="18" charset="0"/>
                        </a:rPr>
                        <m:t>𝑅𝑇</m:t>
                      </m:r>
                      <m:sSub>
                        <m:sSubPr>
                          <m:ctrlPr>
                            <a:rPr lang="en-IN" b="0" i="1">
                              <a:latin typeface="Cambria Math" panose="02040503050406030204" pitchFamily="18" charset="0"/>
                            </a:rPr>
                          </m:ctrlPr>
                        </m:sSubPr>
                        <m:e>
                          <m:r>
                            <a:rPr lang="en-IN" b="0" i="1">
                              <a:latin typeface="Cambria Math" panose="02040503050406030204" pitchFamily="18" charset="0"/>
                            </a:rPr>
                            <m:t>𝑇</m:t>
                          </m:r>
                        </m:e>
                        <m:sub>
                          <m:r>
                            <a:rPr lang="en-IN" b="0" i="1">
                              <a:latin typeface="Cambria Math" panose="02040503050406030204" pitchFamily="18" charset="0"/>
                            </a:rPr>
                            <m:t>𝑒𝑠𝑡</m:t>
                          </m:r>
                        </m:sub>
                      </m:sSub>
                      <m:r>
                        <a:rPr lang="en-IN" b="0" i="0">
                          <a:latin typeface="Cambria Math" panose="02040503050406030204" pitchFamily="18" charset="0"/>
                        </a:rPr>
                        <m:t>∣</m:t>
                      </m:r>
                    </m:oMath>
                  </m:oMathPara>
                </a14:m>
                <a:endParaRPr lang="en-IN" b="0" dirty="0"/>
              </a:p>
              <a:p>
                <a:pPr>
                  <a:buNone/>
                </a:pPr>
                <a:endParaRPr lang="en-IN" dirty="0"/>
              </a:p>
              <a:p>
                <a:pPr>
                  <a:buNone/>
                </a:pPr>
                <a:r>
                  <a:rPr lang="en-IN" dirty="0"/>
                  <a:t>In percentage terms:</a:t>
                </a:r>
              </a:p>
              <a:p>
                <a:pPr rtl="0">
                  <a:buNone/>
                </a:pPr>
                <a:r>
                  <a:rPr lang="en-IN" dirty="0">
                    <a:latin typeface="+mn-lt"/>
                  </a:rPr>
                  <a:t>75% → old RTT variation</a:t>
                </a:r>
              </a:p>
              <a:p>
                <a:pPr rtl="0">
                  <a:buNone/>
                </a:pPr>
                <a:endParaRPr lang="en-IN" dirty="0">
                  <a:latin typeface="+mn-lt"/>
                </a:endParaRPr>
              </a:p>
              <a:p>
                <a:pPr rtl="0">
                  <a:buNone/>
                </a:pPr>
                <a:r>
                  <a:rPr lang="en-IN" dirty="0">
                    <a:latin typeface="+mn-lt"/>
                  </a:rPr>
                  <a:t>25% → latest difference</a:t>
                </a:r>
              </a:p>
              <a:p>
                <a:pPr>
                  <a:buNone/>
                </a:pPr>
                <a:endParaRPr lang="en-IN" dirty="0"/>
              </a:p>
              <a:p>
                <a:pPr>
                  <a:buNone/>
                </a:pPr>
                <a:r>
                  <a:rPr lang="en-IN" dirty="0"/>
                  <a:t>So again, TCP does not completely throw away its previous information.</a:t>
                </a:r>
              </a:p>
            </p:txBody>
          </p:sp>
        </mc:Choice>
        <mc:Fallback xmlns="">
          <p:sp>
            <p:nvSpPr>
              <p:cNvPr id="7" name="TextBox 6">
                <a:extLst>
                  <a:ext uri="{FF2B5EF4-FFF2-40B4-BE49-F238E27FC236}">
                    <a16:creationId xmlns:a16="http://schemas.microsoft.com/office/drawing/2014/main" id="{FFE760DD-4805-0A1B-2882-9FC71AD16FB5}"/>
                  </a:ext>
                </a:extLst>
              </p:cNvPr>
              <p:cNvSpPr txBox="1">
                <a:spLocks noRot="1" noChangeAspect="1" noMove="1" noResize="1" noEditPoints="1" noAdjustHandles="1" noChangeArrowheads="1" noChangeShapeType="1" noTextEdit="1"/>
              </p:cNvSpPr>
              <p:nvPr/>
            </p:nvSpPr>
            <p:spPr>
              <a:xfrm>
                <a:off x="5181599" y="390815"/>
                <a:ext cx="6753727" cy="4826129"/>
              </a:xfrm>
              <a:prstGeom prst="rect">
                <a:avLst/>
              </a:prstGeom>
              <a:blipFill>
                <a:blip r:embed="rId3"/>
                <a:stretch>
                  <a:fillRect l="-722" t="-631" b="-1010"/>
                </a:stretch>
              </a:blipFill>
            </p:spPr>
            <p:txBody>
              <a:bodyPr/>
              <a:lstStyle/>
              <a:p>
                <a:r>
                  <a:rPr lang="en-IN">
                    <a:noFill/>
                  </a:rPr>
                  <a:t> </a:t>
                </a:r>
              </a:p>
            </p:txBody>
          </p:sp>
        </mc:Fallback>
      </mc:AlternateContent>
      <p:sp>
        <p:nvSpPr>
          <p:cNvPr id="12" name="TextBox 11">
            <a:extLst>
              <a:ext uri="{FF2B5EF4-FFF2-40B4-BE49-F238E27FC236}">
                <a16:creationId xmlns:a16="http://schemas.microsoft.com/office/drawing/2014/main" id="{BFC459FA-3356-5D7E-2808-1AB83A64B46E}"/>
              </a:ext>
            </a:extLst>
          </p:cNvPr>
          <p:cNvSpPr txBox="1"/>
          <p:nvPr/>
        </p:nvSpPr>
        <p:spPr>
          <a:xfrm>
            <a:off x="5181599" y="5380672"/>
            <a:ext cx="5951621" cy="1477328"/>
          </a:xfrm>
          <a:prstGeom prst="rect">
            <a:avLst/>
          </a:prstGeom>
          <a:noFill/>
        </p:spPr>
        <p:txBody>
          <a:bodyPr wrap="square">
            <a:spAutoFit/>
          </a:bodyPr>
          <a:lstStyle/>
          <a:p>
            <a:pPr>
              <a:buNone/>
            </a:pPr>
            <a:r>
              <a:rPr lang="en-IN" b="1" dirty="0"/>
              <a:t>Now We Have Two Important Values</a:t>
            </a:r>
          </a:p>
          <a:p>
            <a:pPr>
              <a:buNone/>
            </a:pPr>
            <a:r>
              <a:rPr lang="en-IN" b="1" dirty="0">
                <a:highlight>
                  <a:srgbClr val="FFFF00"/>
                </a:highlight>
              </a:rPr>
              <a:t>Estimated RTT</a:t>
            </a:r>
          </a:p>
          <a:p>
            <a:pPr>
              <a:buNone/>
            </a:pPr>
            <a:r>
              <a:rPr lang="en-IN" dirty="0"/>
              <a:t>Tells TCP: </a:t>
            </a:r>
            <a:r>
              <a:rPr lang="en-IN" b="1" dirty="0"/>
              <a:t>Approximately how long is the round trip taking?</a:t>
            </a:r>
            <a:endParaRPr lang="en-IN" dirty="0"/>
          </a:p>
          <a:p>
            <a:pPr>
              <a:buNone/>
            </a:pPr>
            <a:r>
              <a:rPr lang="en-IN" b="1" dirty="0">
                <a:highlight>
                  <a:srgbClr val="FFFF00"/>
                </a:highlight>
              </a:rPr>
              <a:t>RTT Variation</a:t>
            </a:r>
          </a:p>
          <a:p>
            <a:pPr>
              <a:buNone/>
            </a:pPr>
            <a:r>
              <a:rPr lang="en-IN" dirty="0"/>
              <a:t>Tells TCP: </a:t>
            </a:r>
            <a:r>
              <a:rPr lang="en-IN" b="1" dirty="0"/>
              <a:t>How much is that round-trip time changing?</a:t>
            </a:r>
            <a:endParaRPr lang="en-IN" dirty="0"/>
          </a:p>
        </p:txBody>
      </p:sp>
    </p:spTree>
    <p:extLst>
      <p:ext uri="{BB962C8B-B14F-4D97-AF65-F5344CB8AC3E}">
        <p14:creationId xmlns:p14="http://schemas.microsoft.com/office/powerpoint/2010/main" val="6235095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4F191-9A9C-C16B-3CA4-10F1B10FDE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77EAEA-F1C0-C916-1442-FE0CEC785F35}"/>
              </a:ext>
            </a:extLst>
          </p:cNvPr>
          <p:cNvSpPr txBox="1"/>
          <p:nvPr/>
        </p:nvSpPr>
        <p:spPr>
          <a:xfrm>
            <a:off x="385010" y="738806"/>
            <a:ext cx="6096000" cy="2400657"/>
          </a:xfrm>
          <a:prstGeom prst="rect">
            <a:avLst/>
          </a:prstGeom>
          <a:noFill/>
        </p:spPr>
        <p:txBody>
          <a:bodyPr wrap="square">
            <a:spAutoFit/>
          </a:bodyPr>
          <a:lstStyle/>
          <a:p>
            <a:pPr>
              <a:buNone/>
            </a:pPr>
            <a:r>
              <a:rPr lang="en-IN" b="1" dirty="0"/>
              <a:t>What is RTO?</a:t>
            </a:r>
          </a:p>
          <a:p>
            <a:pPr>
              <a:buNone/>
            </a:pPr>
            <a:r>
              <a:rPr lang="en-IN" dirty="0"/>
              <a:t>RTO stands for: </a:t>
            </a:r>
            <a:r>
              <a:rPr lang="en-IN" b="1" dirty="0"/>
              <a:t>Retransmission Timeout</a:t>
            </a:r>
            <a:endParaRPr lang="en-IN" dirty="0"/>
          </a:p>
          <a:p>
            <a:pPr>
              <a:buNone/>
            </a:pPr>
            <a:endParaRPr lang="en-IN" dirty="0"/>
          </a:p>
          <a:p>
            <a:pPr>
              <a:buNone/>
            </a:pPr>
            <a:r>
              <a:rPr lang="en-IN" dirty="0"/>
              <a:t>Simple definition:</a:t>
            </a:r>
          </a:p>
          <a:p>
            <a:pPr>
              <a:buNone/>
            </a:pPr>
            <a:r>
              <a:rPr lang="en-IN" b="1" dirty="0"/>
              <a:t>RTO is the time TCP waits for an ACK before the timeout occurs and retransmission may be needed.</a:t>
            </a:r>
            <a:endParaRPr lang="en-IN" dirty="0"/>
          </a:p>
          <a:p>
            <a:pPr>
              <a:buNone/>
            </a:pPr>
            <a:endParaRPr lang="en-IN" dirty="0"/>
          </a:p>
          <a:p>
            <a:pPr>
              <a:buNone/>
            </a:pPr>
            <a:r>
              <a:rPr lang="en-IN" dirty="0"/>
              <a:t>Formula: </a:t>
            </a:r>
            <a:r>
              <a:rPr lang="en-IN" b="1" dirty="0"/>
              <a:t>RTO = </a:t>
            </a:r>
            <a:r>
              <a:rPr lang="en-IN" sz="2400" b="1" dirty="0"/>
              <a:t>RTT est ​+ 4 × RTT var</a:t>
            </a:r>
            <a:r>
              <a:rPr lang="en-IN" sz="2400" dirty="0"/>
              <a:t>​​</a:t>
            </a:r>
          </a:p>
        </p:txBody>
      </p:sp>
    </p:spTree>
    <p:extLst>
      <p:ext uri="{BB962C8B-B14F-4D97-AF65-F5344CB8AC3E}">
        <p14:creationId xmlns:p14="http://schemas.microsoft.com/office/powerpoint/2010/main" val="396543591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A35AD-998C-39F4-1EBD-2B39AD73C43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E9582F-D3F0-601B-4E3C-7111157FA9C7}"/>
              </a:ext>
            </a:extLst>
          </p:cNvPr>
          <p:cNvSpPr txBox="1"/>
          <p:nvPr/>
        </p:nvSpPr>
        <p:spPr>
          <a:xfrm>
            <a:off x="304800" y="481263"/>
            <a:ext cx="1059521" cy="369332"/>
          </a:xfrm>
          <a:prstGeom prst="rect">
            <a:avLst/>
          </a:prstGeom>
          <a:noFill/>
        </p:spPr>
        <p:txBody>
          <a:bodyPr wrap="none" rtlCol="0">
            <a:spAutoFit/>
          </a:bodyPr>
          <a:lstStyle/>
          <a:p>
            <a:r>
              <a:rPr lang="en-US" b="1" dirty="0"/>
              <a:t>Example:</a:t>
            </a:r>
            <a:endParaRPr lang="en-IN" b="1" dirty="0"/>
          </a:p>
        </p:txBody>
      </p:sp>
      <p:pic>
        <p:nvPicPr>
          <p:cNvPr id="5" name="Picture 4">
            <a:extLst>
              <a:ext uri="{FF2B5EF4-FFF2-40B4-BE49-F238E27FC236}">
                <a16:creationId xmlns:a16="http://schemas.microsoft.com/office/drawing/2014/main" id="{592B26AE-0A38-EFB9-2DC6-380D0031A0A8}"/>
              </a:ext>
            </a:extLst>
          </p:cNvPr>
          <p:cNvPicPr>
            <a:picLocks noChangeAspect="1"/>
          </p:cNvPicPr>
          <p:nvPr/>
        </p:nvPicPr>
        <p:blipFill>
          <a:blip r:embed="rId2"/>
          <a:stretch>
            <a:fillRect/>
          </a:stretch>
        </p:blipFill>
        <p:spPr>
          <a:xfrm>
            <a:off x="304800" y="1024450"/>
            <a:ext cx="4010585" cy="3429479"/>
          </a:xfrm>
          <a:prstGeom prst="rect">
            <a:avLst/>
          </a:prstGeom>
        </p:spPr>
      </p:pic>
      <p:pic>
        <p:nvPicPr>
          <p:cNvPr id="7" name="Picture 6">
            <a:extLst>
              <a:ext uri="{FF2B5EF4-FFF2-40B4-BE49-F238E27FC236}">
                <a16:creationId xmlns:a16="http://schemas.microsoft.com/office/drawing/2014/main" id="{3E8A6627-E33F-3CEE-B82D-09C227AF28A2}"/>
              </a:ext>
            </a:extLst>
          </p:cNvPr>
          <p:cNvPicPr>
            <a:picLocks noChangeAspect="1"/>
          </p:cNvPicPr>
          <p:nvPr/>
        </p:nvPicPr>
        <p:blipFill>
          <a:blip r:embed="rId3"/>
          <a:stretch>
            <a:fillRect/>
          </a:stretch>
        </p:blipFill>
        <p:spPr>
          <a:xfrm>
            <a:off x="4476891" y="1024449"/>
            <a:ext cx="6720498" cy="3948603"/>
          </a:xfrm>
          <a:prstGeom prst="rect">
            <a:avLst/>
          </a:prstGeom>
        </p:spPr>
      </p:pic>
      <p:sp>
        <p:nvSpPr>
          <p:cNvPr id="9" name="TextBox 8">
            <a:extLst>
              <a:ext uri="{FF2B5EF4-FFF2-40B4-BE49-F238E27FC236}">
                <a16:creationId xmlns:a16="http://schemas.microsoft.com/office/drawing/2014/main" id="{CB9CD869-AF79-A431-863A-71350C72E160}"/>
              </a:ext>
            </a:extLst>
          </p:cNvPr>
          <p:cNvSpPr txBox="1"/>
          <p:nvPr/>
        </p:nvSpPr>
        <p:spPr>
          <a:xfrm>
            <a:off x="4476891" y="5135758"/>
            <a:ext cx="6096000" cy="1754326"/>
          </a:xfrm>
          <a:prstGeom prst="rect">
            <a:avLst/>
          </a:prstGeom>
          <a:noFill/>
        </p:spPr>
        <p:txBody>
          <a:bodyPr wrap="square">
            <a:spAutoFit/>
          </a:bodyPr>
          <a:lstStyle/>
          <a:p>
            <a:pPr>
              <a:buNone/>
            </a:pPr>
            <a:r>
              <a:rPr lang="en-IN" b="1" dirty="0"/>
              <a:t>Meaning</a:t>
            </a:r>
          </a:p>
          <a:p>
            <a:pPr>
              <a:buNone/>
            </a:pPr>
            <a:r>
              <a:rPr lang="en-IN" dirty="0"/>
              <a:t>Previously TCP estimated: </a:t>
            </a:r>
            <a:r>
              <a:rPr lang="en-IN" dirty="0">
                <a:latin typeface="+mn-lt"/>
              </a:rPr>
              <a:t>100 </a:t>
            </a:r>
            <a:r>
              <a:rPr lang="en-IN" dirty="0" err="1">
                <a:latin typeface="+mn-lt"/>
              </a:rPr>
              <a:t>ms</a:t>
            </a:r>
            <a:endParaRPr lang="en-IN" dirty="0">
              <a:latin typeface="+mn-lt"/>
            </a:endParaRPr>
          </a:p>
          <a:p>
            <a:pPr>
              <a:buNone/>
            </a:pPr>
            <a:endParaRPr lang="en-IN" dirty="0"/>
          </a:p>
          <a:p>
            <a:pPr>
              <a:buNone/>
            </a:pPr>
            <a:r>
              <a:rPr lang="en-IN" dirty="0"/>
              <a:t>The latest measurement was: </a:t>
            </a:r>
            <a:r>
              <a:rPr lang="en-IN" dirty="0">
                <a:latin typeface="+mn-lt"/>
              </a:rPr>
              <a:t>120 </a:t>
            </a:r>
            <a:r>
              <a:rPr lang="en-IN" dirty="0" err="1">
                <a:latin typeface="+mn-lt"/>
              </a:rPr>
              <a:t>ms</a:t>
            </a:r>
            <a:endParaRPr lang="en-IN" dirty="0">
              <a:latin typeface="+mn-lt"/>
            </a:endParaRPr>
          </a:p>
          <a:p>
            <a:pPr>
              <a:buNone/>
            </a:pPr>
            <a:endParaRPr lang="en-IN" dirty="0"/>
          </a:p>
          <a:p>
            <a:pPr>
              <a:buNone/>
            </a:pPr>
            <a:r>
              <a:rPr lang="en-IN" dirty="0"/>
              <a:t>So TCP gradually updated its estimate to: </a:t>
            </a:r>
            <a:r>
              <a:rPr lang="en-IN" dirty="0">
                <a:latin typeface="+mn-lt"/>
              </a:rPr>
              <a:t>102.5 </a:t>
            </a:r>
            <a:r>
              <a:rPr lang="en-IN" dirty="0" err="1">
                <a:latin typeface="+mn-lt"/>
              </a:rPr>
              <a:t>ms</a:t>
            </a:r>
            <a:endParaRPr lang="en-IN" dirty="0">
              <a:latin typeface="Courier New" panose="02070309020205020404" pitchFamily="49" charset="0"/>
            </a:endParaRPr>
          </a:p>
        </p:txBody>
      </p:sp>
    </p:spTree>
    <p:extLst>
      <p:ext uri="{BB962C8B-B14F-4D97-AF65-F5344CB8AC3E}">
        <p14:creationId xmlns:p14="http://schemas.microsoft.com/office/powerpoint/2010/main" val="31803278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F7236-9381-7DF4-4416-A15EF0B123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C0C3E5-86C1-2C7F-AE9E-FBEE5CC1BD0D}"/>
              </a:ext>
            </a:extLst>
          </p:cNvPr>
          <p:cNvSpPr txBox="1"/>
          <p:nvPr/>
        </p:nvSpPr>
        <p:spPr>
          <a:xfrm>
            <a:off x="304800" y="481263"/>
            <a:ext cx="1059521" cy="369332"/>
          </a:xfrm>
          <a:prstGeom prst="rect">
            <a:avLst/>
          </a:prstGeom>
          <a:noFill/>
        </p:spPr>
        <p:txBody>
          <a:bodyPr wrap="none" rtlCol="0">
            <a:spAutoFit/>
          </a:bodyPr>
          <a:lstStyle/>
          <a:p>
            <a:r>
              <a:rPr lang="en-US" b="1" dirty="0"/>
              <a:t>Example:</a:t>
            </a:r>
            <a:endParaRPr lang="en-IN" b="1" dirty="0"/>
          </a:p>
        </p:txBody>
      </p:sp>
      <p:pic>
        <p:nvPicPr>
          <p:cNvPr id="5" name="Picture 4">
            <a:extLst>
              <a:ext uri="{FF2B5EF4-FFF2-40B4-BE49-F238E27FC236}">
                <a16:creationId xmlns:a16="http://schemas.microsoft.com/office/drawing/2014/main" id="{9CD829CC-CF07-57AE-A828-9A180CC57B35}"/>
              </a:ext>
            </a:extLst>
          </p:cNvPr>
          <p:cNvPicPr>
            <a:picLocks noChangeAspect="1"/>
          </p:cNvPicPr>
          <p:nvPr/>
        </p:nvPicPr>
        <p:blipFill>
          <a:blip r:embed="rId2"/>
          <a:stretch>
            <a:fillRect/>
          </a:stretch>
        </p:blipFill>
        <p:spPr>
          <a:xfrm>
            <a:off x="304800" y="1024450"/>
            <a:ext cx="4010585" cy="3429479"/>
          </a:xfrm>
          <a:prstGeom prst="rect">
            <a:avLst/>
          </a:prstGeom>
        </p:spPr>
      </p:pic>
      <p:pic>
        <p:nvPicPr>
          <p:cNvPr id="4" name="Picture 3">
            <a:extLst>
              <a:ext uri="{FF2B5EF4-FFF2-40B4-BE49-F238E27FC236}">
                <a16:creationId xmlns:a16="http://schemas.microsoft.com/office/drawing/2014/main" id="{84474EE9-1373-F046-8128-8D81F8D02D10}"/>
              </a:ext>
            </a:extLst>
          </p:cNvPr>
          <p:cNvPicPr>
            <a:picLocks noChangeAspect="1"/>
          </p:cNvPicPr>
          <p:nvPr/>
        </p:nvPicPr>
        <p:blipFill>
          <a:blip r:embed="rId3"/>
          <a:stretch>
            <a:fillRect/>
          </a:stretch>
        </p:blipFill>
        <p:spPr>
          <a:xfrm>
            <a:off x="4908942" y="882438"/>
            <a:ext cx="6625331" cy="5975562"/>
          </a:xfrm>
          <a:prstGeom prst="rect">
            <a:avLst/>
          </a:prstGeom>
        </p:spPr>
      </p:pic>
    </p:spTree>
    <p:extLst>
      <p:ext uri="{BB962C8B-B14F-4D97-AF65-F5344CB8AC3E}">
        <p14:creationId xmlns:p14="http://schemas.microsoft.com/office/powerpoint/2010/main" val="215513285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4269B-9CAF-C71D-645D-89E83AD097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430044-90E2-6B89-F4C7-4C4BCBA8E016}"/>
              </a:ext>
            </a:extLst>
          </p:cNvPr>
          <p:cNvSpPr txBox="1"/>
          <p:nvPr/>
        </p:nvSpPr>
        <p:spPr>
          <a:xfrm>
            <a:off x="304800" y="481263"/>
            <a:ext cx="1059521" cy="369332"/>
          </a:xfrm>
          <a:prstGeom prst="rect">
            <a:avLst/>
          </a:prstGeom>
          <a:noFill/>
        </p:spPr>
        <p:txBody>
          <a:bodyPr wrap="none" rtlCol="0">
            <a:spAutoFit/>
          </a:bodyPr>
          <a:lstStyle/>
          <a:p>
            <a:r>
              <a:rPr lang="en-US" b="1" dirty="0"/>
              <a:t>Example:</a:t>
            </a:r>
            <a:endParaRPr lang="en-IN" b="1" dirty="0"/>
          </a:p>
        </p:txBody>
      </p:sp>
      <p:pic>
        <p:nvPicPr>
          <p:cNvPr id="5" name="Picture 4">
            <a:extLst>
              <a:ext uri="{FF2B5EF4-FFF2-40B4-BE49-F238E27FC236}">
                <a16:creationId xmlns:a16="http://schemas.microsoft.com/office/drawing/2014/main" id="{D061923F-9825-A007-D914-F0EFBB9A958F}"/>
              </a:ext>
            </a:extLst>
          </p:cNvPr>
          <p:cNvPicPr>
            <a:picLocks noChangeAspect="1"/>
          </p:cNvPicPr>
          <p:nvPr/>
        </p:nvPicPr>
        <p:blipFill>
          <a:blip r:embed="rId2"/>
          <a:stretch>
            <a:fillRect/>
          </a:stretch>
        </p:blipFill>
        <p:spPr>
          <a:xfrm>
            <a:off x="304800" y="1024450"/>
            <a:ext cx="4010585" cy="3429479"/>
          </a:xfrm>
          <a:prstGeom prst="rect">
            <a:avLst/>
          </a:prstGeom>
        </p:spPr>
      </p:pic>
      <p:pic>
        <p:nvPicPr>
          <p:cNvPr id="6" name="Picture 5">
            <a:extLst>
              <a:ext uri="{FF2B5EF4-FFF2-40B4-BE49-F238E27FC236}">
                <a16:creationId xmlns:a16="http://schemas.microsoft.com/office/drawing/2014/main" id="{C8A2ACFF-D84A-33EA-108F-19774E5196C5}"/>
              </a:ext>
            </a:extLst>
          </p:cNvPr>
          <p:cNvPicPr>
            <a:picLocks noChangeAspect="1"/>
          </p:cNvPicPr>
          <p:nvPr/>
        </p:nvPicPr>
        <p:blipFill>
          <a:blip r:embed="rId3"/>
          <a:stretch>
            <a:fillRect/>
          </a:stretch>
        </p:blipFill>
        <p:spPr>
          <a:xfrm>
            <a:off x="4820625" y="665928"/>
            <a:ext cx="6111983" cy="6071755"/>
          </a:xfrm>
          <a:prstGeom prst="rect">
            <a:avLst/>
          </a:prstGeom>
        </p:spPr>
      </p:pic>
    </p:spTree>
    <p:extLst>
      <p:ext uri="{BB962C8B-B14F-4D97-AF65-F5344CB8AC3E}">
        <p14:creationId xmlns:p14="http://schemas.microsoft.com/office/powerpoint/2010/main" val="327595792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B2B8F-6F84-126D-6FA9-C86A2FB46D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76CE97-90EA-459D-1D6A-699F160BF7F5}"/>
              </a:ext>
            </a:extLst>
          </p:cNvPr>
          <p:cNvSpPr txBox="1"/>
          <p:nvPr/>
        </p:nvSpPr>
        <p:spPr>
          <a:xfrm>
            <a:off x="304800" y="481263"/>
            <a:ext cx="1059521" cy="369332"/>
          </a:xfrm>
          <a:prstGeom prst="rect">
            <a:avLst/>
          </a:prstGeom>
          <a:noFill/>
        </p:spPr>
        <p:txBody>
          <a:bodyPr wrap="none" rtlCol="0">
            <a:spAutoFit/>
          </a:bodyPr>
          <a:lstStyle/>
          <a:p>
            <a:r>
              <a:rPr lang="en-US" b="1" dirty="0"/>
              <a:t>Example:</a:t>
            </a:r>
            <a:endParaRPr lang="en-IN" b="1" dirty="0"/>
          </a:p>
        </p:txBody>
      </p:sp>
      <p:pic>
        <p:nvPicPr>
          <p:cNvPr id="5" name="Picture 4">
            <a:extLst>
              <a:ext uri="{FF2B5EF4-FFF2-40B4-BE49-F238E27FC236}">
                <a16:creationId xmlns:a16="http://schemas.microsoft.com/office/drawing/2014/main" id="{0943C861-E436-3DE4-D7AE-DC307520D14E}"/>
              </a:ext>
            </a:extLst>
          </p:cNvPr>
          <p:cNvPicPr>
            <a:picLocks noChangeAspect="1"/>
          </p:cNvPicPr>
          <p:nvPr/>
        </p:nvPicPr>
        <p:blipFill>
          <a:blip r:embed="rId2"/>
          <a:stretch>
            <a:fillRect/>
          </a:stretch>
        </p:blipFill>
        <p:spPr>
          <a:xfrm>
            <a:off x="304800" y="1024450"/>
            <a:ext cx="4010585" cy="3429479"/>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11FC5F-E604-DBB8-FE1F-808A589FB294}"/>
                  </a:ext>
                </a:extLst>
              </p:cNvPr>
              <p:cNvSpPr txBox="1"/>
              <p:nvPr/>
            </p:nvSpPr>
            <p:spPr>
              <a:xfrm>
                <a:off x="4828617" y="850595"/>
                <a:ext cx="7170878" cy="1514389"/>
              </a:xfrm>
              <a:prstGeom prst="rect">
                <a:avLst/>
              </a:prstGeom>
              <a:noFill/>
            </p:spPr>
            <p:txBody>
              <a:bodyPr wrap="square">
                <a:spAutoFit/>
              </a:bodyPr>
              <a:lstStyle/>
              <a:p>
                <a:pPr>
                  <a:buNone/>
                </a:pPr>
                <a:r>
                  <a:rPr lang="en-IN" b="1" dirty="0"/>
                  <a:t>What Does the Final Answer Actually Mean?</a:t>
                </a:r>
              </a:p>
              <a:p>
                <a:pPr>
                  <a:buNone/>
                </a:pPr>
                <a:r>
                  <a:rPr lang="en-IN" dirty="0"/>
                  <a:t>We calculated:</a:t>
                </a:r>
              </a:p>
              <a:p>
                <a:pPr>
                  <a:buNone/>
                </a:pPr>
                <a14:m>
                  <m:oMathPara xmlns:m="http://schemas.openxmlformats.org/officeDocument/2006/math">
                    <m:oMath>
                      <m:borderBox>
                        <m:borderBoxPr>
                          <m:ctrlPr>
                            <a:rPr lang="en-IN" i="1">
                              <a:latin typeface="Cambria Math" panose="02040503050406030204" pitchFamily="18" charset="0"/>
                            </a:rPr>
                          </m:ctrlPr>
                        </m:borderBoxPr>
                        <m:e>
                          <m:r>
                            <a:rPr lang="en-IN" i="1">
                              <a:latin typeface="Cambria Math" panose="02040503050406030204" pitchFamily="18" charset="0"/>
                            </a:rPr>
                            <m:t>𝑅𝑇𝑂</m:t>
                          </m:r>
                          <m:r>
                            <a:rPr lang="en-IN" i="0">
                              <a:latin typeface="Cambria Math" panose="02040503050406030204" pitchFamily="18" charset="0"/>
                            </a:rPr>
                            <m:t>=270</m:t>
                          </m:r>
                          <m:r>
                            <a:rPr lang="en-IN" i="1">
                              <a:latin typeface="Cambria Math" panose="02040503050406030204" pitchFamily="18" charset="0"/>
                            </a:rPr>
                            <m:t>𝑚𝑠</m:t>
                          </m:r>
                        </m:e>
                      </m:borderBox>
                    </m:oMath>
                  </m:oMathPara>
                </a14:m>
                <a:endParaRPr lang="en-IN" dirty="0"/>
              </a:p>
              <a:p>
                <a:pPr>
                  <a:buNone/>
                </a:pPr>
                <a:r>
                  <a:rPr lang="en-IN" dirty="0"/>
                  <a:t>In the simplified context of this numerical, TCP's retransmission timeout is </a:t>
                </a:r>
                <a:r>
                  <a:rPr lang="en-IN" b="1" dirty="0"/>
                  <a:t>270 </a:t>
                </a:r>
                <a:r>
                  <a:rPr lang="en-IN" b="1" dirty="0" err="1"/>
                  <a:t>ms</a:t>
                </a:r>
                <a:r>
                  <a:rPr lang="en-IN" dirty="0"/>
                  <a:t>.</a:t>
                </a:r>
              </a:p>
            </p:txBody>
          </p:sp>
        </mc:Choice>
        <mc:Fallback xmlns="">
          <p:sp>
            <p:nvSpPr>
              <p:cNvPr id="4" name="TextBox 3">
                <a:extLst>
                  <a:ext uri="{FF2B5EF4-FFF2-40B4-BE49-F238E27FC236}">
                    <a16:creationId xmlns:a16="http://schemas.microsoft.com/office/drawing/2014/main" id="{4911FC5F-E604-DBB8-FE1F-808A589FB294}"/>
                  </a:ext>
                </a:extLst>
              </p:cNvPr>
              <p:cNvSpPr txBox="1">
                <a:spLocks noRot="1" noChangeAspect="1" noMove="1" noResize="1" noEditPoints="1" noAdjustHandles="1" noChangeArrowheads="1" noChangeShapeType="1" noTextEdit="1"/>
              </p:cNvSpPr>
              <p:nvPr/>
            </p:nvSpPr>
            <p:spPr>
              <a:xfrm>
                <a:off x="4828617" y="850595"/>
                <a:ext cx="7170878" cy="1514389"/>
              </a:xfrm>
              <a:prstGeom prst="rect">
                <a:avLst/>
              </a:prstGeom>
              <a:blipFill>
                <a:blip r:embed="rId3"/>
                <a:stretch>
                  <a:fillRect l="-680" t="-2419" b="-5645"/>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A0AAE587-2C32-792D-92D2-32E4E7999DE5}"/>
              </a:ext>
            </a:extLst>
          </p:cNvPr>
          <p:cNvSpPr txBox="1"/>
          <p:nvPr/>
        </p:nvSpPr>
        <p:spPr>
          <a:xfrm>
            <a:off x="4828617" y="2784857"/>
            <a:ext cx="6096000" cy="3416320"/>
          </a:xfrm>
          <a:prstGeom prst="rect">
            <a:avLst/>
          </a:prstGeom>
          <a:noFill/>
        </p:spPr>
        <p:txBody>
          <a:bodyPr wrap="square">
            <a:spAutoFit/>
          </a:bodyPr>
          <a:lstStyle/>
          <a:p>
            <a:pPr>
              <a:buNone/>
            </a:pPr>
            <a:r>
              <a:rPr lang="en-IN" dirty="0"/>
              <a:t>So conceptually:</a:t>
            </a:r>
          </a:p>
          <a:p>
            <a:pPr rtl="0">
              <a:buNone/>
            </a:pPr>
            <a:r>
              <a:rPr lang="en-IN" dirty="0">
                <a:latin typeface="+mn-lt"/>
              </a:rPr>
              <a:t>TCP sends data</a:t>
            </a:r>
          </a:p>
          <a:p>
            <a:pPr rtl="0">
              <a:buNone/>
            </a:pPr>
            <a:r>
              <a:rPr lang="en-IN" dirty="0">
                <a:latin typeface="+mn-lt"/>
              </a:rPr>
              <a:t>      ↓</a:t>
            </a:r>
          </a:p>
          <a:p>
            <a:pPr rtl="0">
              <a:buNone/>
            </a:pPr>
            <a:r>
              <a:rPr lang="en-IN" dirty="0">
                <a:latin typeface="+mn-lt"/>
              </a:rPr>
              <a:t>Starts RTO timer</a:t>
            </a:r>
          </a:p>
          <a:p>
            <a:pPr rtl="0">
              <a:buNone/>
            </a:pPr>
            <a:r>
              <a:rPr lang="en-IN" dirty="0">
                <a:latin typeface="+mn-lt"/>
              </a:rPr>
              <a:t>      ↓</a:t>
            </a:r>
          </a:p>
          <a:p>
            <a:pPr rtl="0">
              <a:buNone/>
            </a:pPr>
            <a:r>
              <a:rPr lang="en-IN" dirty="0">
                <a:latin typeface="+mn-lt"/>
              </a:rPr>
              <a:t>Waits for ACK</a:t>
            </a:r>
          </a:p>
          <a:p>
            <a:pPr rtl="0">
              <a:buNone/>
            </a:pPr>
            <a:r>
              <a:rPr lang="en-IN" dirty="0">
                <a:latin typeface="+mn-lt"/>
              </a:rPr>
              <a:t>      ↓</a:t>
            </a:r>
          </a:p>
          <a:p>
            <a:pPr rtl="0">
              <a:buNone/>
            </a:pPr>
            <a:r>
              <a:rPr lang="en-IN" dirty="0">
                <a:latin typeface="+mn-lt"/>
              </a:rPr>
              <a:t>RTO = 270 </a:t>
            </a:r>
            <a:r>
              <a:rPr lang="en-IN" dirty="0" err="1">
                <a:latin typeface="+mn-lt"/>
              </a:rPr>
              <a:t>ms</a:t>
            </a:r>
            <a:endParaRPr lang="en-IN" dirty="0">
              <a:latin typeface="+mn-lt"/>
            </a:endParaRPr>
          </a:p>
          <a:p>
            <a:pPr rtl="0">
              <a:buNone/>
            </a:pPr>
            <a:r>
              <a:rPr lang="en-IN" dirty="0">
                <a:latin typeface="+mn-lt"/>
              </a:rPr>
              <a:t>      ↓</a:t>
            </a:r>
          </a:p>
          <a:p>
            <a:pPr rtl="0">
              <a:buNone/>
            </a:pPr>
            <a:r>
              <a:rPr lang="en-IN" dirty="0">
                <a:latin typeface="+mn-lt"/>
              </a:rPr>
              <a:t>If the timeout occurs without the</a:t>
            </a:r>
          </a:p>
          <a:p>
            <a:pPr rtl="0">
              <a:buNone/>
            </a:pPr>
            <a:r>
              <a:rPr lang="en-IN" dirty="0">
                <a:latin typeface="+mn-lt"/>
              </a:rPr>
              <a:t>required ACK, TCP can retransmit</a:t>
            </a:r>
          </a:p>
          <a:p>
            <a:pPr rtl="0">
              <a:buNone/>
            </a:pPr>
            <a:r>
              <a:rPr lang="en-IN" dirty="0">
                <a:latin typeface="+mn-lt"/>
              </a:rPr>
              <a:t>the unacknowledged data.</a:t>
            </a:r>
            <a:endParaRPr lang="en-IN" dirty="0">
              <a:latin typeface="Courier New" panose="02070309020205020404" pitchFamily="49" charset="0"/>
            </a:endParaRPr>
          </a:p>
        </p:txBody>
      </p:sp>
    </p:spTree>
    <p:extLst>
      <p:ext uri="{BB962C8B-B14F-4D97-AF65-F5344CB8AC3E}">
        <p14:creationId xmlns:p14="http://schemas.microsoft.com/office/powerpoint/2010/main" val="1760003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67116-AC17-A391-9752-0C8DE8BD1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72B99-1B63-06BC-F8AB-1D82E526DD7F}"/>
              </a:ext>
            </a:extLst>
          </p:cNvPr>
          <p:cNvSpPr>
            <a:spLocks noGrp="1"/>
          </p:cNvSpPr>
          <p:nvPr>
            <p:ph type="title"/>
          </p:nvPr>
        </p:nvSpPr>
        <p:spPr>
          <a:xfrm>
            <a:off x="275844" y="495220"/>
            <a:ext cx="11640312" cy="464900"/>
          </a:xfrm>
        </p:spPr>
        <p:txBody>
          <a:bodyPr>
            <a:normAutofit/>
          </a:bodyPr>
          <a:lstStyle/>
          <a:p>
            <a:r>
              <a:rPr lang="en-US" sz="2400" b="1" dirty="0"/>
              <a:t>Transactional TCP (T/TCP)</a:t>
            </a:r>
            <a:endParaRPr lang="en-IN" sz="2400" b="1" dirty="0"/>
          </a:p>
        </p:txBody>
      </p:sp>
      <p:sp>
        <p:nvSpPr>
          <p:cNvPr id="4" name="TextBox 3">
            <a:extLst>
              <a:ext uri="{FF2B5EF4-FFF2-40B4-BE49-F238E27FC236}">
                <a16:creationId xmlns:a16="http://schemas.microsoft.com/office/drawing/2014/main" id="{643233A0-463C-C0CE-1512-D44B81862A2C}"/>
              </a:ext>
            </a:extLst>
          </p:cNvPr>
          <p:cNvSpPr txBox="1"/>
          <p:nvPr/>
        </p:nvSpPr>
        <p:spPr>
          <a:xfrm>
            <a:off x="275845" y="960120"/>
            <a:ext cx="4921798" cy="1477328"/>
          </a:xfrm>
          <a:prstGeom prst="rect">
            <a:avLst/>
          </a:prstGeom>
          <a:noFill/>
        </p:spPr>
        <p:txBody>
          <a:bodyPr wrap="square">
            <a:spAutoFit/>
          </a:bodyPr>
          <a:lstStyle/>
          <a:p>
            <a:pPr>
              <a:buNone/>
            </a:pPr>
            <a:r>
              <a:rPr lang="en-IN" dirty="0"/>
              <a:t>Suppose a client wants to send some data to a server.</a:t>
            </a:r>
          </a:p>
          <a:p>
            <a:pPr>
              <a:buNone/>
            </a:pPr>
            <a:r>
              <a:rPr lang="en-IN" dirty="0"/>
              <a:t>In normal TCP, before normal data communication starts, a connection is established using the </a:t>
            </a:r>
            <a:r>
              <a:rPr lang="en-IN" b="1" dirty="0"/>
              <a:t>3-way handshake</a:t>
            </a:r>
            <a:r>
              <a:rPr lang="en-IN" dirty="0"/>
              <a:t>:</a:t>
            </a:r>
          </a:p>
        </p:txBody>
      </p:sp>
      <p:pic>
        <p:nvPicPr>
          <p:cNvPr id="6" name="Picture 5">
            <a:extLst>
              <a:ext uri="{FF2B5EF4-FFF2-40B4-BE49-F238E27FC236}">
                <a16:creationId xmlns:a16="http://schemas.microsoft.com/office/drawing/2014/main" id="{EC744A85-8485-3012-0A4F-82385F5A18FD}"/>
              </a:ext>
            </a:extLst>
          </p:cNvPr>
          <p:cNvPicPr>
            <a:picLocks noChangeAspect="1"/>
          </p:cNvPicPr>
          <p:nvPr/>
        </p:nvPicPr>
        <p:blipFill>
          <a:blip r:embed="rId2"/>
          <a:stretch>
            <a:fillRect/>
          </a:stretch>
        </p:blipFill>
        <p:spPr>
          <a:xfrm>
            <a:off x="449179" y="2813250"/>
            <a:ext cx="3400925" cy="2981741"/>
          </a:xfrm>
          <a:prstGeom prst="rect">
            <a:avLst/>
          </a:prstGeom>
        </p:spPr>
      </p:pic>
      <p:sp>
        <p:nvSpPr>
          <p:cNvPr id="8" name="TextBox 7">
            <a:extLst>
              <a:ext uri="{FF2B5EF4-FFF2-40B4-BE49-F238E27FC236}">
                <a16:creationId xmlns:a16="http://schemas.microsoft.com/office/drawing/2014/main" id="{CBBB4BB8-ABFF-A2E7-2280-80A85B84B736}"/>
              </a:ext>
            </a:extLst>
          </p:cNvPr>
          <p:cNvSpPr txBox="1"/>
          <p:nvPr/>
        </p:nvSpPr>
        <p:spPr>
          <a:xfrm>
            <a:off x="275844" y="5794991"/>
            <a:ext cx="4363453" cy="923330"/>
          </a:xfrm>
          <a:prstGeom prst="rect">
            <a:avLst/>
          </a:prstGeom>
          <a:noFill/>
        </p:spPr>
        <p:txBody>
          <a:bodyPr wrap="square">
            <a:spAutoFit/>
          </a:bodyPr>
          <a:lstStyle/>
          <a:p>
            <a:r>
              <a:rPr lang="en-IN" dirty="0"/>
              <a:t>This is useful because TCP wants to establish the connection properly before communication.</a:t>
            </a:r>
          </a:p>
        </p:txBody>
      </p:sp>
      <p:sp>
        <p:nvSpPr>
          <p:cNvPr id="10" name="TextBox 9">
            <a:extLst>
              <a:ext uri="{FF2B5EF4-FFF2-40B4-BE49-F238E27FC236}">
                <a16:creationId xmlns:a16="http://schemas.microsoft.com/office/drawing/2014/main" id="{9A47FF6F-6AF5-3CCD-EDAC-48723E411D6B}"/>
              </a:ext>
            </a:extLst>
          </p:cNvPr>
          <p:cNvSpPr txBox="1"/>
          <p:nvPr/>
        </p:nvSpPr>
        <p:spPr>
          <a:xfrm>
            <a:off x="5775158" y="727670"/>
            <a:ext cx="4921798" cy="369332"/>
          </a:xfrm>
          <a:prstGeom prst="rect">
            <a:avLst/>
          </a:prstGeom>
          <a:noFill/>
        </p:spPr>
        <p:txBody>
          <a:bodyPr wrap="square">
            <a:spAutoFit/>
          </a:bodyPr>
          <a:lstStyle/>
          <a:p>
            <a:r>
              <a:rPr lang="en-IN" b="1" dirty="0"/>
              <a:t>What if I Have Only a Very Small Amount of Data?</a:t>
            </a:r>
          </a:p>
        </p:txBody>
      </p:sp>
      <p:pic>
        <p:nvPicPr>
          <p:cNvPr id="12" name="Picture 11">
            <a:extLst>
              <a:ext uri="{FF2B5EF4-FFF2-40B4-BE49-F238E27FC236}">
                <a16:creationId xmlns:a16="http://schemas.microsoft.com/office/drawing/2014/main" id="{A8A3AB58-C157-862A-98C0-2178A8E35F35}"/>
              </a:ext>
            </a:extLst>
          </p:cNvPr>
          <p:cNvPicPr>
            <a:picLocks noChangeAspect="1"/>
          </p:cNvPicPr>
          <p:nvPr/>
        </p:nvPicPr>
        <p:blipFill>
          <a:blip r:embed="rId3"/>
          <a:stretch>
            <a:fillRect/>
          </a:stretch>
        </p:blipFill>
        <p:spPr>
          <a:xfrm>
            <a:off x="5774552" y="1134968"/>
            <a:ext cx="5134692" cy="4020111"/>
          </a:xfrm>
          <a:prstGeom prst="rect">
            <a:avLst/>
          </a:prstGeom>
        </p:spPr>
      </p:pic>
      <p:sp>
        <p:nvSpPr>
          <p:cNvPr id="14" name="TextBox 13">
            <a:extLst>
              <a:ext uri="{FF2B5EF4-FFF2-40B4-BE49-F238E27FC236}">
                <a16:creationId xmlns:a16="http://schemas.microsoft.com/office/drawing/2014/main" id="{B4D79CF4-3347-CA3B-746A-FFAF6127AF8A}"/>
              </a:ext>
            </a:extLst>
          </p:cNvPr>
          <p:cNvSpPr txBox="1"/>
          <p:nvPr/>
        </p:nvSpPr>
        <p:spPr>
          <a:xfrm>
            <a:off x="5646821" y="5668665"/>
            <a:ext cx="6096000" cy="923330"/>
          </a:xfrm>
          <a:prstGeom prst="rect">
            <a:avLst/>
          </a:prstGeom>
          <a:noFill/>
        </p:spPr>
        <p:txBody>
          <a:bodyPr wrap="square">
            <a:spAutoFit/>
          </a:bodyPr>
          <a:lstStyle/>
          <a:p>
            <a:pPr>
              <a:buNone/>
            </a:pPr>
            <a:r>
              <a:rPr lang="en-IN" dirty="0"/>
              <a:t>So for a </a:t>
            </a:r>
            <a:r>
              <a:rPr lang="en-IN" b="1" dirty="0"/>
              <a:t>very short transaction</a:t>
            </a:r>
            <a:r>
              <a:rPr lang="en-IN" dirty="0"/>
              <a:t>, the connection setup itself adds extra time.</a:t>
            </a:r>
          </a:p>
          <a:p>
            <a:pPr>
              <a:buNone/>
            </a:pPr>
            <a:r>
              <a:rPr lang="en-IN" dirty="0"/>
              <a:t>This is the problem Transactional TCP was designed to reduce.</a:t>
            </a:r>
          </a:p>
        </p:txBody>
      </p:sp>
    </p:spTree>
    <p:extLst>
      <p:ext uri="{BB962C8B-B14F-4D97-AF65-F5344CB8AC3E}">
        <p14:creationId xmlns:p14="http://schemas.microsoft.com/office/powerpoint/2010/main" val="5186346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18CD0-486F-D0F8-EB6F-329424A14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771A06-D19A-5DAB-5120-20FAE329F1D2}"/>
              </a:ext>
            </a:extLst>
          </p:cNvPr>
          <p:cNvSpPr>
            <a:spLocks noGrp="1"/>
          </p:cNvSpPr>
          <p:nvPr>
            <p:ph type="title"/>
          </p:nvPr>
        </p:nvSpPr>
        <p:spPr>
          <a:xfrm>
            <a:off x="275844" y="495220"/>
            <a:ext cx="11640312" cy="464900"/>
          </a:xfrm>
        </p:spPr>
        <p:txBody>
          <a:bodyPr>
            <a:normAutofit/>
          </a:bodyPr>
          <a:lstStyle/>
          <a:p>
            <a:r>
              <a:rPr lang="en-US" sz="2400" b="1" dirty="0"/>
              <a:t>Transactional TCP (T/TCP)</a:t>
            </a:r>
            <a:endParaRPr lang="en-IN" sz="2400" b="1" dirty="0"/>
          </a:p>
        </p:txBody>
      </p:sp>
      <p:sp>
        <p:nvSpPr>
          <p:cNvPr id="5" name="TextBox 4">
            <a:extLst>
              <a:ext uri="{FF2B5EF4-FFF2-40B4-BE49-F238E27FC236}">
                <a16:creationId xmlns:a16="http://schemas.microsoft.com/office/drawing/2014/main" id="{67BC9EED-D9F3-716A-5ECE-0A2E3AC40CC3}"/>
              </a:ext>
            </a:extLst>
          </p:cNvPr>
          <p:cNvSpPr txBox="1"/>
          <p:nvPr/>
        </p:nvSpPr>
        <p:spPr>
          <a:xfrm>
            <a:off x="275844" y="960120"/>
            <a:ext cx="10712998" cy="369332"/>
          </a:xfrm>
          <a:prstGeom prst="rect">
            <a:avLst/>
          </a:prstGeom>
          <a:noFill/>
        </p:spPr>
        <p:txBody>
          <a:bodyPr wrap="square">
            <a:spAutoFit/>
          </a:bodyPr>
          <a:lstStyle/>
          <a:p>
            <a:r>
              <a:rPr lang="en-IN" dirty="0"/>
              <a:t>A transaction here means a </a:t>
            </a:r>
            <a:r>
              <a:rPr lang="en-IN" b="1" dirty="0"/>
              <a:t>short request-and-response communication</a:t>
            </a:r>
            <a:r>
              <a:rPr lang="en-IN" dirty="0"/>
              <a:t>.</a:t>
            </a:r>
          </a:p>
        </p:txBody>
      </p:sp>
      <p:sp>
        <p:nvSpPr>
          <p:cNvPr id="9" name="TextBox 8">
            <a:extLst>
              <a:ext uri="{FF2B5EF4-FFF2-40B4-BE49-F238E27FC236}">
                <a16:creationId xmlns:a16="http://schemas.microsoft.com/office/drawing/2014/main" id="{5331B015-9BF8-CAFA-24FB-5008EDB26B7C}"/>
              </a:ext>
            </a:extLst>
          </p:cNvPr>
          <p:cNvSpPr txBox="1"/>
          <p:nvPr/>
        </p:nvSpPr>
        <p:spPr>
          <a:xfrm>
            <a:off x="275844" y="1471186"/>
            <a:ext cx="11640311" cy="646331"/>
          </a:xfrm>
          <a:prstGeom prst="rect">
            <a:avLst/>
          </a:prstGeom>
          <a:noFill/>
        </p:spPr>
        <p:txBody>
          <a:bodyPr wrap="square">
            <a:spAutoFit/>
          </a:bodyPr>
          <a:lstStyle/>
          <a:p>
            <a:r>
              <a:rPr lang="en-IN" dirty="0"/>
              <a:t>Transactional TCP (T/TCP) was designed to make short TCP transactions faster by reducing the delay caused by normal connection setup.</a:t>
            </a:r>
          </a:p>
        </p:txBody>
      </p:sp>
      <p:sp>
        <p:nvSpPr>
          <p:cNvPr id="13" name="TextBox 12">
            <a:extLst>
              <a:ext uri="{FF2B5EF4-FFF2-40B4-BE49-F238E27FC236}">
                <a16:creationId xmlns:a16="http://schemas.microsoft.com/office/drawing/2014/main" id="{4C58FE36-A288-4515-A216-FC7BD2B9F749}"/>
              </a:ext>
            </a:extLst>
          </p:cNvPr>
          <p:cNvSpPr txBox="1"/>
          <p:nvPr/>
        </p:nvSpPr>
        <p:spPr>
          <a:xfrm>
            <a:off x="144379" y="2259251"/>
            <a:ext cx="6096000" cy="2862322"/>
          </a:xfrm>
          <a:prstGeom prst="rect">
            <a:avLst/>
          </a:prstGeom>
          <a:noFill/>
        </p:spPr>
        <p:txBody>
          <a:bodyPr wrap="square">
            <a:spAutoFit/>
          </a:bodyPr>
          <a:lstStyle/>
          <a:p>
            <a:pPr>
              <a:buNone/>
            </a:pPr>
            <a:r>
              <a:rPr lang="en-IN" b="1" dirty="0"/>
              <a:t>Main Idea of Transactional TCP</a:t>
            </a:r>
          </a:p>
          <a:p>
            <a:pPr>
              <a:buNone/>
            </a:pPr>
            <a:r>
              <a:rPr lang="en-IN" dirty="0"/>
              <a:t>Normal TCP conceptually does:</a:t>
            </a:r>
          </a:p>
          <a:p>
            <a:pPr rtl="0">
              <a:buNone/>
            </a:pPr>
            <a:r>
              <a:rPr lang="en-IN" dirty="0">
                <a:latin typeface="+mn-lt"/>
              </a:rPr>
              <a:t>Establish Connection</a:t>
            </a:r>
          </a:p>
          <a:p>
            <a:pPr rtl="0">
              <a:buNone/>
            </a:pPr>
            <a:r>
              <a:rPr lang="en-IN" dirty="0">
                <a:latin typeface="+mn-lt"/>
              </a:rPr>
              <a:t>        ↓</a:t>
            </a:r>
          </a:p>
          <a:p>
            <a:pPr rtl="0">
              <a:buNone/>
            </a:pPr>
            <a:r>
              <a:rPr lang="en-IN" dirty="0">
                <a:latin typeface="+mn-lt"/>
              </a:rPr>
              <a:t>Send Data</a:t>
            </a:r>
          </a:p>
          <a:p>
            <a:pPr rtl="0">
              <a:buNone/>
            </a:pPr>
            <a:r>
              <a:rPr lang="en-IN" dirty="0">
                <a:latin typeface="+mn-lt"/>
              </a:rPr>
              <a:t>        ↓</a:t>
            </a:r>
          </a:p>
          <a:p>
            <a:pPr rtl="0">
              <a:buNone/>
            </a:pPr>
            <a:r>
              <a:rPr lang="en-IN" dirty="0">
                <a:latin typeface="+mn-lt"/>
              </a:rPr>
              <a:t>Receive Response</a:t>
            </a:r>
          </a:p>
          <a:p>
            <a:pPr rtl="0">
              <a:buNone/>
            </a:pPr>
            <a:r>
              <a:rPr lang="en-IN" dirty="0">
                <a:latin typeface="+mn-lt"/>
              </a:rPr>
              <a:t>        ↓</a:t>
            </a:r>
          </a:p>
          <a:p>
            <a:pPr rtl="0">
              <a:buNone/>
            </a:pPr>
            <a:r>
              <a:rPr lang="en-IN" dirty="0">
                <a:latin typeface="+mn-lt"/>
              </a:rPr>
              <a:t>Close Connection</a:t>
            </a:r>
          </a:p>
          <a:p>
            <a:pPr>
              <a:buNone/>
            </a:pPr>
            <a:r>
              <a:rPr lang="en-IN" dirty="0"/>
              <a:t>T/TCP tries to reduce the waiting involved at the beginning.</a:t>
            </a:r>
          </a:p>
        </p:txBody>
      </p:sp>
      <p:sp>
        <p:nvSpPr>
          <p:cNvPr id="16" name="TextBox 15">
            <a:extLst>
              <a:ext uri="{FF2B5EF4-FFF2-40B4-BE49-F238E27FC236}">
                <a16:creationId xmlns:a16="http://schemas.microsoft.com/office/drawing/2014/main" id="{D702F4FC-AF68-ED62-DFC5-750583315D67}"/>
              </a:ext>
            </a:extLst>
          </p:cNvPr>
          <p:cNvSpPr txBox="1"/>
          <p:nvPr/>
        </p:nvSpPr>
        <p:spPr>
          <a:xfrm>
            <a:off x="144379" y="5325558"/>
            <a:ext cx="6096000" cy="646331"/>
          </a:xfrm>
          <a:prstGeom prst="rect">
            <a:avLst/>
          </a:prstGeom>
          <a:noFill/>
        </p:spPr>
        <p:txBody>
          <a:bodyPr wrap="square">
            <a:spAutoFit/>
          </a:bodyPr>
          <a:lstStyle/>
          <a:p>
            <a:pPr>
              <a:buNone/>
            </a:pPr>
            <a:r>
              <a:rPr lang="en-IN" dirty="0"/>
              <a:t>The key idea is:</a:t>
            </a:r>
          </a:p>
          <a:p>
            <a:pPr>
              <a:buNone/>
            </a:pPr>
            <a:r>
              <a:rPr lang="en-IN" b="1" dirty="0"/>
              <a:t>Data can be sent in the first packet of the connection.</a:t>
            </a:r>
            <a:endParaRPr lang="en-IN" dirty="0"/>
          </a:p>
        </p:txBody>
      </p:sp>
      <p:sp>
        <p:nvSpPr>
          <p:cNvPr id="18" name="TextBox 17">
            <a:extLst>
              <a:ext uri="{FF2B5EF4-FFF2-40B4-BE49-F238E27FC236}">
                <a16:creationId xmlns:a16="http://schemas.microsoft.com/office/drawing/2014/main" id="{874DA49E-9AAF-D88A-8CF8-E6FABAD8C644}"/>
              </a:ext>
            </a:extLst>
          </p:cNvPr>
          <p:cNvSpPr txBox="1"/>
          <p:nvPr/>
        </p:nvSpPr>
        <p:spPr>
          <a:xfrm>
            <a:off x="6095999" y="2828835"/>
            <a:ext cx="6096000" cy="1200329"/>
          </a:xfrm>
          <a:prstGeom prst="rect">
            <a:avLst/>
          </a:prstGeom>
          <a:noFill/>
        </p:spPr>
        <p:txBody>
          <a:bodyPr wrap="square">
            <a:spAutoFit/>
          </a:bodyPr>
          <a:lstStyle/>
          <a:p>
            <a:r>
              <a:rPr lang="en-IN" b="1" dirty="0"/>
              <a:t>Transactional TCP (T/TCP) is an extension of TCP designed for short data transfers. It reduces connection setup delay by allowing data to be sent earlier during connection establishment.</a:t>
            </a:r>
          </a:p>
        </p:txBody>
      </p:sp>
    </p:spTree>
    <p:extLst>
      <p:ext uri="{BB962C8B-B14F-4D97-AF65-F5344CB8AC3E}">
        <p14:creationId xmlns:p14="http://schemas.microsoft.com/office/powerpoint/2010/main" val="391203570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4403D-D4CC-7C26-8CD1-DC2166A6C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686F2B-0F13-87E0-60F7-B4CC040FDA9A}"/>
              </a:ext>
            </a:extLst>
          </p:cNvPr>
          <p:cNvSpPr>
            <a:spLocks noGrp="1"/>
          </p:cNvSpPr>
          <p:nvPr>
            <p:ph type="title"/>
          </p:nvPr>
        </p:nvSpPr>
        <p:spPr>
          <a:xfrm>
            <a:off x="275844" y="495220"/>
            <a:ext cx="11640312" cy="464900"/>
          </a:xfrm>
        </p:spPr>
        <p:txBody>
          <a:bodyPr>
            <a:normAutofit/>
          </a:bodyPr>
          <a:lstStyle/>
          <a:p>
            <a:r>
              <a:rPr lang="en-US" sz="2400" b="1" dirty="0"/>
              <a:t>Transactional TCP (T/TCP)</a:t>
            </a:r>
            <a:endParaRPr lang="en-IN" sz="2400" b="1" dirty="0"/>
          </a:p>
        </p:txBody>
      </p:sp>
      <p:graphicFrame>
        <p:nvGraphicFramePr>
          <p:cNvPr id="3" name="Table 2">
            <a:extLst>
              <a:ext uri="{FF2B5EF4-FFF2-40B4-BE49-F238E27FC236}">
                <a16:creationId xmlns:a16="http://schemas.microsoft.com/office/drawing/2014/main" id="{D5CCF86D-095B-8F88-C94B-0563A90E4638}"/>
              </a:ext>
            </a:extLst>
          </p:cNvPr>
          <p:cNvGraphicFramePr>
            <a:graphicFrameLocks noGrp="1"/>
          </p:cNvGraphicFramePr>
          <p:nvPr>
            <p:extLst>
              <p:ext uri="{D42A27DB-BD31-4B8C-83A1-F6EECF244321}">
                <p14:modId xmlns:p14="http://schemas.microsoft.com/office/powerpoint/2010/main" val="4072831347"/>
              </p:ext>
            </p:extLst>
          </p:nvPr>
        </p:nvGraphicFramePr>
        <p:xfrm>
          <a:off x="275844" y="1072592"/>
          <a:ext cx="8128000" cy="26619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158956043"/>
                    </a:ext>
                  </a:extLst>
                </a:gridCol>
                <a:gridCol w="4064000">
                  <a:extLst>
                    <a:ext uri="{9D8B030D-6E8A-4147-A177-3AD203B41FA5}">
                      <a16:colId xmlns:a16="http://schemas.microsoft.com/office/drawing/2014/main" val="105493155"/>
                    </a:ext>
                  </a:extLst>
                </a:gridCol>
              </a:tblGrid>
              <a:tr h="370840">
                <a:tc>
                  <a:txBody>
                    <a:bodyPr/>
                    <a:lstStyle/>
                    <a:p>
                      <a:pPr>
                        <a:buNone/>
                      </a:pPr>
                      <a:r>
                        <a:rPr lang="en-IN" dirty="0"/>
                        <a:t>Normal TCP</a:t>
                      </a:r>
                    </a:p>
                  </a:txBody>
                  <a:tcPr anchor="ctr"/>
                </a:tc>
                <a:tc>
                  <a:txBody>
                    <a:bodyPr/>
                    <a:lstStyle/>
                    <a:p>
                      <a:pPr>
                        <a:buNone/>
                      </a:pPr>
                      <a:r>
                        <a:rPr lang="en-IN"/>
                        <a:t>Transactional TCP</a:t>
                      </a:r>
                    </a:p>
                  </a:txBody>
                  <a:tcPr anchor="ctr"/>
                </a:tc>
                <a:extLst>
                  <a:ext uri="{0D108BD9-81ED-4DB2-BD59-A6C34878D82A}">
                    <a16:rowId xmlns:a16="http://schemas.microsoft.com/office/drawing/2014/main" val="3035500857"/>
                  </a:ext>
                </a:extLst>
              </a:tr>
              <a:tr h="370840">
                <a:tc>
                  <a:txBody>
                    <a:bodyPr/>
                    <a:lstStyle/>
                    <a:p>
                      <a:pPr>
                        <a:buNone/>
                      </a:pPr>
                      <a:r>
                        <a:rPr lang="en-IN"/>
                        <a:t>Uses normal TCP connection establishment</a:t>
                      </a:r>
                    </a:p>
                  </a:txBody>
                  <a:tcPr anchor="ctr"/>
                </a:tc>
                <a:tc>
                  <a:txBody>
                    <a:bodyPr/>
                    <a:lstStyle/>
                    <a:p>
                      <a:pPr>
                        <a:buNone/>
                      </a:pPr>
                      <a:r>
                        <a:rPr lang="en-IN"/>
                        <a:t>Designed to reduce setup overhead for short transactions</a:t>
                      </a:r>
                    </a:p>
                  </a:txBody>
                  <a:tcPr anchor="ctr"/>
                </a:tc>
                <a:extLst>
                  <a:ext uri="{0D108BD9-81ED-4DB2-BD59-A6C34878D82A}">
                    <a16:rowId xmlns:a16="http://schemas.microsoft.com/office/drawing/2014/main" val="1249765716"/>
                  </a:ext>
                </a:extLst>
              </a:tr>
              <a:tr h="370840">
                <a:tc>
                  <a:txBody>
                    <a:bodyPr/>
                    <a:lstStyle/>
                    <a:p>
                      <a:pPr>
                        <a:buNone/>
                      </a:pPr>
                      <a:r>
                        <a:rPr lang="en-IN"/>
                        <a:t>Data normally follows connection setup</a:t>
                      </a:r>
                    </a:p>
                  </a:txBody>
                  <a:tcPr anchor="ctr"/>
                </a:tc>
                <a:tc>
                  <a:txBody>
                    <a:bodyPr/>
                    <a:lstStyle/>
                    <a:p>
                      <a:pPr>
                        <a:buNone/>
                      </a:pPr>
                      <a:r>
                        <a:rPr lang="en-IN"/>
                        <a:t>Allows data to be sent earlier</a:t>
                      </a:r>
                    </a:p>
                  </a:txBody>
                  <a:tcPr anchor="ctr"/>
                </a:tc>
                <a:extLst>
                  <a:ext uri="{0D108BD9-81ED-4DB2-BD59-A6C34878D82A}">
                    <a16:rowId xmlns:a16="http://schemas.microsoft.com/office/drawing/2014/main" val="1823408960"/>
                  </a:ext>
                </a:extLst>
              </a:tr>
              <a:tr h="370840">
                <a:tc>
                  <a:txBody>
                    <a:bodyPr/>
                    <a:lstStyle/>
                    <a:p>
                      <a:pPr>
                        <a:buNone/>
                      </a:pPr>
                      <a:r>
                        <a:rPr lang="en-IN"/>
                        <a:t>Setup delay is less important for long communication</a:t>
                      </a:r>
                    </a:p>
                  </a:txBody>
                  <a:tcPr anchor="ctr"/>
                </a:tc>
                <a:tc>
                  <a:txBody>
                    <a:bodyPr/>
                    <a:lstStyle/>
                    <a:p>
                      <a:pPr>
                        <a:buNone/>
                      </a:pPr>
                      <a:r>
                        <a:rPr lang="en-IN"/>
                        <a:t>Tries to reduce delay for short communication</a:t>
                      </a:r>
                    </a:p>
                  </a:txBody>
                  <a:tcPr anchor="ctr"/>
                </a:tc>
                <a:extLst>
                  <a:ext uri="{0D108BD9-81ED-4DB2-BD59-A6C34878D82A}">
                    <a16:rowId xmlns:a16="http://schemas.microsoft.com/office/drawing/2014/main" val="4056887374"/>
                  </a:ext>
                </a:extLst>
              </a:tr>
              <a:tr h="370840">
                <a:tc>
                  <a:txBody>
                    <a:bodyPr/>
                    <a:lstStyle/>
                    <a:p>
                      <a:pPr>
                        <a:buNone/>
                      </a:pPr>
                      <a:r>
                        <a:rPr lang="en-IN"/>
                        <a:t>General-purpose TCP communication</a:t>
                      </a:r>
                    </a:p>
                  </a:txBody>
                  <a:tcPr anchor="ctr"/>
                </a:tc>
                <a:tc>
                  <a:txBody>
                    <a:bodyPr/>
                    <a:lstStyle/>
                    <a:p>
                      <a:pPr>
                        <a:buNone/>
                      </a:pPr>
                      <a:r>
                        <a:rPr lang="en-IN" dirty="0"/>
                        <a:t>Designed mainly for short request-response communication</a:t>
                      </a:r>
                    </a:p>
                  </a:txBody>
                  <a:tcPr anchor="ctr"/>
                </a:tc>
                <a:extLst>
                  <a:ext uri="{0D108BD9-81ED-4DB2-BD59-A6C34878D82A}">
                    <a16:rowId xmlns:a16="http://schemas.microsoft.com/office/drawing/2014/main" val="57057263"/>
                  </a:ext>
                </a:extLst>
              </a:tr>
            </a:tbl>
          </a:graphicData>
        </a:graphic>
      </p:graphicFrame>
    </p:spTree>
    <p:extLst>
      <p:ext uri="{BB962C8B-B14F-4D97-AF65-F5344CB8AC3E}">
        <p14:creationId xmlns:p14="http://schemas.microsoft.com/office/powerpoint/2010/main" val="337803299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F116D-2F6D-30B4-DF50-44CD2CBCA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5184E-0088-A516-F952-B618F3B8B87A}"/>
              </a:ext>
            </a:extLst>
          </p:cNvPr>
          <p:cNvSpPr>
            <a:spLocks noGrp="1"/>
          </p:cNvSpPr>
          <p:nvPr>
            <p:ph type="title"/>
          </p:nvPr>
        </p:nvSpPr>
        <p:spPr>
          <a:xfrm>
            <a:off x="275844" y="495220"/>
            <a:ext cx="11640312" cy="464900"/>
          </a:xfrm>
        </p:spPr>
        <p:txBody>
          <a:bodyPr>
            <a:normAutofit/>
          </a:bodyPr>
          <a:lstStyle/>
          <a:p>
            <a:r>
              <a:rPr lang="en-US" sz="2400" b="1" dirty="0"/>
              <a:t>Transactional TCP (T/TCP) - Advantages</a:t>
            </a:r>
            <a:endParaRPr lang="en-IN" sz="2400" b="1" dirty="0"/>
          </a:p>
        </p:txBody>
      </p:sp>
      <p:graphicFrame>
        <p:nvGraphicFramePr>
          <p:cNvPr id="3" name="Table 2">
            <a:extLst>
              <a:ext uri="{FF2B5EF4-FFF2-40B4-BE49-F238E27FC236}">
                <a16:creationId xmlns:a16="http://schemas.microsoft.com/office/drawing/2014/main" id="{4E79E304-00C4-C023-F8AF-89EFD07D1155}"/>
              </a:ext>
            </a:extLst>
          </p:cNvPr>
          <p:cNvGraphicFramePr>
            <a:graphicFrameLocks noGrp="1"/>
          </p:cNvGraphicFramePr>
          <p:nvPr>
            <p:extLst>
              <p:ext uri="{D42A27DB-BD31-4B8C-83A1-F6EECF244321}">
                <p14:modId xmlns:p14="http://schemas.microsoft.com/office/powerpoint/2010/main" val="3386416896"/>
              </p:ext>
            </p:extLst>
          </p:nvPr>
        </p:nvGraphicFramePr>
        <p:xfrm>
          <a:off x="275844" y="1072592"/>
          <a:ext cx="8128000" cy="35712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158956043"/>
                    </a:ext>
                  </a:extLst>
                </a:gridCol>
                <a:gridCol w="4064000">
                  <a:extLst>
                    <a:ext uri="{9D8B030D-6E8A-4147-A177-3AD203B41FA5}">
                      <a16:colId xmlns:a16="http://schemas.microsoft.com/office/drawing/2014/main" val="105493155"/>
                    </a:ext>
                  </a:extLst>
                </a:gridCol>
              </a:tblGrid>
              <a:tr h="370840">
                <a:tc>
                  <a:txBody>
                    <a:bodyPr/>
                    <a:lstStyle/>
                    <a:p>
                      <a:pPr>
                        <a:buNone/>
                      </a:pPr>
                      <a:r>
                        <a:rPr lang="en-IN" dirty="0"/>
                        <a:t>Advantage</a:t>
                      </a:r>
                    </a:p>
                  </a:txBody>
                  <a:tcPr anchor="ctr"/>
                </a:tc>
                <a:tc>
                  <a:txBody>
                    <a:bodyPr/>
                    <a:lstStyle/>
                    <a:p>
                      <a:pPr>
                        <a:buNone/>
                      </a:pPr>
                      <a:r>
                        <a:rPr lang="en-IN"/>
                        <a:t>Simple Explanation</a:t>
                      </a:r>
                    </a:p>
                  </a:txBody>
                  <a:tcPr anchor="ctr"/>
                </a:tc>
                <a:extLst>
                  <a:ext uri="{0D108BD9-81ED-4DB2-BD59-A6C34878D82A}">
                    <a16:rowId xmlns:a16="http://schemas.microsoft.com/office/drawing/2014/main" val="3035500857"/>
                  </a:ext>
                </a:extLst>
              </a:tr>
              <a:tr h="370840">
                <a:tc>
                  <a:txBody>
                    <a:bodyPr/>
                    <a:lstStyle/>
                    <a:p>
                      <a:pPr>
                        <a:buNone/>
                      </a:pPr>
                      <a:r>
                        <a:rPr lang="en-IN" b="1"/>
                        <a:t>Reduced Connection Setup Time</a:t>
                      </a:r>
                      <a:endParaRPr lang="en-IN"/>
                    </a:p>
                  </a:txBody>
                  <a:tcPr anchor="ctr"/>
                </a:tc>
                <a:tc>
                  <a:txBody>
                    <a:bodyPr/>
                    <a:lstStyle/>
                    <a:p>
                      <a:pPr>
                        <a:buNone/>
                      </a:pPr>
                      <a:r>
                        <a:rPr lang="en-IN"/>
                        <a:t>Reduces the time required before starting data transfer.</a:t>
                      </a:r>
                    </a:p>
                  </a:txBody>
                  <a:tcPr anchor="ctr"/>
                </a:tc>
                <a:extLst>
                  <a:ext uri="{0D108BD9-81ED-4DB2-BD59-A6C34878D82A}">
                    <a16:rowId xmlns:a16="http://schemas.microsoft.com/office/drawing/2014/main" val="3160285865"/>
                  </a:ext>
                </a:extLst>
              </a:tr>
              <a:tr h="370840">
                <a:tc>
                  <a:txBody>
                    <a:bodyPr/>
                    <a:lstStyle/>
                    <a:p>
                      <a:pPr>
                        <a:buNone/>
                      </a:pPr>
                      <a:r>
                        <a:rPr lang="en-IN" b="1"/>
                        <a:t>Lower Latency</a:t>
                      </a:r>
                      <a:endParaRPr lang="en-IN"/>
                    </a:p>
                  </a:txBody>
                  <a:tcPr anchor="ctr"/>
                </a:tc>
                <a:tc>
                  <a:txBody>
                    <a:bodyPr/>
                    <a:lstStyle/>
                    <a:p>
                      <a:pPr>
                        <a:buNone/>
                      </a:pPr>
                      <a:r>
                        <a:rPr lang="en-IN"/>
                        <a:t>Short requests and responses can be completed faster.</a:t>
                      </a:r>
                    </a:p>
                  </a:txBody>
                  <a:tcPr anchor="ctr"/>
                </a:tc>
                <a:extLst>
                  <a:ext uri="{0D108BD9-81ED-4DB2-BD59-A6C34878D82A}">
                    <a16:rowId xmlns:a16="http://schemas.microsoft.com/office/drawing/2014/main" val="1249765716"/>
                  </a:ext>
                </a:extLst>
              </a:tr>
              <a:tr h="370840">
                <a:tc>
                  <a:txBody>
                    <a:bodyPr/>
                    <a:lstStyle/>
                    <a:p>
                      <a:pPr>
                        <a:buNone/>
                      </a:pPr>
                      <a:r>
                        <a:rPr lang="en-IN" b="1"/>
                        <a:t>Early Data Transmission</a:t>
                      </a:r>
                      <a:endParaRPr lang="en-IN"/>
                    </a:p>
                  </a:txBody>
                  <a:tcPr anchor="ctr"/>
                </a:tc>
                <a:tc>
                  <a:txBody>
                    <a:bodyPr/>
                    <a:lstStyle/>
                    <a:p>
                      <a:pPr>
                        <a:buNone/>
                      </a:pPr>
                      <a:r>
                        <a:rPr lang="en-IN"/>
                        <a:t>Data can be sent during the connection establishment process.</a:t>
                      </a:r>
                    </a:p>
                  </a:txBody>
                  <a:tcPr anchor="ctr"/>
                </a:tc>
                <a:extLst>
                  <a:ext uri="{0D108BD9-81ED-4DB2-BD59-A6C34878D82A}">
                    <a16:rowId xmlns:a16="http://schemas.microsoft.com/office/drawing/2014/main" val="1823408960"/>
                  </a:ext>
                </a:extLst>
              </a:tr>
              <a:tr h="370840">
                <a:tc>
                  <a:txBody>
                    <a:bodyPr/>
                    <a:lstStyle/>
                    <a:p>
                      <a:pPr>
                        <a:buNone/>
                      </a:pPr>
                      <a:r>
                        <a:rPr lang="en-IN" b="1"/>
                        <a:t>Good for Short Data Transfers</a:t>
                      </a:r>
                      <a:endParaRPr lang="en-IN"/>
                    </a:p>
                  </a:txBody>
                  <a:tcPr anchor="ctr"/>
                </a:tc>
                <a:tc>
                  <a:txBody>
                    <a:bodyPr/>
                    <a:lstStyle/>
                    <a:p>
                      <a:pPr>
                        <a:buNone/>
                      </a:pPr>
                      <a:r>
                        <a:rPr lang="en-IN"/>
                        <a:t>Useful when only a small amount of data needs to be exchanged.</a:t>
                      </a:r>
                    </a:p>
                  </a:txBody>
                  <a:tcPr anchor="ctr"/>
                </a:tc>
                <a:extLst>
                  <a:ext uri="{0D108BD9-81ED-4DB2-BD59-A6C34878D82A}">
                    <a16:rowId xmlns:a16="http://schemas.microsoft.com/office/drawing/2014/main" val="4056887374"/>
                  </a:ext>
                </a:extLst>
              </a:tr>
              <a:tr h="370840">
                <a:tc>
                  <a:txBody>
                    <a:bodyPr/>
                    <a:lstStyle/>
                    <a:p>
                      <a:pPr>
                        <a:buNone/>
                      </a:pPr>
                      <a:r>
                        <a:rPr lang="en-IN" b="1"/>
                        <a:t>Suitable for Bursty Traffic</a:t>
                      </a:r>
                      <a:endParaRPr lang="en-IN"/>
                    </a:p>
                  </a:txBody>
                  <a:tcPr anchor="ctr"/>
                </a:tc>
                <a:tc>
                  <a:txBody>
                    <a:bodyPr/>
                    <a:lstStyle/>
                    <a:p>
                      <a:pPr>
                        <a:buNone/>
                      </a:pPr>
                      <a:r>
                        <a:rPr lang="en-IN" dirty="0"/>
                        <a:t>Works well when data is sent in short bursts rather than continuously.</a:t>
                      </a:r>
                    </a:p>
                  </a:txBody>
                  <a:tcPr anchor="ctr"/>
                </a:tc>
                <a:extLst>
                  <a:ext uri="{0D108BD9-81ED-4DB2-BD59-A6C34878D82A}">
                    <a16:rowId xmlns:a16="http://schemas.microsoft.com/office/drawing/2014/main" val="57057263"/>
                  </a:ext>
                </a:extLst>
              </a:tr>
            </a:tbl>
          </a:graphicData>
        </a:graphic>
      </p:graphicFrame>
    </p:spTree>
    <p:extLst>
      <p:ext uri="{BB962C8B-B14F-4D97-AF65-F5344CB8AC3E}">
        <p14:creationId xmlns:p14="http://schemas.microsoft.com/office/powerpoint/2010/main" val="118683910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DECBE-AB99-F9B3-80CE-0727C0892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2830D-BD66-C1C6-CB78-EFAA677919A0}"/>
              </a:ext>
            </a:extLst>
          </p:cNvPr>
          <p:cNvSpPr>
            <a:spLocks noGrp="1"/>
          </p:cNvSpPr>
          <p:nvPr>
            <p:ph type="title"/>
          </p:nvPr>
        </p:nvSpPr>
        <p:spPr>
          <a:xfrm>
            <a:off x="275844" y="495220"/>
            <a:ext cx="11640312" cy="464900"/>
          </a:xfrm>
        </p:spPr>
        <p:txBody>
          <a:bodyPr>
            <a:normAutofit/>
          </a:bodyPr>
          <a:lstStyle/>
          <a:p>
            <a:r>
              <a:rPr lang="en-US" sz="2400" b="1" dirty="0"/>
              <a:t>Mobile TCP</a:t>
            </a:r>
            <a:endParaRPr lang="en-IN" sz="2400" b="1" dirty="0"/>
          </a:p>
        </p:txBody>
      </p:sp>
      <p:sp>
        <p:nvSpPr>
          <p:cNvPr id="4" name="TextBox 3">
            <a:extLst>
              <a:ext uri="{FF2B5EF4-FFF2-40B4-BE49-F238E27FC236}">
                <a16:creationId xmlns:a16="http://schemas.microsoft.com/office/drawing/2014/main" id="{077F3B58-CE85-C97B-C856-18059266F2B1}"/>
              </a:ext>
            </a:extLst>
          </p:cNvPr>
          <p:cNvSpPr txBox="1"/>
          <p:nvPr/>
        </p:nvSpPr>
        <p:spPr>
          <a:xfrm>
            <a:off x="275844" y="960120"/>
            <a:ext cx="11640311" cy="646331"/>
          </a:xfrm>
          <a:prstGeom prst="rect">
            <a:avLst/>
          </a:prstGeom>
          <a:noFill/>
        </p:spPr>
        <p:txBody>
          <a:bodyPr wrap="square">
            <a:spAutoFit/>
          </a:bodyPr>
          <a:lstStyle/>
          <a:p>
            <a:pPr>
              <a:buNone/>
            </a:pPr>
            <a:r>
              <a:rPr lang="en-IN" dirty="0"/>
              <a:t>Before understanding </a:t>
            </a:r>
            <a:r>
              <a:rPr lang="en-IN" b="1" dirty="0"/>
              <a:t>Mobile TCP</a:t>
            </a:r>
            <a:r>
              <a:rPr lang="en-IN" dirty="0"/>
              <a:t>, first think about normal TCP.</a:t>
            </a:r>
          </a:p>
          <a:p>
            <a:pPr>
              <a:buNone/>
            </a:pPr>
            <a:r>
              <a:rPr lang="en-IN" dirty="0"/>
              <a:t>Suppose a laptop is downloading a file:</a:t>
            </a:r>
          </a:p>
        </p:txBody>
      </p:sp>
      <p:pic>
        <p:nvPicPr>
          <p:cNvPr id="6" name="Picture 5">
            <a:extLst>
              <a:ext uri="{FF2B5EF4-FFF2-40B4-BE49-F238E27FC236}">
                <a16:creationId xmlns:a16="http://schemas.microsoft.com/office/drawing/2014/main" id="{70D9E379-6E40-E162-73FF-3C2E553EC4B2}"/>
              </a:ext>
            </a:extLst>
          </p:cNvPr>
          <p:cNvPicPr>
            <a:picLocks noChangeAspect="1"/>
          </p:cNvPicPr>
          <p:nvPr/>
        </p:nvPicPr>
        <p:blipFill>
          <a:blip r:embed="rId2"/>
          <a:stretch>
            <a:fillRect/>
          </a:stretch>
        </p:blipFill>
        <p:spPr>
          <a:xfrm>
            <a:off x="413009" y="1606451"/>
            <a:ext cx="1066949" cy="2229161"/>
          </a:xfrm>
          <a:prstGeom prst="rect">
            <a:avLst/>
          </a:prstGeom>
        </p:spPr>
      </p:pic>
      <p:sp>
        <p:nvSpPr>
          <p:cNvPr id="8" name="TextBox 7">
            <a:extLst>
              <a:ext uri="{FF2B5EF4-FFF2-40B4-BE49-F238E27FC236}">
                <a16:creationId xmlns:a16="http://schemas.microsoft.com/office/drawing/2014/main" id="{6D804BD6-808F-826E-B774-050BD00DDF6B}"/>
              </a:ext>
            </a:extLst>
          </p:cNvPr>
          <p:cNvSpPr txBox="1"/>
          <p:nvPr/>
        </p:nvSpPr>
        <p:spPr>
          <a:xfrm>
            <a:off x="1617123" y="1854277"/>
            <a:ext cx="4652211" cy="1200329"/>
          </a:xfrm>
          <a:prstGeom prst="rect">
            <a:avLst/>
          </a:prstGeom>
          <a:noFill/>
        </p:spPr>
        <p:txBody>
          <a:bodyPr wrap="square">
            <a:spAutoFit/>
          </a:bodyPr>
          <a:lstStyle/>
          <a:p>
            <a:pPr>
              <a:buNone/>
            </a:pPr>
            <a:r>
              <a:rPr lang="en-IN" dirty="0"/>
              <a:t>Everything is working normally.</a:t>
            </a:r>
          </a:p>
          <a:p>
            <a:pPr>
              <a:buNone/>
            </a:pPr>
            <a:r>
              <a:rPr lang="en-IN" dirty="0"/>
              <a:t>Now imagine the laptop/user </a:t>
            </a:r>
            <a:r>
              <a:rPr lang="en-IN" b="1" dirty="0"/>
              <a:t>moves</a:t>
            </a:r>
            <a:r>
              <a:rPr lang="en-IN" dirty="0"/>
              <a:t>.</a:t>
            </a:r>
          </a:p>
          <a:p>
            <a:pPr>
              <a:buNone/>
            </a:pPr>
            <a:r>
              <a:rPr lang="en-IN" dirty="0"/>
              <a:t>For example, you are walking through a university campus with your laptop or phone:</a:t>
            </a:r>
          </a:p>
        </p:txBody>
      </p:sp>
      <p:pic>
        <p:nvPicPr>
          <p:cNvPr id="10" name="Picture 9">
            <a:extLst>
              <a:ext uri="{FF2B5EF4-FFF2-40B4-BE49-F238E27FC236}">
                <a16:creationId xmlns:a16="http://schemas.microsoft.com/office/drawing/2014/main" id="{F7A9F711-ED4D-D8ED-8E3E-AF888E270E42}"/>
              </a:ext>
            </a:extLst>
          </p:cNvPr>
          <p:cNvPicPr>
            <a:picLocks noChangeAspect="1"/>
          </p:cNvPicPr>
          <p:nvPr/>
        </p:nvPicPr>
        <p:blipFill>
          <a:blip r:embed="rId3"/>
          <a:stretch>
            <a:fillRect/>
          </a:stretch>
        </p:blipFill>
        <p:spPr>
          <a:xfrm>
            <a:off x="275843" y="4083438"/>
            <a:ext cx="4777419" cy="2229161"/>
          </a:xfrm>
          <a:prstGeom prst="rect">
            <a:avLst/>
          </a:prstGeom>
        </p:spPr>
      </p:pic>
      <p:sp>
        <p:nvSpPr>
          <p:cNvPr id="12" name="TextBox 11">
            <a:extLst>
              <a:ext uri="{FF2B5EF4-FFF2-40B4-BE49-F238E27FC236}">
                <a16:creationId xmlns:a16="http://schemas.microsoft.com/office/drawing/2014/main" id="{EEA2AED7-0CDE-3F2A-D1DB-350E68447B93}"/>
              </a:ext>
            </a:extLst>
          </p:cNvPr>
          <p:cNvSpPr txBox="1"/>
          <p:nvPr/>
        </p:nvSpPr>
        <p:spPr>
          <a:xfrm>
            <a:off x="5309937" y="4320855"/>
            <a:ext cx="6096000" cy="1754326"/>
          </a:xfrm>
          <a:prstGeom prst="rect">
            <a:avLst/>
          </a:prstGeom>
          <a:noFill/>
        </p:spPr>
        <p:txBody>
          <a:bodyPr wrap="square">
            <a:spAutoFit/>
          </a:bodyPr>
          <a:lstStyle/>
          <a:p>
            <a:pPr>
              <a:buNone/>
            </a:pPr>
            <a:r>
              <a:rPr lang="en-IN" dirty="0"/>
              <a:t>While moving, the device may:</a:t>
            </a:r>
          </a:p>
          <a:p>
            <a:pPr marL="342900" lvl="0" indent="-342900">
              <a:buFont typeface="Arial" panose="020B0604020202020204" pitchFamily="34" charset="0"/>
              <a:buChar char="•"/>
            </a:pPr>
            <a:r>
              <a:rPr lang="en-IN" dirty="0"/>
              <a:t>change from one wireless access point/network to another, </a:t>
            </a:r>
          </a:p>
          <a:p>
            <a:pPr marL="342900" lvl="0" indent="-342900">
              <a:buFont typeface="Arial" panose="020B0604020202020204" pitchFamily="34" charset="0"/>
              <a:buChar char="•"/>
            </a:pPr>
            <a:r>
              <a:rPr lang="en-IN" dirty="0"/>
              <a:t>temporarily lose wireless connection, </a:t>
            </a:r>
          </a:p>
          <a:p>
            <a:pPr marL="342900" lvl="0" indent="-342900">
              <a:buFont typeface="Arial" panose="020B0604020202020204" pitchFamily="34" charset="0"/>
              <a:buChar char="•"/>
            </a:pPr>
            <a:r>
              <a:rPr lang="en-IN" dirty="0"/>
              <a:t>experience more packet loss, </a:t>
            </a:r>
          </a:p>
          <a:p>
            <a:pPr marL="342900" lvl="0" indent="-342900">
              <a:buFont typeface="Arial" panose="020B0604020202020204" pitchFamily="34" charset="0"/>
              <a:buChar char="•"/>
            </a:pPr>
            <a:r>
              <a:rPr lang="en-IN" dirty="0"/>
              <a:t>experience changing network delay. </a:t>
            </a:r>
          </a:p>
          <a:p>
            <a:pPr>
              <a:buNone/>
            </a:pPr>
            <a:r>
              <a:rPr lang="en-IN" dirty="0"/>
              <a:t>These conditions create problems for normal TCP.</a:t>
            </a:r>
          </a:p>
        </p:txBody>
      </p:sp>
    </p:spTree>
    <p:extLst>
      <p:ext uri="{BB962C8B-B14F-4D97-AF65-F5344CB8AC3E}">
        <p14:creationId xmlns:p14="http://schemas.microsoft.com/office/powerpoint/2010/main" val="32120204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1382-21B4-4870-8078-35AE29847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D11639-80FB-B291-4782-F02112647763}"/>
              </a:ext>
            </a:extLst>
          </p:cNvPr>
          <p:cNvSpPr>
            <a:spLocks noGrp="1"/>
          </p:cNvSpPr>
          <p:nvPr>
            <p:ph type="title"/>
          </p:nvPr>
        </p:nvSpPr>
        <p:spPr>
          <a:xfrm>
            <a:off x="275844" y="495220"/>
            <a:ext cx="11640312" cy="464900"/>
          </a:xfrm>
        </p:spPr>
        <p:txBody>
          <a:bodyPr>
            <a:normAutofit/>
          </a:bodyPr>
          <a:lstStyle/>
          <a:p>
            <a:r>
              <a:rPr lang="en-US" sz="2400" b="1" dirty="0"/>
              <a:t>Mobile TCP</a:t>
            </a:r>
            <a:endParaRPr lang="en-IN" sz="2400" b="1" dirty="0"/>
          </a:p>
        </p:txBody>
      </p:sp>
      <p:sp>
        <p:nvSpPr>
          <p:cNvPr id="21" name="TextBox 20">
            <a:extLst>
              <a:ext uri="{FF2B5EF4-FFF2-40B4-BE49-F238E27FC236}">
                <a16:creationId xmlns:a16="http://schemas.microsoft.com/office/drawing/2014/main" id="{07A5BE3A-CDDC-A167-A037-8255E2E8586D}"/>
              </a:ext>
            </a:extLst>
          </p:cNvPr>
          <p:cNvSpPr txBox="1"/>
          <p:nvPr/>
        </p:nvSpPr>
        <p:spPr>
          <a:xfrm>
            <a:off x="275843" y="1093329"/>
            <a:ext cx="11640311" cy="2862322"/>
          </a:xfrm>
          <a:prstGeom prst="rect">
            <a:avLst/>
          </a:prstGeom>
          <a:noFill/>
        </p:spPr>
        <p:txBody>
          <a:bodyPr wrap="square">
            <a:spAutoFit/>
          </a:bodyPr>
          <a:lstStyle/>
          <a:p>
            <a:pPr>
              <a:buNone/>
            </a:pPr>
            <a:r>
              <a:rPr lang="en-IN" b="1" dirty="0">
                <a:highlight>
                  <a:srgbClr val="FFFF00"/>
                </a:highlight>
              </a:rPr>
              <a:t>What is Handoff / Handover?</a:t>
            </a:r>
          </a:p>
          <a:p>
            <a:pPr>
              <a:buNone/>
            </a:pPr>
            <a:r>
              <a:rPr lang="en-IN" dirty="0"/>
              <a:t>Suppose the device is communicating through:</a:t>
            </a:r>
          </a:p>
          <a:p>
            <a:pPr rtl="0">
              <a:buNone/>
            </a:pPr>
            <a:r>
              <a:rPr lang="en-IN" dirty="0">
                <a:latin typeface="+mn-lt"/>
              </a:rPr>
              <a:t>Access Point A</a:t>
            </a:r>
          </a:p>
          <a:p>
            <a:pPr>
              <a:buNone/>
            </a:pPr>
            <a:endParaRPr lang="en-IN" dirty="0"/>
          </a:p>
          <a:p>
            <a:pPr>
              <a:buNone/>
            </a:pPr>
            <a:r>
              <a:rPr lang="en-IN" dirty="0"/>
              <a:t>and while moving it changes to:</a:t>
            </a:r>
          </a:p>
          <a:p>
            <a:pPr rtl="0">
              <a:buNone/>
            </a:pPr>
            <a:r>
              <a:rPr lang="en-IN" dirty="0">
                <a:latin typeface="+mn-lt"/>
              </a:rPr>
              <a:t>Access Point B</a:t>
            </a:r>
          </a:p>
          <a:p>
            <a:pPr>
              <a:buNone/>
            </a:pPr>
            <a:endParaRPr lang="en-IN" dirty="0"/>
          </a:p>
          <a:p>
            <a:pPr>
              <a:buNone/>
            </a:pPr>
            <a:r>
              <a:rPr lang="en-IN" dirty="0"/>
              <a:t>This change is called a:</a:t>
            </a:r>
          </a:p>
          <a:p>
            <a:pPr>
              <a:buNone/>
            </a:pPr>
            <a:r>
              <a:rPr lang="en-IN" b="1" dirty="0"/>
              <a:t>Handoff/Handover — the process in which a mobile device changes its connection from one access point/base station to another while moving.</a:t>
            </a:r>
            <a:endParaRPr lang="en-IN" dirty="0"/>
          </a:p>
        </p:txBody>
      </p:sp>
      <p:pic>
        <p:nvPicPr>
          <p:cNvPr id="23" name="Picture 22">
            <a:extLst>
              <a:ext uri="{FF2B5EF4-FFF2-40B4-BE49-F238E27FC236}">
                <a16:creationId xmlns:a16="http://schemas.microsoft.com/office/drawing/2014/main" id="{6F7505EA-4953-9D8E-FB09-157D96CF4907}"/>
              </a:ext>
            </a:extLst>
          </p:cNvPr>
          <p:cNvPicPr>
            <a:picLocks noChangeAspect="1"/>
          </p:cNvPicPr>
          <p:nvPr/>
        </p:nvPicPr>
        <p:blipFill>
          <a:blip r:embed="rId2"/>
          <a:stretch>
            <a:fillRect/>
          </a:stretch>
        </p:blipFill>
        <p:spPr>
          <a:xfrm>
            <a:off x="499382" y="4088859"/>
            <a:ext cx="5291818" cy="2648825"/>
          </a:xfrm>
          <a:prstGeom prst="rect">
            <a:avLst/>
          </a:prstGeom>
        </p:spPr>
      </p:pic>
      <p:sp>
        <p:nvSpPr>
          <p:cNvPr id="25" name="TextBox 24">
            <a:extLst>
              <a:ext uri="{FF2B5EF4-FFF2-40B4-BE49-F238E27FC236}">
                <a16:creationId xmlns:a16="http://schemas.microsoft.com/office/drawing/2014/main" id="{E55E02FB-A00B-0802-D8A3-2755AC6C6010}"/>
              </a:ext>
            </a:extLst>
          </p:cNvPr>
          <p:cNvSpPr txBox="1"/>
          <p:nvPr/>
        </p:nvSpPr>
        <p:spPr>
          <a:xfrm>
            <a:off x="5935579" y="5596372"/>
            <a:ext cx="6096000" cy="646331"/>
          </a:xfrm>
          <a:prstGeom prst="rect">
            <a:avLst/>
          </a:prstGeom>
          <a:noFill/>
        </p:spPr>
        <p:txBody>
          <a:bodyPr wrap="square">
            <a:spAutoFit/>
          </a:bodyPr>
          <a:lstStyle/>
          <a:p>
            <a:r>
              <a:rPr lang="en-IN" dirty="0"/>
              <a:t>During this process, communication may be interrupted for a short time.</a:t>
            </a:r>
          </a:p>
        </p:txBody>
      </p:sp>
    </p:spTree>
    <p:extLst>
      <p:ext uri="{BB962C8B-B14F-4D97-AF65-F5344CB8AC3E}">
        <p14:creationId xmlns:p14="http://schemas.microsoft.com/office/powerpoint/2010/main" val="34619062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A8C3-D6D0-032D-2DDE-658C0BCB8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FE48D-C22D-B33B-113A-0221F6563AD7}"/>
              </a:ext>
            </a:extLst>
          </p:cNvPr>
          <p:cNvSpPr>
            <a:spLocks noGrp="1"/>
          </p:cNvSpPr>
          <p:nvPr>
            <p:ph type="title"/>
          </p:nvPr>
        </p:nvSpPr>
        <p:spPr>
          <a:xfrm>
            <a:off x="275844" y="495220"/>
            <a:ext cx="11640312" cy="464900"/>
          </a:xfrm>
        </p:spPr>
        <p:txBody>
          <a:bodyPr>
            <a:normAutofit/>
          </a:bodyPr>
          <a:lstStyle/>
          <a:p>
            <a:r>
              <a:rPr lang="en-US" sz="2400" b="1" dirty="0"/>
              <a:t>Mobile TCP</a:t>
            </a:r>
            <a:endParaRPr lang="en-IN" sz="2400" b="1" dirty="0"/>
          </a:p>
        </p:txBody>
      </p:sp>
      <p:sp>
        <p:nvSpPr>
          <p:cNvPr id="4" name="TextBox 3">
            <a:extLst>
              <a:ext uri="{FF2B5EF4-FFF2-40B4-BE49-F238E27FC236}">
                <a16:creationId xmlns:a16="http://schemas.microsoft.com/office/drawing/2014/main" id="{84228EE3-F1D1-6F83-EA0E-8D643D067AFA}"/>
              </a:ext>
            </a:extLst>
          </p:cNvPr>
          <p:cNvSpPr txBox="1"/>
          <p:nvPr/>
        </p:nvSpPr>
        <p:spPr>
          <a:xfrm>
            <a:off x="275844" y="960120"/>
            <a:ext cx="6096000" cy="369332"/>
          </a:xfrm>
          <a:prstGeom prst="rect">
            <a:avLst/>
          </a:prstGeom>
          <a:noFill/>
        </p:spPr>
        <p:txBody>
          <a:bodyPr wrap="square">
            <a:spAutoFit/>
          </a:bodyPr>
          <a:lstStyle/>
          <a:p>
            <a:r>
              <a:rPr lang="en-IN" b="1" dirty="0"/>
              <a:t>What Kind of Problems Does Mobile TCP Address?</a:t>
            </a:r>
          </a:p>
        </p:txBody>
      </p:sp>
      <p:graphicFrame>
        <p:nvGraphicFramePr>
          <p:cNvPr id="5" name="Table 4">
            <a:extLst>
              <a:ext uri="{FF2B5EF4-FFF2-40B4-BE49-F238E27FC236}">
                <a16:creationId xmlns:a16="http://schemas.microsoft.com/office/drawing/2014/main" id="{FABBE097-4421-D82C-3F7D-320F1F1C66F0}"/>
              </a:ext>
            </a:extLst>
          </p:cNvPr>
          <p:cNvGraphicFramePr>
            <a:graphicFrameLocks noGrp="1"/>
          </p:cNvGraphicFramePr>
          <p:nvPr>
            <p:extLst>
              <p:ext uri="{D42A27DB-BD31-4B8C-83A1-F6EECF244321}">
                <p14:modId xmlns:p14="http://schemas.microsoft.com/office/powerpoint/2010/main" val="1623523367"/>
              </p:ext>
            </p:extLst>
          </p:nvPr>
        </p:nvGraphicFramePr>
        <p:xfrm>
          <a:off x="411748" y="1425020"/>
          <a:ext cx="8128000" cy="42113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501134214"/>
                    </a:ext>
                  </a:extLst>
                </a:gridCol>
                <a:gridCol w="4064000">
                  <a:extLst>
                    <a:ext uri="{9D8B030D-6E8A-4147-A177-3AD203B41FA5}">
                      <a16:colId xmlns:a16="http://schemas.microsoft.com/office/drawing/2014/main" val="2207009940"/>
                    </a:ext>
                  </a:extLst>
                </a:gridCol>
              </a:tblGrid>
              <a:tr h="370840">
                <a:tc>
                  <a:txBody>
                    <a:bodyPr/>
                    <a:lstStyle/>
                    <a:p>
                      <a:pPr>
                        <a:buNone/>
                      </a:pPr>
                      <a:r>
                        <a:rPr lang="en-IN" dirty="0"/>
                        <a:t>Problem</a:t>
                      </a:r>
                    </a:p>
                  </a:txBody>
                  <a:tcPr anchor="ctr"/>
                </a:tc>
                <a:tc>
                  <a:txBody>
                    <a:bodyPr/>
                    <a:lstStyle/>
                    <a:p>
                      <a:pPr>
                        <a:buNone/>
                      </a:pPr>
                      <a:r>
                        <a:rPr lang="en-IN"/>
                        <a:t>Simple Meaning</a:t>
                      </a:r>
                    </a:p>
                  </a:txBody>
                  <a:tcPr anchor="ctr"/>
                </a:tc>
                <a:extLst>
                  <a:ext uri="{0D108BD9-81ED-4DB2-BD59-A6C34878D82A}">
                    <a16:rowId xmlns:a16="http://schemas.microsoft.com/office/drawing/2014/main" val="4273871429"/>
                  </a:ext>
                </a:extLst>
              </a:tr>
              <a:tr h="370840">
                <a:tc>
                  <a:txBody>
                    <a:bodyPr/>
                    <a:lstStyle/>
                    <a:p>
                      <a:pPr>
                        <a:buNone/>
                      </a:pPr>
                      <a:r>
                        <a:rPr lang="en-IN" b="1"/>
                        <a:t>Mobility</a:t>
                      </a:r>
                      <a:endParaRPr lang="en-IN"/>
                    </a:p>
                  </a:txBody>
                  <a:tcPr anchor="ctr"/>
                </a:tc>
                <a:tc>
                  <a:txBody>
                    <a:bodyPr/>
                    <a:lstStyle/>
                    <a:p>
                      <a:pPr>
                        <a:buNone/>
                      </a:pPr>
                      <a:r>
                        <a:rPr lang="en-IN"/>
                        <a:t>Device moves from one network/access point to another</a:t>
                      </a:r>
                    </a:p>
                  </a:txBody>
                  <a:tcPr anchor="ctr"/>
                </a:tc>
                <a:extLst>
                  <a:ext uri="{0D108BD9-81ED-4DB2-BD59-A6C34878D82A}">
                    <a16:rowId xmlns:a16="http://schemas.microsoft.com/office/drawing/2014/main" val="3854668826"/>
                  </a:ext>
                </a:extLst>
              </a:tr>
              <a:tr h="370840">
                <a:tc>
                  <a:txBody>
                    <a:bodyPr/>
                    <a:lstStyle/>
                    <a:p>
                      <a:pPr>
                        <a:buNone/>
                      </a:pPr>
                      <a:r>
                        <a:rPr lang="en-IN" b="1"/>
                        <a:t>Handoff</a:t>
                      </a:r>
                      <a:endParaRPr lang="en-IN"/>
                    </a:p>
                  </a:txBody>
                  <a:tcPr anchor="ctr"/>
                </a:tc>
                <a:tc>
                  <a:txBody>
                    <a:bodyPr/>
                    <a:lstStyle/>
                    <a:p>
                      <a:pPr>
                        <a:buNone/>
                      </a:pPr>
                      <a:r>
                        <a:rPr lang="en-IN"/>
                        <a:t>Device changes its current wireless connection</a:t>
                      </a:r>
                    </a:p>
                  </a:txBody>
                  <a:tcPr anchor="ctr"/>
                </a:tc>
                <a:extLst>
                  <a:ext uri="{0D108BD9-81ED-4DB2-BD59-A6C34878D82A}">
                    <a16:rowId xmlns:a16="http://schemas.microsoft.com/office/drawing/2014/main" val="2414563773"/>
                  </a:ext>
                </a:extLst>
              </a:tr>
              <a:tr h="370840">
                <a:tc>
                  <a:txBody>
                    <a:bodyPr/>
                    <a:lstStyle/>
                    <a:p>
                      <a:pPr>
                        <a:buNone/>
                      </a:pPr>
                      <a:r>
                        <a:rPr lang="en-IN" b="1"/>
                        <a:t>Temporary Disconnection</a:t>
                      </a:r>
                      <a:endParaRPr lang="en-IN"/>
                    </a:p>
                  </a:txBody>
                  <a:tcPr anchor="ctr"/>
                </a:tc>
                <a:tc>
                  <a:txBody>
                    <a:bodyPr/>
                    <a:lstStyle/>
                    <a:p>
                      <a:pPr>
                        <a:buNone/>
                      </a:pPr>
                      <a:r>
                        <a:rPr lang="en-IN"/>
                        <a:t>Mobile device loses connectivity for a short time</a:t>
                      </a:r>
                    </a:p>
                  </a:txBody>
                  <a:tcPr anchor="ctr"/>
                </a:tc>
                <a:extLst>
                  <a:ext uri="{0D108BD9-81ED-4DB2-BD59-A6C34878D82A}">
                    <a16:rowId xmlns:a16="http://schemas.microsoft.com/office/drawing/2014/main" val="1245691022"/>
                  </a:ext>
                </a:extLst>
              </a:tr>
              <a:tr h="370840">
                <a:tc>
                  <a:txBody>
                    <a:bodyPr/>
                    <a:lstStyle/>
                    <a:p>
                      <a:pPr>
                        <a:buNone/>
                      </a:pPr>
                      <a:r>
                        <a:rPr lang="en-IN" b="1"/>
                        <a:t>Wireless Packet Loss</a:t>
                      </a:r>
                      <a:endParaRPr lang="en-IN"/>
                    </a:p>
                  </a:txBody>
                  <a:tcPr anchor="ctr"/>
                </a:tc>
                <a:tc>
                  <a:txBody>
                    <a:bodyPr/>
                    <a:lstStyle/>
                    <a:p>
                      <a:pPr>
                        <a:buNone/>
                      </a:pPr>
                      <a:r>
                        <a:rPr lang="en-IN"/>
                        <a:t>Packets may be lost because of wireless conditions</a:t>
                      </a:r>
                    </a:p>
                  </a:txBody>
                  <a:tcPr anchor="ctr"/>
                </a:tc>
                <a:extLst>
                  <a:ext uri="{0D108BD9-81ED-4DB2-BD59-A6C34878D82A}">
                    <a16:rowId xmlns:a16="http://schemas.microsoft.com/office/drawing/2014/main" val="1977102987"/>
                  </a:ext>
                </a:extLst>
              </a:tr>
              <a:tr h="370840">
                <a:tc>
                  <a:txBody>
                    <a:bodyPr/>
                    <a:lstStyle/>
                    <a:p>
                      <a:pPr>
                        <a:buNone/>
                      </a:pPr>
                      <a:r>
                        <a:rPr lang="en-IN" b="1"/>
                        <a:t>Changing Delay</a:t>
                      </a:r>
                      <a:endParaRPr lang="en-IN"/>
                    </a:p>
                  </a:txBody>
                  <a:tcPr anchor="ctr"/>
                </a:tc>
                <a:tc>
                  <a:txBody>
                    <a:bodyPr/>
                    <a:lstStyle/>
                    <a:p>
                      <a:pPr>
                        <a:buNone/>
                      </a:pPr>
                      <a:r>
                        <a:rPr lang="en-IN"/>
                        <a:t>Network delay can change while the device moves</a:t>
                      </a:r>
                    </a:p>
                  </a:txBody>
                  <a:tcPr anchor="ctr"/>
                </a:tc>
                <a:extLst>
                  <a:ext uri="{0D108BD9-81ED-4DB2-BD59-A6C34878D82A}">
                    <a16:rowId xmlns:a16="http://schemas.microsoft.com/office/drawing/2014/main" val="4064093541"/>
                  </a:ext>
                </a:extLst>
              </a:tr>
              <a:tr h="370840">
                <a:tc>
                  <a:txBody>
                    <a:bodyPr/>
                    <a:lstStyle/>
                    <a:p>
                      <a:pPr>
                        <a:buNone/>
                      </a:pPr>
                      <a:r>
                        <a:rPr lang="en-IN" b="1"/>
                        <a:t>Wrong Congestion Reaction</a:t>
                      </a:r>
                      <a:endParaRPr lang="en-IN"/>
                    </a:p>
                  </a:txBody>
                  <a:tcPr anchor="ctr"/>
                </a:tc>
                <a:tc>
                  <a:txBody>
                    <a:bodyPr/>
                    <a:lstStyle/>
                    <a:p>
                      <a:pPr>
                        <a:buNone/>
                      </a:pPr>
                      <a:r>
                        <a:rPr lang="en-IN" dirty="0"/>
                        <a:t>Normal TCP may treat some wireless/mobility losses like congestion</a:t>
                      </a:r>
                    </a:p>
                  </a:txBody>
                  <a:tcPr anchor="ctr"/>
                </a:tc>
                <a:extLst>
                  <a:ext uri="{0D108BD9-81ED-4DB2-BD59-A6C34878D82A}">
                    <a16:rowId xmlns:a16="http://schemas.microsoft.com/office/drawing/2014/main" val="2361613061"/>
                  </a:ext>
                </a:extLst>
              </a:tr>
            </a:tbl>
          </a:graphicData>
        </a:graphic>
      </p:graphicFrame>
    </p:spTree>
    <p:extLst>
      <p:ext uri="{BB962C8B-B14F-4D97-AF65-F5344CB8AC3E}">
        <p14:creationId xmlns:p14="http://schemas.microsoft.com/office/powerpoint/2010/main" val="15485991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7195F-B61E-B21A-2D6F-CAB102EC0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70AF64-B4F7-3BF2-5875-62287430A140}"/>
              </a:ext>
            </a:extLst>
          </p:cNvPr>
          <p:cNvSpPr>
            <a:spLocks noGrp="1"/>
          </p:cNvSpPr>
          <p:nvPr>
            <p:ph type="title"/>
          </p:nvPr>
        </p:nvSpPr>
        <p:spPr>
          <a:xfrm>
            <a:off x="275844" y="495220"/>
            <a:ext cx="11640312" cy="464900"/>
          </a:xfrm>
        </p:spPr>
        <p:txBody>
          <a:bodyPr>
            <a:normAutofit/>
          </a:bodyPr>
          <a:lstStyle/>
          <a:p>
            <a:r>
              <a:rPr lang="en-IN" sz="2400" b="1" dirty="0"/>
              <a:t>Approaches Used for Mobile TCP</a:t>
            </a:r>
          </a:p>
        </p:txBody>
      </p:sp>
      <p:graphicFrame>
        <p:nvGraphicFramePr>
          <p:cNvPr id="3" name="Table 2">
            <a:extLst>
              <a:ext uri="{FF2B5EF4-FFF2-40B4-BE49-F238E27FC236}">
                <a16:creationId xmlns:a16="http://schemas.microsoft.com/office/drawing/2014/main" id="{F403204C-FD0A-3727-E1A8-C6CE79C81F7A}"/>
              </a:ext>
            </a:extLst>
          </p:cNvPr>
          <p:cNvGraphicFramePr>
            <a:graphicFrameLocks noGrp="1"/>
          </p:cNvGraphicFramePr>
          <p:nvPr>
            <p:extLst>
              <p:ext uri="{D42A27DB-BD31-4B8C-83A1-F6EECF244321}">
                <p14:modId xmlns:p14="http://schemas.microsoft.com/office/powerpoint/2010/main" val="406136265"/>
              </p:ext>
            </p:extLst>
          </p:nvPr>
        </p:nvGraphicFramePr>
        <p:xfrm>
          <a:off x="275844" y="1277620"/>
          <a:ext cx="9438106" cy="4302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21438435"/>
                    </a:ext>
                  </a:extLst>
                </a:gridCol>
                <a:gridCol w="6694906">
                  <a:extLst>
                    <a:ext uri="{9D8B030D-6E8A-4147-A177-3AD203B41FA5}">
                      <a16:colId xmlns:a16="http://schemas.microsoft.com/office/drawing/2014/main" val="45859446"/>
                    </a:ext>
                  </a:extLst>
                </a:gridCol>
              </a:tblGrid>
              <a:tr h="370840">
                <a:tc>
                  <a:txBody>
                    <a:bodyPr/>
                    <a:lstStyle/>
                    <a:p>
                      <a:pPr>
                        <a:buNone/>
                      </a:pPr>
                      <a:r>
                        <a:rPr lang="en-IN" dirty="0"/>
                        <a:t>Approach</a:t>
                      </a:r>
                    </a:p>
                  </a:txBody>
                  <a:tcPr anchor="ctr"/>
                </a:tc>
                <a:tc>
                  <a:txBody>
                    <a:bodyPr/>
                    <a:lstStyle/>
                    <a:p>
                      <a:pPr>
                        <a:buNone/>
                      </a:pPr>
                      <a:r>
                        <a:rPr lang="en-IN"/>
                        <a:t>How it Helps</a:t>
                      </a:r>
                    </a:p>
                  </a:txBody>
                  <a:tcPr anchor="ctr"/>
                </a:tc>
                <a:extLst>
                  <a:ext uri="{0D108BD9-81ED-4DB2-BD59-A6C34878D82A}">
                    <a16:rowId xmlns:a16="http://schemas.microsoft.com/office/drawing/2014/main" val="4155061613"/>
                  </a:ext>
                </a:extLst>
              </a:tr>
              <a:tr h="370840">
                <a:tc>
                  <a:txBody>
                    <a:bodyPr/>
                    <a:lstStyle/>
                    <a:p>
                      <a:pPr>
                        <a:buNone/>
                      </a:pPr>
                      <a:r>
                        <a:rPr lang="en-IN" b="1"/>
                        <a:t>Indirect TCP (I-TCP)</a:t>
                      </a:r>
                      <a:endParaRPr lang="en-IN"/>
                    </a:p>
                  </a:txBody>
                  <a:tcPr anchor="ctr"/>
                </a:tc>
                <a:tc>
                  <a:txBody>
                    <a:bodyPr/>
                    <a:lstStyle/>
                    <a:p>
                      <a:pPr>
                        <a:buNone/>
                      </a:pPr>
                      <a:r>
                        <a:rPr lang="en-IN"/>
                        <a:t>Splits the TCP connection into two parts: one for the wired network and another for the wireless network. Wireless problems can then be handled separately.</a:t>
                      </a:r>
                    </a:p>
                  </a:txBody>
                  <a:tcPr anchor="ctr"/>
                </a:tc>
                <a:extLst>
                  <a:ext uri="{0D108BD9-81ED-4DB2-BD59-A6C34878D82A}">
                    <a16:rowId xmlns:a16="http://schemas.microsoft.com/office/drawing/2014/main" val="445596230"/>
                  </a:ext>
                </a:extLst>
              </a:tr>
              <a:tr h="370840">
                <a:tc>
                  <a:txBody>
                    <a:bodyPr/>
                    <a:lstStyle/>
                    <a:p>
                      <a:pPr>
                        <a:buNone/>
                      </a:pPr>
                      <a:r>
                        <a:rPr lang="en-IN" b="1"/>
                        <a:t>Snooping TCP (S-TCP)</a:t>
                      </a:r>
                      <a:endParaRPr lang="en-IN"/>
                    </a:p>
                  </a:txBody>
                  <a:tcPr anchor="ctr"/>
                </a:tc>
                <a:tc>
                  <a:txBody>
                    <a:bodyPr/>
                    <a:lstStyle/>
                    <a:p>
                      <a:pPr>
                        <a:buNone/>
                      </a:pPr>
                      <a:r>
                        <a:rPr lang="en-IN"/>
                        <a:t>A base station watches TCP packets and keeps copies of them. If a packet is lost on the wireless link, it can retransmit it locally instead of waiting for the original sender.</a:t>
                      </a:r>
                    </a:p>
                  </a:txBody>
                  <a:tcPr anchor="ctr"/>
                </a:tc>
                <a:extLst>
                  <a:ext uri="{0D108BD9-81ED-4DB2-BD59-A6C34878D82A}">
                    <a16:rowId xmlns:a16="http://schemas.microsoft.com/office/drawing/2014/main" val="883366190"/>
                  </a:ext>
                </a:extLst>
              </a:tr>
              <a:tr h="370840">
                <a:tc>
                  <a:txBody>
                    <a:bodyPr/>
                    <a:lstStyle/>
                    <a:p>
                      <a:pPr>
                        <a:buNone/>
                      </a:pPr>
                      <a:r>
                        <a:rPr lang="en-IN" b="1"/>
                        <a:t>Mobile TCP (M-TCP)</a:t>
                      </a:r>
                      <a:endParaRPr lang="en-IN"/>
                    </a:p>
                  </a:txBody>
                  <a:tcPr anchor="ctr"/>
                </a:tc>
                <a:tc>
                  <a:txBody>
                    <a:bodyPr/>
                    <a:lstStyle/>
                    <a:p>
                      <a:pPr>
                        <a:buNone/>
                      </a:pPr>
                      <a:r>
                        <a:rPr lang="en-IN"/>
                        <a:t>When the mobile device is temporarily disconnected, the sender can be made to stop/pause transmission instead of treating the situation like normal congestion. Transmission continues when the connection returns.</a:t>
                      </a:r>
                    </a:p>
                  </a:txBody>
                  <a:tcPr anchor="ctr"/>
                </a:tc>
                <a:extLst>
                  <a:ext uri="{0D108BD9-81ED-4DB2-BD59-A6C34878D82A}">
                    <a16:rowId xmlns:a16="http://schemas.microsoft.com/office/drawing/2014/main" val="3782470928"/>
                  </a:ext>
                </a:extLst>
              </a:tr>
              <a:tr h="370840">
                <a:tc>
                  <a:txBody>
                    <a:bodyPr/>
                    <a:lstStyle/>
                    <a:p>
                      <a:pPr>
                        <a:buNone/>
                      </a:pPr>
                      <a:r>
                        <a:rPr lang="en-IN" b="1"/>
                        <a:t>Freeze TCP</a:t>
                      </a:r>
                      <a:endParaRPr lang="en-IN"/>
                    </a:p>
                  </a:txBody>
                  <a:tcPr anchor="ctr"/>
                </a:tc>
                <a:tc>
                  <a:txBody>
                    <a:bodyPr/>
                    <a:lstStyle/>
                    <a:p>
                      <a:pPr>
                        <a:buNone/>
                      </a:pPr>
                      <a:r>
                        <a:rPr lang="en-IN" dirty="0"/>
                        <a:t>The mobile device warns the sender before an expected disconnection or handoff. The sender pauses transmission and continues when connectivity returns.</a:t>
                      </a:r>
                    </a:p>
                  </a:txBody>
                  <a:tcPr anchor="ctr"/>
                </a:tc>
                <a:extLst>
                  <a:ext uri="{0D108BD9-81ED-4DB2-BD59-A6C34878D82A}">
                    <a16:rowId xmlns:a16="http://schemas.microsoft.com/office/drawing/2014/main" val="730113917"/>
                  </a:ext>
                </a:extLst>
              </a:tr>
            </a:tbl>
          </a:graphicData>
        </a:graphic>
      </p:graphicFrame>
    </p:spTree>
    <p:extLst>
      <p:ext uri="{BB962C8B-B14F-4D97-AF65-F5344CB8AC3E}">
        <p14:creationId xmlns:p14="http://schemas.microsoft.com/office/powerpoint/2010/main" val="348952958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0ACC-9DD5-1AA5-897D-0EE1A53AB3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4D122-4E20-CCCF-0D1B-C27D4E851683}"/>
              </a:ext>
            </a:extLst>
          </p:cNvPr>
          <p:cNvSpPr>
            <a:spLocks noGrp="1"/>
          </p:cNvSpPr>
          <p:nvPr>
            <p:ph type="title"/>
          </p:nvPr>
        </p:nvSpPr>
        <p:spPr>
          <a:xfrm>
            <a:off x="275844" y="495220"/>
            <a:ext cx="11640312" cy="464900"/>
          </a:xfrm>
        </p:spPr>
        <p:txBody>
          <a:bodyPr>
            <a:normAutofit/>
          </a:bodyPr>
          <a:lstStyle/>
          <a:p>
            <a:r>
              <a:rPr lang="en-US" sz="2400" b="1" dirty="0"/>
              <a:t>UDP Introduction</a:t>
            </a:r>
            <a:endParaRPr lang="en-IN" sz="2400" b="1" dirty="0"/>
          </a:p>
        </p:txBody>
      </p:sp>
      <p:sp>
        <p:nvSpPr>
          <p:cNvPr id="4" name="TextBox 3">
            <a:extLst>
              <a:ext uri="{FF2B5EF4-FFF2-40B4-BE49-F238E27FC236}">
                <a16:creationId xmlns:a16="http://schemas.microsoft.com/office/drawing/2014/main" id="{0BA07B30-2A5B-9F51-76B7-C0A49C299E75}"/>
              </a:ext>
            </a:extLst>
          </p:cNvPr>
          <p:cNvSpPr txBox="1"/>
          <p:nvPr/>
        </p:nvSpPr>
        <p:spPr>
          <a:xfrm>
            <a:off x="275843" y="1032353"/>
            <a:ext cx="11386767" cy="6186309"/>
          </a:xfrm>
          <a:prstGeom prst="rect">
            <a:avLst/>
          </a:prstGeom>
          <a:noFill/>
        </p:spPr>
        <p:txBody>
          <a:bodyPr wrap="square">
            <a:spAutoFit/>
          </a:bodyPr>
          <a:lstStyle/>
          <a:p>
            <a:pPr>
              <a:buNone/>
            </a:pPr>
            <a:r>
              <a:rPr lang="en-IN" b="1" dirty="0"/>
              <a:t>Why Do We Need UDP When We Already Have TCP?</a:t>
            </a:r>
          </a:p>
          <a:p>
            <a:pPr>
              <a:buNone/>
            </a:pPr>
            <a:endParaRPr lang="en-IN" b="1" dirty="0"/>
          </a:p>
          <a:p>
            <a:pPr>
              <a:buNone/>
            </a:pPr>
            <a:r>
              <a:rPr lang="en-IN" dirty="0"/>
              <a:t>We have studied that TCP provides many features:</a:t>
            </a:r>
          </a:p>
          <a:p>
            <a:pPr marL="342900" lvl="0" indent="-342900">
              <a:buFont typeface="Arial" panose="020B0604020202020204" pitchFamily="34" charset="0"/>
              <a:buChar char="•"/>
            </a:pPr>
            <a:r>
              <a:rPr lang="en-IN" dirty="0"/>
              <a:t>Connection establishment </a:t>
            </a:r>
          </a:p>
          <a:p>
            <a:pPr marL="342900" lvl="0" indent="-342900">
              <a:buFont typeface="Arial" panose="020B0604020202020204" pitchFamily="34" charset="0"/>
              <a:buChar char="•"/>
            </a:pPr>
            <a:r>
              <a:rPr lang="en-IN" dirty="0"/>
              <a:t>ACKs </a:t>
            </a:r>
          </a:p>
          <a:p>
            <a:pPr marL="342900" lvl="0" indent="-342900">
              <a:buFont typeface="Arial" panose="020B0604020202020204" pitchFamily="34" charset="0"/>
              <a:buChar char="•"/>
            </a:pPr>
            <a:r>
              <a:rPr lang="en-IN" dirty="0"/>
              <a:t>Retransmission </a:t>
            </a:r>
          </a:p>
          <a:p>
            <a:pPr marL="342900" lvl="0" indent="-342900">
              <a:buFont typeface="Arial" panose="020B0604020202020204" pitchFamily="34" charset="0"/>
              <a:buChar char="•"/>
            </a:pPr>
            <a:r>
              <a:rPr lang="en-IN" dirty="0"/>
              <a:t>Sequence numbers </a:t>
            </a:r>
          </a:p>
          <a:p>
            <a:pPr marL="342900" lvl="0" indent="-342900">
              <a:buFont typeface="Arial" panose="020B0604020202020204" pitchFamily="34" charset="0"/>
              <a:buChar char="•"/>
            </a:pPr>
            <a:r>
              <a:rPr lang="en-IN" dirty="0"/>
              <a:t>Flow control </a:t>
            </a:r>
          </a:p>
          <a:p>
            <a:pPr marL="342900" lvl="0" indent="-342900">
              <a:buFont typeface="Arial" panose="020B0604020202020204" pitchFamily="34" charset="0"/>
              <a:buChar char="•"/>
            </a:pPr>
            <a:r>
              <a:rPr lang="en-IN" dirty="0"/>
              <a:t>Reliable and ordered delivery </a:t>
            </a:r>
          </a:p>
          <a:p>
            <a:pPr>
              <a:buNone/>
            </a:pPr>
            <a:endParaRPr lang="en-IN" dirty="0"/>
          </a:p>
          <a:p>
            <a:pPr>
              <a:buNone/>
            </a:pPr>
            <a:r>
              <a:rPr lang="en-IN" dirty="0"/>
              <a:t>These features are useful, but they also require </a:t>
            </a:r>
            <a:r>
              <a:rPr lang="en-IN" b="1" dirty="0"/>
              <a:t>extra processing and communication</a:t>
            </a:r>
            <a:r>
              <a:rPr lang="en-IN" dirty="0"/>
              <a:t>.</a:t>
            </a:r>
          </a:p>
          <a:p>
            <a:pPr>
              <a:buNone/>
            </a:pPr>
            <a:endParaRPr lang="en-IN" dirty="0"/>
          </a:p>
          <a:p>
            <a:pPr>
              <a:buNone/>
            </a:pPr>
            <a:r>
              <a:rPr lang="en-IN" dirty="0"/>
              <a:t>Now consider a </a:t>
            </a:r>
            <a:r>
              <a:rPr lang="en-IN" b="1" dirty="0"/>
              <a:t>live voice call</a:t>
            </a:r>
            <a:r>
              <a:rPr lang="en-IN" dirty="0"/>
              <a:t>. Suppose you say: "Hello, how are you?“ The voice data is continuously travelling across the network.</a:t>
            </a:r>
          </a:p>
          <a:p>
            <a:pPr>
              <a:buNone/>
            </a:pPr>
            <a:endParaRPr lang="en-IN" dirty="0"/>
          </a:p>
          <a:p>
            <a:pPr>
              <a:buNone/>
            </a:pPr>
            <a:r>
              <a:rPr lang="en-IN" dirty="0"/>
              <a:t>Imagine one small piece containing the word </a:t>
            </a:r>
            <a:r>
              <a:rPr lang="en-IN" b="1" dirty="0"/>
              <a:t>"Hello"</a:t>
            </a:r>
            <a:r>
              <a:rPr lang="en-IN" dirty="0"/>
              <a:t> gets lost.</a:t>
            </a:r>
          </a:p>
          <a:p>
            <a:r>
              <a:rPr lang="en-IN" dirty="0"/>
              <a:t>For real-time communication, waiting too long to recover old data can be less useful because the conversation is continuing.</a:t>
            </a:r>
            <a:br>
              <a:rPr lang="en-IN" dirty="0"/>
            </a:br>
            <a:br>
              <a:rPr lang="en-IN" dirty="0"/>
            </a:br>
            <a:r>
              <a:rPr lang="en-IN" dirty="0"/>
              <a:t>So some applications prefer: </a:t>
            </a:r>
            <a:r>
              <a:rPr lang="en-IN" b="1" dirty="0"/>
              <a:t>Lower delay and less protocol overhead rather than TCP-style reliability mechanisms.</a:t>
            </a:r>
            <a:endParaRPr lang="en-IN" dirty="0"/>
          </a:p>
          <a:p>
            <a:r>
              <a:rPr lang="en-IN" dirty="0"/>
              <a:t>This is where </a:t>
            </a:r>
            <a:r>
              <a:rPr lang="en-IN" b="1" dirty="0"/>
              <a:t>UDP</a:t>
            </a:r>
            <a:r>
              <a:rPr lang="en-IN" dirty="0"/>
              <a:t> becomes useful.</a:t>
            </a:r>
          </a:p>
          <a:p>
            <a:pPr>
              <a:buNone/>
            </a:pPr>
            <a:endParaRPr lang="en-IN" dirty="0"/>
          </a:p>
        </p:txBody>
      </p:sp>
    </p:spTree>
    <p:extLst>
      <p:ext uri="{BB962C8B-B14F-4D97-AF65-F5344CB8AC3E}">
        <p14:creationId xmlns:p14="http://schemas.microsoft.com/office/powerpoint/2010/main" val="206348930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A1696-5839-A432-D1AF-12F7E9E4F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32FD2-A8B1-8181-AD9F-49A08141129F}"/>
              </a:ext>
            </a:extLst>
          </p:cNvPr>
          <p:cNvSpPr>
            <a:spLocks noGrp="1"/>
          </p:cNvSpPr>
          <p:nvPr>
            <p:ph type="title"/>
          </p:nvPr>
        </p:nvSpPr>
        <p:spPr>
          <a:xfrm>
            <a:off x="275844" y="495220"/>
            <a:ext cx="11640312" cy="464900"/>
          </a:xfrm>
        </p:spPr>
        <p:txBody>
          <a:bodyPr>
            <a:normAutofit/>
          </a:bodyPr>
          <a:lstStyle/>
          <a:p>
            <a:r>
              <a:rPr lang="en-US" sz="2400" b="1" dirty="0"/>
              <a:t>UDP Introduction</a:t>
            </a:r>
            <a:endParaRPr lang="en-IN" sz="2400" b="1" dirty="0"/>
          </a:p>
        </p:txBody>
      </p:sp>
      <p:sp>
        <p:nvSpPr>
          <p:cNvPr id="5" name="TextBox 4">
            <a:extLst>
              <a:ext uri="{FF2B5EF4-FFF2-40B4-BE49-F238E27FC236}">
                <a16:creationId xmlns:a16="http://schemas.microsoft.com/office/drawing/2014/main" id="{BB5C9AB3-F3EA-08B9-F3FC-A1A08F7B182D}"/>
              </a:ext>
            </a:extLst>
          </p:cNvPr>
          <p:cNvSpPr txBox="1"/>
          <p:nvPr/>
        </p:nvSpPr>
        <p:spPr>
          <a:xfrm>
            <a:off x="275844" y="960120"/>
            <a:ext cx="11640311" cy="5632311"/>
          </a:xfrm>
          <a:prstGeom prst="rect">
            <a:avLst/>
          </a:prstGeom>
          <a:noFill/>
        </p:spPr>
        <p:txBody>
          <a:bodyPr wrap="square">
            <a:spAutoFit/>
          </a:bodyPr>
          <a:lstStyle/>
          <a:p>
            <a:pPr>
              <a:buNone/>
            </a:pPr>
            <a:r>
              <a:rPr lang="en-IN" dirty="0"/>
              <a:t>UDP stands for: </a:t>
            </a:r>
            <a:r>
              <a:rPr lang="en-IN" b="1" dirty="0"/>
              <a:t>User Datagram Protocol</a:t>
            </a:r>
            <a:endParaRPr lang="en-IN" dirty="0"/>
          </a:p>
          <a:p>
            <a:pPr>
              <a:buNone/>
            </a:pPr>
            <a:endParaRPr lang="en-IN" dirty="0"/>
          </a:p>
          <a:p>
            <a:pPr>
              <a:buNone/>
            </a:pPr>
            <a:r>
              <a:rPr lang="en-IN" dirty="0"/>
              <a:t>It is a </a:t>
            </a:r>
            <a:r>
              <a:rPr lang="en-IN" b="1" dirty="0"/>
              <a:t>Transport Layer protocol</a:t>
            </a:r>
            <a:r>
              <a:rPr lang="en-IN" dirty="0"/>
              <a:t>, just like TCP.</a:t>
            </a:r>
          </a:p>
          <a:p>
            <a:pPr>
              <a:buNone/>
            </a:pPr>
            <a:endParaRPr lang="en-IN" dirty="0"/>
          </a:p>
          <a:p>
            <a:pPr>
              <a:buNone/>
            </a:pPr>
            <a:r>
              <a:rPr lang="en-IN" dirty="0"/>
              <a:t>But UDP works differently.</a:t>
            </a:r>
          </a:p>
          <a:p>
            <a:pPr>
              <a:buNone/>
            </a:pPr>
            <a:endParaRPr lang="en-IN" b="1" dirty="0"/>
          </a:p>
          <a:p>
            <a:pPr>
              <a:buNone/>
            </a:pPr>
            <a:r>
              <a:rPr lang="en-IN" b="1" dirty="0"/>
              <a:t>Definition</a:t>
            </a:r>
          </a:p>
          <a:p>
            <a:pPr>
              <a:buNone/>
            </a:pPr>
            <a:r>
              <a:rPr lang="en-IN" b="1" dirty="0"/>
              <a:t>UDP is a connectionless Transport Layer protocol that sends data without first establishing a connection and does not provide TCP-style guarantees for delivery or ordering.</a:t>
            </a:r>
          </a:p>
          <a:p>
            <a:pPr>
              <a:buNone/>
            </a:pPr>
            <a:endParaRPr lang="en-IN" b="1" dirty="0"/>
          </a:p>
          <a:p>
            <a:r>
              <a:rPr lang="en-IN" b="1" dirty="0">
                <a:highlight>
                  <a:srgbClr val="FFFF00"/>
                </a:highlight>
              </a:rPr>
              <a:t>What does Connectionless Means?</a:t>
            </a:r>
            <a:br>
              <a:rPr lang="en-IN" b="1" dirty="0">
                <a:highlight>
                  <a:srgbClr val="FFFF00"/>
                </a:highlight>
              </a:rPr>
            </a:br>
            <a:br>
              <a:rPr lang="en-IN" b="1" dirty="0"/>
            </a:br>
            <a:r>
              <a:rPr lang="en-IN" dirty="0"/>
              <a:t>TCP establishes a connection before normal data communication.</a:t>
            </a:r>
          </a:p>
          <a:p>
            <a:r>
              <a:rPr lang="en-IN" dirty="0"/>
              <a:t>UDP does </a:t>
            </a:r>
            <a:r>
              <a:rPr lang="en-IN" b="1" dirty="0"/>
              <a:t>not</a:t>
            </a:r>
            <a:r>
              <a:rPr lang="en-IN" dirty="0"/>
              <a:t> perform this TCP three-way handshake.</a:t>
            </a:r>
            <a:br>
              <a:rPr lang="en-IN" dirty="0"/>
            </a:br>
            <a:br>
              <a:rPr lang="en-IN" dirty="0"/>
            </a:br>
            <a:r>
              <a:rPr lang="en-IN" dirty="0"/>
              <a:t>There is no:</a:t>
            </a:r>
          </a:p>
          <a:p>
            <a:r>
              <a:rPr lang="en-IN" dirty="0"/>
              <a:t>SYN → SYN-ACK → ACK</a:t>
            </a:r>
          </a:p>
          <a:p>
            <a:r>
              <a:rPr lang="en-IN" dirty="0"/>
              <a:t>before sending the UDP data.</a:t>
            </a:r>
          </a:p>
          <a:p>
            <a:endParaRPr lang="en-IN" dirty="0"/>
          </a:p>
          <a:p>
            <a:pPr>
              <a:buNone/>
            </a:pPr>
            <a:endParaRPr lang="en-IN" dirty="0">
              <a:highlight>
                <a:srgbClr val="FFFF00"/>
              </a:highlight>
            </a:endParaRPr>
          </a:p>
        </p:txBody>
      </p:sp>
    </p:spTree>
    <p:extLst>
      <p:ext uri="{BB962C8B-B14F-4D97-AF65-F5344CB8AC3E}">
        <p14:creationId xmlns:p14="http://schemas.microsoft.com/office/powerpoint/2010/main" val="7751284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94694-9F25-575D-BC1F-3ED689572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4C8D32-AB0A-19D2-2A64-AD485E244616}"/>
              </a:ext>
            </a:extLst>
          </p:cNvPr>
          <p:cNvSpPr>
            <a:spLocks noGrp="1"/>
          </p:cNvSpPr>
          <p:nvPr>
            <p:ph type="title"/>
          </p:nvPr>
        </p:nvSpPr>
        <p:spPr>
          <a:xfrm>
            <a:off x="275844" y="495220"/>
            <a:ext cx="11640312" cy="464900"/>
          </a:xfrm>
        </p:spPr>
        <p:txBody>
          <a:bodyPr>
            <a:normAutofit/>
          </a:bodyPr>
          <a:lstStyle/>
          <a:p>
            <a:r>
              <a:rPr lang="en-IN" sz="2400" b="1" dirty="0"/>
              <a:t>What Does UDP Send?</a:t>
            </a:r>
          </a:p>
        </p:txBody>
      </p:sp>
      <p:sp>
        <p:nvSpPr>
          <p:cNvPr id="4" name="TextBox 3">
            <a:extLst>
              <a:ext uri="{FF2B5EF4-FFF2-40B4-BE49-F238E27FC236}">
                <a16:creationId xmlns:a16="http://schemas.microsoft.com/office/drawing/2014/main" id="{9EA42C4C-784B-B3ED-D269-B209572356A2}"/>
              </a:ext>
            </a:extLst>
          </p:cNvPr>
          <p:cNvSpPr txBox="1"/>
          <p:nvPr/>
        </p:nvSpPr>
        <p:spPr>
          <a:xfrm>
            <a:off x="275844" y="960120"/>
            <a:ext cx="8868156" cy="646331"/>
          </a:xfrm>
          <a:prstGeom prst="rect">
            <a:avLst/>
          </a:prstGeom>
          <a:noFill/>
        </p:spPr>
        <p:txBody>
          <a:bodyPr wrap="square">
            <a:spAutoFit/>
          </a:bodyPr>
          <a:lstStyle/>
          <a:p>
            <a:pPr>
              <a:buNone/>
            </a:pPr>
            <a:r>
              <a:rPr lang="en-IN" dirty="0"/>
              <a:t>TCP works as a </a:t>
            </a:r>
            <a:r>
              <a:rPr lang="en-IN" b="1" dirty="0"/>
              <a:t>byte stream</a:t>
            </a:r>
            <a:r>
              <a:rPr lang="en-IN" dirty="0"/>
              <a:t>.</a:t>
            </a:r>
          </a:p>
          <a:p>
            <a:pPr>
              <a:buNone/>
            </a:pPr>
            <a:r>
              <a:rPr lang="en-IN" dirty="0"/>
              <a:t>UDP sends individual messages called: </a:t>
            </a:r>
            <a:r>
              <a:rPr lang="en-IN" b="1" dirty="0"/>
              <a:t>Datagrams</a:t>
            </a:r>
          </a:p>
        </p:txBody>
      </p:sp>
      <p:pic>
        <p:nvPicPr>
          <p:cNvPr id="8" name="Picture 7">
            <a:extLst>
              <a:ext uri="{FF2B5EF4-FFF2-40B4-BE49-F238E27FC236}">
                <a16:creationId xmlns:a16="http://schemas.microsoft.com/office/drawing/2014/main" id="{70C00E4D-21EA-5E17-5556-E071AFE83B8A}"/>
              </a:ext>
            </a:extLst>
          </p:cNvPr>
          <p:cNvPicPr>
            <a:picLocks noChangeAspect="1"/>
          </p:cNvPicPr>
          <p:nvPr/>
        </p:nvPicPr>
        <p:blipFill>
          <a:blip r:embed="rId2"/>
          <a:stretch>
            <a:fillRect/>
          </a:stretch>
        </p:blipFill>
        <p:spPr>
          <a:xfrm>
            <a:off x="493855" y="1770019"/>
            <a:ext cx="3468545" cy="2304676"/>
          </a:xfrm>
          <a:prstGeom prst="rect">
            <a:avLst/>
          </a:prstGeom>
        </p:spPr>
      </p:pic>
      <p:sp>
        <p:nvSpPr>
          <p:cNvPr id="10" name="TextBox 9">
            <a:extLst>
              <a:ext uri="{FF2B5EF4-FFF2-40B4-BE49-F238E27FC236}">
                <a16:creationId xmlns:a16="http://schemas.microsoft.com/office/drawing/2014/main" id="{50DBE144-28F3-FBEE-5D9B-9D4440190740}"/>
              </a:ext>
            </a:extLst>
          </p:cNvPr>
          <p:cNvSpPr txBox="1"/>
          <p:nvPr/>
        </p:nvSpPr>
        <p:spPr>
          <a:xfrm>
            <a:off x="275844" y="4238263"/>
            <a:ext cx="5820156" cy="2585323"/>
          </a:xfrm>
          <a:prstGeom prst="rect">
            <a:avLst/>
          </a:prstGeom>
          <a:noFill/>
        </p:spPr>
        <p:txBody>
          <a:bodyPr wrap="square">
            <a:spAutoFit/>
          </a:bodyPr>
          <a:lstStyle/>
          <a:p>
            <a:pPr>
              <a:buNone/>
            </a:pPr>
            <a:r>
              <a:rPr lang="en-IN" b="1" dirty="0"/>
              <a:t>Does UDP Guarantee Delivery?</a:t>
            </a:r>
          </a:p>
          <a:p>
            <a:r>
              <a:rPr lang="en-IN" dirty="0"/>
              <a:t>No.</a:t>
            </a:r>
            <a:br>
              <a:rPr lang="en-IN" dirty="0"/>
            </a:br>
            <a:br>
              <a:rPr lang="en-IN" dirty="0"/>
            </a:br>
            <a:r>
              <a:rPr lang="en-IN" dirty="0"/>
              <a:t>UDP itself does not provide TCP's retransmission mechanism to recover Datagram 2.</a:t>
            </a:r>
          </a:p>
          <a:p>
            <a:r>
              <a:rPr lang="en-IN" dirty="0"/>
              <a:t>So:</a:t>
            </a:r>
          </a:p>
          <a:p>
            <a:r>
              <a:rPr lang="en-IN" b="1" dirty="0"/>
              <a:t>UDP does not guarantee that every datagram will reach the receiver.</a:t>
            </a:r>
            <a:endParaRPr lang="en-IN" dirty="0"/>
          </a:p>
          <a:p>
            <a:pPr>
              <a:buNone/>
            </a:pPr>
            <a:endParaRPr lang="en-IN" dirty="0"/>
          </a:p>
        </p:txBody>
      </p:sp>
      <p:sp>
        <p:nvSpPr>
          <p:cNvPr id="12" name="TextBox 11">
            <a:extLst>
              <a:ext uri="{FF2B5EF4-FFF2-40B4-BE49-F238E27FC236}">
                <a16:creationId xmlns:a16="http://schemas.microsoft.com/office/drawing/2014/main" id="{E859FB3C-FACD-E2C8-8C91-D53A58708141}"/>
              </a:ext>
            </a:extLst>
          </p:cNvPr>
          <p:cNvSpPr txBox="1"/>
          <p:nvPr/>
        </p:nvSpPr>
        <p:spPr>
          <a:xfrm>
            <a:off x="6721642" y="718739"/>
            <a:ext cx="3978442" cy="646331"/>
          </a:xfrm>
          <a:prstGeom prst="rect">
            <a:avLst/>
          </a:prstGeom>
          <a:noFill/>
        </p:spPr>
        <p:txBody>
          <a:bodyPr wrap="square">
            <a:spAutoFit/>
          </a:bodyPr>
          <a:lstStyle/>
          <a:p>
            <a:pPr>
              <a:buNone/>
            </a:pPr>
            <a:r>
              <a:rPr lang="en-IN" b="1" dirty="0"/>
              <a:t>Does UDP Guarantee Order?</a:t>
            </a:r>
          </a:p>
          <a:p>
            <a:pPr>
              <a:buNone/>
            </a:pPr>
            <a:r>
              <a:rPr lang="en-IN" dirty="0"/>
              <a:t>Again, </a:t>
            </a:r>
            <a:r>
              <a:rPr lang="en-IN" b="1" dirty="0"/>
              <a:t>No</a:t>
            </a:r>
            <a:r>
              <a:rPr lang="en-IN" dirty="0"/>
              <a:t>.</a:t>
            </a:r>
          </a:p>
        </p:txBody>
      </p:sp>
      <p:sp>
        <p:nvSpPr>
          <p:cNvPr id="14" name="TextBox 13">
            <a:extLst>
              <a:ext uri="{FF2B5EF4-FFF2-40B4-BE49-F238E27FC236}">
                <a16:creationId xmlns:a16="http://schemas.microsoft.com/office/drawing/2014/main" id="{09D2FA0F-B6E6-0E77-553A-2B306F89A847}"/>
              </a:ext>
            </a:extLst>
          </p:cNvPr>
          <p:cNvSpPr txBox="1"/>
          <p:nvPr/>
        </p:nvSpPr>
        <p:spPr>
          <a:xfrm>
            <a:off x="6737684" y="1425020"/>
            <a:ext cx="4812632" cy="1754326"/>
          </a:xfrm>
          <a:prstGeom prst="rect">
            <a:avLst/>
          </a:prstGeom>
          <a:noFill/>
        </p:spPr>
        <p:txBody>
          <a:bodyPr wrap="square">
            <a:spAutoFit/>
          </a:bodyPr>
          <a:lstStyle/>
          <a:p>
            <a:pPr>
              <a:buNone/>
            </a:pPr>
            <a:r>
              <a:rPr lang="en-IN" dirty="0"/>
              <a:t>Suppose the sender sends:</a:t>
            </a:r>
          </a:p>
          <a:p>
            <a:pPr rtl="0">
              <a:buNone/>
            </a:pPr>
            <a:r>
              <a:rPr lang="en-IN" dirty="0">
                <a:latin typeface="+mn-lt"/>
              </a:rPr>
              <a:t>1 → 2 → 3</a:t>
            </a:r>
          </a:p>
          <a:p>
            <a:pPr>
              <a:buNone/>
            </a:pPr>
            <a:r>
              <a:rPr lang="en-IN" dirty="0"/>
              <a:t>The network could deliver them as:</a:t>
            </a:r>
          </a:p>
          <a:p>
            <a:pPr rtl="0">
              <a:buNone/>
            </a:pPr>
            <a:r>
              <a:rPr lang="en-IN" dirty="0">
                <a:latin typeface="+mn-lt"/>
              </a:rPr>
              <a:t>1 → 3 → 2</a:t>
            </a:r>
          </a:p>
          <a:p>
            <a:pPr>
              <a:buNone/>
            </a:pPr>
            <a:r>
              <a:rPr lang="en-IN" dirty="0"/>
              <a:t>UDP itself does not contain TCP-style sequence numbers to reorder them.</a:t>
            </a:r>
          </a:p>
        </p:txBody>
      </p:sp>
      <p:sp>
        <p:nvSpPr>
          <p:cNvPr id="16" name="TextBox 15">
            <a:extLst>
              <a:ext uri="{FF2B5EF4-FFF2-40B4-BE49-F238E27FC236}">
                <a16:creationId xmlns:a16="http://schemas.microsoft.com/office/drawing/2014/main" id="{20847750-9309-2246-F201-1FF72D498E6F}"/>
              </a:ext>
            </a:extLst>
          </p:cNvPr>
          <p:cNvSpPr txBox="1"/>
          <p:nvPr/>
        </p:nvSpPr>
        <p:spPr>
          <a:xfrm>
            <a:off x="6737684" y="3429000"/>
            <a:ext cx="4960461" cy="923330"/>
          </a:xfrm>
          <a:prstGeom prst="rect">
            <a:avLst/>
          </a:prstGeom>
          <a:noFill/>
        </p:spPr>
        <p:txBody>
          <a:bodyPr wrap="square">
            <a:spAutoFit/>
          </a:bodyPr>
          <a:lstStyle/>
          <a:p>
            <a:pPr>
              <a:buNone/>
            </a:pPr>
            <a:r>
              <a:rPr lang="en-IN" b="1" dirty="0"/>
              <a:t>Does UDP Use ACK?</a:t>
            </a:r>
          </a:p>
          <a:p>
            <a:pPr>
              <a:buNone/>
            </a:pPr>
            <a:r>
              <a:rPr lang="en-IN" dirty="0"/>
              <a:t>UDP itself does </a:t>
            </a:r>
            <a:r>
              <a:rPr lang="en-IN" b="1" dirty="0"/>
              <a:t>not provide TCP-style acknowledgment and retransmission mechanisms</a:t>
            </a:r>
            <a:r>
              <a:rPr lang="en-IN" dirty="0"/>
              <a:t>.</a:t>
            </a:r>
          </a:p>
        </p:txBody>
      </p:sp>
      <p:sp>
        <p:nvSpPr>
          <p:cNvPr id="18" name="TextBox 17">
            <a:extLst>
              <a:ext uri="{FF2B5EF4-FFF2-40B4-BE49-F238E27FC236}">
                <a16:creationId xmlns:a16="http://schemas.microsoft.com/office/drawing/2014/main" id="{E9D05A8E-D1BB-61D2-289D-7CD37C926A09}"/>
              </a:ext>
            </a:extLst>
          </p:cNvPr>
          <p:cNvSpPr txBox="1"/>
          <p:nvPr/>
        </p:nvSpPr>
        <p:spPr>
          <a:xfrm>
            <a:off x="6721642" y="4555817"/>
            <a:ext cx="4459705" cy="1754326"/>
          </a:xfrm>
          <a:prstGeom prst="rect">
            <a:avLst/>
          </a:prstGeom>
          <a:noFill/>
        </p:spPr>
        <p:txBody>
          <a:bodyPr wrap="square">
            <a:spAutoFit/>
          </a:bodyPr>
          <a:lstStyle/>
          <a:p>
            <a:pPr>
              <a:buNone/>
            </a:pPr>
            <a:r>
              <a:rPr lang="en-IN" dirty="0"/>
              <a:t>There is no built-in TCP-style:</a:t>
            </a:r>
          </a:p>
          <a:p>
            <a:pPr rtl="0">
              <a:buNone/>
            </a:pPr>
            <a:r>
              <a:rPr lang="en-IN" dirty="0">
                <a:latin typeface="+mn-lt"/>
              </a:rPr>
              <a:t>Data → ACK → Retransmission if necessary</a:t>
            </a:r>
          </a:p>
          <a:p>
            <a:pPr>
              <a:buNone/>
            </a:pPr>
            <a:r>
              <a:rPr lang="en-IN" dirty="0"/>
              <a:t>If an application needs additional reliability while using UDP, that reliability has to be provided separately by the application/protocol above UDP.</a:t>
            </a:r>
          </a:p>
        </p:txBody>
      </p:sp>
    </p:spTree>
    <p:extLst>
      <p:ext uri="{BB962C8B-B14F-4D97-AF65-F5344CB8AC3E}">
        <p14:creationId xmlns:p14="http://schemas.microsoft.com/office/powerpoint/2010/main" val="3030654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27172-035F-1F45-6D71-B3473D1613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662D3-26EE-8A42-0858-815DF713010E}"/>
              </a:ext>
            </a:extLst>
          </p:cNvPr>
          <p:cNvSpPr>
            <a:spLocks noGrp="1"/>
          </p:cNvSpPr>
          <p:nvPr>
            <p:ph type="title"/>
          </p:nvPr>
        </p:nvSpPr>
        <p:spPr>
          <a:xfrm>
            <a:off x="275844" y="495220"/>
            <a:ext cx="11640312" cy="464900"/>
          </a:xfrm>
        </p:spPr>
        <p:txBody>
          <a:bodyPr>
            <a:normAutofit/>
          </a:bodyPr>
          <a:lstStyle/>
          <a:p>
            <a:r>
              <a:rPr lang="en-US" sz="2400" b="1" dirty="0"/>
              <a:t>Why UDP is considered Lightweight?</a:t>
            </a:r>
            <a:endParaRPr lang="en-IN" sz="2400" b="1" dirty="0"/>
          </a:p>
        </p:txBody>
      </p:sp>
      <p:sp>
        <p:nvSpPr>
          <p:cNvPr id="4" name="TextBox 3">
            <a:extLst>
              <a:ext uri="{FF2B5EF4-FFF2-40B4-BE49-F238E27FC236}">
                <a16:creationId xmlns:a16="http://schemas.microsoft.com/office/drawing/2014/main" id="{D49CD9EB-50ED-DA19-520E-69EDCA43672F}"/>
              </a:ext>
            </a:extLst>
          </p:cNvPr>
          <p:cNvSpPr txBox="1"/>
          <p:nvPr/>
        </p:nvSpPr>
        <p:spPr>
          <a:xfrm>
            <a:off x="275844" y="960120"/>
            <a:ext cx="3943230" cy="2585323"/>
          </a:xfrm>
          <a:prstGeom prst="rect">
            <a:avLst/>
          </a:prstGeom>
          <a:noFill/>
        </p:spPr>
        <p:txBody>
          <a:bodyPr wrap="square">
            <a:spAutoFit/>
          </a:bodyPr>
          <a:lstStyle/>
          <a:p>
            <a:pPr>
              <a:buNone/>
            </a:pPr>
            <a:r>
              <a:rPr lang="en-IN" dirty="0"/>
              <a:t>Because UDP has a very small header.</a:t>
            </a:r>
          </a:p>
          <a:p>
            <a:pPr>
              <a:buNone/>
            </a:pPr>
            <a:r>
              <a:rPr lang="en-IN" dirty="0"/>
              <a:t>TCP header: Minimum </a:t>
            </a:r>
            <a:r>
              <a:rPr lang="en-IN" b="1" dirty="0"/>
              <a:t>20 bytes</a:t>
            </a:r>
            <a:endParaRPr lang="en-IN" dirty="0"/>
          </a:p>
          <a:p>
            <a:pPr>
              <a:buNone/>
            </a:pPr>
            <a:endParaRPr lang="en-IN" dirty="0"/>
          </a:p>
          <a:p>
            <a:pPr>
              <a:buNone/>
            </a:pPr>
            <a:r>
              <a:rPr lang="en-IN" dirty="0"/>
              <a:t>UDP header: Only </a:t>
            </a:r>
            <a:r>
              <a:rPr lang="en-IN" b="1" dirty="0"/>
              <a:t>8 bytes</a:t>
            </a:r>
            <a:br>
              <a:rPr lang="en-IN" b="1" dirty="0"/>
            </a:br>
            <a:br>
              <a:rPr lang="en-IN" b="1" dirty="0"/>
            </a:br>
            <a:r>
              <a:rPr lang="en-IN" dirty="0"/>
              <a:t>UDP also does not have the many TCP header fields needed for sequence numbers, acknowledgments, window management, etc.</a:t>
            </a:r>
          </a:p>
        </p:txBody>
      </p:sp>
      <p:sp>
        <p:nvSpPr>
          <p:cNvPr id="6" name="TextBox 5">
            <a:extLst>
              <a:ext uri="{FF2B5EF4-FFF2-40B4-BE49-F238E27FC236}">
                <a16:creationId xmlns:a16="http://schemas.microsoft.com/office/drawing/2014/main" id="{86639CA8-D178-8E49-FB51-C701D7A35581}"/>
              </a:ext>
            </a:extLst>
          </p:cNvPr>
          <p:cNvSpPr txBox="1"/>
          <p:nvPr/>
        </p:nvSpPr>
        <p:spPr>
          <a:xfrm>
            <a:off x="6832373" y="590788"/>
            <a:ext cx="2470484" cy="369332"/>
          </a:xfrm>
          <a:prstGeom prst="rect">
            <a:avLst/>
          </a:prstGeom>
          <a:noFill/>
        </p:spPr>
        <p:txBody>
          <a:bodyPr wrap="square">
            <a:spAutoFit/>
          </a:bodyPr>
          <a:lstStyle/>
          <a:p>
            <a:r>
              <a:rPr lang="en-IN" b="1" dirty="0"/>
              <a:t>UDP Header Structure</a:t>
            </a:r>
          </a:p>
        </p:txBody>
      </p:sp>
      <p:pic>
        <p:nvPicPr>
          <p:cNvPr id="8" name="Picture 7">
            <a:extLst>
              <a:ext uri="{FF2B5EF4-FFF2-40B4-BE49-F238E27FC236}">
                <a16:creationId xmlns:a16="http://schemas.microsoft.com/office/drawing/2014/main" id="{7226F7B1-EA12-A6B1-CAE6-DAD8F46F1FD0}"/>
              </a:ext>
            </a:extLst>
          </p:cNvPr>
          <p:cNvPicPr>
            <a:picLocks noChangeAspect="1"/>
          </p:cNvPicPr>
          <p:nvPr/>
        </p:nvPicPr>
        <p:blipFill>
          <a:blip r:embed="rId2"/>
          <a:stretch>
            <a:fillRect/>
          </a:stretch>
        </p:blipFill>
        <p:spPr>
          <a:xfrm>
            <a:off x="5954560" y="1055688"/>
            <a:ext cx="4582164" cy="267689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DB3284C-0265-4999-F81E-C497A24AA8B2}"/>
                  </a:ext>
                </a:extLst>
              </p:cNvPr>
              <p:cNvSpPr txBox="1"/>
              <p:nvPr/>
            </p:nvSpPr>
            <p:spPr>
              <a:xfrm>
                <a:off x="5952996" y="4331455"/>
                <a:ext cx="5375669" cy="2031325"/>
              </a:xfrm>
              <a:prstGeom prst="rect">
                <a:avLst/>
              </a:prstGeom>
              <a:noFill/>
            </p:spPr>
            <p:txBody>
              <a:bodyPr wrap="square">
                <a:spAutoFit/>
              </a:bodyPr>
              <a:lstStyle/>
              <a:p>
                <a:pPr>
                  <a:buNone/>
                </a:pPr>
                <a:r>
                  <a:rPr lang="en-IN" dirty="0"/>
                  <a:t>There are only </a:t>
                </a:r>
                <a:r>
                  <a:rPr lang="en-IN" b="1" dirty="0"/>
                  <a:t>4 fields</a:t>
                </a:r>
                <a:r>
                  <a:rPr lang="en-IN" dirty="0"/>
                  <a:t>.</a:t>
                </a:r>
              </a:p>
              <a:p>
                <a:pPr>
                  <a:buNone/>
                </a:pPr>
                <a:r>
                  <a:rPr lang="en-IN" dirty="0"/>
                  <a:t>Each field is:</a:t>
                </a:r>
              </a:p>
              <a:p>
                <a:pPr>
                  <a:buNone/>
                </a:pPr>
                <a14:m>
                  <m:oMathPara xmlns:m="http://schemas.openxmlformats.org/officeDocument/2006/math">
                    <m:oMath>
                      <m:r>
                        <a:rPr lang="en-IN">
                          <a:latin typeface="Cambria Math" panose="02040503050406030204" pitchFamily="18" charset="0"/>
                        </a:rPr>
                        <m:t>16</m:t>
                      </m:r>
                      <m:r>
                        <m:rPr>
                          <m:nor/>
                        </m:rPr>
                        <a:rPr lang="en-IN" b="0" i="0">
                          <a:latin typeface="+mn-lt"/>
                        </a:rPr>
                        <m:t> </m:t>
                      </m:r>
                      <m:r>
                        <a:rPr lang="en-IN" b="0" i="1">
                          <a:latin typeface="Cambria Math" panose="02040503050406030204" pitchFamily="18" charset="0"/>
                        </a:rPr>
                        <m:t>𝑏𝑖𝑡𝑠</m:t>
                      </m:r>
                      <m:r>
                        <a:rPr lang="en-IN" b="0" i="0">
                          <a:latin typeface="Cambria Math" panose="02040503050406030204" pitchFamily="18" charset="0"/>
                        </a:rPr>
                        <m:t>=2</m:t>
                      </m:r>
                      <m:r>
                        <m:rPr>
                          <m:nor/>
                        </m:rPr>
                        <a:rPr lang="en-IN" b="0" i="0">
                          <a:latin typeface="+mn-lt"/>
                        </a:rPr>
                        <m:t> </m:t>
                      </m:r>
                      <m:r>
                        <a:rPr lang="en-IN" b="0" i="1">
                          <a:latin typeface="Cambria Math" panose="02040503050406030204" pitchFamily="18" charset="0"/>
                        </a:rPr>
                        <m:t>𝑏𝑦𝑡𝑒𝑠</m:t>
                      </m:r>
                    </m:oMath>
                  </m:oMathPara>
                </a14:m>
                <a:endParaRPr lang="en-IN" b="0" dirty="0"/>
              </a:p>
              <a:p>
                <a:pPr>
                  <a:buNone/>
                </a:pPr>
                <a:r>
                  <a:rPr lang="en-IN" dirty="0"/>
                  <a:t>Therefore:</a:t>
                </a:r>
              </a:p>
              <a:p>
                <a:pPr>
                  <a:buNone/>
                </a:pPr>
                <a14:m>
                  <m:oMathPara xmlns:m="http://schemas.openxmlformats.org/officeDocument/2006/math">
                    <m:oMath>
                      <m:r>
                        <a:rPr lang="en-IN">
                          <a:latin typeface="Cambria Math" panose="02040503050406030204" pitchFamily="18" charset="0"/>
                        </a:rPr>
                        <m:t>4</m:t>
                      </m:r>
                      <m:r>
                        <a:rPr lang="en-IN" i="0">
                          <a:latin typeface="Cambria Math" panose="02040503050406030204" pitchFamily="18" charset="0"/>
                        </a:rPr>
                        <m:t>×2=8</m:t>
                      </m:r>
                      <m:r>
                        <m:rPr>
                          <m:nor/>
                        </m:rPr>
                        <a:rPr lang="en-IN" b="0" i="0">
                          <a:latin typeface="+mn-lt"/>
                        </a:rPr>
                        <m:t> </m:t>
                      </m:r>
                      <m:r>
                        <a:rPr lang="en-IN" b="0" i="1">
                          <a:latin typeface="Cambria Math" panose="02040503050406030204" pitchFamily="18" charset="0"/>
                        </a:rPr>
                        <m:t>𝑏𝑦𝑡𝑒𝑠</m:t>
                      </m:r>
                    </m:oMath>
                  </m:oMathPara>
                </a14:m>
                <a:endParaRPr lang="en-IN" b="0" dirty="0"/>
              </a:p>
              <a:p>
                <a:pPr>
                  <a:buNone/>
                </a:pPr>
                <a:r>
                  <a:rPr lang="en-IN" dirty="0"/>
                  <a:t>So:</a:t>
                </a:r>
              </a:p>
              <a:p>
                <a:pPr>
                  <a:buNone/>
                </a:pPr>
                <a:r>
                  <a:rPr lang="en-IN" dirty="0"/>
                  <a:t>UDP Header=8 bytes​</a:t>
                </a:r>
              </a:p>
            </p:txBody>
          </p:sp>
        </mc:Choice>
        <mc:Fallback xmlns="">
          <p:sp>
            <p:nvSpPr>
              <p:cNvPr id="10" name="TextBox 9">
                <a:extLst>
                  <a:ext uri="{FF2B5EF4-FFF2-40B4-BE49-F238E27FC236}">
                    <a16:creationId xmlns:a16="http://schemas.microsoft.com/office/drawing/2014/main" id="{9DB3284C-0265-4999-F81E-C497A24AA8B2}"/>
                  </a:ext>
                </a:extLst>
              </p:cNvPr>
              <p:cNvSpPr txBox="1">
                <a:spLocks noRot="1" noChangeAspect="1" noMove="1" noResize="1" noEditPoints="1" noAdjustHandles="1" noChangeArrowheads="1" noChangeShapeType="1" noTextEdit="1"/>
              </p:cNvSpPr>
              <p:nvPr/>
            </p:nvSpPr>
            <p:spPr>
              <a:xfrm>
                <a:off x="5952996" y="4331455"/>
                <a:ext cx="5375669" cy="2031325"/>
              </a:xfrm>
              <a:prstGeom prst="rect">
                <a:avLst/>
              </a:prstGeom>
              <a:blipFill>
                <a:blip r:embed="rId3"/>
                <a:stretch>
                  <a:fillRect l="-1022" t="-1802" b="-39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32618DA-70B4-74D4-7670-D70F44DC6D7A}"/>
                  </a:ext>
                </a:extLst>
              </p:cNvPr>
              <p:cNvSpPr txBox="1"/>
              <p:nvPr/>
            </p:nvSpPr>
            <p:spPr>
              <a:xfrm>
                <a:off x="943546" y="5274151"/>
                <a:ext cx="4429185" cy="1247457"/>
              </a:xfrm>
              <a:prstGeom prst="rect">
                <a:avLst/>
              </a:prstGeom>
              <a:noFill/>
            </p:spPr>
            <p:txBody>
              <a:bodyPr wrap="square">
                <a:spAutoFit/>
              </a:bodyPr>
              <a:lstStyle/>
              <a:p>
                <a:pPr>
                  <a:buNone/>
                </a:pPr>
                <a:r>
                  <a:rPr lang="en-IN" b="1" dirty="0"/>
                  <a:t>Length — 16 Bits</a:t>
                </a:r>
              </a:p>
              <a:p>
                <a:pPr>
                  <a:buNone/>
                </a:pPr>
                <a:r>
                  <a:rPr lang="en-IN" dirty="0"/>
                  <a:t>The </a:t>
                </a:r>
                <a:r>
                  <a:rPr lang="en-IN" b="1" dirty="0"/>
                  <a:t>Length field</a:t>
                </a:r>
                <a:r>
                  <a:rPr lang="en-IN" dirty="0"/>
                  <a:t> tells us the total size of:</a:t>
                </a:r>
              </a:p>
              <a:p>
                <a:pPr>
                  <a:buNone/>
                </a:pPr>
                <a14:m>
                  <m:oMathPara xmlns:m="http://schemas.openxmlformats.org/officeDocument/2006/math">
                    <m:oMath>
                      <m:borderBox>
                        <m:borderBoxPr>
                          <m:ctrlPr>
                            <a:rPr lang="en-IN" i="1">
                              <a:latin typeface="Cambria Math" panose="02040503050406030204" pitchFamily="18" charset="0"/>
                            </a:rPr>
                          </m:ctrlPr>
                        </m:borderBoxPr>
                        <m:e>
                          <m:r>
                            <a:rPr lang="en-IN" i="1">
                              <a:latin typeface="Cambria Math" panose="02040503050406030204" pitchFamily="18" charset="0"/>
                            </a:rPr>
                            <m:t>𝑈𝐷𝑃</m:t>
                          </m:r>
                          <m:r>
                            <m:rPr>
                              <m:nor/>
                            </m:rPr>
                            <a:rPr lang="en-IN" b="0" i="0">
                              <a:latin typeface="+mn-lt"/>
                            </a:rPr>
                            <m:t> </m:t>
                          </m:r>
                          <m:r>
                            <a:rPr lang="en-IN" b="0" i="1">
                              <a:latin typeface="Cambria Math" panose="02040503050406030204" pitchFamily="18" charset="0"/>
                            </a:rPr>
                            <m:t>𝐻𝑒𝑎𝑑𝑒𝑟</m:t>
                          </m:r>
                          <m:r>
                            <a:rPr lang="en-IN" b="0" i="0">
                              <a:latin typeface="Cambria Math" panose="02040503050406030204" pitchFamily="18" charset="0"/>
                            </a:rPr>
                            <m:t>+</m:t>
                          </m:r>
                          <m:r>
                            <a:rPr lang="en-IN" b="0" i="1">
                              <a:latin typeface="Cambria Math" panose="02040503050406030204" pitchFamily="18" charset="0"/>
                            </a:rPr>
                            <m:t>𝑈𝐷𝑃</m:t>
                          </m:r>
                          <m:r>
                            <m:rPr>
                              <m:nor/>
                            </m:rPr>
                            <a:rPr lang="en-IN" b="0" i="0">
                              <a:latin typeface="+mn-lt"/>
                            </a:rPr>
                            <m:t> </m:t>
                          </m:r>
                          <m:r>
                            <a:rPr lang="en-IN" b="0" i="1">
                              <a:latin typeface="Cambria Math" panose="02040503050406030204" pitchFamily="18" charset="0"/>
                            </a:rPr>
                            <m:t>𝐷𝑎𝑡𝑎</m:t>
                          </m:r>
                        </m:e>
                      </m:borderBox>
                    </m:oMath>
                  </m:oMathPara>
                </a14:m>
                <a:endParaRPr lang="en-IN" b="0" dirty="0"/>
              </a:p>
              <a:p>
                <a:pPr>
                  <a:buNone/>
                </a:pPr>
                <a:r>
                  <a:rPr lang="en-IN" dirty="0"/>
                  <a:t>This is important.</a:t>
                </a:r>
              </a:p>
            </p:txBody>
          </p:sp>
        </mc:Choice>
        <mc:Fallback xmlns="">
          <p:sp>
            <p:nvSpPr>
              <p:cNvPr id="12" name="TextBox 11">
                <a:extLst>
                  <a:ext uri="{FF2B5EF4-FFF2-40B4-BE49-F238E27FC236}">
                    <a16:creationId xmlns:a16="http://schemas.microsoft.com/office/drawing/2014/main" id="{C32618DA-70B4-74D4-7670-D70F44DC6D7A}"/>
                  </a:ext>
                </a:extLst>
              </p:cNvPr>
              <p:cNvSpPr txBox="1">
                <a:spLocks noRot="1" noChangeAspect="1" noMove="1" noResize="1" noEditPoints="1" noAdjustHandles="1" noChangeArrowheads="1" noChangeShapeType="1" noTextEdit="1"/>
              </p:cNvSpPr>
              <p:nvPr/>
            </p:nvSpPr>
            <p:spPr>
              <a:xfrm>
                <a:off x="943546" y="5274151"/>
                <a:ext cx="4429185" cy="1247457"/>
              </a:xfrm>
              <a:prstGeom prst="rect">
                <a:avLst/>
              </a:prstGeom>
              <a:blipFill>
                <a:blip r:embed="rId4"/>
                <a:stretch>
                  <a:fillRect l="-1240" t="-2439" b="-6829"/>
                </a:stretch>
              </a:blipFill>
            </p:spPr>
            <p:txBody>
              <a:bodyPr/>
              <a:lstStyle/>
              <a:p>
                <a:r>
                  <a:rPr lang="en-IN">
                    <a:noFill/>
                  </a:rPr>
                  <a:t> </a:t>
                </a:r>
              </a:p>
            </p:txBody>
          </p:sp>
        </mc:Fallback>
      </mc:AlternateContent>
    </p:spTree>
    <p:extLst>
      <p:ext uri="{BB962C8B-B14F-4D97-AF65-F5344CB8AC3E}">
        <p14:creationId xmlns:p14="http://schemas.microsoft.com/office/powerpoint/2010/main" val="37020674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5D68C-DDA7-EAF8-7887-708A0BCE2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DFDC1A-AB9E-DD05-3572-5EF14F499786}"/>
              </a:ext>
            </a:extLst>
          </p:cNvPr>
          <p:cNvSpPr>
            <a:spLocks noGrp="1"/>
          </p:cNvSpPr>
          <p:nvPr>
            <p:ph type="title"/>
          </p:nvPr>
        </p:nvSpPr>
        <p:spPr>
          <a:xfrm>
            <a:off x="275844" y="495220"/>
            <a:ext cx="11640312" cy="464900"/>
          </a:xfrm>
        </p:spPr>
        <p:txBody>
          <a:bodyPr>
            <a:normAutofit/>
          </a:bodyPr>
          <a:lstStyle/>
          <a:p>
            <a:r>
              <a:rPr lang="en-IN" sz="2400" b="1" dirty="0"/>
              <a:t>Where is UDP Used?</a:t>
            </a:r>
          </a:p>
        </p:txBody>
      </p:sp>
      <p:sp>
        <p:nvSpPr>
          <p:cNvPr id="4" name="TextBox 3">
            <a:extLst>
              <a:ext uri="{FF2B5EF4-FFF2-40B4-BE49-F238E27FC236}">
                <a16:creationId xmlns:a16="http://schemas.microsoft.com/office/drawing/2014/main" id="{8746F90E-6DB5-5AE4-6B09-6EA88E34E41F}"/>
              </a:ext>
            </a:extLst>
          </p:cNvPr>
          <p:cNvSpPr txBox="1"/>
          <p:nvPr/>
        </p:nvSpPr>
        <p:spPr>
          <a:xfrm>
            <a:off x="275843" y="960120"/>
            <a:ext cx="11466977" cy="369332"/>
          </a:xfrm>
          <a:prstGeom prst="rect">
            <a:avLst/>
          </a:prstGeom>
          <a:noFill/>
        </p:spPr>
        <p:txBody>
          <a:bodyPr wrap="square">
            <a:spAutoFit/>
          </a:bodyPr>
          <a:lstStyle/>
          <a:p>
            <a:r>
              <a:rPr lang="en-IN" dirty="0"/>
              <a:t>UDP is useful where </a:t>
            </a:r>
            <a:r>
              <a:rPr lang="en-IN" b="1" dirty="0"/>
              <a:t>low delay and small protocol overhead</a:t>
            </a:r>
            <a:r>
              <a:rPr lang="en-IN" dirty="0"/>
              <a:t> are important.</a:t>
            </a:r>
          </a:p>
        </p:txBody>
      </p:sp>
      <p:graphicFrame>
        <p:nvGraphicFramePr>
          <p:cNvPr id="5" name="Table 4">
            <a:extLst>
              <a:ext uri="{FF2B5EF4-FFF2-40B4-BE49-F238E27FC236}">
                <a16:creationId xmlns:a16="http://schemas.microsoft.com/office/drawing/2014/main" id="{8BCEF91C-CC49-0F85-A5D6-17DFA3945492}"/>
              </a:ext>
            </a:extLst>
          </p:cNvPr>
          <p:cNvGraphicFramePr>
            <a:graphicFrameLocks noGrp="1"/>
          </p:cNvGraphicFramePr>
          <p:nvPr>
            <p:extLst>
              <p:ext uri="{D42A27DB-BD31-4B8C-83A1-F6EECF244321}">
                <p14:modId xmlns:p14="http://schemas.microsoft.com/office/powerpoint/2010/main" val="3433615299"/>
              </p:ext>
            </p:extLst>
          </p:nvPr>
        </p:nvGraphicFramePr>
        <p:xfrm>
          <a:off x="275843" y="1425020"/>
          <a:ext cx="8128000" cy="2392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81294591"/>
                    </a:ext>
                  </a:extLst>
                </a:gridCol>
                <a:gridCol w="4064000">
                  <a:extLst>
                    <a:ext uri="{9D8B030D-6E8A-4147-A177-3AD203B41FA5}">
                      <a16:colId xmlns:a16="http://schemas.microsoft.com/office/drawing/2014/main" val="3114880723"/>
                    </a:ext>
                  </a:extLst>
                </a:gridCol>
              </a:tblGrid>
              <a:tr h="370840">
                <a:tc>
                  <a:txBody>
                    <a:bodyPr/>
                    <a:lstStyle/>
                    <a:p>
                      <a:pPr>
                        <a:buNone/>
                      </a:pPr>
                      <a:r>
                        <a:rPr lang="en-IN" dirty="0"/>
                        <a:t>Application Type</a:t>
                      </a:r>
                    </a:p>
                  </a:txBody>
                  <a:tcPr anchor="ctr"/>
                </a:tc>
                <a:tc>
                  <a:txBody>
                    <a:bodyPr/>
                    <a:lstStyle/>
                    <a:p>
                      <a:pPr>
                        <a:buNone/>
                      </a:pPr>
                      <a:r>
                        <a:rPr lang="en-IN"/>
                        <a:t>Why UDP Can Be Useful</a:t>
                      </a:r>
                    </a:p>
                  </a:txBody>
                  <a:tcPr anchor="ctr"/>
                </a:tc>
                <a:extLst>
                  <a:ext uri="{0D108BD9-81ED-4DB2-BD59-A6C34878D82A}">
                    <a16:rowId xmlns:a16="http://schemas.microsoft.com/office/drawing/2014/main" val="1831424869"/>
                  </a:ext>
                </a:extLst>
              </a:tr>
              <a:tr h="370840">
                <a:tc>
                  <a:txBody>
                    <a:bodyPr/>
                    <a:lstStyle/>
                    <a:p>
                      <a:pPr>
                        <a:buNone/>
                      </a:pPr>
                      <a:r>
                        <a:rPr lang="en-IN" b="1"/>
                        <a:t>VoIP / Voice Calls</a:t>
                      </a:r>
                      <a:endParaRPr lang="en-IN"/>
                    </a:p>
                  </a:txBody>
                  <a:tcPr anchor="ctr"/>
                </a:tc>
                <a:tc>
                  <a:txBody>
                    <a:bodyPr/>
                    <a:lstStyle/>
                    <a:p>
                      <a:pPr>
                        <a:buNone/>
                      </a:pPr>
                      <a:r>
                        <a:rPr lang="en-IN"/>
                        <a:t>Real-time audio needs low delay</a:t>
                      </a:r>
                    </a:p>
                  </a:txBody>
                  <a:tcPr anchor="ctr"/>
                </a:tc>
                <a:extLst>
                  <a:ext uri="{0D108BD9-81ED-4DB2-BD59-A6C34878D82A}">
                    <a16:rowId xmlns:a16="http://schemas.microsoft.com/office/drawing/2014/main" val="2823583423"/>
                  </a:ext>
                </a:extLst>
              </a:tr>
              <a:tr h="370840">
                <a:tc>
                  <a:txBody>
                    <a:bodyPr/>
                    <a:lstStyle/>
                    <a:p>
                      <a:pPr>
                        <a:buNone/>
                      </a:pPr>
                      <a:r>
                        <a:rPr lang="en-IN" b="1"/>
                        <a:t>Video Streaming</a:t>
                      </a:r>
                      <a:endParaRPr lang="en-IN"/>
                    </a:p>
                  </a:txBody>
                  <a:tcPr anchor="ctr"/>
                </a:tc>
                <a:tc>
                  <a:txBody>
                    <a:bodyPr/>
                    <a:lstStyle/>
                    <a:p>
                      <a:pPr>
                        <a:buNone/>
                      </a:pPr>
                      <a:r>
                        <a:rPr lang="en-IN"/>
                        <a:t>Timely delivery can be important</a:t>
                      </a:r>
                    </a:p>
                  </a:txBody>
                  <a:tcPr anchor="ctr"/>
                </a:tc>
                <a:extLst>
                  <a:ext uri="{0D108BD9-81ED-4DB2-BD59-A6C34878D82A}">
                    <a16:rowId xmlns:a16="http://schemas.microsoft.com/office/drawing/2014/main" val="243450794"/>
                  </a:ext>
                </a:extLst>
              </a:tr>
              <a:tr h="370840">
                <a:tc>
                  <a:txBody>
                    <a:bodyPr/>
                    <a:lstStyle/>
                    <a:p>
                      <a:pPr>
                        <a:buNone/>
                      </a:pPr>
                      <a:r>
                        <a:rPr lang="en-IN" b="1"/>
                        <a:t>Online Gaming</a:t>
                      </a:r>
                      <a:endParaRPr lang="en-IN"/>
                    </a:p>
                  </a:txBody>
                  <a:tcPr anchor="ctr"/>
                </a:tc>
                <a:tc>
                  <a:txBody>
                    <a:bodyPr/>
                    <a:lstStyle/>
                    <a:p>
                      <a:pPr>
                        <a:buNone/>
                      </a:pPr>
                      <a:r>
                        <a:rPr lang="en-IN"/>
                        <a:t>Game updates often need to arrive quickly</a:t>
                      </a:r>
                    </a:p>
                  </a:txBody>
                  <a:tcPr anchor="ctr"/>
                </a:tc>
                <a:extLst>
                  <a:ext uri="{0D108BD9-81ED-4DB2-BD59-A6C34878D82A}">
                    <a16:rowId xmlns:a16="http://schemas.microsoft.com/office/drawing/2014/main" val="3322701389"/>
                  </a:ext>
                </a:extLst>
              </a:tr>
              <a:tr h="370840">
                <a:tc>
                  <a:txBody>
                    <a:bodyPr/>
                    <a:lstStyle/>
                    <a:p>
                      <a:pPr>
                        <a:buNone/>
                      </a:pPr>
                      <a:r>
                        <a:rPr lang="en-IN" b="1"/>
                        <a:t>DNS</a:t>
                      </a:r>
                      <a:endParaRPr lang="en-IN"/>
                    </a:p>
                  </a:txBody>
                  <a:tcPr anchor="ctr"/>
                </a:tc>
                <a:tc>
                  <a:txBody>
                    <a:bodyPr/>
                    <a:lstStyle/>
                    <a:p>
                      <a:pPr>
                        <a:buNone/>
                      </a:pPr>
                      <a:r>
                        <a:rPr lang="en-IN" dirty="0"/>
                        <a:t>Many traditional DNS queries are small request-response exchanges</a:t>
                      </a:r>
                    </a:p>
                  </a:txBody>
                  <a:tcPr anchor="ctr"/>
                </a:tc>
                <a:extLst>
                  <a:ext uri="{0D108BD9-81ED-4DB2-BD59-A6C34878D82A}">
                    <a16:rowId xmlns:a16="http://schemas.microsoft.com/office/drawing/2014/main" val="3617357457"/>
                  </a:ext>
                </a:extLst>
              </a:tr>
            </a:tbl>
          </a:graphicData>
        </a:graphic>
      </p:graphicFrame>
      <p:sp>
        <p:nvSpPr>
          <p:cNvPr id="7" name="TextBox 6">
            <a:extLst>
              <a:ext uri="{FF2B5EF4-FFF2-40B4-BE49-F238E27FC236}">
                <a16:creationId xmlns:a16="http://schemas.microsoft.com/office/drawing/2014/main" id="{FC332C32-7B1A-47B0-36E3-58B622E01DF4}"/>
              </a:ext>
            </a:extLst>
          </p:cNvPr>
          <p:cNvSpPr txBox="1"/>
          <p:nvPr/>
        </p:nvSpPr>
        <p:spPr>
          <a:xfrm>
            <a:off x="275843" y="4158461"/>
            <a:ext cx="6096000" cy="923330"/>
          </a:xfrm>
          <a:prstGeom prst="rect">
            <a:avLst/>
          </a:prstGeom>
          <a:noFill/>
        </p:spPr>
        <p:txBody>
          <a:bodyPr wrap="square">
            <a:spAutoFit/>
          </a:bodyPr>
          <a:lstStyle/>
          <a:p>
            <a:r>
              <a:rPr lang="en-IN" dirty="0"/>
              <a:t>This does </a:t>
            </a:r>
            <a:r>
              <a:rPr lang="en-IN" b="1" dirty="0"/>
              <a:t>not</a:t>
            </a:r>
            <a:r>
              <a:rPr lang="en-IN" dirty="0"/>
              <a:t> mean these applications must always use plain UDP; modern applications can add their own mechanisms above UDP.</a:t>
            </a:r>
          </a:p>
        </p:txBody>
      </p:sp>
    </p:spTree>
    <p:extLst>
      <p:ext uri="{BB962C8B-B14F-4D97-AF65-F5344CB8AC3E}">
        <p14:creationId xmlns:p14="http://schemas.microsoft.com/office/powerpoint/2010/main" val="427052049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E0B0C-47E9-5F3D-2713-4EDFF212D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7D3FE-1DB0-2F83-C70B-7F5B1428778B}"/>
              </a:ext>
            </a:extLst>
          </p:cNvPr>
          <p:cNvSpPr>
            <a:spLocks noGrp="1"/>
          </p:cNvSpPr>
          <p:nvPr>
            <p:ph type="title"/>
          </p:nvPr>
        </p:nvSpPr>
        <p:spPr>
          <a:xfrm>
            <a:off x="275844" y="495220"/>
            <a:ext cx="11640312" cy="464900"/>
          </a:xfrm>
        </p:spPr>
        <p:txBody>
          <a:bodyPr>
            <a:normAutofit/>
          </a:bodyPr>
          <a:lstStyle/>
          <a:p>
            <a:r>
              <a:rPr lang="en-IN" sz="2400" b="1" dirty="0"/>
              <a:t>Principles of Reliable Data Transfer</a:t>
            </a:r>
          </a:p>
        </p:txBody>
      </p:sp>
      <p:sp>
        <p:nvSpPr>
          <p:cNvPr id="4" name="TextBox 3">
            <a:extLst>
              <a:ext uri="{FF2B5EF4-FFF2-40B4-BE49-F238E27FC236}">
                <a16:creationId xmlns:a16="http://schemas.microsoft.com/office/drawing/2014/main" id="{92B94A72-5691-3556-A362-F2F56AAB719A}"/>
              </a:ext>
            </a:extLst>
          </p:cNvPr>
          <p:cNvSpPr txBox="1"/>
          <p:nvPr/>
        </p:nvSpPr>
        <p:spPr>
          <a:xfrm>
            <a:off x="275843" y="960120"/>
            <a:ext cx="11402809" cy="646331"/>
          </a:xfrm>
          <a:prstGeom prst="rect">
            <a:avLst/>
          </a:prstGeom>
          <a:noFill/>
        </p:spPr>
        <p:txBody>
          <a:bodyPr wrap="square">
            <a:spAutoFit/>
          </a:bodyPr>
          <a:lstStyle/>
          <a:p>
            <a:r>
              <a:rPr lang="en-IN" dirty="0"/>
              <a:t>Reliable Data Transfer (RDT) means transferring data from sender to receiver correctly and dependably even when the underlying communication channel may cause problems.</a:t>
            </a:r>
          </a:p>
        </p:txBody>
      </p:sp>
      <p:sp>
        <p:nvSpPr>
          <p:cNvPr id="6" name="TextBox 5">
            <a:extLst>
              <a:ext uri="{FF2B5EF4-FFF2-40B4-BE49-F238E27FC236}">
                <a16:creationId xmlns:a16="http://schemas.microsoft.com/office/drawing/2014/main" id="{C614EC85-6280-1774-81DE-09B880822044}"/>
              </a:ext>
            </a:extLst>
          </p:cNvPr>
          <p:cNvSpPr txBox="1"/>
          <p:nvPr/>
        </p:nvSpPr>
        <p:spPr>
          <a:xfrm>
            <a:off x="275843" y="1702019"/>
            <a:ext cx="6096000" cy="369332"/>
          </a:xfrm>
          <a:prstGeom prst="rect">
            <a:avLst/>
          </a:prstGeom>
          <a:noFill/>
        </p:spPr>
        <p:txBody>
          <a:bodyPr wrap="square">
            <a:spAutoFit/>
          </a:bodyPr>
          <a:lstStyle/>
          <a:p>
            <a:r>
              <a:rPr lang="en-IN" b="1" dirty="0"/>
              <a:t>What Problems Can Occur During Data Transfer?</a:t>
            </a:r>
          </a:p>
        </p:txBody>
      </p:sp>
      <p:graphicFrame>
        <p:nvGraphicFramePr>
          <p:cNvPr id="7" name="Table 6">
            <a:extLst>
              <a:ext uri="{FF2B5EF4-FFF2-40B4-BE49-F238E27FC236}">
                <a16:creationId xmlns:a16="http://schemas.microsoft.com/office/drawing/2014/main" id="{07845B41-9599-4368-51D3-4F46A96E5730}"/>
              </a:ext>
            </a:extLst>
          </p:cNvPr>
          <p:cNvGraphicFramePr>
            <a:graphicFrameLocks noGrp="1"/>
          </p:cNvGraphicFramePr>
          <p:nvPr>
            <p:extLst>
              <p:ext uri="{D42A27DB-BD31-4B8C-83A1-F6EECF244321}">
                <p14:modId xmlns:p14="http://schemas.microsoft.com/office/powerpoint/2010/main" val="3550717649"/>
              </p:ext>
            </p:extLst>
          </p:nvPr>
        </p:nvGraphicFramePr>
        <p:xfrm>
          <a:off x="275843" y="2108526"/>
          <a:ext cx="8128000" cy="21234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427245157"/>
                    </a:ext>
                  </a:extLst>
                </a:gridCol>
                <a:gridCol w="4064000">
                  <a:extLst>
                    <a:ext uri="{9D8B030D-6E8A-4147-A177-3AD203B41FA5}">
                      <a16:colId xmlns:a16="http://schemas.microsoft.com/office/drawing/2014/main" val="3290610661"/>
                    </a:ext>
                  </a:extLst>
                </a:gridCol>
              </a:tblGrid>
              <a:tr h="370840">
                <a:tc>
                  <a:txBody>
                    <a:bodyPr/>
                    <a:lstStyle/>
                    <a:p>
                      <a:pPr>
                        <a:buNone/>
                      </a:pPr>
                      <a:r>
                        <a:rPr lang="en-IN" dirty="0"/>
                        <a:t>Problem</a:t>
                      </a:r>
                    </a:p>
                  </a:txBody>
                  <a:tcPr anchor="ctr"/>
                </a:tc>
                <a:tc>
                  <a:txBody>
                    <a:bodyPr/>
                    <a:lstStyle/>
                    <a:p>
                      <a:pPr>
                        <a:buNone/>
                      </a:pPr>
                      <a:r>
                        <a:rPr lang="en-IN"/>
                        <a:t>Meaning</a:t>
                      </a:r>
                    </a:p>
                  </a:txBody>
                  <a:tcPr anchor="ctr"/>
                </a:tc>
                <a:extLst>
                  <a:ext uri="{0D108BD9-81ED-4DB2-BD59-A6C34878D82A}">
                    <a16:rowId xmlns:a16="http://schemas.microsoft.com/office/drawing/2014/main" val="1662615253"/>
                  </a:ext>
                </a:extLst>
              </a:tr>
              <a:tr h="370840">
                <a:tc>
                  <a:txBody>
                    <a:bodyPr/>
                    <a:lstStyle/>
                    <a:p>
                      <a:pPr>
                        <a:buNone/>
                      </a:pPr>
                      <a:r>
                        <a:rPr lang="en-IN" b="1"/>
                        <a:t>Packet Loss</a:t>
                      </a:r>
                      <a:endParaRPr lang="en-IN"/>
                    </a:p>
                  </a:txBody>
                  <a:tcPr anchor="ctr"/>
                </a:tc>
                <a:tc>
                  <a:txBody>
                    <a:bodyPr/>
                    <a:lstStyle/>
                    <a:p>
                      <a:pPr>
                        <a:buNone/>
                      </a:pPr>
                      <a:r>
                        <a:rPr lang="en-IN"/>
                        <a:t>Packet never reaches the receiver</a:t>
                      </a:r>
                    </a:p>
                  </a:txBody>
                  <a:tcPr anchor="ctr"/>
                </a:tc>
                <a:extLst>
                  <a:ext uri="{0D108BD9-81ED-4DB2-BD59-A6C34878D82A}">
                    <a16:rowId xmlns:a16="http://schemas.microsoft.com/office/drawing/2014/main" val="2436528398"/>
                  </a:ext>
                </a:extLst>
              </a:tr>
              <a:tr h="370840">
                <a:tc>
                  <a:txBody>
                    <a:bodyPr/>
                    <a:lstStyle/>
                    <a:p>
                      <a:pPr>
                        <a:buNone/>
                      </a:pPr>
                      <a:r>
                        <a:rPr lang="en-IN" b="1"/>
                        <a:t>Bit Error / Corruption</a:t>
                      </a:r>
                      <a:endParaRPr lang="en-IN"/>
                    </a:p>
                  </a:txBody>
                  <a:tcPr anchor="ctr"/>
                </a:tc>
                <a:tc>
                  <a:txBody>
                    <a:bodyPr/>
                    <a:lstStyle/>
                    <a:p>
                      <a:pPr>
                        <a:buNone/>
                      </a:pPr>
                      <a:r>
                        <a:rPr lang="en-IN"/>
                        <a:t>Some bits change during transmission</a:t>
                      </a:r>
                    </a:p>
                  </a:txBody>
                  <a:tcPr anchor="ctr"/>
                </a:tc>
                <a:extLst>
                  <a:ext uri="{0D108BD9-81ED-4DB2-BD59-A6C34878D82A}">
                    <a16:rowId xmlns:a16="http://schemas.microsoft.com/office/drawing/2014/main" val="77983827"/>
                  </a:ext>
                </a:extLst>
              </a:tr>
              <a:tr h="370840">
                <a:tc>
                  <a:txBody>
                    <a:bodyPr/>
                    <a:lstStyle/>
                    <a:p>
                      <a:pPr>
                        <a:buNone/>
                      </a:pPr>
                      <a:r>
                        <a:rPr lang="en-IN" b="1"/>
                        <a:t>Duplicate Packet</a:t>
                      </a:r>
                      <a:endParaRPr lang="en-IN"/>
                    </a:p>
                  </a:txBody>
                  <a:tcPr anchor="ctr"/>
                </a:tc>
                <a:tc>
                  <a:txBody>
                    <a:bodyPr/>
                    <a:lstStyle/>
                    <a:p>
                      <a:pPr>
                        <a:buNone/>
                      </a:pPr>
                      <a:r>
                        <a:rPr lang="en-IN"/>
                        <a:t>Same packet may be received more than once</a:t>
                      </a:r>
                    </a:p>
                  </a:txBody>
                  <a:tcPr anchor="ctr"/>
                </a:tc>
                <a:extLst>
                  <a:ext uri="{0D108BD9-81ED-4DB2-BD59-A6C34878D82A}">
                    <a16:rowId xmlns:a16="http://schemas.microsoft.com/office/drawing/2014/main" val="358316255"/>
                  </a:ext>
                </a:extLst>
              </a:tr>
              <a:tr h="370840">
                <a:tc>
                  <a:txBody>
                    <a:bodyPr/>
                    <a:lstStyle/>
                    <a:p>
                      <a:pPr>
                        <a:buNone/>
                      </a:pPr>
                      <a:r>
                        <a:rPr lang="en-IN" b="1"/>
                        <a:t>Wrong Order</a:t>
                      </a:r>
                      <a:endParaRPr lang="en-IN"/>
                    </a:p>
                  </a:txBody>
                  <a:tcPr anchor="ctr"/>
                </a:tc>
                <a:tc>
                  <a:txBody>
                    <a:bodyPr/>
                    <a:lstStyle/>
                    <a:p>
                      <a:pPr>
                        <a:buNone/>
                      </a:pPr>
                      <a:r>
                        <a:rPr lang="en-IN" dirty="0"/>
                        <a:t>Packets may arrive in a different order</a:t>
                      </a:r>
                    </a:p>
                  </a:txBody>
                  <a:tcPr anchor="ctr"/>
                </a:tc>
                <a:extLst>
                  <a:ext uri="{0D108BD9-81ED-4DB2-BD59-A6C34878D82A}">
                    <a16:rowId xmlns:a16="http://schemas.microsoft.com/office/drawing/2014/main" val="2059441012"/>
                  </a:ext>
                </a:extLst>
              </a:tr>
            </a:tbl>
          </a:graphicData>
        </a:graphic>
      </p:graphicFrame>
    </p:spTree>
    <p:extLst>
      <p:ext uri="{BB962C8B-B14F-4D97-AF65-F5344CB8AC3E}">
        <p14:creationId xmlns:p14="http://schemas.microsoft.com/office/powerpoint/2010/main" val="2177033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D26FB-95FE-0E40-B25F-6F7EFE76C9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211AD-6C6D-E340-9987-47E095C03666}"/>
              </a:ext>
            </a:extLst>
          </p:cNvPr>
          <p:cNvSpPr>
            <a:spLocks noGrp="1"/>
          </p:cNvSpPr>
          <p:nvPr>
            <p:ph type="title"/>
          </p:nvPr>
        </p:nvSpPr>
        <p:spPr>
          <a:xfrm>
            <a:off x="275844" y="495220"/>
            <a:ext cx="11640312" cy="464900"/>
          </a:xfrm>
        </p:spPr>
        <p:txBody>
          <a:bodyPr>
            <a:normAutofit/>
          </a:bodyPr>
          <a:lstStyle/>
          <a:p>
            <a:r>
              <a:rPr lang="en-IN" sz="2400" b="1" dirty="0"/>
              <a:t>How Can Reliability Be Provided?</a:t>
            </a:r>
          </a:p>
        </p:txBody>
      </p:sp>
      <p:sp>
        <p:nvSpPr>
          <p:cNvPr id="5" name="TextBox 4">
            <a:extLst>
              <a:ext uri="{FF2B5EF4-FFF2-40B4-BE49-F238E27FC236}">
                <a16:creationId xmlns:a16="http://schemas.microsoft.com/office/drawing/2014/main" id="{B38A1D62-DAD9-0428-75FA-838C1F9B2703}"/>
              </a:ext>
            </a:extLst>
          </p:cNvPr>
          <p:cNvSpPr txBox="1"/>
          <p:nvPr/>
        </p:nvSpPr>
        <p:spPr>
          <a:xfrm>
            <a:off x="275844" y="960120"/>
            <a:ext cx="8710863" cy="369332"/>
          </a:xfrm>
          <a:prstGeom prst="rect">
            <a:avLst/>
          </a:prstGeom>
          <a:noFill/>
        </p:spPr>
        <p:txBody>
          <a:bodyPr wrap="square">
            <a:spAutoFit/>
          </a:bodyPr>
          <a:lstStyle/>
          <a:p>
            <a:r>
              <a:rPr lang="en-IN" dirty="0"/>
              <a:t>This should already look familiar because we studied similar ideas in the Data Link Layer.</a:t>
            </a:r>
          </a:p>
        </p:txBody>
      </p:sp>
      <p:graphicFrame>
        <p:nvGraphicFramePr>
          <p:cNvPr id="8" name="Table 7">
            <a:extLst>
              <a:ext uri="{FF2B5EF4-FFF2-40B4-BE49-F238E27FC236}">
                <a16:creationId xmlns:a16="http://schemas.microsoft.com/office/drawing/2014/main" id="{8A263CCD-4513-F0D5-BD03-885DCF7C1ECB}"/>
              </a:ext>
            </a:extLst>
          </p:cNvPr>
          <p:cNvGraphicFramePr>
            <a:graphicFrameLocks noGrp="1"/>
          </p:cNvGraphicFramePr>
          <p:nvPr>
            <p:extLst>
              <p:ext uri="{D42A27DB-BD31-4B8C-83A1-F6EECF244321}">
                <p14:modId xmlns:p14="http://schemas.microsoft.com/office/powerpoint/2010/main" val="570259463"/>
              </p:ext>
            </p:extLst>
          </p:nvPr>
        </p:nvGraphicFramePr>
        <p:xfrm>
          <a:off x="395705" y="1430795"/>
          <a:ext cx="8128000" cy="27635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187748325"/>
                    </a:ext>
                  </a:extLst>
                </a:gridCol>
                <a:gridCol w="4064000">
                  <a:extLst>
                    <a:ext uri="{9D8B030D-6E8A-4147-A177-3AD203B41FA5}">
                      <a16:colId xmlns:a16="http://schemas.microsoft.com/office/drawing/2014/main" val="599858815"/>
                    </a:ext>
                  </a:extLst>
                </a:gridCol>
              </a:tblGrid>
              <a:tr h="370840">
                <a:tc>
                  <a:txBody>
                    <a:bodyPr/>
                    <a:lstStyle/>
                    <a:p>
                      <a:pPr>
                        <a:buNone/>
                      </a:pPr>
                      <a:r>
                        <a:rPr lang="en-IN" dirty="0"/>
                        <a:t>Mechanism</a:t>
                      </a:r>
                    </a:p>
                  </a:txBody>
                  <a:tcPr anchor="ctr"/>
                </a:tc>
                <a:tc>
                  <a:txBody>
                    <a:bodyPr/>
                    <a:lstStyle/>
                    <a:p>
                      <a:pPr>
                        <a:buNone/>
                      </a:pPr>
                      <a:r>
                        <a:rPr lang="en-IN"/>
                        <a:t>Purpose</a:t>
                      </a:r>
                    </a:p>
                  </a:txBody>
                  <a:tcPr anchor="ctr"/>
                </a:tc>
                <a:extLst>
                  <a:ext uri="{0D108BD9-81ED-4DB2-BD59-A6C34878D82A}">
                    <a16:rowId xmlns:a16="http://schemas.microsoft.com/office/drawing/2014/main" val="4032822869"/>
                  </a:ext>
                </a:extLst>
              </a:tr>
              <a:tr h="370840">
                <a:tc>
                  <a:txBody>
                    <a:bodyPr/>
                    <a:lstStyle/>
                    <a:p>
                      <a:pPr>
                        <a:buNone/>
                      </a:pPr>
                      <a:r>
                        <a:rPr lang="en-IN" b="1"/>
                        <a:t>Error Detection</a:t>
                      </a:r>
                      <a:endParaRPr lang="en-IN"/>
                    </a:p>
                  </a:txBody>
                  <a:tcPr anchor="ctr"/>
                </a:tc>
                <a:tc>
                  <a:txBody>
                    <a:bodyPr/>
                    <a:lstStyle/>
                    <a:p>
                      <a:pPr>
                        <a:buNone/>
                      </a:pPr>
                      <a:r>
                        <a:rPr lang="en-IN"/>
                        <a:t>Detect whether received data is corrupted</a:t>
                      </a:r>
                    </a:p>
                  </a:txBody>
                  <a:tcPr anchor="ctr"/>
                </a:tc>
                <a:extLst>
                  <a:ext uri="{0D108BD9-81ED-4DB2-BD59-A6C34878D82A}">
                    <a16:rowId xmlns:a16="http://schemas.microsoft.com/office/drawing/2014/main" val="2633360601"/>
                  </a:ext>
                </a:extLst>
              </a:tr>
              <a:tr h="370840">
                <a:tc>
                  <a:txBody>
                    <a:bodyPr/>
                    <a:lstStyle/>
                    <a:p>
                      <a:pPr>
                        <a:buNone/>
                      </a:pPr>
                      <a:r>
                        <a:rPr lang="en-IN" b="1"/>
                        <a:t>Acknowledgment (ACK)</a:t>
                      </a:r>
                      <a:endParaRPr lang="en-IN"/>
                    </a:p>
                  </a:txBody>
                  <a:tcPr anchor="ctr"/>
                </a:tc>
                <a:tc>
                  <a:txBody>
                    <a:bodyPr/>
                    <a:lstStyle/>
                    <a:p>
                      <a:pPr>
                        <a:buNone/>
                      </a:pPr>
                      <a:r>
                        <a:rPr lang="en-IN"/>
                        <a:t>Tell sender that data was received</a:t>
                      </a:r>
                    </a:p>
                  </a:txBody>
                  <a:tcPr anchor="ctr"/>
                </a:tc>
                <a:extLst>
                  <a:ext uri="{0D108BD9-81ED-4DB2-BD59-A6C34878D82A}">
                    <a16:rowId xmlns:a16="http://schemas.microsoft.com/office/drawing/2014/main" val="2952067047"/>
                  </a:ext>
                </a:extLst>
              </a:tr>
              <a:tr h="370840">
                <a:tc>
                  <a:txBody>
                    <a:bodyPr/>
                    <a:lstStyle/>
                    <a:p>
                      <a:pPr>
                        <a:buNone/>
                      </a:pPr>
                      <a:r>
                        <a:rPr lang="en-IN" b="1"/>
                        <a:t>Sequence Numbers</a:t>
                      </a:r>
                      <a:endParaRPr lang="en-IN"/>
                    </a:p>
                  </a:txBody>
                  <a:tcPr anchor="ctr"/>
                </a:tc>
                <a:tc>
                  <a:txBody>
                    <a:bodyPr/>
                    <a:lstStyle/>
                    <a:p>
                      <a:pPr>
                        <a:buNone/>
                      </a:pPr>
                      <a:r>
                        <a:rPr lang="en-IN"/>
                        <a:t>Identify data and help detect duplicates/order</a:t>
                      </a:r>
                    </a:p>
                  </a:txBody>
                  <a:tcPr anchor="ctr"/>
                </a:tc>
                <a:extLst>
                  <a:ext uri="{0D108BD9-81ED-4DB2-BD59-A6C34878D82A}">
                    <a16:rowId xmlns:a16="http://schemas.microsoft.com/office/drawing/2014/main" val="562905016"/>
                  </a:ext>
                </a:extLst>
              </a:tr>
              <a:tr h="370840">
                <a:tc>
                  <a:txBody>
                    <a:bodyPr/>
                    <a:lstStyle/>
                    <a:p>
                      <a:pPr>
                        <a:buNone/>
                      </a:pPr>
                      <a:r>
                        <a:rPr lang="en-IN" b="1"/>
                        <a:t>Timer</a:t>
                      </a:r>
                      <a:endParaRPr lang="en-IN"/>
                    </a:p>
                  </a:txBody>
                  <a:tcPr anchor="ctr"/>
                </a:tc>
                <a:tc>
                  <a:txBody>
                    <a:bodyPr/>
                    <a:lstStyle/>
                    <a:p>
                      <a:pPr>
                        <a:buNone/>
                      </a:pPr>
                      <a:r>
                        <a:rPr lang="en-IN"/>
                        <a:t>Decide how long the sender should wait</a:t>
                      </a:r>
                    </a:p>
                  </a:txBody>
                  <a:tcPr anchor="ctr"/>
                </a:tc>
                <a:extLst>
                  <a:ext uri="{0D108BD9-81ED-4DB2-BD59-A6C34878D82A}">
                    <a16:rowId xmlns:a16="http://schemas.microsoft.com/office/drawing/2014/main" val="2910358581"/>
                  </a:ext>
                </a:extLst>
              </a:tr>
              <a:tr h="370840">
                <a:tc>
                  <a:txBody>
                    <a:bodyPr/>
                    <a:lstStyle/>
                    <a:p>
                      <a:pPr>
                        <a:buNone/>
                      </a:pPr>
                      <a:r>
                        <a:rPr lang="en-IN" b="1"/>
                        <a:t>Retransmission</a:t>
                      </a:r>
                      <a:endParaRPr lang="en-IN"/>
                    </a:p>
                  </a:txBody>
                  <a:tcPr anchor="ctr"/>
                </a:tc>
                <a:tc>
                  <a:txBody>
                    <a:bodyPr/>
                    <a:lstStyle/>
                    <a:p>
                      <a:pPr>
                        <a:buNone/>
                      </a:pPr>
                      <a:r>
                        <a:rPr lang="en-IN" dirty="0"/>
                        <a:t>Send the data again if necessary</a:t>
                      </a:r>
                    </a:p>
                  </a:txBody>
                  <a:tcPr anchor="ctr"/>
                </a:tc>
                <a:extLst>
                  <a:ext uri="{0D108BD9-81ED-4DB2-BD59-A6C34878D82A}">
                    <a16:rowId xmlns:a16="http://schemas.microsoft.com/office/drawing/2014/main" val="1780851670"/>
                  </a:ext>
                </a:extLst>
              </a:tr>
            </a:tbl>
          </a:graphicData>
        </a:graphic>
      </p:graphicFrame>
      <p:sp>
        <p:nvSpPr>
          <p:cNvPr id="10" name="TextBox 9">
            <a:extLst>
              <a:ext uri="{FF2B5EF4-FFF2-40B4-BE49-F238E27FC236}">
                <a16:creationId xmlns:a16="http://schemas.microsoft.com/office/drawing/2014/main" id="{BE489E04-9E83-F4FB-5A66-4FCD263E60DE}"/>
              </a:ext>
            </a:extLst>
          </p:cNvPr>
          <p:cNvSpPr txBox="1"/>
          <p:nvPr/>
        </p:nvSpPr>
        <p:spPr>
          <a:xfrm>
            <a:off x="395705" y="4499115"/>
            <a:ext cx="6096000" cy="369332"/>
          </a:xfrm>
          <a:prstGeom prst="rect">
            <a:avLst/>
          </a:prstGeom>
          <a:noFill/>
        </p:spPr>
        <p:txBody>
          <a:bodyPr wrap="square">
            <a:spAutoFit/>
          </a:bodyPr>
          <a:lstStyle/>
          <a:p>
            <a:r>
              <a:rPr lang="en-IN" b="1" dirty="0"/>
              <a:t>What is a Perfectly Reliable Channel?</a:t>
            </a:r>
          </a:p>
        </p:txBody>
      </p:sp>
      <p:sp>
        <p:nvSpPr>
          <p:cNvPr id="12" name="TextBox 11">
            <a:extLst>
              <a:ext uri="{FF2B5EF4-FFF2-40B4-BE49-F238E27FC236}">
                <a16:creationId xmlns:a16="http://schemas.microsoft.com/office/drawing/2014/main" id="{FE44BCEE-DA0E-2A92-4B29-B91C1DE475CA}"/>
              </a:ext>
            </a:extLst>
          </p:cNvPr>
          <p:cNvSpPr txBox="1"/>
          <p:nvPr/>
        </p:nvSpPr>
        <p:spPr>
          <a:xfrm>
            <a:off x="395705" y="4850081"/>
            <a:ext cx="11400590" cy="923330"/>
          </a:xfrm>
          <a:prstGeom prst="rect">
            <a:avLst/>
          </a:prstGeom>
          <a:noFill/>
        </p:spPr>
        <p:txBody>
          <a:bodyPr wrap="square">
            <a:spAutoFit/>
          </a:bodyPr>
          <a:lstStyle/>
          <a:p>
            <a:r>
              <a:rPr lang="en-IN" dirty="0"/>
              <a:t>A perfectly reliable channel is an ideal communication channel in which packets are not lost or corrupted.</a:t>
            </a:r>
            <a:br>
              <a:rPr lang="en-IN" dirty="0"/>
            </a:br>
            <a:br>
              <a:rPr lang="en-IN" dirty="0"/>
            </a:br>
            <a:r>
              <a:rPr lang="en-IN" dirty="0"/>
              <a:t>(Theoretical Baseline Channel)</a:t>
            </a:r>
          </a:p>
        </p:txBody>
      </p:sp>
    </p:spTree>
    <p:extLst>
      <p:ext uri="{BB962C8B-B14F-4D97-AF65-F5344CB8AC3E}">
        <p14:creationId xmlns:p14="http://schemas.microsoft.com/office/powerpoint/2010/main" val="71123632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A3F6F-A052-353C-B2C0-82E1AF621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C14546-20E3-92F9-871E-F190D51E1C71}"/>
              </a:ext>
            </a:extLst>
          </p:cNvPr>
          <p:cNvSpPr>
            <a:spLocks noGrp="1"/>
          </p:cNvSpPr>
          <p:nvPr>
            <p:ph type="title"/>
          </p:nvPr>
        </p:nvSpPr>
        <p:spPr>
          <a:xfrm>
            <a:off x="275844" y="495220"/>
            <a:ext cx="11640312" cy="464900"/>
          </a:xfrm>
        </p:spPr>
        <p:txBody>
          <a:bodyPr>
            <a:normAutofit/>
          </a:bodyPr>
          <a:lstStyle/>
          <a:p>
            <a:r>
              <a:rPr lang="en-IN" sz="2400" b="1" dirty="0"/>
              <a:t>Perfect Channel vs Real Channel</a:t>
            </a:r>
          </a:p>
        </p:txBody>
      </p:sp>
      <p:graphicFrame>
        <p:nvGraphicFramePr>
          <p:cNvPr id="3" name="Table 2">
            <a:extLst>
              <a:ext uri="{FF2B5EF4-FFF2-40B4-BE49-F238E27FC236}">
                <a16:creationId xmlns:a16="http://schemas.microsoft.com/office/drawing/2014/main" id="{A69EEA7A-0030-46AB-B0DF-26ADA8747005}"/>
              </a:ext>
            </a:extLst>
          </p:cNvPr>
          <p:cNvGraphicFramePr>
            <a:graphicFrameLocks noGrp="1"/>
          </p:cNvGraphicFramePr>
          <p:nvPr>
            <p:extLst>
              <p:ext uri="{D42A27DB-BD31-4B8C-83A1-F6EECF244321}">
                <p14:modId xmlns:p14="http://schemas.microsoft.com/office/powerpoint/2010/main" val="1124382847"/>
              </p:ext>
            </p:extLst>
          </p:nvPr>
        </p:nvGraphicFramePr>
        <p:xfrm>
          <a:off x="411747" y="1183907"/>
          <a:ext cx="8128000" cy="21945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2436356"/>
                    </a:ext>
                  </a:extLst>
                </a:gridCol>
                <a:gridCol w="4064000">
                  <a:extLst>
                    <a:ext uri="{9D8B030D-6E8A-4147-A177-3AD203B41FA5}">
                      <a16:colId xmlns:a16="http://schemas.microsoft.com/office/drawing/2014/main" val="3925895992"/>
                    </a:ext>
                  </a:extLst>
                </a:gridCol>
              </a:tblGrid>
              <a:tr h="0">
                <a:tc>
                  <a:txBody>
                    <a:bodyPr/>
                    <a:lstStyle/>
                    <a:p>
                      <a:pPr>
                        <a:buNone/>
                      </a:pPr>
                      <a:r>
                        <a:rPr lang="en-IN" dirty="0"/>
                        <a:t>Perfectly Reliable Channel</a:t>
                      </a:r>
                    </a:p>
                  </a:txBody>
                  <a:tcPr anchor="ctr"/>
                </a:tc>
                <a:tc>
                  <a:txBody>
                    <a:bodyPr/>
                    <a:lstStyle/>
                    <a:p>
                      <a:pPr>
                        <a:buNone/>
                      </a:pPr>
                      <a:r>
                        <a:rPr lang="en-IN"/>
                        <a:t>Real Network Channel</a:t>
                      </a:r>
                    </a:p>
                  </a:txBody>
                  <a:tcPr anchor="ctr"/>
                </a:tc>
                <a:extLst>
                  <a:ext uri="{0D108BD9-81ED-4DB2-BD59-A6C34878D82A}">
                    <a16:rowId xmlns:a16="http://schemas.microsoft.com/office/drawing/2014/main" val="2742693066"/>
                  </a:ext>
                </a:extLst>
              </a:tr>
              <a:tr h="0">
                <a:tc>
                  <a:txBody>
                    <a:bodyPr/>
                    <a:lstStyle/>
                    <a:p>
                      <a:pPr>
                        <a:buNone/>
                      </a:pPr>
                      <a:r>
                        <a:rPr lang="en-IN"/>
                        <a:t>Packet loss assumed absent</a:t>
                      </a:r>
                    </a:p>
                  </a:txBody>
                  <a:tcPr anchor="ctr"/>
                </a:tc>
                <a:tc>
                  <a:txBody>
                    <a:bodyPr/>
                    <a:lstStyle/>
                    <a:p>
                      <a:pPr>
                        <a:buNone/>
                      </a:pPr>
                      <a:r>
                        <a:rPr lang="en-IN"/>
                        <a:t>Packets can be lost</a:t>
                      </a:r>
                    </a:p>
                  </a:txBody>
                  <a:tcPr anchor="ctr"/>
                </a:tc>
                <a:extLst>
                  <a:ext uri="{0D108BD9-81ED-4DB2-BD59-A6C34878D82A}">
                    <a16:rowId xmlns:a16="http://schemas.microsoft.com/office/drawing/2014/main" val="299225798"/>
                  </a:ext>
                </a:extLst>
              </a:tr>
              <a:tr h="0">
                <a:tc>
                  <a:txBody>
                    <a:bodyPr/>
                    <a:lstStyle/>
                    <a:p>
                      <a:pPr>
                        <a:buNone/>
                      </a:pPr>
                      <a:r>
                        <a:rPr lang="en-IN"/>
                        <a:t>Corruption assumed absent</a:t>
                      </a:r>
                    </a:p>
                  </a:txBody>
                  <a:tcPr anchor="ctr"/>
                </a:tc>
                <a:tc>
                  <a:txBody>
                    <a:bodyPr/>
                    <a:lstStyle/>
                    <a:p>
                      <a:pPr>
                        <a:buNone/>
                      </a:pPr>
                      <a:r>
                        <a:rPr lang="en-IN"/>
                        <a:t>Packets can be corrupted</a:t>
                      </a:r>
                    </a:p>
                  </a:txBody>
                  <a:tcPr anchor="ctr"/>
                </a:tc>
                <a:extLst>
                  <a:ext uri="{0D108BD9-81ED-4DB2-BD59-A6C34878D82A}">
                    <a16:rowId xmlns:a16="http://schemas.microsoft.com/office/drawing/2014/main" val="203650705"/>
                  </a:ext>
                </a:extLst>
              </a:tr>
              <a:tr h="0">
                <a:tc>
                  <a:txBody>
                    <a:bodyPr/>
                    <a:lstStyle/>
                    <a:p>
                      <a:pPr>
                        <a:buNone/>
                      </a:pPr>
                      <a:r>
                        <a:rPr lang="en-IN"/>
                        <a:t>Simple theoretical model</a:t>
                      </a:r>
                    </a:p>
                  </a:txBody>
                  <a:tcPr anchor="ctr"/>
                </a:tc>
                <a:tc>
                  <a:txBody>
                    <a:bodyPr/>
                    <a:lstStyle/>
                    <a:p>
                      <a:pPr>
                        <a:buNone/>
                      </a:pPr>
                      <a:r>
                        <a:rPr lang="en-IN"/>
                        <a:t>Actual communication environment</a:t>
                      </a:r>
                    </a:p>
                  </a:txBody>
                  <a:tcPr anchor="ctr"/>
                </a:tc>
                <a:extLst>
                  <a:ext uri="{0D108BD9-81ED-4DB2-BD59-A6C34878D82A}">
                    <a16:rowId xmlns:a16="http://schemas.microsoft.com/office/drawing/2014/main" val="4019696979"/>
                  </a:ext>
                </a:extLst>
              </a:tr>
              <a:tr h="0">
                <a:tc>
                  <a:txBody>
                    <a:bodyPr/>
                    <a:lstStyle/>
                    <a:p>
                      <a:pPr>
                        <a:buNone/>
                      </a:pPr>
                      <a:r>
                        <a:rPr lang="en-IN"/>
                        <a:t>Retransmission not needed</a:t>
                      </a:r>
                    </a:p>
                  </a:txBody>
                  <a:tcPr anchor="ctr"/>
                </a:tc>
                <a:tc>
                  <a:txBody>
                    <a:bodyPr/>
                    <a:lstStyle/>
                    <a:p>
                      <a:pPr>
                        <a:buNone/>
                      </a:pPr>
                      <a:r>
                        <a:rPr lang="en-IN"/>
                        <a:t>Retransmission may be required</a:t>
                      </a:r>
                    </a:p>
                  </a:txBody>
                  <a:tcPr anchor="ctr"/>
                </a:tc>
                <a:extLst>
                  <a:ext uri="{0D108BD9-81ED-4DB2-BD59-A6C34878D82A}">
                    <a16:rowId xmlns:a16="http://schemas.microsoft.com/office/drawing/2014/main" val="2567227251"/>
                  </a:ext>
                </a:extLst>
              </a:tr>
              <a:tr h="0">
                <a:tc>
                  <a:txBody>
                    <a:bodyPr/>
                    <a:lstStyle/>
                    <a:p>
                      <a:pPr>
                        <a:buNone/>
                      </a:pPr>
                      <a:r>
                        <a:rPr lang="en-IN"/>
                        <a:t>Used as starting point for studying RDT</a:t>
                      </a:r>
                    </a:p>
                  </a:txBody>
                  <a:tcPr anchor="ctr"/>
                </a:tc>
                <a:tc>
                  <a:txBody>
                    <a:bodyPr/>
                    <a:lstStyle/>
                    <a:p>
                      <a:pPr>
                        <a:buNone/>
                      </a:pPr>
                      <a:r>
                        <a:rPr lang="en-IN" dirty="0"/>
                        <a:t>Requires reliability mechanisms</a:t>
                      </a:r>
                    </a:p>
                  </a:txBody>
                  <a:tcPr anchor="ctr"/>
                </a:tc>
                <a:extLst>
                  <a:ext uri="{0D108BD9-81ED-4DB2-BD59-A6C34878D82A}">
                    <a16:rowId xmlns:a16="http://schemas.microsoft.com/office/drawing/2014/main" val="815469201"/>
                  </a:ext>
                </a:extLst>
              </a:tr>
            </a:tbl>
          </a:graphicData>
        </a:graphic>
      </p:graphicFrame>
    </p:spTree>
    <p:extLst>
      <p:ext uri="{BB962C8B-B14F-4D97-AF65-F5344CB8AC3E}">
        <p14:creationId xmlns:p14="http://schemas.microsoft.com/office/powerpoint/2010/main" val="234781360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3571E-85FB-C989-FADF-F1A56AF63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31F0B-07AB-8509-CCE2-23DCC5347E90}"/>
              </a:ext>
            </a:extLst>
          </p:cNvPr>
          <p:cNvSpPr>
            <a:spLocks noGrp="1"/>
          </p:cNvSpPr>
          <p:nvPr>
            <p:ph type="title"/>
          </p:nvPr>
        </p:nvSpPr>
        <p:spPr>
          <a:xfrm>
            <a:off x="275844" y="495220"/>
            <a:ext cx="11640312" cy="464900"/>
          </a:xfrm>
        </p:spPr>
        <p:txBody>
          <a:bodyPr>
            <a:normAutofit/>
          </a:bodyPr>
          <a:lstStyle/>
          <a:p>
            <a:r>
              <a:rPr lang="en-US" sz="2400" b="1" dirty="0"/>
              <a:t>TCP vs UDP</a:t>
            </a:r>
            <a:endParaRPr lang="en-IN" sz="2400" b="1" dirty="0"/>
          </a:p>
        </p:txBody>
      </p:sp>
      <p:graphicFrame>
        <p:nvGraphicFramePr>
          <p:cNvPr id="3" name="Table 2">
            <a:extLst>
              <a:ext uri="{FF2B5EF4-FFF2-40B4-BE49-F238E27FC236}">
                <a16:creationId xmlns:a16="http://schemas.microsoft.com/office/drawing/2014/main" id="{23FEF157-6833-0C63-4574-14370A1424C9}"/>
              </a:ext>
            </a:extLst>
          </p:cNvPr>
          <p:cNvGraphicFramePr>
            <a:graphicFrameLocks noGrp="1"/>
          </p:cNvGraphicFramePr>
          <p:nvPr>
            <p:extLst>
              <p:ext uri="{D42A27DB-BD31-4B8C-83A1-F6EECF244321}">
                <p14:modId xmlns:p14="http://schemas.microsoft.com/office/powerpoint/2010/main" val="1376530765"/>
              </p:ext>
            </p:extLst>
          </p:nvPr>
        </p:nvGraphicFramePr>
        <p:xfrm>
          <a:off x="346470" y="960120"/>
          <a:ext cx="11499060" cy="6202680"/>
        </p:xfrm>
        <a:graphic>
          <a:graphicData uri="http://schemas.openxmlformats.org/drawingml/2006/table">
            <a:tbl>
              <a:tblPr firstRow="1" bandRow="1">
                <a:tableStyleId>{5C22544A-7EE6-4342-B048-85BDC9FD1C3A}</a:tableStyleId>
              </a:tblPr>
              <a:tblGrid>
                <a:gridCol w="3833020">
                  <a:extLst>
                    <a:ext uri="{9D8B030D-6E8A-4147-A177-3AD203B41FA5}">
                      <a16:colId xmlns:a16="http://schemas.microsoft.com/office/drawing/2014/main" val="2151458008"/>
                    </a:ext>
                  </a:extLst>
                </a:gridCol>
                <a:gridCol w="3833020">
                  <a:extLst>
                    <a:ext uri="{9D8B030D-6E8A-4147-A177-3AD203B41FA5}">
                      <a16:colId xmlns:a16="http://schemas.microsoft.com/office/drawing/2014/main" val="394868670"/>
                    </a:ext>
                  </a:extLst>
                </a:gridCol>
                <a:gridCol w="3833020">
                  <a:extLst>
                    <a:ext uri="{9D8B030D-6E8A-4147-A177-3AD203B41FA5}">
                      <a16:colId xmlns:a16="http://schemas.microsoft.com/office/drawing/2014/main" val="2323513718"/>
                    </a:ext>
                  </a:extLst>
                </a:gridCol>
              </a:tblGrid>
              <a:tr h="370840">
                <a:tc>
                  <a:txBody>
                    <a:bodyPr/>
                    <a:lstStyle/>
                    <a:p>
                      <a:pPr>
                        <a:buNone/>
                      </a:pPr>
                      <a:r>
                        <a:rPr lang="en-IN" dirty="0"/>
                        <a:t>Feature</a:t>
                      </a:r>
                    </a:p>
                  </a:txBody>
                  <a:tcPr anchor="ctr"/>
                </a:tc>
                <a:tc>
                  <a:txBody>
                    <a:bodyPr/>
                    <a:lstStyle/>
                    <a:p>
                      <a:pPr>
                        <a:buNone/>
                      </a:pPr>
                      <a:r>
                        <a:rPr lang="en-IN"/>
                        <a:t>TCP</a:t>
                      </a:r>
                    </a:p>
                  </a:txBody>
                  <a:tcPr anchor="ctr"/>
                </a:tc>
                <a:tc>
                  <a:txBody>
                    <a:bodyPr/>
                    <a:lstStyle/>
                    <a:p>
                      <a:pPr>
                        <a:buNone/>
                      </a:pPr>
                      <a:r>
                        <a:rPr lang="en-IN"/>
                        <a:t>UDP</a:t>
                      </a:r>
                    </a:p>
                  </a:txBody>
                  <a:tcPr anchor="ctr"/>
                </a:tc>
                <a:extLst>
                  <a:ext uri="{0D108BD9-81ED-4DB2-BD59-A6C34878D82A}">
                    <a16:rowId xmlns:a16="http://schemas.microsoft.com/office/drawing/2014/main" val="665071633"/>
                  </a:ext>
                </a:extLst>
              </a:tr>
              <a:tr h="370840">
                <a:tc>
                  <a:txBody>
                    <a:bodyPr/>
                    <a:lstStyle/>
                    <a:p>
                      <a:pPr>
                        <a:buNone/>
                      </a:pPr>
                      <a:r>
                        <a:rPr lang="en-IN"/>
                        <a:t>Full Form</a:t>
                      </a:r>
                    </a:p>
                  </a:txBody>
                  <a:tcPr anchor="ctr"/>
                </a:tc>
                <a:tc>
                  <a:txBody>
                    <a:bodyPr/>
                    <a:lstStyle/>
                    <a:p>
                      <a:pPr>
                        <a:buNone/>
                      </a:pPr>
                      <a:r>
                        <a:rPr lang="en-IN"/>
                        <a:t>Transmission Control Protocol</a:t>
                      </a:r>
                    </a:p>
                  </a:txBody>
                  <a:tcPr anchor="ctr"/>
                </a:tc>
                <a:tc>
                  <a:txBody>
                    <a:bodyPr/>
                    <a:lstStyle/>
                    <a:p>
                      <a:pPr>
                        <a:buNone/>
                      </a:pPr>
                      <a:r>
                        <a:rPr lang="en-IN"/>
                        <a:t>User Datagram Protocol</a:t>
                      </a:r>
                    </a:p>
                  </a:txBody>
                  <a:tcPr anchor="ctr"/>
                </a:tc>
                <a:extLst>
                  <a:ext uri="{0D108BD9-81ED-4DB2-BD59-A6C34878D82A}">
                    <a16:rowId xmlns:a16="http://schemas.microsoft.com/office/drawing/2014/main" val="455781299"/>
                  </a:ext>
                </a:extLst>
              </a:tr>
              <a:tr h="370840">
                <a:tc>
                  <a:txBody>
                    <a:bodyPr/>
                    <a:lstStyle/>
                    <a:p>
                      <a:pPr>
                        <a:buNone/>
                      </a:pPr>
                      <a:r>
                        <a:rPr lang="en-IN"/>
                        <a:t>Transport Layer</a:t>
                      </a:r>
                    </a:p>
                  </a:txBody>
                  <a:tcPr anchor="ctr"/>
                </a:tc>
                <a:tc>
                  <a:txBody>
                    <a:bodyPr/>
                    <a:lstStyle/>
                    <a:p>
                      <a:pPr>
                        <a:buNone/>
                      </a:pPr>
                      <a:r>
                        <a:rPr lang="en-IN"/>
                        <a:t>Yes</a:t>
                      </a:r>
                    </a:p>
                  </a:txBody>
                  <a:tcPr anchor="ctr"/>
                </a:tc>
                <a:tc>
                  <a:txBody>
                    <a:bodyPr/>
                    <a:lstStyle/>
                    <a:p>
                      <a:pPr>
                        <a:buNone/>
                      </a:pPr>
                      <a:r>
                        <a:rPr lang="en-IN"/>
                        <a:t>Yes</a:t>
                      </a:r>
                    </a:p>
                  </a:txBody>
                  <a:tcPr anchor="ctr"/>
                </a:tc>
                <a:extLst>
                  <a:ext uri="{0D108BD9-81ED-4DB2-BD59-A6C34878D82A}">
                    <a16:rowId xmlns:a16="http://schemas.microsoft.com/office/drawing/2014/main" val="980745795"/>
                  </a:ext>
                </a:extLst>
              </a:tr>
              <a:tr h="370840">
                <a:tc>
                  <a:txBody>
                    <a:bodyPr/>
                    <a:lstStyle/>
                    <a:p>
                      <a:pPr>
                        <a:buNone/>
                      </a:pPr>
                      <a:r>
                        <a:rPr lang="en-IN"/>
                        <a:t>Connection Type</a:t>
                      </a:r>
                    </a:p>
                  </a:txBody>
                  <a:tcPr anchor="ctr"/>
                </a:tc>
                <a:tc>
                  <a:txBody>
                    <a:bodyPr/>
                    <a:lstStyle/>
                    <a:p>
                      <a:pPr>
                        <a:buNone/>
                      </a:pPr>
                      <a:r>
                        <a:rPr lang="en-IN"/>
                        <a:t>Connection-oriented</a:t>
                      </a:r>
                    </a:p>
                  </a:txBody>
                  <a:tcPr anchor="ctr"/>
                </a:tc>
                <a:tc>
                  <a:txBody>
                    <a:bodyPr/>
                    <a:lstStyle/>
                    <a:p>
                      <a:pPr>
                        <a:buNone/>
                      </a:pPr>
                      <a:r>
                        <a:rPr lang="en-IN"/>
                        <a:t>Connectionless</a:t>
                      </a:r>
                    </a:p>
                  </a:txBody>
                  <a:tcPr anchor="ctr"/>
                </a:tc>
                <a:extLst>
                  <a:ext uri="{0D108BD9-81ED-4DB2-BD59-A6C34878D82A}">
                    <a16:rowId xmlns:a16="http://schemas.microsoft.com/office/drawing/2014/main" val="3103497316"/>
                  </a:ext>
                </a:extLst>
              </a:tr>
              <a:tr h="370840">
                <a:tc>
                  <a:txBody>
                    <a:bodyPr/>
                    <a:lstStyle/>
                    <a:p>
                      <a:pPr>
                        <a:buNone/>
                      </a:pPr>
                      <a:r>
                        <a:rPr lang="en-IN"/>
                        <a:t>Connection Establishment</a:t>
                      </a:r>
                    </a:p>
                  </a:txBody>
                  <a:tcPr anchor="ctr"/>
                </a:tc>
                <a:tc>
                  <a:txBody>
                    <a:bodyPr/>
                    <a:lstStyle/>
                    <a:p>
                      <a:pPr>
                        <a:buNone/>
                      </a:pPr>
                      <a:r>
                        <a:rPr lang="en-IN"/>
                        <a:t>Required</a:t>
                      </a:r>
                    </a:p>
                  </a:txBody>
                  <a:tcPr anchor="ctr"/>
                </a:tc>
                <a:tc>
                  <a:txBody>
                    <a:bodyPr/>
                    <a:lstStyle/>
                    <a:p>
                      <a:pPr>
                        <a:buNone/>
                      </a:pPr>
                      <a:r>
                        <a:rPr lang="en-IN"/>
                        <a:t>Not required</a:t>
                      </a:r>
                    </a:p>
                  </a:txBody>
                  <a:tcPr anchor="ctr"/>
                </a:tc>
                <a:extLst>
                  <a:ext uri="{0D108BD9-81ED-4DB2-BD59-A6C34878D82A}">
                    <a16:rowId xmlns:a16="http://schemas.microsoft.com/office/drawing/2014/main" val="3331830462"/>
                  </a:ext>
                </a:extLst>
              </a:tr>
              <a:tr h="370840">
                <a:tc>
                  <a:txBody>
                    <a:bodyPr/>
                    <a:lstStyle/>
                    <a:p>
                      <a:pPr>
                        <a:buNone/>
                      </a:pPr>
                      <a:r>
                        <a:rPr lang="en-IN"/>
                        <a:t>Three-Way Handshake</a:t>
                      </a:r>
                    </a:p>
                  </a:txBody>
                  <a:tcPr anchor="ctr"/>
                </a:tc>
                <a:tc>
                  <a:txBody>
                    <a:bodyPr/>
                    <a:lstStyle/>
                    <a:p>
                      <a:pPr>
                        <a:buNone/>
                      </a:pPr>
                      <a:r>
                        <a:rPr lang="en-IN"/>
                        <a:t>Yes</a:t>
                      </a:r>
                    </a:p>
                  </a:txBody>
                  <a:tcPr anchor="ctr"/>
                </a:tc>
                <a:tc>
                  <a:txBody>
                    <a:bodyPr/>
                    <a:lstStyle/>
                    <a:p>
                      <a:pPr>
                        <a:buNone/>
                      </a:pPr>
                      <a:r>
                        <a:rPr lang="en-IN"/>
                        <a:t>No</a:t>
                      </a:r>
                    </a:p>
                  </a:txBody>
                  <a:tcPr anchor="ctr"/>
                </a:tc>
                <a:extLst>
                  <a:ext uri="{0D108BD9-81ED-4DB2-BD59-A6C34878D82A}">
                    <a16:rowId xmlns:a16="http://schemas.microsoft.com/office/drawing/2014/main" val="1143304172"/>
                  </a:ext>
                </a:extLst>
              </a:tr>
              <a:tr h="370840">
                <a:tc>
                  <a:txBody>
                    <a:bodyPr/>
                    <a:lstStyle/>
                    <a:p>
                      <a:pPr>
                        <a:buNone/>
                      </a:pPr>
                      <a:r>
                        <a:rPr lang="en-IN"/>
                        <a:t>Reliability</a:t>
                      </a:r>
                    </a:p>
                  </a:txBody>
                  <a:tcPr anchor="ctr"/>
                </a:tc>
                <a:tc>
                  <a:txBody>
                    <a:bodyPr/>
                    <a:lstStyle/>
                    <a:p>
                      <a:pPr>
                        <a:buNone/>
                      </a:pPr>
                      <a:r>
                        <a:rPr lang="en-IN"/>
                        <a:t>Provides reliable delivery</a:t>
                      </a:r>
                    </a:p>
                  </a:txBody>
                  <a:tcPr anchor="ctr"/>
                </a:tc>
                <a:tc>
                  <a:txBody>
                    <a:bodyPr/>
                    <a:lstStyle/>
                    <a:p>
                      <a:pPr>
                        <a:buNone/>
                      </a:pPr>
                      <a:r>
                        <a:rPr lang="en-IN"/>
                        <a:t>Delivery not guaranteed</a:t>
                      </a:r>
                    </a:p>
                  </a:txBody>
                  <a:tcPr anchor="ctr"/>
                </a:tc>
                <a:extLst>
                  <a:ext uri="{0D108BD9-81ED-4DB2-BD59-A6C34878D82A}">
                    <a16:rowId xmlns:a16="http://schemas.microsoft.com/office/drawing/2014/main" val="1316307083"/>
                  </a:ext>
                </a:extLst>
              </a:tr>
              <a:tr h="370840">
                <a:tc>
                  <a:txBody>
                    <a:bodyPr/>
                    <a:lstStyle/>
                    <a:p>
                      <a:pPr>
                        <a:buNone/>
                      </a:pPr>
                      <a:r>
                        <a:rPr lang="en-IN"/>
                        <a:t>ACK</a:t>
                      </a:r>
                    </a:p>
                  </a:txBody>
                  <a:tcPr anchor="ctr"/>
                </a:tc>
                <a:tc>
                  <a:txBody>
                    <a:bodyPr/>
                    <a:lstStyle/>
                    <a:p>
                      <a:pPr>
                        <a:buNone/>
                      </a:pPr>
                      <a:r>
                        <a:rPr lang="en-IN"/>
                        <a:t>Used</a:t>
                      </a:r>
                    </a:p>
                  </a:txBody>
                  <a:tcPr anchor="ctr"/>
                </a:tc>
                <a:tc>
                  <a:txBody>
                    <a:bodyPr/>
                    <a:lstStyle/>
                    <a:p>
                      <a:pPr>
                        <a:buNone/>
                      </a:pPr>
                      <a:r>
                        <a:rPr lang="en-IN"/>
                        <a:t>No built-in TCP-style ACK</a:t>
                      </a:r>
                    </a:p>
                  </a:txBody>
                  <a:tcPr anchor="ctr"/>
                </a:tc>
                <a:extLst>
                  <a:ext uri="{0D108BD9-81ED-4DB2-BD59-A6C34878D82A}">
                    <a16:rowId xmlns:a16="http://schemas.microsoft.com/office/drawing/2014/main" val="724896263"/>
                  </a:ext>
                </a:extLst>
              </a:tr>
              <a:tr h="370840">
                <a:tc>
                  <a:txBody>
                    <a:bodyPr/>
                    <a:lstStyle/>
                    <a:p>
                      <a:pPr>
                        <a:buNone/>
                      </a:pPr>
                      <a:r>
                        <a:rPr lang="en-IN"/>
                        <a:t>Retransmission</a:t>
                      </a:r>
                    </a:p>
                  </a:txBody>
                  <a:tcPr anchor="ctr"/>
                </a:tc>
                <a:tc>
                  <a:txBody>
                    <a:bodyPr/>
                    <a:lstStyle/>
                    <a:p>
                      <a:pPr>
                        <a:buNone/>
                      </a:pPr>
                      <a:r>
                        <a:rPr lang="en-IN"/>
                        <a:t>Yes</a:t>
                      </a:r>
                    </a:p>
                  </a:txBody>
                  <a:tcPr anchor="ctr"/>
                </a:tc>
                <a:tc>
                  <a:txBody>
                    <a:bodyPr/>
                    <a:lstStyle/>
                    <a:p>
                      <a:pPr>
                        <a:buNone/>
                      </a:pPr>
                      <a:r>
                        <a:rPr lang="en-IN"/>
                        <a:t>No built-in retransmission</a:t>
                      </a:r>
                    </a:p>
                  </a:txBody>
                  <a:tcPr anchor="ctr"/>
                </a:tc>
                <a:extLst>
                  <a:ext uri="{0D108BD9-81ED-4DB2-BD59-A6C34878D82A}">
                    <a16:rowId xmlns:a16="http://schemas.microsoft.com/office/drawing/2014/main" val="2400366689"/>
                  </a:ext>
                </a:extLst>
              </a:tr>
              <a:tr h="370840">
                <a:tc>
                  <a:txBody>
                    <a:bodyPr/>
                    <a:lstStyle/>
                    <a:p>
                      <a:pPr>
                        <a:buNone/>
                      </a:pPr>
                      <a:r>
                        <a:rPr lang="en-IN"/>
                        <a:t>Ordering</a:t>
                      </a:r>
                    </a:p>
                  </a:txBody>
                  <a:tcPr anchor="ctr"/>
                </a:tc>
                <a:tc>
                  <a:txBody>
                    <a:bodyPr/>
                    <a:lstStyle/>
                    <a:p>
                      <a:pPr>
                        <a:buNone/>
                      </a:pPr>
                      <a:r>
                        <a:rPr lang="en-IN"/>
                        <a:t>Maintains ordered delivery</a:t>
                      </a:r>
                    </a:p>
                  </a:txBody>
                  <a:tcPr anchor="ctr"/>
                </a:tc>
                <a:tc>
                  <a:txBody>
                    <a:bodyPr/>
                    <a:lstStyle/>
                    <a:p>
                      <a:pPr>
                        <a:buNone/>
                      </a:pPr>
                      <a:r>
                        <a:rPr lang="en-IN"/>
                        <a:t>Not guaranteed</a:t>
                      </a:r>
                    </a:p>
                  </a:txBody>
                  <a:tcPr anchor="ctr"/>
                </a:tc>
                <a:extLst>
                  <a:ext uri="{0D108BD9-81ED-4DB2-BD59-A6C34878D82A}">
                    <a16:rowId xmlns:a16="http://schemas.microsoft.com/office/drawing/2014/main" val="3347933027"/>
                  </a:ext>
                </a:extLst>
              </a:tr>
              <a:tr h="370840">
                <a:tc>
                  <a:txBody>
                    <a:bodyPr/>
                    <a:lstStyle/>
                    <a:p>
                      <a:pPr>
                        <a:buNone/>
                      </a:pPr>
                      <a:r>
                        <a:rPr lang="en-IN"/>
                        <a:t>Sequence Number</a:t>
                      </a:r>
                    </a:p>
                  </a:txBody>
                  <a:tcPr anchor="ctr"/>
                </a:tc>
                <a:tc>
                  <a:txBody>
                    <a:bodyPr/>
                    <a:lstStyle/>
                    <a:p>
                      <a:pPr>
                        <a:buNone/>
                      </a:pPr>
                      <a:r>
                        <a:rPr lang="en-IN"/>
                        <a:t>Yes</a:t>
                      </a:r>
                    </a:p>
                  </a:txBody>
                  <a:tcPr anchor="ctr"/>
                </a:tc>
                <a:tc>
                  <a:txBody>
                    <a:bodyPr/>
                    <a:lstStyle/>
                    <a:p>
                      <a:pPr>
                        <a:buNone/>
                      </a:pPr>
                      <a:r>
                        <a:rPr lang="en-IN"/>
                        <a:t>No standard sequence-number field</a:t>
                      </a:r>
                    </a:p>
                  </a:txBody>
                  <a:tcPr anchor="ctr"/>
                </a:tc>
                <a:extLst>
                  <a:ext uri="{0D108BD9-81ED-4DB2-BD59-A6C34878D82A}">
                    <a16:rowId xmlns:a16="http://schemas.microsoft.com/office/drawing/2014/main" val="1154261912"/>
                  </a:ext>
                </a:extLst>
              </a:tr>
              <a:tr h="370840">
                <a:tc>
                  <a:txBody>
                    <a:bodyPr/>
                    <a:lstStyle/>
                    <a:p>
                      <a:pPr>
                        <a:buNone/>
                      </a:pPr>
                      <a:r>
                        <a:rPr lang="en-IN"/>
                        <a:t>Flow Control</a:t>
                      </a:r>
                    </a:p>
                  </a:txBody>
                  <a:tcPr anchor="ctr"/>
                </a:tc>
                <a:tc>
                  <a:txBody>
                    <a:bodyPr/>
                    <a:lstStyle/>
                    <a:p>
                      <a:pPr>
                        <a:buNone/>
                      </a:pPr>
                      <a:r>
                        <a:rPr lang="en-IN"/>
                        <a:t>Yes</a:t>
                      </a:r>
                    </a:p>
                  </a:txBody>
                  <a:tcPr anchor="ctr"/>
                </a:tc>
                <a:tc>
                  <a:txBody>
                    <a:bodyPr/>
                    <a:lstStyle/>
                    <a:p>
                      <a:pPr>
                        <a:buNone/>
                      </a:pPr>
                      <a:r>
                        <a:rPr lang="en-IN"/>
                        <a:t>No TCP-style flow control</a:t>
                      </a:r>
                    </a:p>
                  </a:txBody>
                  <a:tcPr anchor="ctr"/>
                </a:tc>
                <a:extLst>
                  <a:ext uri="{0D108BD9-81ED-4DB2-BD59-A6C34878D82A}">
                    <a16:rowId xmlns:a16="http://schemas.microsoft.com/office/drawing/2014/main" val="2445269696"/>
                  </a:ext>
                </a:extLst>
              </a:tr>
              <a:tr h="370840">
                <a:tc>
                  <a:txBody>
                    <a:bodyPr/>
                    <a:lstStyle/>
                    <a:p>
                      <a:pPr>
                        <a:buNone/>
                      </a:pPr>
                      <a:r>
                        <a:rPr lang="en-IN"/>
                        <a:t>Data Type</a:t>
                      </a:r>
                    </a:p>
                  </a:txBody>
                  <a:tcPr anchor="ctr"/>
                </a:tc>
                <a:tc>
                  <a:txBody>
                    <a:bodyPr/>
                    <a:lstStyle/>
                    <a:p>
                      <a:pPr>
                        <a:buNone/>
                      </a:pPr>
                      <a:r>
                        <a:rPr lang="en-IN"/>
                        <a:t>Byte stream</a:t>
                      </a:r>
                    </a:p>
                  </a:txBody>
                  <a:tcPr anchor="ctr"/>
                </a:tc>
                <a:tc>
                  <a:txBody>
                    <a:bodyPr/>
                    <a:lstStyle/>
                    <a:p>
                      <a:pPr>
                        <a:buNone/>
                      </a:pPr>
                      <a:r>
                        <a:rPr lang="en-IN"/>
                        <a:t>Datagrams</a:t>
                      </a:r>
                    </a:p>
                  </a:txBody>
                  <a:tcPr anchor="ctr"/>
                </a:tc>
                <a:extLst>
                  <a:ext uri="{0D108BD9-81ED-4DB2-BD59-A6C34878D82A}">
                    <a16:rowId xmlns:a16="http://schemas.microsoft.com/office/drawing/2014/main" val="4021392564"/>
                  </a:ext>
                </a:extLst>
              </a:tr>
              <a:tr h="370840">
                <a:tc>
                  <a:txBody>
                    <a:bodyPr/>
                    <a:lstStyle/>
                    <a:p>
                      <a:pPr>
                        <a:buNone/>
                      </a:pPr>
                      <a:r>
                        <a:rPr lang="en-IN"/>
                        <a:t>Minimum Header</a:t>
                      </a:r>
                    </a:p>
                  </a:txBody>
                  <a:tcPr anchor="ctr"/>
                </a:tc>
                <a:tc>
                  <a:txBody>
                    <a:bodyPr/>
                    <a:lstStyle/>
                    <a:p>
                      <a:pPr>
                        <a:buNone/>
                      </a:pPr>
                      <a:r>
                        <a:rPr lang="en-IN"/>
                        <a:t>20 bytes</a:t>
                      </a:r>
                    </a:p>
                  </a:txBody>
                  <a:tcPr anchor="ctr"/>
                </a:tc>
                <a:tc>
                  <a:txBody>
                    <a:bodyPr/>
                    <a:lstStyle/>
                    <a:p>
                      <a:pPr>
                        <a:buNone/>
                      </a:pPr>
                      <a:r>
                        <a:rPr lang="en-IN"/>
                        <a:t>8 bytes</a:t>
                      </a:r>
                    </a:p>
                  </a:txBody>
                  <a:tcPr anchor="ctr"/>
                </a:tc>
                <a:extLst>
                  <a:ext uri="{0D108BD9-81ED-4DB2-BD59-A6C34878D82A}">
                    <a16:rowId xmlns:a16="http://schemas.microsoft.com/office/drawing/2014/main" val="3560957480"/>
                  </a:ext>
                </a:extLst>
              </a:tr>
              <a:tr h="370840">
                <a:tc>
                  <a:txBody>
                    <a:bodyPr/>
                    <a:lstStyle/>
                    <a:p>
                      <a:pPr>
                        <a:buNone/>
                      </a:pPr>
                      <a:r>
                        <a:rPr lang="en-IN"/>
                        <a:t>Transport Overhead</a:t>
                      </a:r>
                    </a:p>
                  </a:txBody>
                  <a:tcPr anchor="ctr"/>
                </a:tc>
                <a:tc>
                  <a:txBody>
                    <a:bodyPr/>
                    <a:lstStyle/>
                    <a:p>
                      <a:pPr>
                        <a:buNone/>
                      </a:pPr>
                      <a:r>
                        <a:rPr lang="en-IN"/>
                        <a:t>Higher</a:t>
                      </a:r>
                    </a:p>
                  </a:txBody>
                  <a:tcPr anchor="ctr"/>
                </a:tc>
                <a:tc>
                  <a:txBody>
                    <a:bodyPr/>
                    <a:lstStyle/>
                    <a:p>
                      <a:pPr>
                        <a:buNone/>
                      </a:pPr>
                      <a:r>
                        <a:rPr lang="en-IN"/>
                        <a:t>Lower</a:t>
                      </a:r>
                    </a:p>
                  </a:txBody>
                  <a:tcPr anchor="ctr"/>
                </a:tc>
                <a:extLst>
                  <a:ext uri="{0D108BD9-81ED-4DB2-BD59-A6C34878D82A}">
                    <a16:rowId xmlns:a16="http://schemas.microsoft.com/office/drawing/2014/main" val="1588813466"/>
                  </a:ext>
                </a:extLst>
              </a:tr>
              <a:tr h="370840">
                <a:tc>
                  <a:txBody>
                    <a:bodyPr/>
                    <a:lstStyle/>
                    <a:p>
                      <a:pPr>
                        <a:buNone/>
                      </a:pPr>
                      <a:r>
                        <a:rPr lang="en-IN"/>
                        <a:t>Typical Use</a:t>
                      </a:r>
                    </a:p>
                  </a:txBody>
                  <a:tcPr anchor="ctr"/>
                </a:tc>
                <a:tc>
                  <a:txBody>
                    <a:bodyPr/>
                    <a:lstStyle/>
                    <a:p>
                      <a:pPr>
                        <a:buNone/>
                      </a:pPr>
                      <a:r>
                        <a:rPr lang="en-IN"/>
                        <a:t>Web/file transfer, email, etc.</a:t>
                      </a:r>
                    </a:p>
                  </a:txBody>
                  <a:tcPr anchor="ctr"/>
                </a:tc>
                <a:tc>
                  <a:txBody>
                    <a:bodyPr/>
                    <a:lstStyle/>
                    <a:p>
                      <a:pPr>
                        <a:buNone/>
                      </a:pPr>
                      <a:r>
                        <a:rPr lang="en-IN" dirty="0"/>
                        <a:t>DNS queries, VoIP, gaming, real-time traffic, etc.</a:t>
                      </a:r>
                    </a:p>
                  </a:txBody>
                  <a:tcPr anchor="ctr"/>
                </a:tc>
                <a:extLst>
                  <a:ext uri="{0D108BD9-81ED-4DB2-BD59-A6C34878D82A}">
                    <a16:rowId xmlns:a16="http://schemas.microsoft.com/office/drawing/2014/main" val="1907546468"/>
                  </a:ext>
                </a:extLst>
              </a:tr>
            </a:tbl>
          </a:graphicData>
        </a:graphic>
      </p:graphicFrame>
    </p:spTree>
    <p:extLst>
      <p:ext uri="{BB962C8B-B14F-4D97-AF65-F5344CB8AC3E}">
        <p14:creationId xmlns:p14="http://schemas.microsoft.com/office/powerpoint/2010/main" val="13526991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37CCD-71B0-0B02-DCC6-5512AC5E5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25A55-769A-3311-2A7E-821C35C1D1A8}"/>
              </a:ext>
            </a:extLst>
          </p:cNvPr>
          <p:cNvSpPr>
            <a:spLocks noGrp="1"/>
          </p:cNvSpPr>
          <p:nvPr>
            <p:ph type="title"/>
          </p:nvPr>
        </p:nvSpPr>
        <p:spPr>
          <a:xfrm>
            <a:off x="275844" y="495220"/>
            <a:ext cx="11640312" cy="464900"/>
          </a:xfrm>
        </p:spPr>
        <p:txBody>
          <a:bodyPr>
            <a:normAutofit/>
          </a:bodyPr>
          <a:lstStyle/>
          <a:p>
            <a:r>
              <a:rPr lang="en-IN" sz="2400" b="1" dirty="0"/>
              <a:t>TCP vs UDP addressing differences</a:t>
            </a:r>
          </a:p>
        </p:txBody>
      </p:sp>
      <p:sp>
        <p:nvSpPr>
          <p:cNvPr id="4" name="TextBox 3">
            <a:extLst>
              <a:ext uri="{FF2B5EF4-FFF2-40B4-BE49-F238E27FC236}">
                <a16:creationId xmlns:a16="http://schemas.microsoft.com/office/drawing/2014/main" id="{CBAF76E3-AF70-5A47-BEDE-AF8475307C42}"/>
              </a:ext>
            </a:extLst>
          </p:cNvPr>
          <p:cNvSpPr txBox="1"/>
          <p:nvPr/>
        </p:nvSpPr>
        <p:spPr>
          <a:xfrm>
            <a:off x="195633" y="960120"/>
            <a:ext cx="5598695" cy="3693319"/>
          </a:xfrm>
          <a:prstGeom prst="rect">
            <a:avLst/>
          </a:prstGeom>
          <a:noFill/>
        </p:spPr>
        <p:txBody>
          <a:bodyPr wrap="square">
            <a:spAutoFit/>
          </a:bodyPr>
          <a:lstStyle/>
          <a:p>
            <a:pPr>
              <a:buNone/>
            </a:pPr>
            <a:r>
              <a:rPr lang="en-IN" b="1" dirty="0"/>
              <a:t>Both TCP and UDP use port numbers.</a:t>
            </a:r>
          </a:p>
          <a:p>
            <a:pPr>
              <a:buNone/>
            </a:pPr>
            <a:endParaRPr lang="en-IN" dirty="0"/>
          </a:p>
          <a:p>
            <a:pPr>
              <a:buNone/>
            </a:pPr>
            <a:r>
              <a:rPr lang="en-IN" dirty="0"/>
              <a:t>Both have:</a:t>
            </a:r>
          </a:p>
          <a:p>
            <a:pPr rtl="0">
              <a:buNone/>
            </a:pPr>
            <a:r>
              <a:rPr lang="en-IN" dirty="0">
                <a:latin typeface="+mn-lt"/>
              </a:rPr>
              <a:t>Source Port      = 16 bits</a:t>
            </a:r>
          </a:p>
          <a:p>
            <a:pPr rtl="0">
              <a:buNone/>
            </a:pPr>
            <a:r>
              <a:rPr lang="en-IN" dirty="0">
                <a:latin typeface="+mn-lt"/>
              </a:rPr>
              <a:t>Destination Port = 16 bits</a:t>
            </a:r>
          </a:p>
          <a:p>
            <a:pPr>
              <a:buNone/>
            </a:pPr>
            <a:endParaRPr lang="en-IN" dirty="0"/>
          </a:p>
          <a:p>
            <a:pPr>
              <a:buNone/>
            </a:pPr>
            <a:r>
              <a:rPr lang="en-IN" dirty="0"/>
              <a:t>Therefore, both can identify application endpoints using:</a:t>
            </a:r>
          </a:p>
          <a:p>
            <a:pPr rtl="0">
              <a:buNone/>
            </a:pPr>
            <a:r>
              <a:rPr lang="en-IN" dirty="0">
                <a:latin typeface="+mn-lt"/>
              </a:rPr>
              <a:t>IP Address + Port Number</a:t>
            </a:r>
          </a:p>
          <a:p>
            <a:pPr>
              <a:buNone/>
            </a:pPr>
            <a:endParaRPr lang="en-IN" dirty="0"/>
          </a:p>
          <a:p>
            <a:pPr>
              <a:buNone/>
            </a:pPr>
            <a:r>
              <a:rPr lang="en-IN" dirty="0"/>
              <a:t>Example:</a:t>
            </a:r>
          </a:p>
          <a:p>
            <a:pPr rtl="0">
              <a:buNone/>
            </a:pPr>
            <a:r>
              <a:rPr lang="en-IN" dirty="0">
                <a:latin typeface="+mn-lt"/>
              </a:rPr>
              <a:t>192.168.1.10 : 50000</a:t>
            </a:r>
          </a:p>
          <a:p>
            <a:pPr rtl="0">
              <a:buNone/>
            </a:pPr>
            <a:r>
              <a:rPr lang="en-IN" dirty="0">
                <a:latin typeface="+mn-lt"/>
              </a:rPr>
              <a:t>      IP         Port</a:t>
            </a:r>
          </a:p>
          <a:p>
            <a:pPr>
              <a:buNone/>
            </a:pPr>
            <a:r>
              <a:rPr lang="en-IN" dirty="0"/>
              <a:t>This is a </a:t>
            </a:r>
            <a:r>
              <a:rPr lang="en-IN" b="1" dirty="0"/>
              <a:t>socket address</a:t>
            </a:r>
            <a:r>
              <a:rPr lang="en-IN" dirty="0"/>
              <a:t>.</a:t>
            </a:r>
          </a:p>
        </p:txBody>
      </p:sp>
      <p:sp>
        <p:nvSpPr>
          <p:cNvPr id="6" name="TextBox 5">
            <a:extLst>
              <a:ext uri="{FF2B5EF4-FFF2-40B4-BE49-F238E27FC236}">
                <a16:creationId xmlns:a16="http://schemas.microsoft.com/office/drawing/2014/main" id="{8B1FB4E8-6721-C0FD-FCBA-17FA41AED9E3}"/>
              </a:ext>
            </a:extLst>
          </p:cNvPr>
          <p:cNvSpPr txBox="1"/>
          <p:nvPr/>
        </p:nvSpPr>
        <p:spPr>
          <a:xfrm>
            <a:off x="6095999" y="960120"/>
            <a:ext cx="5820157" cy="3416320"/>
          </a:xfrm>
          <a:prstGeom prst="rect">
            <a:avLst/>
          </a:prstGeom>
          <a:noFill/>
        </p:spPr>
        <p:txBody>
          <a:bodyPr wrap="square">
            <a:spAutoFit/>
          </a:bodyPr>
          <a:lstStyle/>
          <a:p>
            <a:pPr>
              <a:buNone/>
            </a:pPr>
            <a:r>
              <a:rPr lang="en-IN" b="1" dirty="0">
                <a:highlight>
                  <a:srgbClr val="FFFF00"/>
                </a:highlight>
              </a:rPr>
              <a:t>TCP Addressing</a:t>
            </a:r>
          </a:p>
          <a:p>
            <a:pPr>
              <a:buNone/>
            </a:pPr>
            <a:r>
              <a:rPr lang="en-IN" dirty="0"/>
              <a:t>TCP is connection-oriented.</a:t>
            </a:r>
          </a:p>
          <a:p>
            <a:pPr>
              <a:buNone/>
            </a:pPr>
            <a:r>
              <a:rPr lang="en-IN" dirty="0"/>
              <a:t>Therefore, when a TCP connection exists between two endpoints, we commonly identify that connection using four values:</a:t>
            </a:r>
          </a:p>
          <a:p>
            <a:pPr rtl="0">
              <a:buNone/>
            </a:pPr>
            <a:endParaRPr lang="en-IN" dirty="0">
              <a:latin typeface="+mn-lt"/>
            </a:endParaRPr>
          </a:p>
          <a:p>
            <a:pPr rtl="0">
              <a:buNone/>
            </a:pPr>
            <a:r>
              <a:rPr lang="en-IN" dirty="0">
                <a:latin typeface="+mn-lt"/>
              </a:rPr>
              <a:t>Source IP</a:t>
            </a:r>
          </a:p>
          <a:p>
            <a:pPr rtl="0">
              <a:buNone/>
            </a:pPr>
            <a:r>
              <a:rPr lang="en-IN" dirty="0">
                <a:latin typeface="+mn-lt"/>
              </a:rPr>
              <a:t>Source Port</a:t>
            </a:r>
          </a:p>
          <a:p>
            <a:pPr rtl="0">
              <a:buNone/>
            </a:pPr>
            <a:r>
              <a:rPr lang="en-IN" dirty="0">
                <a:latin typeface="+mn-lt"/>
              </a:rPr>
              <a:t>Destination IP</a:t>
            </a:r>
          </a:p>
          <a:p>
            <a:pPr rtl="0">
              <a:buNone/>
            </a:pPr>
            <a:r>
              <a:rPr lang="en-IN" dirty="0">
                <a:latin typeface="+mn-lt"/>
              </a:rPr>
              <a:t>Destination Port</a:t>
            </a:r>
          </a:p>
          <a:p>
            <a:pPr>
              <a:buNone/>
            </a:pPr>
            <a:endParaRPr lang="en-IN" dirty="0"/>
          </a:p>
          <a:p>
            <a:pPr>
              <a:buNone/>
            </a:pPr>
            <a:r>
              <a:rPr lang="en-IN" dirty="0"/>
              <a:t>This is called a: </a:t>
            </a:r>
            <a:r>
              <a:rPr lang="en-IN" b="1" dirty="0"/>
              <a:t>4-Tuple</a:t>
            </a:r>
            <a:endParaRPr lang="en-IN" dirty="0"/>
          </a:p>
        </p:txBody>
      </p:sp>
    </p:spTree>
    <p:extLst>
      <p:ext uri="{BB962C8B-B14F-4D97-AF65-F5344CB8AC3E}">
        <p14:creationId xmlns:p14="http://schemas.microsoft.com/office/powerpoint/2010/main" val="45402080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27DC2-880F-4C68-0756-FFE24EAE0E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D93DA-1357-2BDA-ED1A-8597BF5385A1}"/>
              </a:ext>
            </a:extLst>
          </p:cNvPr>
          <p:cNvSpPr>
            <a:spLocks noGrp="1"/>
          </p:cNvSpPr>
          <p:nvPr>
            <p:ph type="title"/>
          </p:nvPr>
        </p:nvSpPr>
        <p:spPr>
          <a:xfrm>
            <a:off x="275844" y="495220"/>
            <a:ext cx="11640312" cy="464900"/>
          </a:xfrm>
        </p:spPr>
        <p:txBody>
          <a:bodyPr>
            <a:normAutofit/>
          </a:bodyPr>
          <a:lstStyle/>
          <a:p>
            <a:r>
              <a:rPr lang="en-IN" sz="2400" b="1" dirty="0"/>
              <a:t>TCP vs UDP addressing differences</a:t>
            </a:r>
          </a:p>
        </p:txBody>
      </p:sp>
      <p:sp>
        <p:nvSpPr>
          <p:cNvPr id="5" name="TextBox 4">
            <a:extLst>
              <a:ext uri="{FF2B5EF4-FFF2-40B4-BE49-F238E27FC236}">
                <a16:creationId xmlns:a16="http://schemas.microsoft.com/office/drawing/2014/main" id="{A58969DB-8316-4973-16C5-B53A9646E229}"/>
              </a:ext>
            </a:extLst>
          </p:cNvPr>
          <p:cNvSpPr txBox="1"/>
          <p:nvPr/>
        </p:nvSpPr>
        <p:spPr>
          <a:xfrm>
            <a:off x="275844" y="960120"/>
            <a:ext cx="7764379" cy="2862322"/>
          </a:xfrm>
          <a:prstGeom prst="rect">
            <a:avLst/>
          </a:prstGeom>
          <a:noFill/>
        </p:spPr>
        <p:txBody>
          <a:bodyPr wrap="square">
            <a:spAutoFit/>
          </a:bodyPr>
          <a:lstStyle/>
          <a:p>
            <a:pPr>
              <a:buNone/>
            </a:pPr>
            <a:r>
              <a:rPr lang="en-IN" b="1" dirty="0">
                <a:highlight>
                  <a:srgbClr val="FFFF00"/>
                </a:highlight>
              </a:rPr>
              <a:t>What About UDP Addressing?</a:t>
            </a:r>
          </a:p>
          <a:p>
            <a:pPr>
              <a:buNone/>
            </a:pPr>
            <a:r>
              <a:rPr lang="en-IN" dirty="0"/>
              <a:t>UDP also uses:</a:t>
            </a:r>
          </a:p>
          <a:p>
            <a:pPr marL="342900" lvl="0" indent="-342900">
              <a:buFont typeface="Arial" panose="020B0604020202020204" pitchFamily="34" charset="0"/>
              <a:buChar char="•"/>
            </a:pPr>
            <a:r>
              <a:rPr lang="en-IN" dirty="0"/>
              <a:t>Source IP </a:t>
            </a:r>
          </a:p>
          <a:p>
            <a:pPr marL="342900" lvl="0" indent="-342900">
              <a:buFont typeface="Arial" panose="020B0604020202020204" pitchFamily="34" charset="0"/>
              <a:buChar char="•"/>
            </a:pPr>
            <a:r>
              <a:rPr lang="en-IN" dirty="0"/>
              <a:t>Source Port </a:t>
            </a:r>
          </a:p>
          <a:p>
            <a:pPr marL="342900" lvl="0" indent="-342900">
              <a:buFont typeface="Arial" panose="020B0604020202020204" pitchFamily="34" charset="0"/>
              <a:buChar char="•"/>
            </a:pPr>
            <a:r>
              <a:rPr lang="en-IN" dirty="0"/>
              <a:t>Destination IP </a:t>
            </a:r>
          </a:p>
          <a:p>
            <a:pPr marL="342900" lvl="0" indent="-342900">
              <a:buFont typeface="Arial" panose="020B0604020202020204" pitchFamily="34" charset="0"/>
              <a:buChar char="•"/>
            </a:pPr>
            <a:r>
              <a:rPr lang="en-IN" dirty="0"/>
              <a:t>Destination Port </a:t>
            </a:r>
          </a:p>
          <a:p>
            <a:pPr>
              <a:buNone/>
            </a:pPr>
            <a:r>
              <a:rPr lang="en-IN" dirty="0"/>
              <a:t>when sending a datagram across IP.</a:t>
            </a:r>
          </a:p>
          <a:p>
            <a:pPr>
              <a:buNone/>
            </a:pPr>
            <a:r>
              <a:rPr lang="en-IN" dirty="0"/>
              <a:t>But the important conceptual difference is:</a:t>
            </a:r>
          </a:p>
          <a:p>
            <a:pPr>
              <a:buNone/>
            </a:pPr>
            <a:r>
              <a:rPr lang="en-IN" b="1" dirty="0"/>
              <a:t>UDP does not establish and maintain a TCP-style connection between those endpoints.</a:t>
            </a:r>
            <a:endParaRPr lang="en-IN" dirty="0"/>
          </a:p>
        </p:txBody>
      </p:sp>
    </p:spTree>
    <p:extLst>
      <p:ext uri="{BB962C8B-B14F-4D97-AF65-F5344CB8AC3E}">
        <p14:creationId xmlns:p14="http://schemas.microsoft.com/office/powerpoint/2010/main" val="185888082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A538C-074A-0A90-5799-9B6C498F3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E4152-2B2E-84DE-8E78-7D8D1786475C}"/>
              </a:ext>
            </a:extLst>
          </p:cNvPr>
          <p:cNvSpPr>
            <a:spLocks noGrp="1"/>
          </p:cNvSpPr>
          <p:nvPr>
            <p:ph type="title"/>
          </p:nvPr>
        </p:nvSpPr>
        <p:spPr>
          <a:xfrm>
            <a:off x="275844" y="495220"/>
            <a:ext cx="11640312" cy="464900"/>
          </a:xfrm>
        </p:spPr>
        <p:txBody>
          <a:bodyPr>
            <a:normAutofit/>
          </a:bodyPr>
          <a:lstStyle/>
          <a:p>
            <a:r>
              <a:rPr lang="en-IN" sz="2400" b="1" dirty="0"/>
              <a:t>TCP vs UDP addressing differences</a:t>
            </a:r>
          </a:p>
        </p:txBody>
      </p:sp>
      <p:graphicFrame>
        <p:nvGraphicFramePr>
          <p:cNvPr id="3" name="Table 2">
            <a:extLst>
              <a:ext uri="{FF2B5EF4-FFF2-40B4-BE49-F238E27FC236}">
                <a16:creationId xmlns:a16="http://schemas.microsoft.com/office/drawing/2014/main" id="{D067C5A6-C9CF-5197-1373-5CA0750AA061}"/>
              </a:ext>
            </a:extLst>
          </p:cNvPr>
          <p:cNvGraphicFramePr>
            <a:graphicFrameLocks noGrp="1"/>
          </p:cNvGraphicFramePr>
          <p:nvPr>
            <p:extLst>
              <p:ext uri="{D42A27DB-BD31-4B8C-83A1-F6EECF244321}">
                <p14:modId xmlns:p14="http://schemas.microsoft.com/office/powerpoint/2010/main" val="1039623817"/>
              </p:ext>
            </p:extLst>
          </p:nvPr>
        </p:nvGraphicFramePr>
        <p:xfrm>
          <a:off x="275844" y="1136761"/>
          <a:ext cx="8128000" cy="27686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670658940"/>
                    </a:ext>
                  </a:extLst>
                </a:gridCol>
                <a:gridCol w="4064000">
                  <a:extLst>
                    <a:ext uri="{9D8B030D-6E8A-4147-A177-3AD203B41FA5}">
                      <a16:colId xmlns:a16="http://schemas.microsoft.com/office/drawing/2014/main" val="3327688442"/>
                    </a:ext>
                  </a:extLst>
                </a:gridCol>
              </a:tblGrid>
              <a:tr h="370840">
                <a:tc>
                  <a:txBody>
                    <a:bodyPr/>
                    <a:lstStyle/>
                    <a:p>
                      <a:pPr>
                        <a:buNone/>
                      </a:pPr>
                      <a:r>
                        <a:rPr lang="en-IN" dirty="0"/>
                        <a:t>TCP Addressing</a:t>
                      </a:r>
                    </a:p>
                  </a:txBody>
                  <a:tcPr anchor="ctr"/>
                </a:tc>
                <a:tc>
                  <a:txBody>
                    <a:bodyPr/>
                    <a:lstStyle/>
                    <a:p>
                      <a:pPr>
                        <a:buNone/>
                      </a:pPr>
                      <a:r>
                        <a:rPr lang="en-IN"/>
                        <a:t>UDP Addressing</a:t>
                      </a:r>
                    </a:p>
                  </a:txBody>
                  <a:tcPr anchor="ctr"/>
                </a:tc>
                <a:extLst>
                  <a:ext uri="{0D108BD9-81ED-4DB2-BD59-A6C34878D82A}">
                    <a16:rowId xmlns:a16="http://schemas.microsoft.com/office/drawing/2014/main" val="4085522204"/>
                  </a:ext>
                </a:extLst>
              </a:tr>
              <a:tr h="370840">
                <a:tc>
                  <a:txBody>
                    <a:bodyPr/>
                    <a:lstStyle/>
                    <a:p>
                      <a:pPr>
                        <a:buNone/>
                      </a:pPr>
                      <a:r>
                        <a:rPr lang="en-IN"/>
                        <a:t>Uses IP addresses and port numbers</a:t>
                      </a:r>
                    </a:p>
                  </a:txBody>
                  <a:tcPr anchor="ctr"/>
                </a:tc>
                <a:tc>
                  <a:txBody>
                    <a:bodyPr/>
                    <a:lstStyle/>
                    <a:p>
                      <a:pPr>
                        <a:buNone/>
                      </a:pPr>
                      <a:r>
                        <a:rPr lang="en-IN"/>
                        <a:t>Uses IP addresses and port numbers</a:t>
                      </a:r>
                    </a:p>
                  </a:txBody>
                  <a:tcPr anchor="ctr"/>
                </a:tc>
                <a:extLst>
                  <a:ext uri="{0D108BD9-81ED-4DB2-BD59-A6C34878D82A}">
                    <a16:rowId xmlns:a16="http://schemas.microsoft.com/office/drawing/2014/main" val="3515420730"/>
                  </a:ext>
                </a:extLst>
              </a:tr>
              <a:tr h="370840">
                <a:tc>
                  <a:txBody>
                    <a:bodyPr/>
                    <a:lstStyle/>
                    <a:p>
                      <a:pPr>
                        <a:buNone/>
                      </a:pPr>
                      <a:r>
                        <a:rPr lang="en-IN"/>
                        <a:t>Source and destination ports are 16 bits</a:t>
                      </a:r>
                    </a:p>
                  </a:txBody>
                  <a:tcPr anchor="ctr"/>
                </a:tc>
                <a:tc>
                  <a:txBody>
                    <a:bodyPr/>
                    <a:lstStyle/>
                    <a:p>
                      <a:pPr>
                        <a:buNone/>
                      </a:pPr>
                      <a:r>
                        <a:rPr lang="en-IN"/>
                        <a:t>Source and destination ports are 16 bits</a:t>
                      </a:r>
                    </a:p>
                  </a:txBody>
                  <a:tcPr anchor="ctr"/>
                </a:tc>
                <a:extLst>
                  <a:ext uri="{0D108BD9-81ED-4DB2-BD59-A6C34878D82A}">
                    <a16:rowId xmlns:a16="http://schemas.microsoft.com/office/drawing/2014/main" val="2156896361"/>
                  </a:ext>
                </a:extLst>
              </a:tr>
              <a:tr h="370840">
                <a:tc>
                  <a:txBody>
                    <a:bodyPr/>
                    <a:lstStyle/>
                    <a:p>
                      <a:pPr>
                        <a:buNone/>
                      </a:pPr>
                      <a:r>
                        <a:rPr lang="en-IN"/>
                        <a:t>Establishes a logical connection</a:t>
                      </a:r>
                    </a:p>
                  </a:txBody>
                  <a:tcPr anchor="ctr"/>
                </a:tc>
                <a:tc>
                  <a:txBody>
                    <a:bodyPr/>
                    <a:lstStyle/>
                    <a:p>
                      <a:pPr>
                        <a:buNone/>
                      </a:pPr>
                      <a:r>
                        <a:rPr lang="en-IN"/>
                        <a:t>Does not establish a TCP-style connection</a:t>
                      </a:r>
                    </a:p>
                  </a:txBody>
                  <a:tcPr anchor="ctr"/>
                </a:tc>
                <a:extLst>
                  <a:ext uri="{0D108BD9-81ED-4DB2-BD59-A6C34878D82A}">
                    <a16:rowId xmlns:a16="http://schemas.microsoft.com/office/drawing/2014/main" val="2620483244"/>
                  </a:ext>
                </a:extLst>
              </a:tr>
              <a:tr h="370840">
                <a:tc>
                  <a:txBody>
                    <a:bodyPr/>
                    <a:lstStyle/>
                    <a:p>
                      <a:pPr>
                        <a:buNone/>
                      </a:pPr>
                      <a:r>
                        <a:rPr lang="en-IN"/>
                        <a:t>TCP connection is commonly identified by source IP + source port + destination IP + destination port</a:t>
                      </a:r>
                    </a:p>
                  </a:txBody>
                  <a:tcPr anchor="ctr"/>
                </a:tc>
                <a:tc>
                  <a:txBody>
                    <a:bodyPr/>
                    <a:lstStyle/>
                    <a:p>
                      <a:pPr>
                        <a:buNone/>
                      </a:pPr>
                      <a:r>
                        <a:rPr lang="en-IN"/>
                        <a:t>Datagrams are sent independently using source/destination addressing information</a:t>
                      </a:r>
                    </a:p>
                  </a:txBody>
                  <a:tcPr anchor="ctr"/>
                </a:tc>
                <a:extLst>
                  <a:ext uri="{0D108BD9-81ED-4DB2-BD59-A6C34878D82A}">
                    <a16:rowId xmlns:a16="http://schemas.microsoft.com/office/drawing/2014/main" val="3542959841"/>
                  </a:ext>
                </a:extLst>
              </a:tr>
              <a:tr h="370840">
                <a:tc>
                  <a:txBody>
                    <a:bodyPr/>
                    <a:lstStyle/>
                    <a:p>
                      <a:pPr>
                        <a:buNone/>
                      </a:pPr>
                      <a:r>
                        <a:rPr lang="en-IN"/>
                        <a:t>Maintains connection state</a:t>
                      </a:r>
                    </a:p>
                  </a:txBody>
                  <a:tcPr anchor="ctr"/>
                </a:tc>
                <a:tc>
                  <a:txBody>
                    <a:bodyPr/>
                    <a:lstStyle/>
                    <a:p>
                      <a:pPr>
                        <a:buNone/>
                      </a:pPr>
                      <a:r>
                        <a:rPr lang="en-IN" dirty="0"/>
                        <a:t>No TCP-style connection state</a:t>
                      </a:r>
                    </a:p>
                  </a:txBody>
                  <a:tcPr anchor="ctr"/>
                </a:tc>
                <a:extLst>
                  <a:ext uri="{0D108BD9-81ED-4DB2-BD59-A6C34878D82A}">
                    <a16:rowId xmlns:a16="http://schemas.microsoft.com/office/drawing/2014/main" val="2527931877"/>
                  </a:ext>
                </a:extLst>
              </a:tr>
            </a:tbl>
          </a:graphicData>
        </a:graphic>
      </p:graphicFrame>
    </p:spTree>
    <p:extLst>
      <p:ext uri="{BB962C8B-B14F-4D97-AF65-F5344CB8AC3E}">
        <p14:creationId xmlns:p14="http://schemas.microsoft.com/office/powerpoint/2010/main" val="186200463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AC060-864E-7F73-61AD-E8C69A523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A44DE-C275-EB60-1D9E-067D56805F95}"/>
              </a:ext>
            </a:extLst>
          </p:cNvPr>
          <p:cNvSpPr>
            <a:spLocks noGrp="1"/>
          </p:cNvSpPr>
          <p:nvPr>
            <p:ph type="title"/>
          </p:nvPr>
        </p:nvSpPr>
        <p:spPr>
          <a:xfrm>
            <a:off x="275844" y="495220"/>
            <a:ext cx="11640312" cy="464900"/>
          </a:xfrm>
        </p:spPr>
        <p:txBody>
          <a:bodyPr>
            <a:normAutofit/>
          </a:bodyPr>
          <a:lstStyle/>
          <a:p>
            <a:r>
              <a:rPr lang="en-US" sz="2400" b="1" dirty="0"/>
              <a:t>SCTP: </a:t>
            </a:r>
            <a:r>
              <a:rPr lang="en-IN" sz="2400" dirty="0"/>
              <a:t>Stream Control Transmission Protocol</a:t>
            </a:r>
            <a:endParaRPr lang="en-IN" sz="2400" b="1" dirty="0"/>
          </a:p>
        </p:txBody>
      </p:sp>
      <p:sp>
        <p:nvSpPr>
          <p:cNvPr id="4" name="TextBox 3">
            <a:extLst>
              <a:ext uri="{FF2B5EF4-FFF2-40B4-BE49-F238E27FC236}">
                <a16:creationId xmlns:a16="http://schemas.microsoft.com/office/drawing/2014/main" id="{74982AEE-873F-CC9C-202F-8517BB72E783}"/>
              </a:ext>
            </a:extLst>
          </p:cNvPr>
          <p:cNvSpPr txBox="1"/>
          <p:nvPr/>
        </p:nvSpPr>
        <p:spPr>
          <a:xfrm>
            <a:off x="275844" y="960120"/>
            <a:ext cx="11640312" cy="369332"/>
          </a:xfrm>
          <a:prstGeom prst="rect">
            <a:avLst/>
          </a:prstGeom>
          <a:noFill/>
        </p:spPr>
        <p:txBody>
          <a:bodyPr wrap="square">
            <a:spAutoFit/>
          </a:bodyPr>
          <a:lstStyle/>
          <a:p>
            <a:r>
              <a:rPr lang="en-IN" dirty="0"/>
              <a:t>SCTP is a reliable Transport Layer protocol that can send data using multiple streams and can use multiple network paths.</a:t>
            </a:r>
          </a:p>
        </p:txBody>
      </p:sp>
      <p:sp>
        <p:nvSpPr>
          <p:cNvPr id="6" name="TextBox 5">
            <a:extLst>
              <a:ext uri="{FF2B5EF4-FFF2-40B4-BE49-F238E27FC236}">
                <a16:creationId xmlns:a16="http://schemas.microsoft.com/office/drawing/2014/main" id="{707893AE-62FF-DA38-6792-FC373740C66F}"/>
              </a:ext>
            </a:extLst>
          </p:cNvPr>
          <p:cNvSpPr txBox="1"/>
          <p:nvPr/>
        </p:nvSpPr>
        <p:spPr>
          <a:xfrm>
            <a:off x="275844" y="1425020"/>
            <a:ext cx="11418851" cy="923330"/>
          </a:xfrm>
          <a:prstGeom prst="rect">
            <a:avLst/>
          </a:prstGeom>
          <a:noFill/>
        </p:spPr>
        <p:txBody>
          <a:bodyPr wrap="square">
            <a:spAutoFit/>
          </a:bodyPr>
          <a:lstStyle/>
          <a:p>
            <a:pPr>
              <a:buNone/>
            </a:pPr>
            <a:r>
              <a:rPr lang="en-IN" b="1" dirty="0"/>
              <a:t>What is Multiple Streaming?</a:t>
            </a:r>
          </a:p>
          <a:p>
            <a:pPr>
              <a:buNone/>
            </a:pPr>
            <a:r>
              <a:rPr lang="en-IN" dirty="0"/>
              <a:t>Suppose I have to send </a:t>
            </a:r>
            <a:r>
              <a:rPr lang="en-IN" b="1" dirty="0"/>
              <a:t>three different types of data</a:t>
            </a:r>
            <a:r>
              <a:rPr lang="en-IN" dirty="0"/>
              <a:t> from Computer A to Computer B.</a:t>
            </a:r>
          </a:p>
          <a:p>
            <a:pPr>
              <a:buNone/>
            </a:pPr>
            <a:r>
              <a:rPr lang="en-IN" dirty="0"/>
              <a:t>For example:</a:t>
            </a:r>
          </a:p>
        </p:txBody>
      </p:sp>
      <p:pic>
        <p:nvPicPr>
          <p:cNvPr id="8" name="Picture 7">
            <a:extLst>
              <a:ext uri="{FF2B5EF4-FFF2-40B4-BE49-F238E27FC236}">
                <a16:creationId xmlns:a16="http://schemas.microsoft.com/office/drawing/2014/main" id="{7BC11664-E9DC-E0DC-795A-77E9EEEA62BD}"/>
              </a:ext>
            </a:extLst>
          </p:cNvPr>
          <p:cNvPicPr>
            <a:picLocks noChangeAspect="1"/>
          </p:cNvPicPr>
          <p:nvPr/>
        </p:nvPicPr>
        <p:blipFill>
          <a:blip r:embed="rId2"/>
          <a:stretch>
            <a:fillRect/>
          </a:stretch>
        </p:blipFill>
        <p:spPr>
          <a:xfrm>
            <a:off x="275843" y="2443918"/>
            <a:ext cx="4215945" cy="2240377"/>
          </a:xfrm>
          <a:prstGeom prst="rect">
            <a:avLst/>
          </a:prstGeom>
        </p:spPr>
      </p:pic>
      <p:sp>
        <p:nvSpPr>
          <p:cNvPr id="10" name="TextBox 9">
            <a:extLst>
              <a:ext uri="{FF2B5EF4-FFF2-40B4-BE49-F238E27FC236}">
                <a16:creationId xmlns:a16="http://schemas.microsoft.com/office/drawing/2014/main" id="{26D51A40-94D8-25F0-54DB-B498EE38303E}"/>
              </a:ext>
            </a:extLst>
          </p:cNvPr>
          <p:cNvSpPr txBox="1"/>
          <p:nvPr/>
        </p:nvSpPr>
        <p:spPr>
          <a:xfrm>
            <a:off x="275843" y="4832815"/>
            <a:ext cx="4215945" cy="923330"/>
          </a:xfrm>
          <a:prstGeom prst="rect">
            <a:avLst/>
          </a:prstGeom>
          <a:noFill/>
        </p:spPr>
        <p:txBody>
          <a:bodyPr wrap="square">
            <a:spAutoFit/>
          </a:bodyPr>
          <a:lstStyle/>
          <a:p>
            <a:r>
              <a:rPr lang="en-IN" dirty="0"/>
              <a:t>Instead of treating everything as </a:t>
            </a:r>
            <a:r>
              <a:rPr lang="en-IN" b="1" dirty="0"/>
              <a:t>one single stream</a:t>
            </a:r>
            <a:r>
              <a:rPr lang="en-IN" dirty="0"/>
              <a:t>, SCTP can keep them as separate streams.</a:t>
            </a:r>
          </a:p>
        </p:txBody>
      </p:sp>
      <p:sp>
        <p:nvSpPr>
          <p:cNvPr id="12" name="TextBox 11">
            <a:extLst>
              <a:ext uri="{FF2B5EF4-FFF2-40B4-BE49-F238E27FC236}">
                <a16:creationId xmlns:a16="http://schemas.microsoft.com/office/drawing/2014/main" id="{EDB0482D-A037-AE2A-A076-503EA6B7130C}"/>
              </a:ext>
            </a:extLst>
          </p:cNvPr>
          <p:cNvSpPr txBox="1"/>
          <p:nvPr/>
        </p:nvSpPr>
        <p:spPr>
          <a:xfrm>
            <a:off x="5446298" y="2348350"/>
            <a:ext cx="4507832" cy="2031325"/>
          </a:xfrm>
          <a:prstGeom prst="rect">
            <a:avLst/>
          </a:prstGeom>
          <a:noFill/>
        </p:spPr>
        <p:txBody>
          <a:bodyPr wrap="square">
            <a:spAutoFit/>
          </a:bodyPr>
          <a:lstStyle/>
          <a:p>
            <a:pPr>
              <a:buNone/>
            </a:pPr>
            <a:r>
              <a:rPr lang="en-IN" dirty="0"/>
              <a:t>Think of it like this: </a:t>
            </a:r>
            <a:r>
              <a:rPr lang="en-IN" dirty="0">
                <a:latin typeface="+mn-lt"/>
              </a:rPr>
              <a:t>SCTP</a:t>
            </a:r>
          </a:p>
          <a:p>
            <a:pPr rtl="0">
              <a:buNone/>
            </a:pPr>
            <a:endParaRPr lang="en-IN" dirty="0">
              <a:latin typeface="+mn-lt"/>
            </a:endParaRPr>
          </a:p>
          <a:p>
            <a:pPr rtl="0">
              <a:buNone/>
            </a:pPr>
            <a:r>
              <a:rPr lang="en-IN" dirty="0">
                <a:latin typeface="+mn-lt"/>
              </a:rPr>
              <a:t>Stream 1  →  Student Marks</a:t>
            </a:r>
          </a:p>
          <a:p>
            <a:pPr rtl="0">
              <a:buNone/>
            </a:pPr>
            <a:r>
              <a:rPr lang="en-IN" dirty="0">
                <a:latin typeface="+mn-lt"/>
              </a:rPr>
              <a:t>Stream 2  →  Attendance</a:t>
            </a:r>
          </a:p>
          <a:p>
            <a:pPr rtl="0">
              <a:buNone/>
            </a:pPr>
            <a:r>
              <a:rPr lang="en-IN" dirty="0">
                <a:latin typeface="+mn-lt"/>
              </a:rPr>
              <a:t>Stream 3  →  Student Details</a:t>
            </a:r>
          </a:p>
          <a:p>
            <a:pPr>
              <a:buNone/>
            </a:pPr>
            <a:r>
              <a:rPr lang="en-IN" dirty="0"/>
              <a:t>This is called:</a:t>
            </a:r>
          </a:p>
          <a:p>
            <a:pPr>
              <a:buNone/>
            </a:pPr>
            <a:r>
              <a:rPr lang="en-IN" b="1" dirty="0"/>
              <a:t>Multi-streaming</a:t>
            </a:r>
            <a:endParaRPr lang="en-IN" dirty="0"/>
          </a:p>
        </p:txBody>
      </p:sp>
      <p:sp>
        <p:nvSpPr>
          <p:cNvPr id="14" name="TextBox 13">
            <a:extLst>
              <a:ext uri="{FF2B5EF4-FFF2-40B4-BE49-F238E27FC236}">
                <a16:creationId xmlns:a16="http://schemas.microsoft.com/office/drawing/2014/main" id="{9A528B7F-4176-CDBA-6B83-EFED02F7CED0}"/>
              </a:ext>
            </a:extLst>
          </p:cNvPr>
          <p:cNvSpPr txBox="1"/>
          <p:nvPr/>
        </p:nvSpPr>
        <p:spPr>
          <a:xfrm>
            <a:off x="5374108" y="4447985"/>
            <a:ext cx="4652212" cy="2308324"/>
          </a:xfrm>
          <a:prstGeom prst="rect">
            <a:avLst/>
          </a:prstGeom>
          <a:noFill/>
        </p:spPr>
        <p:txBody>
          <a:bodyPr wrap="square">
            <a:spAutoFit/>
          </a:bodyPr>
          <a:lstStyle/>
          <a:p>
            <a:pPr>
              <a:buNone/>
            </a:pPr>
            <a:r>
              <a:rPr lang="en-IN" b="1" dirty="0"/>
              <a:t>Why is this useful?</a:t>
            </a:r>
          </a:p>
          <a:p>
            <a:pPr>
              <a:buNone/>
            </a:pPr>
            <a:r>
              <a:rPr lang="en-IN" dirty="0"/>
              <a:t>Suppose there is a problem in:</a:t>
            </a:r>
          </a:p>
          <a:p>
            <a:pPr rtl="0">
              <a:buNone/>
            </a:pPr>
            <a:endParaRPr lang="en-IN" dirty="0">
              <a:latin typeface="+mn-lt"/>
            </a:endParaRPr>
          </a:p>
          <a:p>
            <a:pPr rtl="0">
              <a:buNone/>
            </a:pPr>
            <a:r>
              <a:rPr lang="en-IN" dirty="0">
                <a:latin typeface="+mn-lt"/>
              </a:rPr>
              <a:t>Stream 1 → Student Marks  (goes down)</a:t>
            </a:r>
          </a:p>
          <a:p>
            <a:pPr>
              <a:buNone/>
            </a:pPr>
            <a:r>
              <a:rPr lang="en-IN" dirty="0"/>
              <a:t>The other streams can still make progress:</a:t>
            </a:r>
          </a:p>
          <a:p>
            <a:pPr rtl="0">
              <a:buNone/>
            </a:pPr>
            <a:endParaRPr lang="en-IN" dirty="0">
              <a:latin typeface="+mn-lt"/>
            </a:endParaRPr>
          </a:p>
          <a:p>
            <a:pPr rtl="0">
              <a:buNone/>
            </a:pPr>
            <a:r>
              <a:rPr lang="en-IN" dirty="0">
                <a:latin typeface="+mn-lt"/>
              </a:rPr>
              <a:t>Stream 2 → Attendance       </a:t>
            </a:r>
          </a:p>
          <a:p>
            <a:pPr rtl="0">
              <a:buNone/>
            </a:pPr>
            <a:r>
              <a:rPr lang="en-IN" dirty="0">
                <a:latin typeface="+mn-lt"/>
              </a:rPr>
              <a:t>Stream 3 → Student Details </a:t>
            </a:r>
            <a:endParaRPr lang="en-IN" dirty="0">
              <a:latin typeface="Courier New" panose="02070309020205020404" pitchFamily="49" charset="0"/>
            </a:endParaRPr>
          </a:p>
        </p:txBody>
      </p:sp>
      <p:sp>
        <p:nvSpPr>
          <p:cNvPr id="16" name="TextBox 15">
            <a:extLst>
              <a:ext uri="{FF2B5EF4-FFF2-40B4-BE49-F238E27FC236}">
                <a16:creationId xmlns:a16="http://schemas.microsoft.com/office/drawing/2014/main" id="{40E598B5-4ED9-A3DC-9E97-4C676A6F914E}"/>
              </a:ext>
            </a:extLst>
          </p:cNvPr>
          <p:cNvSpPr txBox="1"/>
          <p:nvPr/>
        </p:nvSpPr>
        <p:spPr>
          <a:xfrm>
            <a:off x="275843" y="5934670"/>
            <a:ext cx="4058653" cy="923330"/>
          </a:xfrm>
          <a:prstGeom prst="rect">
            <a:avLst/>
          </a:prstGeom>
          <a:noFill/>
        </p:spPr>
        <p:txBody>
          <a:bodyPr wrap="square">
            <a:spAutoFit/>
          </a:bodyPr>
          <a:lstStyle/>
          <a:p>
            <a:r>
              <a:rPr lang="en-IN" dirty="0"/>
              <a:t>Multi-streaming means sending different groups of data through separate streams within the same SCTP communication.</a:t>
            </a:r>
          </a:p>
        </p:txBody>
      </p:sp>
    </p:spTree>
    <p:extLst>
      <p:ext uri="{BB962C8B-B14F-4D97-AF65-F5344CB8AC3E}">
        <p14:creationId xmlns:p14="http://schemas.microsoft.com/office/powerpoint/2010/main" val="287759462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EAA99-CE0D-C668-C84B-89A01279B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BDA93-3EE9-7A81-EC90-24A4D6DE458B}"/>
              </a:ext>
            </a:extLst>
          </p:cNvPr>
          <p:cNvSpPr>
            <a:spLocks noGrp="1"/>
          </p:cNvSpPr>
          <p:nvPr>
            <p:ph type="title"/>
          </p:nvPr>
        </p:nvSpPr>
        <p:spPr>
          <a:xfrm>
            <a:off x="275844" y="495220"/>
            <a:ext cx="11640312" cy="464900"/>
          </a:xfrm>
        </p:spPr>
        <p:txBody>
          <a:bodyPr>
            <a:normAutofit/>
          </a:bodyPr>
          <a:lstStyle/>
          <a:p>
            <a:r>
              <a:rPr lang="en-IN" sz="2400" b="1" dirty="0"/>
              <a:t>What is Multi-Homing?</a:t>
            </a:r>
          </a:p>
        </p:txBody>
      </p:sp>
      <p:pic>
        <p:nvPicPr>
          <p:cNvPr id="8" name="Picture 7">
            <a:extLst>
              <a:ext uri="{FF2B5EF4-FFF2-40B4-BE49-F238E27FC236}">
                <a16:creationId xmlns:a16="http://schemas.microsoft.com/office/drawing/2014/main" id="{12E9BFC9-7AD4-0327-FB32-AE3F864B17DA}"/>
              </a:ext>
            </a:extLst>
          </p:cNvPr>
          <p:cNvPicPr>
            <a:picLocks noChangeAspect="1"/>
          </p:cNvPicPr>
          <p:nvPr/>
        </p:nvPicPr>
        <p:blipFill>
          <a:blip r:embed="rId2"/>
          <a:stretch>
            <a:fillRect/>
          </a:stretch>
        </p:blipFill>
        <p:spPr>
          <a:xfrm>
            <a:off x="259801" y="1125691"/>
            <a:ext cx="5836199" cy="4777803"/>
          </a:xfrm>
          <a:prstGeom prst="rect">
            <a:avLst/>
          </a:prstGeom>
        </p:spPr>
      </p:pic>
      <p:pic>
        <p:nvPicPr>
          <p:cNvPr id="10" name="Picture 9">
            <a:extLst>
              <a:ext uri="{FF2B5EF4-FFF2-40B4-BE49-F238E27FC236}">
                <a16:creationId xmlns:a16="http://schemas.microsoft.com/office/drawing/2014/main" id="{A827CE35-F3C0-3E9E-0521-40B8459C6FDC}"/>
              </a:ext>
            </a:extLst>
          </p:cNvPr>
          <p:cNvPicPr>
            <a:picLocks noChangeAspect="1"/>
          </p:cNvPicPr>
          <p:nvPr/>
        </p:nvPicPr>
        <p:blipFill>
          <a:blip r:embed="rId3"/>
          <a:stretch>
            <a:fillRect/>
          </a:stretch>
        </p:blipFill>
        <p:spPr>
          <a:xfrm>
            <a:off x="6214598" y="727670"/>
            <a:ext cx="4998834" cy="3379109"/>
          </a:xfrm>
          <a:prstGeom prst="rect">
            <a:avLst/>
          </a:prstGeom>
        </p:spPr>
      </p:pic>
      <p:sp>
        <p:nvSpPr>
          <p:cNvPr id="12" name="TextBox 11">
            <a:extLst>
              <a:ext uri="{FF2B5EF4-FFF2-40B4-BE49-F238E27FC236}">
                <a16:creationId xmlns:a16="http://schemas.microsoft.com/office/drawing/2014/main" id="{B05764D6-0FFC-440F-6598-98036E83738C}"/>
              </a:ext>
            </a:extLst>
          </p:cNvPr>
          <p:cNvSpPr txBox="1"/>
          <p:nvPr/>
        </p:nvSpPr>
        <p:spPr>
          <a:xfrm>
            <a:off x="6352673" y="4885452"/>
            <a:ext cx="5277853" cy="1477328"/>
          </a:xfrm>
          <a:prstGeom prst="rect">
            <a:avLst/>
          </a:prstGeom>
          <a:noFill/>
        </p:spPr>
        <p:txBody>
          <a:bodyPr wrap="square">
            <a:spAutoFit/>
          </a:bodyPr>
          <a:lstStyle/>
          <a:p>
            <a:pPr>
              <a:buNone/>
            </a:pPr>
            <a:r>
              <a:rPr lang="en-IN" dirty="0"/>
              <a:t>This feature is called: </a:t>
            </a:r>
            <a:r>
              <a:rPr lang="en-IN" b="1" dirty="0"/>
              <a:t>Multi-homing</a:t>
            </a:r>
            <a:endParaRPr lang="en-IN" dirty="0"/>
          </a:p>
          <a:p>
            <a:pPr>
              <a:buNone/>
            </a:pPr>
            <a:endParaRPr lang="en-IN" b="1" dirty="0"/>
          </a:p>
          <a:p>
            <a:pPr>
              <a:buNone/>
            </a:pPr>
            <a:r>
              <a:rPr lang="en-IN" b="1" dirty="0"/>
              <a:t>Multi-homing means an SCTP endpoint can have multiple IP addresses/network paths, so another path can be used if needed.</a:t>
            </a:r>
            <a:endParaRPr lang="en-IN" dirty="0"/>
          </a:p>
        </p:txBody>
      </p:sp>
    </p:spTree>
    <p:extLst>
      <p:ext uri="{BB962C8B-B14F-4D97-AF65-F5344CB8AC3E}">
        <p14:creationId xmlns:p14="http://schemas.microsoft.com/office/powerpoint/2010/main" val="246816086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5264-0897-B133-8D7D-589252AC8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A8EEB-3278-F085-F3DC-E01AE89DDC0C}"/>
              </a:ext>
            </a:extLst>
          </p:cNvPr>
          <p:cNvSpPr>
            <a:spLocks noGrp="1"/>
          </p:cNvSpPr>
          <p:nvPr>
            <p:ph type="title"/>
          </p:nvPr>
        </p:nvSpPr>
        <p:spPr>
          <a:xfrm>
            <a:off x="275844" y="495220"/>
            <a:ext cx="11640312" cy="464900"/>
          </a:xfrm>
        </p:spPr>
        <p:txBody>
          <a:bodyPr>
            <a:normAutofit/>
          </a:bodyPr>
          <a:lstStyle/>
          <a:p>
            <a:r>
              <a:rPr lang="en-US" sz="2400" b="1" dirty="0"/>
              <a:t>QUIC</a:t>
            </a:r>
            <a:endParaRPr lang="en-IN" sz="2400" b="1" dirty="0"/>
          </a:p>
        </p:txBody>
      </p:sp>
      <p:sp>
        <p:nvSpPr>
          <p:cNvPr id="4" name="TextBox 3">
            <a:extLst>
              <a:ext uri="{FF2B5EF4-FFF2-40B4-BE49-F238E27FC236}">
                <a16:creationId xmlns:a16="http://schemas.microsoft.com/office/drawing/2014/main" id="{9A180E93-372F-AADB-F76E-F97912AAB012}"/>
              </a:ext>
            </a:extLst>
          </p:cNvPr>
          <p:cNvSpPr txBox="1"/>
          <p:nvPr/>
        </p:nvSpPr>
        <p:spPr>
          <a:xfrm>
            <a:off x="275844" y="1109371"/>
            <a:ext cx="6096000" cy="3970318"/>
          </a:xfrm>
          <a:prstGeom prst="rect">
            <a:avLst/>
          </a:prstGeom>
          <a:noFill/>
        </p:spPr>
        <p:txBody>
          <a:bodyPr wrap="square">
            <a:spAutoFit/>
          </a:bodyPr>
          <a:lstStyle/>
          <a:p>
            <a:pPr>
              <a:buNone/>
            </a:pPr>
            <a:r>
              <a:rPr lang="en-IN" dirty="0"/>
              <a:t>We know that:</a:t>
            </a:r>
          </a:p>
          <a:p>
            <a:pPr>
              <a:buNone/>
            </a:pPr>
            <a:endParaRPr lang="en-IN" b="1" dirty="0"/>
          </a:p>
          <a:p>
            <a:pPr>
              <a:buNone/>
            </a:pPr>
            <a:r>
              <a:rPr lang="en-IN" b="1" dirty="0"/>
              <a:t>TCP</a:t>
            </a:r>
          </a:p>
          <a:p>
            <a:pPr>
              <a:buNone/>
            </a:pPr>
            <a:r>
              <a:rPr lang="en-IN" dirty="0"/>
              <a:t>Reliable, but TCP has connection setup and several mechanisms.</a:t>
            </a:r>
          </a:p>
          <a:p>
            <a:pPr>
              <a:buNone/>
            </a:pPr>
            <a:endParaRPr lang="en-IN" b="1" dirty="0"/>
          </a:p>
          <a:p>
            <a:pPr>
              <a:buNone/>
            </a:pPr>
            <a:r>
              <a:rPr lang="en-IN" b="1" dirty="0"/>
              <a:t>UDP</a:t>
            </a:r>
          </a:p>
          <a:p>
            <a:pPr>
              <a:buNone/>
            </a:pPr>
            <a:r>
              <a:rPr lang="en-IN" dirty="0"/>
              <a:t>Simple and has less transport overhead, but UDP itself does not guarantee delivery.</a:t>
            </a:r>
          </a:p>
          <a:p>
            <a:pPr>
              <a:buNone/>
            </a:pPr>
            <a:endParaRPr lang="en-IN" dirty="0"/>
          </a:p>
          <a:p>
            <a:pPr>
              <a:buNone/>
            </a:pPr>
            <a:r>
              <a:rPr lang="en-IN" dirty="0"/>
              <a:t>So the basic idea behind QUIC is:</a:t>
            </a:r>
          </a:p>
          <a:p>
            <a:pPr>
              <a:buNone/>
            </a:pPr>
            <a:r>
              <a:rPr lang="en-IN" b="1" dirty="0"/>
              <a:t>Can we use UDP underneath, but add features such as reliability and security above it?</a:t>
            </a:r>
          </a:p>
          <a:p>
            <a:pPr>
              <a:buNone/>
            </a:pPr>
            <a:r>
              <a:rPr lang="en-IN" dirty="0"/>
              <a:t>That's what </a:t>
            </a:r>
            <a:r>
              <a:rPr lang="en-IN" b="1" dirty="0"/>
              <a:t>QUIC</a:t>
            </a:r>
            <a:r>
              <a:rPr lang="en-IN" dirty="0"/>
              <a:t> does.</a:t>
            </a:r>
          </a:p>
        </p:txBody>
      </p:sp>
      <p:sp>
        <p:nvSpPr>
          <p:cNvPr id="6" name="TextBox 5">
            <a:extLst>
              <a:ext uri="{FF2B5EF4-FFF2-40B4-BE49-F238E27FC236}">
                <a16:creationId xmlns:a16="http://schemas.microsoft.com/office/drawing/2014/main" id="{E55D08E0-EE87-8256-3639-B5150B0A449C}"/>
              </a:ext>
            </a:extLst>
          </p:cNvPr>
          <p:cNvSpPr txBox="1"/>
          <p:nvPr/>
        </p:nvSpPr>
        <p:spPr>
          <a:xfrm>
            <a:off x="6833937" y="2917340"/>
            <a:ext cx="4876800" cy="646331"/>
          </a:xfrm>
          <a:prstGeom prst="rect">
            <a:avLst/>
          </a:prstGeom>
          <a:noFill/>
        </p:spPr>
        <p:txBody>
          <a:bodyPr wrap="square">
            <a:spAutoFit/>
          </a:bodyPr>
          <a:lstStyle/>
          <a:p>
            <a:r>
              <a:rPr lang="en-IN" b="1" dirty="0"/>
              <a:t>QUIC uses UDP underneath, but QUIC itself adds additional features such as reliability.</a:t>
            </a:r>
          </a:p>
        </p:txBody>
      </p:sp>
    </p:spTree>
    <p:extLst>
      <p:ext uri="{BB962C8B-B14F-4D97-AF65-F5344CB8AC3E}">
        <p14:creationId xmlns:p14="http://schemas.microsoft.com/office/powerpoint/2010/main" val="30124882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D348D-1991-3907-886E-B15C38FA9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1B25C-7C85-8E2E-4F75-8AC3655400F1}"/>
              </a:ext>
            </a:extLst>
          </p:cNvPr>
          <p:cNvSpPr>
            <a:spLocks noGrp="1"/>
          </p:cNvSpPr>
          <p:nvPr>
            <p:ph type="title"/>
          </p:nvPr>
        </p:nvSpPr>
        <p:spPr>
          <a:xfrm>
            <a:off x="275844" y="495220"/>
            <a:ext cx="11640312" cy="464900"/>
          </a:xfrm>
        </p:spPr>
        <p:txBody>
          <a:bodyPr>
            <a:normAutofit/>
          </a:bodyPr>
          <a:lstStyle/>
          <a:p>
            <a:r>
              <a:rPr lang="en-US" sz="2400" b="1" dirty="0"/>
              <a:t>QUIC - Example</a:t>
            </a:r>
            <a:endParaRPr lang="en-IN" sz="2400" b="1" dirty="0"/>
          </a:p>
        </p:txBody>
      </p:sp>
      <p:pic>
        <p:nvPicPr>
          <p:cNvPr id="5" name="Picture 4">
            <a:extLst>
              <a:ext uri="{FF2B5EF4-FFF2-40B4-BE49-F238E27FC236}">
                <a16:creationId xmlns:a16="http://schemas.microsoft.com/office/drawing/2014/main" id="{61F91A16-D866-D9A1-7991-E62EC0D1FFF0}"/>
              </a:ext>
            </a:extLst>
          </p:cNvPr>
          <p:cNvPicPr>
            <a:picLocks noChangeAspect="1"/>
          </p:cNvPicPr>
          <p:nvPr/>
        </p:nvPicPr>
        <p:blipFill>
          <a:blip r:embed="rId2"/>
          <a:stretch>
            <a:fillRect/>
          </a:stretch>
        </p:blipFill>
        <p:spPr>
          <a:xfrm>
            <a:off x="275844" y="1170355"/>
            <a:ext cx="5146388" cy="4652929"/>
          </a:xfrm>
          <a:prstGeom prst="rect">
            <a:avLst/>
          </a:prstGeom>
        </p:spPr>
      </p:pic>
      <p:sp>
        <p:nvSpPr>
          <p:cNvPr id="8" name="TextBox 7">
            <a:extLst>
              <a:ext uri="{FF2B5EF4-FFF2-40B4-BE49-F238E27FC236}">
                <a16:creationId xmlns:a16="http://schemas.microsoft.com/office/drawing/2014/main" id="{2FBD8102-B356-1820-49C5-9331BD220FCD}"/>
              </a:ext>
            </a:extLst>
          </p:cNvPr>
          <p:cNvSpPr txBox="1"/>
          <p:nvPr/>
        </p:nvSpPr>
        <p:spPr>
          <a:xfrm>
            <a:off x="5903495" y="1254295"/>
            <a:ext cx="4828674" cy="1200329"/>
          </a:xfrm>
          <a:prstGeom prst="rect">
            <a:avLst/>
          </a:prstGeom>
          <a:noFill/>
        </p:spPr>
        <p:txBody>
          <a:bodyPr wrap="square">
            <a:spAutoFit/>
          </a:bodyPr>
          <a:lstStyle/>
          <a:p>
            <a:pPr>
              <a:buNone/>
            </a:pPr>
            <a:r>
              <a:rPr lang="en-IN" dirty="0"/>
              <a:t>But QUIC provides additional features such as:</a:t>
            </a:r>
          </a:p>
          <a:p>
            <a:pPr marL="342900" lvl="0" indent="-342900">
              <a:buFont typeface="Arial" panose="020B0604020202020204" pitchFamily="34" charset="0"/>
              <a:buChar char="•"/>
            </a:pPr>
            <a:r>
              <a:rPr lang="en-IN" dirty="0"/>
              <a:t>Reliability </a:t>
            </a:r>
          </a:p>
          <a:p>
            <a:pPr marL="342900" lvl="0" indent="-342900">
              <a:buFont typeface="Arial" panose="020B0604020202020204" pitchFamily="34" charset="0"/>
              <a:buChar char="•"/>
            </a:pPr>
            <a:r>
              <a:rPr lang="en-IN" dirty="0"/>
              <a:t>Security </a:t>
            </a:r>
          </a:p>
          <a:p>
            <a:pPr marL="342900" lvl="0" indent="-342900">
              <a:buFont typeface="Arial" panose="020B0604020202020204" pitchFamily="34" charset="0"/>
              <a:buChar char="•"/>
            </a:pPr>
            <a:r>
              <a:rPr lang="en-IN" dirty="0"/>
              <a:t>Multiple streams</a:t>
            </a:r>
          </a:p>
        </p:txBody>
      </p:sp>
      <p:sp>
        <p:nvSpPr>
          <p:cNvPr id="10" name="TextBox 9">
            <a:extLst>
              <a:ext uri="{FF2B5EF4-FFF2-40B4-BE49-F238E27FC236}">
                <a16:creationId xmlns:a16="http://schemas.microsoft.com/office/drawing/2014/main" id="{0C0720BC-2926-97E4-D1BA-44E2243AA3CB}"/>
              </a:ext>
            </a:extLst>
          </p:cNvPr>
          <p:cNvSpPr txBox="1"/>
          <p:nvPr/>
        </p:nvSpPr>
        <p:spPr>
          <a:xfrm>
            <a:off x="5820156" y="2748799"/>
            <a:ext cx="6096000" cy="369332"/>
          </a:xfrm>
          <a:prstGeom prst="rect">
            <a:avLst/>
          </a:prstGeom>
          <a:noFill/>
        </p:spPr>
        <p:txBody>
          <a:bodyPr wrap="square">
            <a:spAutoFit/>
          </a:bodyPr>
          <a:lstStyle/>
          <a:p>
            <a:r>
              <a:rPr lang="en-IN" dirty="0"/>
              <a:t>QUIC is used by HTTP/3 for modern web communication.</a:t>
            </a:r>
          </a:p>
        </p:txBody>
      </p:sp>
      <p:sp>
        <p:nvSpPr>
          <p:cNvPr id="12" name="TextBox 11">
            <a:extLst>
              <a:ext uri="{FF2B5EF4-FFF2-40B4-BE49-F238E27FC236}">
                <a16:creationId xmlns:a16="http://schemas.microsoft.com/office/drawing/2014/main" id="{51F547F5-42F4-30DE-F18A-108AB0CE561C}"/>
              </a:ext>
            </a:extLst>
          </p:cNvPr>
          <p:cNvSpPr txBox="1"/>
          <p:nvPr/>
        </p:nvSpPr>
        <p:spPr>
          <a:xfrm>
            <a:off x="5820156" y="3227640"/>
            <a:ext cx="6096000" cy="369332"/>
          </a:xfrm>
          <a:prstGeom prst="rect">
            <a:avLst/>
          </a:prstGeom>
          <a:noFill/>
        </p:spPr>
        <p:txBody>
          <a:bodyPr wrap="square">
            <a:spAutoFit/>
          </a:bodyPr>
          <a:lstStyle/>
          <a:p>
            <a:r>
              <a:rPr lang="en-IN" dirty="0"/>
              <a:t>QUIC Also Supports Multiple Streams</a:t>
            </a:r>
          </a:p>
        </p:txBody>
      </p:sp>
      <p:sp>
        <p:nvSpPr>
          <p:cNvPr id="14" name="TextBox 13">
            <a:extLst>
              <a:ext uri="{FF2B5EF4-FFF2-40B4-BE49-F238E27FC236}">
                <a16:creationId xmlns:a16="http://schemas.microsoft.com/office/drawing/2014/main" id="{D38DC8FA-691F-5B98-7932-834301CE9DA8}"/>
              </a:ext>
            </a:extLst>
          </p:cNvPr>
          <p:cNvSpPr txBox="1"/>
          <p:nvPr/>
        </p:nvSpPr>
        <p:spPr>
          <a:xfrm>
            <a:off x="5820156" y="3661895"/>
            <a:ext cx="6096000" cy="369332"/>
          </a:xfrm>
          <a:prstGeom prst="rect">
            <a:avLst/>
          </a:prstGeom>
          <a:noFill/>
        </p:spPr>
        <p:txBody>
          <a:bodyPr wrap="square">
            <a:spAutoFit/>
          </a:bodyPr>
          <a:lstStyle/>
          <a:p>
            <a:r>
              <a:rPr lang="en-IN" dirty="0"/>
              <a:t>QUIC includes secure communication using </a:t>
            </a:r>
            <a:r>
              <a:rPr lang="en-IN" b="1" dirty="0"/>
              <a:t>TLS</a:t>
            </a:r>
            <a:r>
              <a:rPr lang="en-IN" dirty="0"/>
              <a:t>.</a:t>
            </a:r>
          </a:p>
        </p:txBody>
      </p:sp>
    </p:spTree>
    <p:extLst>
      <p:ext uri="{BB962C8B-B14F-4D97-AF65-F5344CB8AC3E}">
        <p14:creationId xmlns:p14="http://schemas.microsoft.com/office/powerpoint/2010/main" val="21950265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F7B3-3F0F-BAFA-78C2-CDD8B6676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8548A-57D8-DF8D-4330-37DD97A2DE20}"/>
              </a:ext>
            </a:extLst>
          </p:cNvPr>
          <p:cNvSpPr>
            <a:spLocks noGrp="1"/>
          </p:cNvSpPr>
          <p:nvPr>
            <p:ph type="title"/>
          </p:nvPr>
        </p:nvSpPr>
        <p:spPr>
          <a:xfrm>
            <a:off x="275844" y="495220"/>
            <a:ext cx="11640312" cy="464900"/>
          </a:xfrm>
        </p:spPr>
        <p:txBody>
          <a:bodyPr>
            <a:normAutofit/>
          </a:bodyPr>
          <a:lstStyle/>
          <a:p>
            <a:r>
              <a:rPr lang="en-US" sz="2400" b="1" dirty="0"/>
              <a:t>TCP Congestion Control</a:t>
            </a:r>
            <a:endParaRPr lang="en-IN" sz="2400" b="1" dirty="0"/>
          </a:p>
        </p:txBody>
      </p:sp>
      <p:sp>
        <p:nvSpPr>
          <p:cNvPr id="4" name="TextBox 3">
            <a:extLst>
              <a:ext uri="{FF2B5EF4-FFF2-40B4-BE49-F238E27FC236}">
                <a16:creationId xmlns:a16="http://schemas.microsoft.com/office/drawing/2014/main" id="{BA1F85BD-54EB-F3CC-FF3F-94EF3E3FCF40}"/>
              </a:ext>
            </a:extLst>
          </p:cNvPr>
          <p:cNvSpPr txBox="1"/>
          <p:nvPr/>
        </p:nvSpPr>
        <p:spPr>
          <a:xfrm>
            <a:off x="275844" y="960120"/>
            <a:ext cx="11226345" cy="646331"/>
          </a:xfrm>
          <a:prstGeom prst="rect">
            <a:avLst/>
          </a:prstGeom>
          <a:noFill/>
        </p:spPr>
        <p:txBody>
          <a:bodyPr wrap="square">
            <a:spAutoFit/>
          </a:bodyPr>
          <a:lstStyle/>
          <a:p>
            <a:r>
              <a:rPr lang="en-IN" dirty="0"/>
              <a:t>Network Congestion — a condition in which too much traffic is present in the network, causing increased delay and possibly packet loss.</a:t>
            </a:r>
          </a:p>
        </p:txBody>
      </p:sp>
      <p:sp>
        <p:nvSpPr>
          <p:cNvPr id="6" name="TextBox 5">
            <a:extLst>
              <a:ext uri="{FF2B5EF4-FFF2-40B4-BE49-F238E27FC236}">
                <a16:creationId xmlns:a16="http://schemas.microsoft.com/office/drawing/2014/main" id="{8A190AA1-052A-156E-4B74-D8FBCB326F0E}"/>
              </a:ext>
            </a:extLst>
          </p:cNvPr>
          <p:cNvSpPr txBox="1"/>
          <p:nvPr/>
        </p:nvSpPr>
        <p:spPr>
          <a:xfrm>
            <a:off x="275844" y="1702019"/>
            <a:ext cx="11386767" cy="369332"/>
          </a:xfrm>
          <a:prstGeom prst="rect">
            <a:avLst/>
          </a:prstGeom>
          <a:noFill/>
        </p:spPr>
        <p:txBody>
          <a:bodyPr wrap="square">
            <a:spAutoFit/>
          </a:bodyPr>
          <a:lstStyle/>
          <a:p>
            <a:r>
              <a:rPr lang="en-IN" dirty="0"/>
              <a:t>TCP Congestion Control controls the sender's sending rate so that it does not overload the network.</a:t>
            </a:r>
          </a:p>
        </p:txBody>
      </p:sp>
      <p:sp>
        <p:nvSpPr>
          <p:cNvPr id="8" name="TextBox 7">
            <a:extLst>
              <a:ext uri="{FF2B5EF4-FFF2-40B4-BE49-F238E27FC236}">
                <a16:creationId xmlns:a16="http://schemas.microsoft.com/office/drawing/2014/main" id="{F80D8751-2162-8C3B-EF98-4A607F78E118}"/>
              </a:ext>
            </a:extLst>
          </p:cNvPr>
          <p:cNvSpPr txBox="1"/>
          <p:nvPr/>
        </p:nvSpPr>
        <p:spPr>
          <a:xfrm>
            <a:off x="275844" y="2348350"/>
            <a:ext cx="4857630" cy="2308324"/>
          </a:xfrm>
          <a:prstGeom prst="rect">
            <a:avLst/>
          </a:prstGeom>
          <a:noFill/>
        </p:spPr>
        <p:txBody>
          <a:bodyPr wrap="square">
            <a:spAutoFit/>
          </a:bodyPr>
          <a:lstStyle/>
          <a:p>
            <a:pPr>
              <a:buNone/>
            </a:pPr>
            <a:r>
              <a:rPr lang="en-IN" b="1" dirty="0">
                <a:highlight>
                  <a:srgbClr val="FFFF00"/>
                </a:highlight>
              </a:rPr>
              <a:t>What is </a:t>
            </a:r>
            <a:r>
              <a:rPr lang="en-IN" b="1" dirty="0" err="1">
                <a:highlight>
                  <a:srgbClr val="FFFF00"/>
                </a:highlight>
                <a:latin typeface="+mn-lt"/>
              </a:rPr>
              <a:t>cwnd</a:t>
            </a:r>
            <a:r>
              <a:rPr lang="en-IN" b="1" dirty="0">
                <a:highlight>
                  <a:srgbClr val="FFFF00"/>
                </a:highlight>
              </a:rPr>
              <a:t>?</a:t>
            </a:r>
          </a:p>
          <a:p>
            <a:pPr>
              <a:buNone/>
            </a:pPr>
            <a:r>
              <a:rPr lang="en-IN" dirty="0"/>
              <a:t>TCP uses an important value called: </a:t>
            </a:r>
            <a:r>
              <a:rPr lang="en-IN" b="1" dirty="0"/>
              <a:t>Congestion Window (</a:t>
            </a:r>
            <a:r>
              <a:rPr lang="en-IN" b="1" dirty="0" err="1">
                <a:latin typeface="+mn-lt"/>
              </a:rPr>
              <a:t>cwnd</a:t>
            </a:r>
            <a:r>
              <a:rPr lang="en-IN" b="1" dirty="0"/>
              <a:t>)</a:t>
            </a:r>
          </a:p>
          <a:p>
            <a:pPr>
              <a:buNone/>
            </a:pPr>
            <a:endParaRPr lang="en-IN" dirty="0"/>
          </a:p>
          <a:p>
            <a:pPr>
              <a:buNone/>
            </a:pPr>
            <a:r>
              <a:rPr lang="en-IN" dirty="0"/>
              <a:t>Simple terms:</a:t>
            </a:r>
          </a:p>
          <a:p>
            <a:pPr>
              <a:buNone/>
            </a:pPr>
            <a:r>
              <a:rPr lang="en-IN" b="1" dirty="0" err="1"/>
              <a:t>cwnd</a:t>
            </a:r>
            <a:r>
              <a:rPr lang="en-IN" b="1" dirty="0"/>
              <a:t> controls how much unacknowledged data TCP is allowed to have in the network based on congestion conditions.</a:t>
            </a:r>
            <a:endParaRPr lang="en-IN" dirty="0"/>
          </a:p>
        </p:txBody>
      </p:sp>
      <p:sp>
        <p:nvSpPr>
          <p:cNvPr id="10" name="TextBox 9">
            <a:extLst>
              <a:ext uri="{FF2B5EF4-FFF2-40B4-BE49-F238E27FC236}">
                <a16:creationId xmlns:a16="http://schemas.microsoft.com/office/drawing/2014/main" id="{193BF9D9-D9D3-EA75-F4A2-CE0FA1285108}"/>
              </a:ext>
            </a:extLst>
          </p:cNvPr>
          <p:cNvSpPr txBox="1"/>
          <p:nvPr/>
        </p:nvSpPr>
        <p:spPr>
          <a:xfrm>
            <a:off x="388139" y="4933673"/>
            <a:ext cx="2486526" cy="1477328"/>
          </a:xfrm>
          <a:prstGeom prst="rect">
            <a:avLst/>
          </a:prstGeom>
          <a:noFill/>
        </p:spPr>
        <p:txBody>
          <a:bodyPr wrap="square">
            <a:spAutoFit/>
          </a:bodyPr>
          <a:lstStyle/>
          <a:p>
            <a:r>
              <a:rPr lang="en-IN" dirty="0"/>
              <a:t>Small </a:t>
            </a:r>
            <a:r>
              <a:rPr lang="en-IN" dirty="0" err="1"/>
              <a:t>cwnd</a:t>
            </a:r>
            <a:endParaRPr lang="en-IN" dirty="0"/>
          </a:p>
          <a:p>
            <a:r>
              <a:rPr lang="en-IN" dirty="0"/>
              <a:t>    ↓</a:t>
            </a:r>
          </a:p>
          <a:p>
            <a:r>
              <a:rPr lang="en-IN" dirty="0"/>
              <a:t>Less data sent</a:t>
            </a:r>
          </a:p>
          <a:p>
            <a:r>
              <a:rPr lang="en-IN" dirty="0"/>
              <a:t>    ↓</a:t>
            </a:r>
          </a:p>
          <a:p>
            <a:r>
              <a:rPr lang="en-IN" dirty="0"/>
              <a:t>Less load on network</a:t>
            </a:r>
          </a:p>
        </p:txBody>
      </p:sp>
      <p:sp>
        <p:nvSpPr>
          <p:cNvPr id="12" name="TextBox 11">
            <a:extLst>
              <a:ext uri="{FF2B5EF4-FFF2-40B4-BE49-F238E27FC236}">
                <a16:creationId xmlns:a16="http://schemas.microsoft.com/office/drawing/2014/main" id="{18037FFE-A5B0-164B-1027-AD9BD7A61DA7}"/>
              </a:ext>
            </a:extLst>
          </p:cNvPr>
          <p:cNvSpPr txBox="1"/>
          <p:nvPr/>
        </p:nvSpPr>
        <p:spPr>
          <a:xfrm>
            <a:off x="2704659" y="4974550"/>
            <a:ext cx="2727158" cy="923330"/>
          </a:xfrm>
          <a:prstGeom prst="rect">
            <a:avLst/>
          </a:prstGeom>
          <a:noFill/>
        </p:spPr>
        <p:txBody>
          <a:bodyPr wrap="square">
            <a:spAutoFit/>
          </a:bodyPr>
          <a:lstStyle/>
          <a:p>
            <a:r>
              <a:rPr lang="en-IN" dirty="0"/>
              <a:t>Large </a:t>
            </a:r>
            <a:r>
              <a:rPr lang="en-IN" dirty="0" err="1"/>
              <a:t>cwnd</a:t>
            </a:r>
            <a:r>
              <a:rPr lang="en-IN" dirty="0"/>
              <a:t> </a:t>
            </a:r>
          </a:p>
          <a:p>
            <a:r>
              <a:rPr lang="en-IN" dirty="0"/>
              <a:t>↓</a:t>
            </a:r>
          </a:p>
          <a:p>
            <a:r>
              <a:rPr lang="en-IN" dirty="0"/>
              <a:t> More data can be sent</a:t>
            </a:r>
          </a:p>
        </p:txBody>
      </p:sp>
      <p:sp>
        <p:nvSpPr>
          <p:cNvPr id="14" name="TextBox 13">
            <a:extLst>
              <a:ext uri="{FF2B5EF4-FFF2-40B4-BE49-F238E27FC236}">
                <a16:creationId xmlns:a16="http://schemas.microsoft.com/office/drawing/2014/main" id="{D699569E-54F4-2735-A66B-9FCEB1AC06CA}"/>
              </a:ext>
            </a:extLst>
          </p:cNvPr>
          <p:cNvSpPr txBox="1"/>
          <p:nvPr/>
        </p:nvSpPr>
        <p:spPr>
          <a:xfrm>
            <a:off x="5889015" y="2348350"/>
            <a:ext cx="5914845" cy="3416320"/>
          </a:xfrm>
          <a:prstGeom prst="rect">
            <a:avLst/>
          </a:prstGeom>
          <a:noFill/>
        </p:spPr>
        <p:txBody>
          <a:bodyPr wrap="square">
            <a:spAutoFit/>
          </a:bodyPr>
          <a:lstStyle/>
          <a:p>
            <a:pPr>
              <a:buNone/>
            </a:pPr>
            <a:r>
              <a:rPr lang="en-IN" b="1" dirty="0">
                <a:highlight>
                  <a:srgbClr val="FFFF00"/>
                </a:highlight>
              </a:rPr>
              <a:t>What About </a:t>
            </a:r>
            <a:r>
              <a:rPr lang="en-IN" b="1" dirty="0" err="1">
                <a:highlight>
                  <a:srgbClr val="FFFF00"/>
                </a:highlight>
                <a:latin typeface="+mn-lt"/>
              </a:rPr>
              <a:t>rwnd</a:t>
            </a:r>
            <a:r>
              <a:rPr lang="en-IN" b="1" dirty="0">
                <a:highlight>
                  <a:srgbClr val="FFFF00"/>
                </a:highlight>
              </a:rPr>
              <a:t>?</a:t>
            </a:r>
          </a:p>
          <a:p>
            <a:pPr>
              <a:buNone/>
            </a:pPr>
            <a:r>
              <a:rPr lang="en-IN" dirty="0"/>
              <a:t>Now we have two windows: </a:t>
            </a:r>
            <a:r>
              <a:rPr lang="en-IN" b="1" dirty="0" err="1">
                <a:latin typeface="+mn-lt"/>
              </a:rPr>
              <a:t>rwnd</a:t>
            </a:r>
            <a:r>
              <a:rPr lang="en-IN" b="1" dirty="0">
                <a:latin typeface="+mn-lt"/>
              </a:rPr>
              <a:t> (</a:t>
            </a:r>
            <a:r>
              <a:rPr lang="en-IN" b="1" dirty="0"/>
              <a:t>Receiver Window)</a:t>
            </a:r>
            <a:endParaRPr lang="en-IN" dirty="0"/>
          </a:p>
          <a:p>
            <a:pPr>
              <a:buNone/>
            </a:pPr>
            <a:r>
              <a:rPr lang="en-IN" dirty="0"/>
              <a:t>It tells: How much data can the </a:t>
            </a:r>
            <a:r>
              <a:rPr lang="en-IN" b="1" dirty="0"/>
              <a:t>receiver handle?</a:t>
            </a:r>
            <a:endParaRPr lang="en-IN" b="1" dirty="0">
              <a:latin typeface="+mn-lt"/>
            </a:endParaRPr>
          </a:p>
          <a:p>
            <a:pPr>
              <a:buNone/>
            </a:pPr>
            <a:endParaRPr lang="en-IN" b="1" dirty="0">
              <a:latin typeface="+mn-lt"/>
            </a:endParaRPr>
          </a:p>
          <a:p>
            <a:pPr>
              <a:buNone/>
            </a:pPr>
            <a:r>
              <a:rPr lang="en-IN" b="1" dirty="0" err="1">
                <a:latin typeface="+mn-lt"/>
              </a:rPr>
              <a:t>Cwnd</a:t>
            </a:r>
            <a:r>
              <a:rPr lang="en-IN" b="1" dirty="0"/>
              <a:t>: Congestion Window</a:t>
            </a:r>
            <a:endParaRPr lang="en-IN" dirty="0"/>
          </a:p>
          <a:p>
            <a:pPr>
              <a:buNone/>
            </a:pPr>
            <a:r>
              <a:rPr lang="en-IN" dirty="0"/>
              <a:t>It tells: How much data should the </a:t>
            </a:r>
            <a:r>
              <a:rPr lang="en-IN" b="1" dirty="0"/>
              <a:t>network be allowed to carry from this TCP sender?</a:t>
            </a:r>
          </a:p>
          <a:p>
            <a:pPr>
              <a:buNone/>
            </a:pPr>
            <a:endParaRPr lang="en-IN" dirty="0"/>
          </a:p>
          <a:p>
            <a:pPr>
              <a:buNone/>
            </a:pPr>
            <a:r>
              <a:rPr lang="en-IN" dirty="0"/>
              <a:t>So TCP's sending is limited by both.</a:t>
            </a:r>
          </a:p>
          <a:p>
            <a:pPr>
              <a:buNone/>
            </a:pPr>
            <a:endParaRPr lang="en-IN" dirty="0"/>
          </a:p>
          <a:p>
            <a:pPr>
              <a:buNone/>
            </a:pPr>
            <a:r>
              <a:rPr lang="en-IN" dirty="0"/>
              <a:t>In simplified form:</a:t>
            </a:r>
          </a:p>
          <a:p>
            <a:pPr>
              <a:buNone/>
            </a:pPr>
            <a:r>
              <a:rPr lang="en-IN" b="1" dirty="0"/>
              <a:t>Usable Send Window=min(</a:t>
            </a:r>
            <a:r>
              <a:rPr lang="en-IN" b="1" dirty="0" err="1"/>
              <a:t>rwnd</a:t>
            </a:r>
            <a:r>
              <a:rPr lang="en-IN" b="1" dirty="0"/>
              <a:t>, </a:t>
            </a:r>
            <a:r>
              <a:rPr lang="en-IN" b="1" dirty="0" err="1"/>
              <a:t>cwnd</a:t>
            </a:r>
            <a:r>
              <a:rPr lang="en-IN" b="1" dirty="0"/>
              <a:t>)</a:t>
            </a:r>
          </a:p>
        </p:txBody>
      </p:sp>
    </p:spTree>
    <p:extLst>
      <p:ext uri="{BB962C8B-B14F-4D97-AF65-F5344CB8AC3E}">
        <p14:creationId xmlns:p14="http://schemas.microsoft.com/office/powerpoint/2010/main" val="30169260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49475-CE8E-CBEB-B303-79B64BDB9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214D1-DCDD-1E1C-12C3-05DAD2008105}"/>
              </a:ext>
            </a:extLst>
          </p:cNvPr>
          <p:cNvSpPr>
            <a:spLocks noGrp="1"/>
          </p:cNvSpPr>
          <p:nvPr>
            <p:ph type="title"/>
          </p:nvPr>
        </p:nvSpPr>
        <p:spPr>
          <a:xfrm>
            <a:off x="275844" y="495220"/>
            <a:ext cx="11640312" cy="464900"/>
          </a:xfrm>
        </p:spPr>
        <p:txBody>
          <a:bodyPr>
            <a:normAutofit/>
          </a:bodyPr>
          <a:lstStyle/>
          <a:p>
            <a:r>
              <a:rPr lang="en-US" sz="2400" b="1" dirty="0"/>
              <a:t>TCP Congestion Control</a:t>
            </a:r>
            <a:endParaRPr lang="en-IN" sz="2400" b="1" dirty="0"/>
          </a:p>
        </p:txBody>
      </p:sp>
      <p:sp>
        <p:nvSpPr>
          <p:cNvPr id="5" name="TextBox 4">
            <a:extLst>
              <a:ext uri="{FF2B5EF4-FFF2-40B4-BE49-F238E27FC236}">
                <a16:creationId xmlns:a16="http://schemas.microsoft.com/office/drawing/2014/main" id="{896578B0-89D6-045E-A81B-D9350AC027CC}"/>
              </a:ext>
            </a:extLst>
          </p:cNvPr>
          <p:cNvSpPr txBox="1"/>
          <p:nvPr/>
        </p:nvSpPr>
        <p:spPr>
          <a:xfrm>
            <a:off x="275843" y="1120676"/>
            <a:ext cx="11640311" cy="1754326"/>
          </a:xfrm>
          <a:prstGeom prst="rect">
            <a:avLst/>
          </a:prstGeom>
          <a:noFill/>
        </p:spPr>
        <p:txBody>
          <a:bodyPr wrap="square">
            <a:spAutoFit/>
          </a:bodyPr>
          <a:lstStyle/>
          <a:p>
            <a:pPr>
              <a:buNone/>
            </a:pPr>
            <a:r>
              <a:rPr lang="en-IN" b="1" dirty="0">
                <a:highlight>
                  <a:srgbClr val="FFFF00"/>
                </a:highlight>
              </a:rPr>
              <a:t>What is Slow Start?</a:t>
            </a:r>
          </a:p>
          <a:p>
            <a:pPr>
              <a:buNone/>
            </a:pPr>
            <a:r>
              <a:rPr lang="en-IN" dirty="0"/>
              <a:t>When a new TCP connection begins, the sender does not initially know how much traffic the network can safely handle.</a:t>
            </a:r>
          </a:p>
          <a:p>
            <a:pPr>
              <a:buNone/>
            </a:pPr>
            <a:r>
              <a:rPr lang="en-IN" dirty="0"/>
              <a:t>It would be risky to immediately send a huge amount of data.</a:t>
            </a:r>
          </a:p>
          <a:p>
            <a:pPr>
              <a:buNone/>
            </a:pPr>
            <a:endParaRPr lang="en-IN" dirty="0"/>
          </a:p>
          <a:p>
            <a:pPr>
              <a:buNone/>
            </a:pPr>
            <a:r>
              <a:rPr lang="en-IN" dirty="0"/>
              <a:t>So TCP starts with a relatively small congestion window and increases it quickly while acknowledgments arrive successfully.</a:t>
            </a:r>
          </a:p>
          <a:p>
            <a:pPr>
              <a:buNone/>
            </a:pPr>
            <a:r>
              <a:rPr lang="en-IN" dirty="0"/>
              <a:t>This mechanism is called: </a:t>
            </a:r>
            <a:r>
              <a:rPr lang="en-IN" b="1" dirty="0"/>
              <a:t>Slow Start</a:t>
            </a:r>
            <a:endParaRPr lang="en-IN" dirty="0"/>
          </a:p>
        </p:txBody>
      </p:sp>
      <p:sp>
        <p:nvSpPr>
          <p:cNvPr id="9" name="TextBox 8">
            <a:extLst>
              <a:ext uri="{FF2B5EF4-FFF2-40B4-BE49-F238E27FC236}">
                <a16:creationId xmlns:a16="http://schemas.microsoft.com/office/drawing/2014/main" id="{D7B3690D-A132-94BA-DE15-13C8C3AC9B6B}"/>
              </a:ext>
            </a:extLst>
          </p:cNvPr>
          <p:cNvSpPr txBox="1"/>
          <p:nvPr/>
        </p:nvSpPr>
        <p:spPr>
          <a:xfrm>
            <a:off x="275843" y="2887682"/>
            <a:ext cx="6096000" cy="3693319"/>
          </a:xfrm>
          <a:prstGeom prst="rect">
            <a:avLst/>
          </a:prstGeom>
          <a:noFill/>
        </p:spPr>
        <p:txBody>
          <a:bodyPr wrap="square">
            <a:spAutoFit/>
          </a:bodyPr>
          <a:lstStyle/>
          <a:p>
            <a:pPr>
              <a:buNone/>
            </a:pPr>
            <a:r>
              <a:rPr lang="en-IN" b="1" dirty="0"/>
              <a:t>How Does Slow Start Work?</a:t>
            </a:r>
          </a:p>
          <a:p>
            <a:pPr>
              <a:buNone/>
            </a:pPr>
            <a:r>
              <a:rPr lang="en-IN" dirty="0"/>
              <a:t>suppose: </a:t>
            </a:r>
            <a:r>
              <a:rPr lang="en-IN" dirty="0">
                <a:latin typeface="+mn-lt"/>
              </a:rPr>
              <a:t>Initial </a:t>
            </a:r>
            <a:r>
              <a:rPr lang="en-IN" dirty="0" err="1">
                <a:latin typeface="+mn-lt"/>
              </a:rPr>
              <a:t>cwnd</a:t>
            </a:r>
            <a:r>
              <a:rPr lang="en-IN" dirty="0">
                <a:latin typeface="+mn-lt"/>
              </a:rPr>
              <a:t> = 1 MSS</a:t>
            </a:r>
          </a:p>
          <a:p>
            <a:pPr>
              <a:buNone/>
            </a:pPr>
            <a:endParaRPr lang="en-IN" dirty="0"/>
          </a:p>
          <a:p>
            <a:pPr>
              <a:buNone/>
            </a:pPr>
            <a:r>
              <a:rPr lang="en-IN" dirty="0"/>
              <a:t>Start: </a:t>
            </a:r>
            <a:r>
              <a:rPr lang="en-IN" dirty="0" err="1">
                <a:latin typeface="+mn-lt"/>
              </a:rPr>
              <a:t>cwnd</a:t>
            </a:r>
            <a:r>
              <a:rPr lang="en-IN" dirty="0">
                <a:latin typeface="+mn-lt"/>
              </a:rPr>
              <a:t> = 1</a:t>
            </a:r>
          </a:p>
          <a:p>
            <a:pPr>
              <a:buNone/>
            </a:pPr>
            <a:r>
              <a:rPr lang="en-IN" dirty="0"/>
              <a:t>After successful ACKs: </a:t>
            </a:r>
            <a:r>
              <a:rPr lang="en-IN" dirty="0" err="1">
                <a:latin typeface="+mn-lt"/>
              </a:rPr>
              <a:t>cwnd</a:t>
            </a:r>
            <a:r>
              <a:rPr lang="en-IN" dirty="0">
                <a:latin typeface="+mn-lt"/>
              </a:rPr>
              <a:t> = 2</a:t>
            </a:r>
          </a:p>
          <a:p>
            <a:pPr>
              <a:buNone/>
            </a:pPr>
            <a:endParaRPr lang="en-IN" dirty="0"/>
          </a:p>
          <a:p>
            <a:pPr>
              <a:buNone/>
            </a:pPr>
            <a:r>
              <a:rPr lang="en-IN" dirty="0"/>
              <a:t>Then: </a:t>
            </a:r>
            <a:r>
              <a:rPr lang="en-IN" dirty="0" err="1">
                <a:latin typeface="+mn-lt"/>
              </a:rPr>
              <a:t>cwnd</a:t>
            </a:r>
            <a:r>
              <a:rPr lang="en-IN" dirty="0">
                <a:latin typeface="+mn-lt"/>
              </a:rPr>
              <a:t> = 4</a:t>
            </a:r>
          </a:p>
          <a:p>
            <a:pPr>
              <a:buNone/>
            </a:pPr>
            <a:endParaRPr lang="en-IN" dirty="0"/>
          </a:p>
          <a:p>
            <a:pPr>
              <a:buNone/>
            </a:pPr>
            <a:r>
              <a:rPr lang="en-IN" dirty="0"/>
              <a:t>Then: </a:t>
            </a:r>
            <a:r>
              <a:rPr lang="en-IN" dirty="0" err="1">
                <a:latin typeface="+mn-lt"/>
              </a:rPr>
              <a:t>cwnd</a:t>
            </a:r>
            <a:r>
              <a:rPr lang="en-IN" dirty="0">
                <a:latin typeface="+mn-lt"/>
              </a:rPr>
              <a:t> = 8</a:t>
            </a:r>
          </a:p>
          <a:p>
            <a:pPr>
              <a:buNone/>
            </a:pPr>
            <a:endParaRPr lang="en-IN" dirty="0"/>
          </a:p>
          <a:p>
            <a:pPr>
              <a:buNone/>
            </a:pPr>
            <a:r>
              <a:rPr lang="en-IN" dirty="0"/>
              <a:t>Then: </a:t>
            </a:r>
            <a:r>
              <a:rPr lang="en-IN" dirty="0" err="1">
                <a:latin typeface="+mn-lt"/>
              </a:rPr>
              <a:t>cwnd</a:t>
            </a:r>
            <a:r>
              <a:rPr lang="en-IN" dirty="0">
                <a:latin typeface="+mn-lt"/>
              </a:rPr>
              <a:t> = 16</a:t>
            </a:r>
          </a:p>
          <a:p>
            <a:pPr>
              <a:buNone/>
            </a:pPr>
            <a:endParaRPr lang="en-IN" dirty="0"/>
          </a:p>
          <a:p>
            <a:pPr>
              <a:buNone/>
            </a:pPr>
            <a:r>
              <a:rPr lang="en-IN" dirty="0"/>
              <a:t>So conceptually: </a:t>
            </a:r>
            <a:r>
              <a:rPr lang="en-IN" dirty="0">
                <a:latin typeface="+mn-lt"/>
              </a:rPr>
              <a:t>1 → 2 → 4 → 8 → 16 ...</a:t>
            </a:r>
            <a:endParaRPr lang="en-IN" dirty="0">
              <a:latin typeface="Courier New" panose="02070309020205020404" pitchFamily="49" charset="0"/>
            </a:endParaRPr>
          </a:p>
        </p:txBody>
      </p:sp>
      <p:sp>
        <p:nvSpPr>
          <p:cNvPr id="13" name="TextBox 12">
            <a:extLst>
              <a:ext uri="{FF2B5EF4-FFF2-40B4-BE49-F238E27FC236}">
                <a16:creationId xmlns:a16="http://schemas.microsoft.com/office/drawing/2014/main" id="{44AB687E-4DF3-450C-CE7F-89033549A753}"/>
              </a:ext>
            </a:extLst>
          </p:cNvPr>
          <p:cNvSpPr txBox="1"/>
          <p:nvPr/>
        </p:nvSpPr>
        <p:spPr>
          <a:xfrm>
            <a:off x="5871411" y="3618142"/>
            <a:ext cx="5213685" cy="2585323"/>
          </a:xfrm>
          <a:prstGeom prst="rect">
            <a:avLst/>
          </a:prstGeom>
          <a:noFill/>
        </p:spPr>
        <p:txBody>
          <a:bodyPr wrap="square">
            <a:spAutoFit/>
          </a:bodyPr>
          <a:lstStyle/>
          <a:p>
            <a:pPr>
              <a:buNone/>
            </a:pPr>
            <a:r>
              <a:rPr lang="en-IN" b="1" dirty="0"/>
              <a:t>But Can TCP Keep Doubling Forever?</a:t>
            </a:r>
          </a:p>
          <a:p>
            <a:pPr>
              <a:buNone/>
            </a:pPr>
            <a:r>
              <a:rPr lang="en-IN" dirty="0"/>
              <a:t>No.</a:t>
            </a:r>
          </a:p>
          <a:p>
            <a:pPr>
              <a:buNone/>
            </a:pPr>
            <a:r>
              <a:rPr lang="en-IN" dirty="0"/>
              <a:t>Imagine:</a:t>
            </a:r>
          </a:p>
          <a:p>
            <a:pPr rtl="0">
              <a:buNone/>
            </a:pPr>
            <a:r>
              <a:rPr lang="en-IN" dirty="0">
                <a:latin typeface="+mn-lt"/>
              </a:rPr>
              <a:t>1 → 2 → 4 → 8 → 16 → 32 → 64 → 128...</a:t>
            </a:r>
          </a:p>
          <a:p>
            <a:pPr>
              <a:buNone/>
            </a:pPr>
            <a:r>
              <a:rPr lang="en-IN" dirty="0"/>
              <a:t>Eventually, sending too aggressively could overload the network.</a:t>
            </a:r>
          </a:p>
          <a:p>
            <a:pPr>
              <a:buNone/>
            </a:pPr>
            <a:r>
              <a:rPr lang="en-IN" dirty="0"/>
              <a:t>So TCP needs to become more careful.</a:t>
            </a:r>
          </a:p>
          <a:p>
            <a:pPr>
              <a:buNone/>
            </a:pPr>
            <a:r>
              <a:rPr lang="en-IN" dirty="0"/>
              <a:t>This brings us to:</a:t>
            </a:r>
          </a:p>
          <a:p>
            <a:pPr>
              <a:buNone/>
            </a:pPr>
            <a:r>
              <a:rPr lang="en-IN" b="1" dirty="0"/>
              <a:t>AIMD</a:t>
            </a:r>
          </a:p>
        </p:txBody>
      </p:sp>
    </p:spTree>
    <p:extLst>
      <p:ext uri="{BB962C8B-B14F-4D97-AF65-F5344CB8AC3E}">
        <p14:creationId xmlns:p14="http://schemas.microsoft.com/office/powerpoint/2010/main" val="86519174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02BE7-F366-A7CB-4B9A-5570A896C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6875C-5A01-3F03-DDC6-C74DC224E99F}"/>
              </a:ext>
            </a:extLst>
          </p:cNvPr>
          <p:cNvSpPr>
            <a:spLocks noGrp="1"/>
          </p:cNvSpPr>
          <p:nvPr>
            <p:ph type="title"/>
          </p:nvPr>
        </p:nvSpPr>
        <p:spPr>
          <a:xfrm>
            <a:off x="275844" y="495220"/>
            <a:ext cx="11640312" cy="464900"/>
          </a:xfrm>
        </p:spPr>
        <p:txBody>
          <a:bodyPr>
            <a:normAutofit/>
          </a:bodyPr>
          <a:lstStyle/>
          <a:p>
            <a:r>
              <a:rPr lang="en-US" sz="2400" b="1" dirty="0"/>
              <a:t>TCP Congestion Control</a:t>
            </a:r>
            <a:endParaRPr lang="en-IN" sz="2400" b="1" dirty="0"/>
          </a:p>
        </p:txBody>
      </p:sp>
      <p:sp>
        <p:nvSpPr>
          <p:cNvPr id="4" name="TextBox 3">
            <a:extLst>
              <a:ext uri="{FF2B5EF4-FFF2-40B4-BE49-F238E27FC236}">
                <a16:creationId xmlns:a16="http://schemas.microsoft.com/office/drawing/2014/main" id="{0019C113-E145-D567-AD92-FB67835F26E3}"/>
              </a:ext>
            </a:extLst>
          </p:cNvPr>
          <p:cNvSpPr txBox="1"/>
          <p:nvPr/>
        </p:nvSpPr>
        <p:spPr>
          <a:xfrm>
            <a:off x="275844" y="960120"/>
            <a:ext cx="7889588" cy="369332"/>
          </a:xfrm>
          <a:prstGeom prst="rect">
            <a:avLst/>
          </a:prstGeom>
          <a:noFill/>
        </p:spPr>
        <p:txBody>
          <a:bodyPr wrap="square">
            <a:spAutoFit/>
          </a:bodyPr>
          <a:lstStyle/>
          <a:p>
            <a:pPr>
              <a:buNone/>
            </a:pPr>
            <a:r>
              <a:rPr lang="en-IN" dirty="0"/>
              <a:t>AIMD stands for: </a:t>
            </a:r>
            <a:r>
              <a:rPr lang="en-IN" b="1" dirty="0"/>
              <a:t>Additive Increase, Multiplicative Decrease</a:t>
            </a:r>
            <a:endParaRPr lang="en-IN" dirty="0"/>
          </a:p>
        </p:txBody>
      </p:sp>
      <p:sp>
        <p:nvSpPr>
          <p:cNvPr id="7" name="TextBox 6">
            <a:extLst>
              <a:ext uri="{FF2B5EF4-FFF2-40B4-BE49-F238E27FC236}">
                <a16:creationId xmlns:a16="http://schemas.microsoft.com/office/drawing/2014/main" id="{B54C309D-A243-2B39-9171-CF9E58F7AFBD}"/>
              </a:ext>
            </a:extLst>
          </p:cNvPr>
          <p:cNvSpPr txBox="1"/>
          <p:nvPr/>
        </p:nvSpPr>
        <p:spPr>
          <a:xfrm>
            <a:off x="160421" y="1681007"/>
            <a:ext cx="4892842" cy="4524315"/>
          </a:xfrm>
          <a:prstGeom prst="rect">
            <a:avLst/>
          </a:prstGeom>
          <a:noFill/>
        </p:spPr>
        <p:txBody>
          <a:bodyPr wrap="square">
            <a:spAutoFit/>
          </a:bodyPr>
          <a:lstStyle/>
          <a:p>
            <a:pPr>
              <a:buNone/>
            </a:pPr>
            <a:r>
              <a:rPr lang="en-IN" b="1" dirty="0">
                <a:highlight>
                  <a:srgbClr val="FFFF00"/>
                </a:highlight>
              </a:rPr>
              <a:t>Additive Increase</a:t>
            </a:r>
          </a:p>
          <a:p>
            <a:pPr>
              <a:buNone/>
            </a:pPr>
            <a:endParaRPr lang="en-IN" dirty="0"/>
          </a:p>
          <a:p>
            <a:pPr>
              <a:buNone/>
            </a:pPr>
            <a:r>
              <a:rPr lang="en-IN" dirty="0"/>
              <a:t>Once TCP is operating more cautiously in congestion avoidance, it increases </a:t>
            </a:r>
            <a:r>
              <a:rPr lang="en-IN" dirty="0" err="1">
                <a:latin typeface="+mn-lt"/>
              </a:rPr>
              <a:t>cwnd</a:t>
            </a:r>
            <a:r>
              <a:rPr lang="en-IN" dirty="0"/>
              <a:t> </a:t>
            </a:r>
            <a:r>
              <a:rPr lang="en-IN" b="1" dirty="0"/>
              <a:t>slowly</a:t>
            </a:r>
            <a:r>
              <a:rPr lang="en-IN" dirty="0"/>
              <a:t>.</a:t>
            </a:r>
          </a:p>
          <a:p>
            <a:pPr>
              <a:buNone/>
            </a:pPr>
            <a:endParaRPr lang="en-IN" dirty="0"/>
          </a:p>
          <a:p>
            <a:pPr>
              <a:buNone/>
            </a:pPr>
            <a:r>
              <a:rPr lang="en-IN" dirty="0"/>
              <a:t>Eg:</a:t>
            </a:r>
          </a:p>
          <a:p>
            <a:pPr rtl="0">
              <a:buNone/>
            </a:pPr>
            <a:r>
              <a:rPr lang="en-IN" dirty="0">
                <a:latin typeface="+mn-lt"/>
              </a:rPr>
              <a:t>10 → 11 → 12 → 13 → 14 ...</a:t>
            </a:r>
          </a:p>
          <a:p>
            <a:pPr>
              <a:buNone/>
            </a:pPr>
            <a:endParaRPr lang="en-IN" dirty="0"/>
          </a:p>
          <a:p>
            <a:pPr>
              <a:buNone/>
            </a:pPr>
            <a:r>
              <a:rPr lang="en-IN" dirty="0"/>
              <a:t>instead of:</a:t>
            </a:r>
          </a:p>
          <a:p>
            <a:pPr rtl="0">
              <a:buNone/>
            </a:pPr>
            <a:r>
              <a:rPr lang="en-IN" dirty="0">
                <a:latin typeface="+mn-lt"/>
              </a:rPr>
              <a:t>10 → 20 → 40 → 80</a:t>
            </a:r>
          </a:p>
          <a:p>
            <a:pPr>
              <a:buNone/>
            </a:pPr>
            <a:endParaRPr lang="en-IN" dirty="0"/>
          </a:p>
          <a:p>
            <a:pPr>
              <a:buNone/>
            </a:pPr>
            <a:r>
              <a:rPr lang="en-IN" dirty="0"/>
              <a:t>This is the </a:t>
            </a:r>
            <a:r>
              <a:rPr lang="en-IN" b="1" dirty="0"/>
              <a:t>Additive Increase</a:t>
            </a:r>
            <a:r>
              <a:rPr lang="en-IN" dirty="0"/>
              <a:t> idea.</a:t>
            </a:r>
          </a:p>
          <a:p>
            <a:pPr>
              <a:buNone/>
            </a:pPr>
            <a:endParaRPr lang="en-IN" b="1" dirty="0"/>
          </a:p>
          <a:p>
            <a:pPr>
              <a:buNone/>
            </a:pPr>
            <a:r>
              <a:rPr lang="en-IN" b="1" dirty="0"/>
              <a:t>When the network appears to be working well, TCP gradually increases the amount of data it sends.</a:t>
            </a:r>
            <a:endParaRPr lang="en-IN" dirty="0"/>
          </a:p>
        </p:txBody>
      </p:sp>
      <p:sp>
        <p:nvSpPr>
          <p:cNvPr id="10" name="TextBox 9">
            <a:extLst>
              <a:ext uri="{FF2B5EF4-FFF2-40B4-BE49-F238E27FC236}">
                <a16:creationId xmlns:a16="http://schemas.microsoft.com/office/drawing/2014/main" id="{FD15B2BE-6426-7288-6219-B5763FFD0A98}"/>
              </a:ext>
            </a:extLst>
          </p:cNvPr>
          <p:cNvSpPr txBox="1"/>
          <p:nvPr/>
        </p:nvSpPr>
        <p:spPr>
          <a:xfrm>
            <a:off x="5229726" y="1478849"/>
            <a:ext cx="6561222" cy="5355312"/>
          </a:xfrm>
          <a:prstGeom prst="rect">
            <a:avLst/>
          </a:prstGeom>
          <a:noFill/>
        </p:spPr>
        <p:txBody>
          <a:bodyPr wrap="square">
            <a:spAutoFit/>
          </a:bodyPr>
          <a:lstStyle/>
          <a:p>
            <a:pPr>
              <a:buNone/>
            </a:pPr>
            <a:r>
              <a:rPr lang="en-IN" b="1" dirty="0">
                <a:highlight>
                  <a:srgbClr val="FFFF00"/>
                </a:highlight>
              </a:rPr>
              <a:t>Multiplicative Decrease</a:t>
            </a:r>
          </a:p>
          <a:p>
            <a:pPr>
              <a:buNone/>
            </a:pPr>
            <a:r>
              <a:rPr lang="en-IN" dirty="0"/>
              <a:t>Now suppose TCP detects congestion. It should not continue increasing.</a:t>
            </a:r>
          </a:p>
          <a:p>
            <a:pPr>
              <a:buNone/>
            </a:pPr>
            <a:r>
              <a:rPr lang="en-IN" dirty="0"/>
              <a:t>Instead, it </a:t>
            </a:r>
            <a:r>
              <a:rPr lang="en-IN" b="1" dirty="0"/>
              <a:t>reduces its congestion window significantly</a:t>
            </a:r>
            <a:r>
              <a:rPr lang="en-IN" dirty="0"/>
              <a:t>.</a:t>
            </a:r>
          </a:p>
          <a:p>
            <a:pPr>
              <a:buNone/>
            </a:pPr>
            <a:endParaRPr lang="en-IN" dirty="0"/>
          </a:p>
          <a:p>
            <a:pPr>
              <a:buNone/>
            </a:pPr>
            <a:r>
              <a:rPr lang="en-IN" dirty="0"/>
              <a:t>A common AIMD illustration is:</a:t>
            </a:r>
          </a:p>
          <a:p>
            <a:pPr rtl="0">
              <a:buNone/>
            </a:pPr>
            <a:r>
              <a:rPr lang="en-IN" dirty="0" err="1">
                <a:latin typeface="+mn-lt"/>
              </a:rPr>
              <a:t>cwnd</a:t>
            </a:r>
            <a:r>
              <a:rPr lang="en-IN" dirty="0">
                <a:latin typeface="+mn-lt"/>
              </a:rPr>
              <a:t> = 16</a:t>
            </a:r>
          </a:p>
          <a:p>
            <a:pPr>
              <a:buNone/>
            </a:pPr>
            <a:endParaRPr lang="en-IN" dirty="0"/>
          </a:p>
          <a:p>
            <a:pPr>
              <a:buNone/>
            </a:pPr>
            <a:r>
              <a:rPr lang="en-IN" dirty="0"/>
              <a:t>Congestion occurs:</a:t>
            </a:r>
          </a:p>
          <a:p>
            <a:pPr rtl="0">
              <a:buNone/>
            </a:pPr>
            <a:r>
              <a:rPr lang="en-IN" dirty="0">
                <a:latin typeface="+mn-lt"/>
              </a:rPr>
              <a:t>16</a:t>
            </a:r>
          </a:p>
          <a:p>
            <a:pPr rtl="0">
              <a:buNone/>
            </a:pPr>
            <a:r>
              <a:rPr lang="en-IN" dirty="0">
                <a:latin typeface="+mn-lt"/>
              </a:rPr>
              <a:t> ↓</a:t>
            </a:r>
          </a:p>
          <a:p>
            <a:pPr rtl="0">
              <a:buNone/>
            </a:pPr>
            <a:r>
              <a:rPr lang="en-IN" dirty="0">
                <a:latin typeface="+mn-lt"/>
              </a:rPr>
              <a:t> 8</a:t>
            </a:r>
          </a:p>
          <a:p>
            <a:pPr>
              <a:buNone/>
            </a:pPr>
            <a:r>
              <a:rPr lang="en-IN" dirty="0"/>
              <a:t>So the window is reduced, commonly illustrated as approximately half for congestion-avoidance </a:t>
            </a:r>
            <a:r>
              <a:rPr lang="en-IN" dirty="0" err="1"/>
              <a:t>behavior</a:t>
            </a:r>
            <a:r>
              <a:rPr lang="en-IN" dirty="0"/>
              <a:t>.</a:t>
            </a:r>
          </a:p>
          <a:p>
            <a:pPr>
              <a:buNone/>
            </a:pPr>
            <a:r>
              <a:rPr lang="en-IN" dirty="0"/>
              <a:t>This is:</a:t>
            </a:r>
          </a:p>
          <a:p>
            <a:pPr>
              <a:buNone/>
            </a:pPr>
            <a:r>
              <a:rPr lang="en-IN" b="1" dirty="0"/>
              <a:t>Multiplicative Decrease</a:t>
            </a:r>
            <a:endParaRPr lang="en-IN" dirty="0"/>
          </a:p>
          <a:p>
            <a:pPr>
              <a:buNone/>
            </a:pPr>
            <a:r>
              <a:rPr lang="en-IN" dirty="0"/>
              <a:t>The simple idea is:</a:t>
            </a:r>
          </a:p>
          <a:p>
            <a:pPr>
              <a:buNone/>
            </a:pPr>
            <a:r>
              <a:rPr lang="en-IN" b="1" dirty="0"/>
              <a:t>When congestion is detected, TCP significantly reduces its sending rate.</a:t>
            </a:r>
            <a:endParaRPr lang="en-IN" dirty="0"/>
          </a:p>
        </p:txBody>
      </p:sp>
    </p:spTree>
    <p:extLst>
      <p:ext uri="{BB962C8B-B14F-4D97-AF65-F5344CB8AC3E}">
        <p14:creationId xmlns:p14="http://schemas.microsoft.com/office/powerpoint/2010/main" val="152860800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9CF3C-B007-E305-C8E3-6DBC7C2DE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BDA97-B30A-6897-CF18-865B489479E2}"/>
              </a:ext>
            </a:extLst>
          </p:cNvPr>
          <p:cNvSpPr>
            <a:spLocks noGrp="1"/>
          </p:cNvSpPr>
          <p:nvPr>
            <p:ph type="title"/>
          </p:nvPr>
        </p:nvSpPr>
        <p:spPr>
          <a:xfrm>
            <a:off x="275844" y="495220"/>
            <a:ext cx="11640312" cy="464900"/>
          </a:xfrm>
        </p:spPr>
        <p:txBody>
          <a:bodyPr>
            <a:normAutofit/>
          </a:bodyPr>
          <a:lstStyle/>
          <a:p>
            <a:r>
              <a:rPr lang="en-US" sz="2400" b="1" dirty="0"/>
              <a:t>MPTCP - </a:t>
            </a:r>
            <a:r>
              <a:rPr lang="en-IN" sz="2400" dirty="0"/>
              <a:t>Multipath TCP</a:t>
            </a:r>
            <a:endParaRPr lang="en-IN" sz="2400" b="1" dirty="0"/>
          </a:p>
        </p:txBody>
      </p:sp>
      <p:sp>
        <p:nvSpPr>
          <p:cNvPr id="4" name="TextBox 3">
            <a:extLst>
              <a:ext uri="{FF2B5EF4-FFF2-40B4-BE49-F238E27FC236}">
                <a16:creationId xmlns:a16="http://schemas.microsoft.com/office/drawing/2014/main" id="{5927D115-ADB2-757F-D57E-B9F9F3913F41}"/>
              </a:ext>
            </a:extLst>
          </p:cNvPr>
          <p:cNvSpPr txBox="1"/>
          <p:nvPr/>
        </p:nvSpPr>
        <p:spPr>
          <a:xfrm>
            <a:off x="275843" y="1120624"/>
            <a:ext cx="10841335" cy="369332"/>
          </a:xfrm>
          <a:prstGeom prst="rect">
            <a:avLst/>
          </a:prstGeom>
          <a:noFill/>
        </p:spPr>
        <p:txBody>
          <a:bodyPr wrap="square">
            <a:spAutoFit/>
          </a:bodyPr>
          <a:lstStyle/>
          <a:p>
            <a:r>
              <a:rPr lang="en-IN" dirty="0"/>
              <a:t>Multipath TCP (MPTCP) is an extension of TCP that allows one connection to use multiple network paths.</a:t>
            </a:r>
          </a:p>
        </p:txBody>
      </p:sp>
      <p:pic>
        <p:nvPicPr>
          <p:cNvPr id="6" name="Picture 5">
            <a:extLst>
              <a:ext uri="{FF2B5EF4-FFF2-40B4-BE49-F238E27FC236}">
                <a16:creationId xmlns:a16="http://schemas.microsoft.com/office/drawing/2014/main" id="{3868DA9B-FADF-AF14-6AF8-EF9EA3D4737B}"/>
              </a:ext>
            </a:extLst>
          </p:cNvPr>
          <p:cNvPicPr>
            <a:picLocks noChangeAspect="1"/>
          </p:cNvPicPr>
          <p:nvPr/>
        </p:nvPicPr>
        <p:blipFill>
          <a:blip r:embed="rId2"/>
          <a:stretch>
            <a:fillRect/>
          </a:stretch>
        </p:blipFill>
        <p:spPr>
          <a:xfrm>
            <a:off x="275843" y="1719023"/>
            <a:ext cx="4681168" cy="4890323"/>
          </a:xfrm>
          <a:prstGeom prst="rect">
            <a:avLst/>
          </a:prstGeom>
        </p:spPr>
      </p:pic>
      <p:graphicFrame>
        <p:nvGraphicFramePr>
          <p:cNvPr id="7" name="Table 6">
            <a:extLst>
              <a:ext uri="{FF2B5EF4-FFF2-40B4-BE49-F238E27FC236}">
                <a16:creationId xmlns:a16="http://schemas.microsoft.com/office/drawing/2014/main" id="{352B7E6A-D493-0D84-D582-E13C811CF5B1}"/>
              </a:ext>
            </a:extLst>
          </p:cNvPr>
          <p:cNvGraphicFramePr>
            <a:graphicFrameLocks noGrp="1"/>
          </p:cNvGraphicFramePr>
          <p:nvPr>
            <p:extLst>
              <p:ext uri="{D42A27DB-BD31-4B8C-83A1-F6EECF244321}">
                <p14:modId xmlns:p14="http://schemas.microsoft.com/office/powerpoint/2010/main" val="3033214031"/>
              </p:ext>
            </p:extLst>
          </p:nvPr>
        </p:nvGraphicFramePr>
        <p:xfrm>
          <a:off x="5240419" y="2833224"/>
          <a:ext cx="6069264" cy="2661920"/>
        </p:xfrm>
        <a:graphic>
          <a:graphicData uri="http://schemas.openxmlformats.org/drawingml/2006/table">
            <a:tbl>
              <a:tblPr firstRow="1" bandRow="1">
                <a:tableStyleId>{5C22544A-7EE6-4342-B048-85BDC9FD1C3A}</a:tableStyleId>
              </a:tblPr>
              <a:tblGrid>
                <a:gridCol w="3034632">
                  <a:extLst>
                    <a:ext uri="{9D8B030D-6E8A-4147-A177-3AD203B41FA5}">
                      <a16:colId xmlns:a16="http://schemas.microsoft.com/office/drawing/2014/main" val="2096813039"/>
                    </a:ext>
                  </a:extLst>
                </a:gridCol>
                <a:gridCol w="3034632">
                  <a:extLst>
                    <a:ext uri="{9D8B030D-6E8A-4147-A177-3AD203B41FA5}">
                      <a16:colId xmlns:a16="http://schemas.microsoft.com/office/drawing/2014/main" val="1116285218"/>
                    </a:ext>
                  </a:extLst>
                </a:gridCol>
              </a:tblGrid>
              <a:tr h="280921">
                <a:tc>
                  <a:txBody>
                    <a:bodyPr/>
                    <a:lstStyle/>
                    <a:p>
                      <a:pPr>
                        <a:buNone/>
                      </a:pPr>
                      <a:r>
                        <a:rPr lang="en-IN" dirty="0"/>
                        <a:t>Normal TCP</a:t>
                      </a:r>
                    </a:p>
                  </a:txBody>
                  <a:tcPr anchor="ctr"/>
                </a:tc>
                <a:tc>
                  <a:txBody>
                    <a:bodyPr/>
                    <a:lstStyle/>
                    <a:p>
                      <a:pPr>
                        <a:buNone/>
                      </a:pPr>
                      <a:r>
                        <a:rPr lang="en-IN"/>
                        <a:t>MPTCP</a:t>
                      </a:r>
                    </a:p>
                  </a:txBody>
                  <a:tcPr anchor="ctr"/>
                </a:tc>
                <a:extLst>
                  <a:ext uri="{0D108BD9-81ED-4DB2-BD59-A6C34878D82A}">
                    <a16:rowId xmlns:a16="http://schemas.microsoft.com/office/drawing/2014/main" val="4154489469"/>
                  </a:ext>
                </a:extLst>
              </a:tr>
              <a:tr h="370840">
                <a:tc>
                  <a:txBody>
                    <a:bodyPr/>
                    <a:lstStyle/>
                    <a:p>
                      <a:pPr>
                        <a:buNone/>
                      </a:pPr>
                      <a:r>
                        <a:rPr lang="en-IN"/>
                        <a:t>Uses a single path for a TCP connection</a:t>
                      </a:r>
                    </a:p>
                  </a:txBody>
                  <a:tcPr anchor="ctr"/>
                </a:tc>
                <a:tc>
                  <a:txBody>
                    <a:bodyPr/>
                    <a:lstStyle/>
                    <a:p>
                      <a:pPr>
                        <a:buNone/>
                      </a:pPr>
                      <a:r>
                        <a:rPr lang="en-IN"/>
                        <a:t>Can use multiple paths</a:t>
                      </a:r>
                    </a:p>
                  </a:txBody>
                  <a:tcPr anchor="ctr"/>
                </a:tc>
                <a:extLst>
                  <a:ext uri="{0D108BD9-81ED-4DB2-BD59-A6C34878D82A}">
                    <a16:rowId xmlns:a16="http://schemas.microsoft.com/office/drawing/2014/main" val="2079992458"/>
                  </a:ext>
                </a:extLst>
              </a:tr>
              <a:tr h="370840">
                <a:tc>
                  <a:txBody>
                    <a:bodyPr/>
                    <a:lstStyle/>
                    <a:p>
                      <a:pPr>
                        <a:buNone/>
                      </a:pPr>
                      <a:r>
                        <a:rPr lang="en-IN"/>
                        <a:t>Example: Wi-Fi</a:t>
                      </a:r>
                    </a:p>
                  </a:txBody>
                  <a:tcPr anchor="ctr"/>
                </a:tc>
                <a:tc>
                  <a:txBody>
                    <a:bodyPr/>
                    <a:lstStyle/>
                    <a:p>
                      <a:pPr>
                        <a:buNone/>
                      </a:pPr>
                      <a:r>
                        <a:rPr lang="en-IN"/>
                        <a:t>Example: Wi-Fi + Mobile Data</a:t>
                      </a:r>
                    </a:p>
                  </a:txBody>
                  <a:tcPr anchor="ctr"/>
                </a:tc>
                <a:extLst>
                  <a:ext uri="{0D108BD9-81ED-4DB2-BD59-A6C34878D82A}">
                    <a16:rowId xmlns:a16="http://schemas.microsoft.com/office/drawing/2014/main" val="2688102372"/>
                  </a:ext>
                </a:extLst>
              </a:tr>
              <a:tr h="370840">
                <a:tc>
                  <a:txBody>
                    <a:bodyPr/>
                    <a:lstStyle/>
                    <a:p>
                      <a:pPr>
                        <a:buNone/>
                      </a:pPr>
                      <a:r>
                        <a:rPr lang="en-IN"/>
                        <a:t>If the path fails, communication may be interrupted</a:t>
                      </a:r>
                    </a:p>
                  </a:txBody>
                  <a:tcPr anchor="ctr"/>
                </a:tc>
                <a:tc>
                  <a:txBody>
                    <a:bodyPr/>
                    <a:lstStyle/>
                    <a:p>
                      <a:pPr>
                        <a:buNone/>
                      </a:pPr>
                      <a:r>
                        <a:rPr lang="en-IN"/>
                        <a:t>Another available path can continue carrying data</a:t>
                      </a:r>
                    </a:p>
                  </a:txBody>
                  <a:tcPr anchor="ctr"/>
                </a:tc>
                <a:extLst>
                  <a:ext uri="{0D108BD9-81ED-4DB2-BD59-A6C34878D82A}">
                    <a16:rowId xmlns:a16="http://schemas.microsoft.com/office/drawing/2014/main" val="1540338591"/>
                  </a:ext>
                </a:extLst>
              </a:tr>
              <a:tr h="370840">
                <a:tc>
                  <a:txBody>
                    <a:bodyPr/>
                    <a:lstStyle/>
                    <a:p>
                      <a:pPr>
                        <a:buNone/>
                      </a:pPr>
                      <a:r>
                        <a:rPr lang="en-IN"/>
                        <a:t>Standard TCP</a:t>
                      </a:r>
                    </a:p>
                  </a:txBody>
                  <a:tcPr anchor="ctr"/>
                </a:tc>
                <a:tc>
                  <a:txBody>
                    <a:bodyPr/>
                    <a:lstStyle/>
                    <a:p>
                      <a:pPr>
                        <a:buNone/>
                      </a:pPr>
                      <a:r>
                        <a:rPr lang="en-IN" dirty="0"/>
                        <a:t>Extension of TCP</a:t>
                      </a:r>
                    </a:p>
                  </a:txBody>
                  <a:tcPr anchor="ctr"/>
                </a:tc>
                <a:extLst>
                  <a:ext uri="{0D108BD9-81ED-4DB2-BD59-A6C34878D82A}">
                    <a16:rowId xmlns:a16="http://schemas.microsoft.com/office/drawing/2014/main" val="232615002"/>
                  </a:ext>
                </a:extLst>
              </a:tr>
            </a:tbl>
          </a:graphicData>
        </a:graphic>
      </p:graphicFrame>
    </p:spTree>
    <p:extLst>
      <p:ext uri="{BB962C8B-B14F-4D97-AF65-F5344CB8AC3E}">
        <p14:creationId xmlns:p14="http://schemas.microsoft.com/office/powerpoint/2010/main" val="78980750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401E2-D00B-922D-BF22-00E871712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A398B-167A-9A81-6E97-2F563440AF14}"/>
              </a:ext>
            </a:extLst>
          </p:cNvPr>
          <p:cNvSpPr>
            <a:spLocks noGrp="1"/>
          </p:cNvSpPr>
          <p:nvPr>
            <p:ph type="title"/>
          </p:nvPr>
        </p:nvSpPr>
        <p:spPr>
          <a:xfrm>
            <a:off x="275844" y="495220"/>
            <a:ext cx="11640312" cy="464900"/>
          </a:xfrm>
        </p:spPr>
        <p:txBody>
          <a:bodyPr>
            <a:normAutofit/>
          </a:bodyPr>
          <a:lstStyle/>
          <a:p>
            <a:r>
              <a:rPr lang="en-IN" sz="2400" b="1" dirty="0"/>
              <a:t>How Does MPTCP Work?</a:t>
            </a:r>
          </a:p>
        </p:txBody>
      </p:sp>
      <p:sp>
        <p:nvSpPr>
          <p:cNvPr id="4" name="TextBox 3">
            <a:extLst>
              <a:ext uri="{FF2B5EF4-FFF2-40B4-BE49-F238E27FC236}">
                <a16:creationId xmlns:a16="http://schemas.microsoft.com/office/drawing/2014/main" id="{101ACE16-DA3F-B353-A85D-70D35BEC9AA6}"/>
              </a:ext>
            </a:extLst>
          </p:cNvPr>
          <p:cNvSpPr txBox="1"/>
          <p:nvPr/>
        </p:nvSpPr>
        <p:spPr>
          <a:xfrm>
            <a:off x="275844" y="960120"/>
            <a:ext cx="6096000" cy="2308324"/>
          </a:xfrm>
          <a:prstGeom prst="rect">
            <a:avLst/>
          </a:prstGeom>
          <a:noFill/>
        </p:spPr>
        <p:txBody>
          <a:bodyPr wrap="square">
            <a:spAutoFit/>
          </a:bodyPr>
          <a:lstStyle/>
          <a:p>
            <a:pPr>
              <a:buNone/>
            </a:pPr>
            <a:r>
              <a:rPr lang="en-IN" dirty="0"/>
              <a:t>Suppose your phone has: </a:t>
            </a:r>
            <a:r>
              <a:rPr lang="en-IN" dirty="0">
                <a:latin typeface="+mn-lt"/>
              </a:rPr>
              <a:t>Wi-Fi + 5G</a:t>
            </a:r>
          </a:p>
          <a:p>
            <a:pPr>
              <a:buNone/>
            </a:pPr>
            <a:endParaRPr lang="en-IN" dirty="0">
              <a:latin typeface="+mn-lt"/>
            </a:endParaRPr>
          </a:p>
          <a:p>
            <a:pPr>
              <a:buNone/>
            </a:pPr>
            <a:r>
              <a:rPr lang="en-IN" dirty="0"/>
              <a:t>MPTCP creates smaller TCP flows over the available paths.</a:t>
            </a:r>
          </a:p>
          <a:p>
            <a:pPr>
              <a:buNone/>
            </a:pPr>
            <a:r>
              <a:rPr lang="en-IN" dirty="0"/>
              <a:t>These are called: </a:t>
            </a:r>
            <a:r>
              <a:rPr lang="en-IN" b="1" dirty="0" err="1"/>
              <a:t>Subflows</a:t>
            </a:r>
            <a:endParaRPr lang="en-IN" dirty="0"/>
          </a:p>
          <a:p>
            <a:pPr>
              <a:buNone/>
            </a:pPr>
            <a:endParaRPr lang="en-IN" b="1" dirty="0"/>
          </a:p>
          <a:p>
            <a:pPr>
              <a:buNone/>
            </a:pPr>
            <a:r>
              <a:rPr lang="en-IN" b="1" dirty="0" err="1"/>
              <a:t>Subflow</a:t>
            </a:r>
            <a:r>
              <a:rPr lang="en-IN" b="1" dirty="0"/>
              <a:t> simply means:</a:t>
            </a:r>
          </a:p>
          <a:p>
            <a:pPr>
              <a:buNone/>
            </a:pPr>
            <a:r>
              <a:rPr lang="en-IN" b="1" dirty="0"/>
              <a:t>A separate TCP flow/path that is part of the main MPTCP connection.</a:t>
            </a:r>
            <a:endParaRPr lang="en-IN" dirty="0"/>
          </a:p>
        </p:txBody>
      </p:sp>
      <p:pic>
        <p:nvPicPr>
          <p:cNvPr id="6" name="Picture 5">
            <a:extLst>
              <a:ext uri="{FF2B5EF4-FFF2-40B4-BE49-F238E27FC236}">
                <a16:creationId xmlns:a16="http://schemas.microsoft.com/office/drawing/2014/main" id="{AFD48E5E-67D5-77E8-6940-1453BE61B659}"/>
              </a:ext>
            </a:extLst>
          </p:cNvPr>
          <p:cNvPicPr>
            <a:picLocks noChangeAspect="1"/>
          </p:cNvPicPr>
          <p:nvPr/>
        </p:nvPicPr>
        <p:blipFill>
          <a:blip r:embed="rId2"/>
          <a:stretch>
            <a:fillRect/>
          </a:stretch>
        </p:blipFill>
        <p:spPr>
          <a:xfrm>
            <a:off x="440386" y="3216306"/>
            <a:ext cx="4997888" cy="1660493"/>
          </a:xfrm>
          <a:prstGeom prst="rect">
            <a:avLst/>
          </a:prstGeom>
        </p:spPr>
      </p:pic>
      <p:sp>
        <p:nvSpPr>
          <p:cNvPr id="8" name="TextBox 7">
            <a:extLst>
              <a:ext uri="{FF2B5EF4-FFF2-40B4-BE49-F238E27FC236}">
                <a16:creationId xmlns:a16="http://schemas.microsoft.com/office/drawing/2014/main" id="{355DC4D0-AE84-8DBA-422A-6FAE88C1BEFA}"/>
              </a:ext>
            </a:extLst>
          </p:cNvPr>
          <p:cNvSpPr txBox="1"/>
          <p:nvPr/>
        </p:nvSpPr>
        <p:spPr>
          <a:xfrm>
            <a:off x="628770" y="5155298"/>
            <a:ext cx="4809504" cy="369332"/>
          </a:xfrm>
          <a:prstGeom prst="rect">
            <a:avLst/>
          </a:prstGeom>
          <a:noFill/>
        </p:spPr>
        <p:txBody>
          <a:bodyPr wrap="square">
            <a:spAutoFit/>
          </a:bodyPr>
          <a:lstStyle/>
          <a:p>
            <a:r>
              <a:rPr lang="en-IN" b="1" dirty="0"/>
              <a:t>What Happens if One Path Fails?</a:t>
            </a:r>
          </a:p>
        </p:txBody>
      </p:sp>
    </p:spTree>
    <p:extLst>
      <p:ext uri="{BB962C8B-B14F-4D97-AF65-F5344CB8AC3E}">
        <p14:creationId xmlns:p14="http://schemas.microsoft.com/office/powerpoint/2010/main" val="184078630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7C728-4DD2-8008-D4FD-08DE296B7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A8D57D-643A-A2D3-82AC-143B8EA8EAD2}"/>
              </a:ext>
            </a:extLst>
          </p:cNvPr>
          <p:cNvSpPr>
            <a:spLocks noGrp="1"/>
          </p:cNvSpPr>
          <p:nvPr>
            <p:ph type="title"/>
          </p:nvPr>
        </p:nvSpPr>
        <p:spPr>
          <a:xfrm>
            <a:off x="275844" y="495220"/>
            <a:ext cx="11640312" cy="464900"/>
          </a:xfrm>
        </p:spPr>
        <p:txBody>
          <a:bodyPr>
            <a:normAutofit/>
          </a:bodyPr>
          <a:lstStyle/>
          <a:p>
            <a:r>
              <a:rPr lang="en-IN" sz="2400" b="1" dirty="0"/>
              <a:t>Why Do We Need MPTCP?</a:t>
            </a:r>
          </a:p>
        </p:txBody>
      </p:sp>
      <p:graphicFrame>
        <p:nvGraphicFramePr>
          <p:cNvPr id="3" name="Table 2">
            <a:extLst>
              <a:ext uri="{FF2B5EF4-FFF2-40B4-BE49-F238E27FC236}">
                <a16:creationId xmlns:a16="http://schemas.microsoft.com/office/drawing/2014/main" id="{F18A8C0A-1BC6-9C46-F42D-18D893464E48}"/>
              </a:ext>
            </a:extLst>
          </p:cNvPr>
          <p:cNvGraphicFramePr>
            <a:graphicFrameLocks noGrp="1"/>
          </p:cNvGraphicFramePr>
          <p:nvPr>
            <p:extLst>
              <p:ext uri="{D42A27DB-BD31-4B8C-83A1-F6EECF244321}">
                <p14:modId xmlns:p14="http://schemas.microsoft.com/office/powerpoint/2010/main" val="1465632363"/>
              </p:ext>
            </p:extLst>
          </p:nvPr>
        </p:nvGraphicFramePr>
        <p:xfrm>
          <a:off x="275844" y="1104676"/>
          <a:ext cx="8128000" cy="3302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55072979"/>
                    </a:ext>
                  </a:extLst>
                </a:gridCol>
                <a:gridCol w="4064000">
                  <a:extLst>
                    <a:ext uri="{9D8B030D-6E8A-4147-A177-3AD203B41FA5}">
                      <a16:colId xmlns:a16="http://schemas.microsoft.com/office/drawing/2014/main" val="305099655"/>
                    </a:ext>
                  </a:extLst>
                </a:gridCol>
              </a:tblGrid>
              <a:tr h="370840">
                <a:tc>
                  <a:txBody>
                    <a:bodyPr/>
                    <a:lstStyle/>
                    <a:p>
                      <a:pPr>
                        <a:buNone/>
                      </a:pPr>
                      <a:r>
                        <a:rPr lang="en-IN" dirty="0"/>
                        <a:t>Problem with a Single Path</a:t>
                      </a:r>
                    </a:p>
                  </a:txBody>
                  <a:tcPr anchor="ctr"/>
                </a:tc>
                <a:tc>
                  <a:txBody>
                    <a:bodyPr/>
                    <a:lstStyle/>
                    <a:p>
                      <a:pPr>
                        <a:buNone/>
                      </a:pPr>
                      <a:r>
                        <a:rPr lang="en-IN"/>
                        <a:t>How MPTCP Helps</a:t>
                      </a:r>
                    </a:p>
                  </a:txBody>
                  <a:tcPr anchor="ctr"/>
                </a:tc>
                <a:extLst>
                  <a:ext uri="{0D108BD9-81ED-4DB2-BD59-A6C34878D82A}">
                    <a16:rowId xmlns:a16="http://schemas.microsoft.com/office/drawing/2014/main" val="458330863"/>
                  </a:ext>
                </a:extLst>
              </a:tr>
              <a:tr h="370840">
                <a:tc>
                  <a:txBody>
                    <a:bodyPr/>
                    <a:lstStyle/>
                    <a:p>
                      <a:pPr>
                        <a:buNone/>
                      </a:pPr>
                      <a:r>
                        <a:rPr lang="en-IN"/>
                        <a:t>Only one network path is being used</a:t>
                      </a:r>
                    </a:p>
                  </a:txBody>
                  <a:tcPr anchor="ctr"/>
                </a:tc>
                <a:tc>
                  <a:txBody>
                    <a:bodyPr/>
                    <a:lstStyle/>
                    <a:p>
                      <a:pPr>
                        <a:buNone/>
                      </a:pPr>
                      <a:r>
                        <a:rPr lang="en-IN"/>
                        <a:t>Can use multiple paths</a:t>
                      </a:r>
                    </a:p>
                  </a:txBody>
                  <a:tcPr anchor="ctr"/>
                </a:tc>
                <a:extLst>
                  <a:ext uri="{0D108BD9-81ED-4DB2-BD59-A6C34878D82A}">
                    <a16:rowId xmlns:a16="http://schemas.microsoft.com/office/drawing/2014/main" val="301953162"/>
                  </a:ext>
                </a:extLst>
              </a:tr>
              <a:tr h="370840">
                <a:tc>
                  <a:txBody>
                    <a:bodyPr/>
                    <a:lstStyle/>
                    <a:p>
                      <a:pPr>
                        <a:buNone/>
                      </a:pPr>
                      <a:r>
                        <a:rPr lang="en-IN"/>
                        <a:t>Wi-Fi may become unavailable</a:t>
                      </a:r>
                    </a:p>
                  </a:txBody>
                  <a:tcPr anchor="ctr"/>
                </a:tc>
                <a:tc>
                  <a:txBody>
                    <a:bodyPr/>
                    <a:lstStyle/>
                    <a:p>
                      <a:pPr>
                        <a:buNone/>
                      </a:pPr>
                      <a:r>
                        <a:rPr lang="en-IN"/>
                        <a:t>Another path such as 5G may remain available</a:t>
                      </a:r>
                    </a:p>
                  </a:txBody>
                  <a:tcPr anchor="ctr"/>
                </a:tc>
                <a:extLst>
                  <a:ext uri="{0D108BD9-81ED-4DB2-BD59-A6C34878D82A}">
                    <a16:rowId xmlns:a16="http://schemas.microsoft.com/office/drawing/2014/main" val="2430154379"/>
                  </a:ext>
                </a:extLst>
              </a:tr>
              <a:tr h="370840">
                <a:tc>
                  <a:txBody>
                    <a:bodyPr/>
                    <a:lstStyle/>
                    <a:p>
                      <a:pPr>
                        <a:buNone/>
                      </a:pPr>
                      <a:r>
                        <a:rPr lang="en-IN"/>
                        <a:t>Another available connection may remain unused</a:t>
                      </a:r>
                    </a:p>
                  </a:txBody>
                  <a:tcPr anchor="ctr"/>
                </a:tc>
                <a:tc>
                  <a:txBody>
                    <a:bodyPr/>
                    <a:lstStyle/>
                    <a:p>
                      <a:pPr>
                        <a:buNone/>
                      </a:pPr>
                      <a:r>
                        <a:rPr lang="en-IN"/>
                        <a:t>MPTCP can make use of additional paths</a:t>
                      </a:r>
                    </a:p>
                  </a:txBody>
                  <a:tcPr anchor="ctr"/>
                </a:tc>
                <a:extLst>
                  <a:ext uri="{0D108BD9-81ED-4DB2-BD59-A6C34878D82A}">
                    <a16:rowId xmlns:a16="http://schemas.microsoft.com/office/drawing/2014/main" val="2732598701"/>
                  </a:ext>
                </a:extLst>
              </a:tr>
              <a:tr h="370840">
                <a:tc>
                  <a:txBody>
                    <a:bodyPr/>
                    <a:lstStyle/>
                    <a:p>
                      <a:pPr>
                        <a:buNone/>
                      </a:pPr>
                      <a:r>
                        <a:rPr lang="en-IN"/>
                        <a:t>Path change may interrupt communication</a:t>
                      </a:r>
                    </a:p>
                  </a:txBody>
                  <a:tcPr anchor="ctr"/>
                </a:tc>
                <a:tc>
                  <a:txBody>
                    <a:bodyPr/>
                    <a:lstStyle/>
                    <a:p>
                      <a:pPr>
                        <a:buNone/>
                      </a:pPr>
                      <a:r>
                        <a:rPr lang="en-IN"/>
                        <a:t>MPTCP can move traffic among available subflows</a:t>
                      </a:r>
                    </a:p>
                  </a:txBody>
                  <a:tcPr anchor="ctr"/>
                </a:tc>
                <a:extLst>
                  <a:ext uri="{0D108BD9-81ED-4DB2-BD59-A6C34878D82A}">
                    <a16:rowId xmlns:a16="http://schemas.microsoft.com/office/drawing/2014/main" val="4051410539"/>
                  </a:ext>
                </a:extLst>
              </a:tr>
              <a:tr h="370840">
                <a:tc>
                  <a:txBody>
                    <a:bodyPr/>
                    <a:lstStyle/>
                    <a:p>
                      <a:pPr>
                        <a:buNone/>
                      </a:pPr>
                      <a:r>
                        <a:rPr lang="en-IN"/>
                        <a:t>One path may have limited performance</a:t>
                      </a:r>
                    </a:p>
                  </a:txBody>
                  <a:tcPr anchor="ctr"/>
                </a:tc>
                <a:tc>
                  <a:txBody>
                    <a:bodyPr/>
                    <a:lstStyle/>
                    <a:p>
                      <a:pPr>
                        <a:buNone/>
                      </a:pPr>
                      <a:r>
                        <a:rPr lang="en-IN" dirty="0"/>
                        <a:t>Multiple paths can sometimes improve overall performance</a:t>
                      </a:r>
                    </a:p>
                  </a:txBody>
                  <a:tcPr anchor="ctr"/>
                </a:tc>
                <a:extLst>
                  <a:ext uri="{0D108BD9-81ED-4DB2-BD59-A6C34878D82A}">
                    <a16:rowId xmlns:a16="http://schemas.microsoft.com/office/drawing/2014/main" val="248609766"/>
                  </a:ext>
                </a:extLst>
              </a:tr>
            </a:tbl>
          </a:graphicData>
        </a:graphic>
      </p:graphicFrame>
    </p:spTree>
    <p:extLst>
      <p:ext uri="{BB962C8B-B14F-4D97-AF65-F5344CB8AC3E}">
        <p14:creationId xmlns:p14="http://schemas.microsoft.com/office/powerpoint/2010/main" val="31680008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648F-4E61-97B8-E5C1-EF23C466D6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9E9C1-DEAC-FA4F-71AA-4AFA9DCF4DA7}"/>
              </a:ext>
            </a:extLst>
          </p:cNvPr>
          <p:cNvSpPr>
            <a:spLocks noGrp="1"/>
          </p:cNvSpPr>
          <p:nvPr>
            <p:ph type="title"/>
          </p:nvPr>
        </p:nvSpPr>
        <p:spPr>
          <a:xfrm>
            <a:off x="275844" y="495220"/>
            <a:ext cx="11640312" cy="464900"/>
          </a:xfrm>
        </p:spPr>
        <p:txBody>
          <a:bodyPr>
            <a:normAutofit/>
          </a:bodyPr>
          <a:lstStyle/>
          <a:p>
            <a:r>
              <a:rPr lang="en-IN" sz="2400" b="1" dirty="0"/>
              <a:t>Advantages of MPTCP</a:t>
            </a:r>
          </a:p>
        </p:txBody>
      </p:sp>
      <p:graphicFrame>
        <p:nvGraphicFramePr>
          <p:cNvPr id="3" name="Table 2">
            <a:extLst>
              <a:ext uri="{FF2B5EF4-FFF2-40B4-BE49-F238E27FC236}">
                <a16:creationId xmlns:a16="http://schemas.microsoft.com/office/drawing/2014/main" id="{E320E8DC-CDBA-4CE2-EDFE-C0180C928C94}"/>
              </a:ext>
            </a:extLst>
          </p:cNvPr>
          <p:cNvGraphicFramePr>
            <a:graphicFrameLocks noGrp="1"/>
          </p:cNvGraphicFramePr>
          <p:nvPr>
            <p:extLst>
              <p:ext uri="{D42A27DB-BD31-4B8C-83A1-F6EECF244321}">
                <p14:modId xmlns:p14="http://schemas.microsoft.com/office/powerpoint/2010/main" val="4168453351"/>
              </p:ext>
            </p:extLst>
          </p:nvPr>
        </p:nvGraphicFramePr>
        <p:xfrm>
          <a:off x="275844" y="1104676"/>
          <a:ext cx="8128000" cy="3302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55072979"/>
                    </a:ext>
                  </a:extLst>
                </a:gridCol>
                <a:gridCol w="4064000">
                  <a:extLst>
                    <a:ext uri="{9D8B030D-6E8A-4147-A177-3AD203B41FA5}">
                      <a16:colId xmlns:a16="http://schemas.microsoft.com/office/drawing/2014/main" val="305099655"/>
                    </a:ext>
                  </a:extLst>
                </a:gridCol>
              </a:tblGrid>
              <a:tr h="370840">
                <a:tc>
                  <a:txBody>
                    <a:bodyPr/>
                    <a:lstStyle/>
                    <a:p>
                      <a:pPr>
                        <a:buNone/>
                      </a:pPr>
                      <a:r>
                        <a:rPr lang="en-IN" dirty="0"/>
                        <a:t>Advantage</a:t>
                      </a:r>
                    </a:p>
                  </a:txBody>
                  <a:tcPr anchor="ctr"/>
                </a:tc>
                <a:tc>
                  <a:txBody>
                    <a:bodyPr/>
                    <a:lstStyle/>
                    <a:p>
                      <a:pPr>
                        <a:buNone/>
                      </a:pPr>
                      <a:r>
                        <a:rPr lang="en-IN"/>
                        <a:t>Simple Explanation</a:t>
                      </a:r>
                    </a:p>
                  </a:txBody>
                  <a:tcPr anchor="ctr"/>
                </a:tc>
                <a:extLst>
                  <a:ext uri="{0D108BD9-81ED-4DB2-BD59-A6C34878D82A}">
                    <a16:rowId xmlns:a16="http://schemas.microsoft.com/office/drawing/2014/main" val="458330863"/>
                  </a:ext>
                </a:extLst>
              </a:tr>
              <a:tr h="370840">
                <a:tc>
                  <a:txBody>
                    <a:bodyPr/>
                    <a:lstStyle/>
                    <a:p>
                      <a:pPr>
                        <a:buNone/>
                      </a:pPr>
                      <a:r>
                        <a:rPr lang="en-IN" b="1"/>
                        <a:t>Multiple Paths</a:t>
                      </a:r>
                      <a:endParaRPr lang="en-IN"/>
                    </a:p>
                  </a:txBody>
                  <a:tcPr anchor="ctr"/>
                </a:tc>
                <a:tc>
                  <a:txBody>
                    <a:bodyPr/>
                    <a:lstStyle/>
                    <a:p>
                      <a:pPr>
                        <a:buNone/>
                      </a:pPr>
                      <a:r>
                        <a:rPr lang="en-IN"/>
                        <a:t>Can use more than one network path.</a:t>
                      </a:r>
                    </a:p>
                  </a:txBody>
                  <a:tcPr anchor="ctr"/>
                </a:tc>
                <a:extLst>
                  <a:ext uri="{0D108BD9-81ED-4DB2-BD59-A6C34878D82A}">
                    <a16:rowId xmlns:a16="http://schemas.microsoft.com/office/drawing/2014/main" val="301953162"/>
                  </a:ext>
                </a:extLst>
              </a:tr>
              <a:tr h="370840">
                <a:tc>
                  <a:txBody>
                    <a:bodyPr/>
                    <a:lstStyle/>
                    <a:p>
                      <a:pPr>
                        <a:buNone/>
                      </a:pPr>
                      <a:r>
                        <a:rPr lang="en-IN" b="1"/>
                        <a:t>Better Connection Continuity</a:t>
                      </a:r>
                      <a:endParaRPr lang="en-IN"/>
                    </a:p>
                  </a:txBody>
                  <a:tcPr anchor="ctr"/>
                </a:tc>
                <a:tc>
                  <a:txBody>
                    <a:bodyPr/>
                    <a:lstStyle/>
                    <a:p>
                      <a:pPr>
                        <a:buNone/>
                      </a:pPr>
                      <a:r>
                        <a:rPr lang="en-IN"/>
                        <a:t>If one path fails, another available path may continue carrying data.</a:t>
                      </a:r>
                    </a:p>
                  </a:txBody>
                  <a:tcPr anchor="ctr"/>
                </a:tc>
                <a:extLst>
                  <a:ext uri="{0D108BD9-81ED-4DB2-BD59-A6C34878D82A}">
                    <a16:rowId xmlns:a16="http://schemas.microsoft.com/office/drawing/2014/main" val="2430154379"/>
                  </a:ext>
                </a:extLst>
              </a:tr>
              <a:tr h="370840">
                <a:tc>
                  <a:txBody>
                    <a:bodyPr/>
                    <a:lstStyle/>
                    <a:p>
                      <a:pPr>
                        <a:buNone/>
                      </a:pPr>
                      <a:r>
                        <a:rPr lang="en-IN" b="1"/>
                        <a:t>Better Network Usage</a:t>
                      </a:r>
                      <a:endParaRPr lang="en-IN"/>
                    </a:p>
                  </a:txBody>
                  <a:tcPr anchor="ctr"/>
                </a:tc>
                <a:tc>
                  <a:txBody>
                    <a:bodyPr/>
                    <a:lstStyle/>
                    <a:p>
                      <a:pPr>
                        <a:buNone/>
                      </a:pPr>
                      <a:r>
                        <a:rPr lang="en-IN"/>
                        <a:t>Can make use of Wi-Fi, cellular, or other available paths.</a:t>
                      </a:r>
                    </a:p>
                  </a:txBody>
                  <a:tcPr anchor="ctr"/>
                </a:tc>
                <a:extLst>
                  <a:ext uri="{0D108BD9-81ED-4DB2-BD59-A6C34878D82A}">
                    <a16:rowId xmlns:a16="http://schemas.microsoft.com/office/drawing/2014/main" val="2732598701"/>
                  </a:ext>
                </a:extLst>
              </a:tr>
              <a:tr h="370840">
                <a:tc>
                  <a:txBody>
                    <a:bodyPr/>
                    <a:lstStyle/>
                    <a:p>
                      <a:pPr>
                        <a:buNone/>
                      </a:pPr>
                      <a:r>
                        <a:rPr lang="en-IN" b="1"/>
                        <a:t>Better Performance</a:t>
                      </a:r>
                      <a:endParaRPr lang="en-IN"/>
                    </a:p>
                  </a:txBody>
                  <a:tcPr anchor="ctr"/>
                </a:tc>
                <a:tc>
                  <a:txBody>
                    <a:bodyPr/>
                    <a:lstStyle/>
                    <a:p>
                      <a:pPr>
                        <a:buNone/>
                      </a:pPr>
                      <a:r>
                        <a:rPr lang="en-IN"/>
                        <a:t>Multiple paths can sometimes provide more total network capacity.</a:t>
                      </a:r>
                    </a:p>
                  </a:txBody>
                  <a:tcPr anchor="ctr"/>
                </a:tc>
                <a:extLst>
                  <a:ext uri="{0D108BD9-81ED-4DB2-BD59-A6C34878D82A}">
                    <a16:rowId xmlns:a16="http://schemas.microsoft.com/office/drawing/2014/main" val="4051410539"/>
                  </a:ext>
                </a:extLst>
              </a:tr>
              <a:tr h="370840">
                <a:tc>
                  <a:txBody>
                    <a:bodyPr/>
                    <a:lstStyle/>
                    <a:p>
                      <a:pPr>
                        <a:buNone/>
                      </a:pPr>
                      <a:r>
                        <a:rPr lang="en-IN" b="1"/>
                        <a:t>Useful for Mobile Devices</a:t>
                      </a:r>
                      <a:endParaRPr lang="en-IN"/>
                    </a:p>
                  </a:txBody>
                  <a:tcPr anchor="ctr"/>
                </a:tc>
                <a:tc>
                  <a:txBody>
                    <a:bodyPr/>
                    <a:lstStyle/>
                    <a:p>
                      <a:pPr>
                        <a:buNone/>
                      </a:pPr>
                      <a:r>
                        <a:rPr lang="en-IN" dirty="0"/>
                        <a:t>Helpful when a phone has both Wi-Fi and 4G/5G.</a:t>
                      </a:r>
                    </a:p>
                  </a:txBody>
                  <a:tcPr anchor="ctr"/>
                </a:tc>
                <a:extLst>
                  <a:ext uri="{0D108BD9-81ED-4DB2-BD59-A6C34878D82A}">
                    <a16:rowId xmlns:a16="http://schemas.microsoft.com/office/drawing/2014/main" val="248609766"/>
                  </a:ext>
                </a:extLst>
              </a:tr>
            </a:tbl>
          </a:graphicData>
        </a:graphic>
      </p:graphicFrame>
    </p:spTree>
    <p:extLst>
      <p:ext uri="{BB962C8B-B14F-4D97-AF65-F5344CB8AC3E}">
        <p14:creationId xmlns:p14="http://schemas.microsoft.com/office/powerpoint/2010/main" val="165332127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63F06-5771-8C81-532A-7D1207953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BD060-E993-02F7-6961-E088451254CC}"/>
              </a:ext>
            </a:extLst>
          </p:cNvPr>
          <p:cNvSpPr>
            <a:spLocks noGrp="1"/>
          </p:cNvSpPr>
          <p:nvPr>
            <p:ph type="title"/>
          </p:nvPr>
        </p:nvSpPr>
        <p:spPr>
          <a:xfrm>
            <a:off x="275844" y="495220"/>
            <a:ext cx="11640312" cy="464900"/>
          </a:xfrm>
        </p:spPr>
        <p:txBody>
          <a:bodyPr>
            <a:normAutofit/>
          </a:bodyPr>
          <a:lstStyle/>
          <a:p>
            <a:r>
              <a:rPr lang="en-IN" sz="2400" b="1" dirty="0"/>
              <a:t>Transport Layer Security (TLS)</a:t>
            </a:r>
          </a:p>
        </p:txBody>
      </p:sp>
      <p:sp>
        <p:nvSpPr>
          <p:cNvPr id="4" name="TextBox 3">
            <a:extLst>
              <a:ext uri="{FF2B5EF4-FFF2-40B4-BE49-F238E27FC236}">
                <a16:creationId xmlns:a16="http://schemas.microsoft.com/office/drawing/2014/main" id="{F9F63C47-257F-F70D-E9DB-27D98A6A8923}"/>
              </a:ext>
            </a:extLst>
          </p:cNvPr>
          <p:cNvSpPr txBox="1"/>
          <p:nvPr/>
        </p:nvSpPr>
        <p:spPr>
          <a:xfrm>
            <a:off x="275844" y="960120"/>
            <a:ext cx="8868156" cy="369332"/>
          </a:xfrm>
          <a:prstGeom prst="rect">
            <a:avLst/>
          </a:prstGeom>
          <a:noFill/>
        </p:spPr>
        <p:txBody>
          <a:bodyPr wrap="square">
            <a:spAutoFit/>
          </a:bodyPr>
          <a:lstStyle/>
          <a:p>
            <a:r>
              <a:rPr lang="en-IN" dirty="0"/>
              <a:t>TLS is a security protocol used to protect data while it is being transferred over a network.</a:t>
            </a:r>
          </a:p>
        </p:txBody>
      </p:sp>
      <p:sp>
        <p:nvSpPr>
          <p:cNvPr id="6" name="TextBox 5">
            <a:extLst>
              <a:ext uri="{FF2B5EF4-FFF2-40B4-BE49-F238E27FC236}">
                <a16:creationId xmlns:a16="http://schemas.microsoft.com/office/drawing/2014/main" id="{A3379C65-70BE-63D3-1C93-39700D1528D1}"/>
              </a:ext>
            </a:extLst>
          </p:cNvPr>
          <p:cNvSpPr txBox="1"/>
          <p:nvPr/>
        </p:nvSpPr>
        <p:spPr>
          <a:xfrm>
            <a:off x="275844" y="1425020"/>
            <a:ext cx="6096000" cy="369332"/>
          </a:xfrm>
          <a:prstGeom prst="rect">
            <a:avLst/>
          </a:prstGeom>
          <a:noFill/>
        </p:spPr>
        <p:txBody>
          <a:bodyPr wrap="square">
            <a:spAutoFit/>
          </a:bodyPr>
          <a:lstStyle/>
          <a:p>
            <a:r>
              <a:rPr lang="en-IN" b="1" dirty="0"/>
              <a:t>What Does TLS Provide?</a:t>
            </a:r>
          </a:p>
        </p:txBody>
      </p:sp>
      <p:graphicFrame>
        <p:nvGraphicFramePr>
          <p:cNvPr id="7" name="Table 6">
            <a:extLst>
              <a:ext uri="{FF2B5EF4-FFF2-40B4-BE49-F238E27FC236}">
                <a16:creationId xmlns:a16="http://schemas.microsoft.com/office/drawing/2014/main" id="{BF7AE756-BA0D-10BB-D728-BC21E36A7851}"/>
              </a:ext>
            </a:extLst>
          </p:cNvPr>
          <p:cNvGraphicFramePr>
            <a:graphicFrameLocks noGrp="1"/>
          </p:cNvGraphicFramePr>
          <p:nvPr>
            <p:extLst>
              <p:ext uri="{D42A27DB-BD31-4B8C-83A1-F6EECF244321}">
                <p14:modId xmlns:p14="http://schemas.microsoft.com/office/powerpoint/2010/main" val="3894913717"/>
              </p:ext>
            </p:extLst>
          </p:nvPr>
        </p:nvGraphicFramePr>
        <p:xfrm>
          <a:off x="312365" y="2011680"/>
          <a:ext cx="6096000" cy="2291080"/>
        </p:xfrm>
        <a:graphic>
          <a:graphicData uri="http://schemas.openxmlformats.org/drawingml/2006/table">
            <a:tbl>
              <a:tblPr firstRow="1" bandRow="1">
                <a:tableStyleId>{5C22544A-7EE6-4342-B048-85BDC9FD1C3A}</a:tableStyleId>
              </a:tblPr>
              <a:tblGrid>
                <a:gridCol w="1664369">
                  <a:extLst>
                    <a:ext uri="{9D8B030D-6E8A-4147-A177-3AD203B41FA5}">
                      <a16:colId xmlns:a16="http://schemas.microsoft.com/office/drawing/2014/main" val="2849294796"/>
                    </a:ext>
                  </a:extLst>
                </a:gridCol>
                <a:gridCol w="4431631">
                  <a:extLst>
                    <a:ext uri="{9D8B030D-6E8A-4147-A177-3AD203B41FA5}">
                      <a16:colId xmlns:a16="http://schemas.microsoft.com/office/drawing/2014/main" val="3732887169"/>
                    </a:ext>
                  </a:extLst>
                </a:gridCol>
              </a:tblGrid>
              <a:tr h="370840">
                <a:tc>
                  <a:txBody>
                    <a:bodyPr/>
                    <a:lstStyle/>
                    <a:p>
                      <a:pPr>
                        <a:buNone/>
                      </a:pPr>
                      <a:r>
                        <a:rPr lang="en-IN" dirty="0"/>
                        <a:t>TLS Provides</a:t>
                      </a:r>
                    </a:p>
                  </a:txBody>
                  <a:tcPr anchor="ctr"/>
                </a:tc>
                <a:tc>
                  <a:txBody>
                    <a:bodyPr/>
                    <a:lstStyle/>
                    <a:p>
                      <a:pPr>
                        <a:buNone/>
                      </a:pPr>
                      <a:r>
                        <a:rPr lang="en-IN" dirty="0"/>
                        <a:t>Simple Meaning</a:t>
                      </a:r>
                    </a:p>
                  </a:txBody>
                  <a:tcPr anchor="ctr"/>
                </a:tc>
                <a:extLst>
                  <a:ext uri="{0D108BD9-81ED-4DB2-BD59-A6C34878D82A}">
                    <a16:rowId xmlns:a16="http://schemas.microsoft.com/office/drawing/2014/main" val="3737553260"/>
                  </a:ext>
                </a:extLst>
              </a:tr>
              <a:tr h="370840">
                <a:tc>
                  <a:txBody>
                    <a:bodyPr/>
                    <a:lstStyle/>
                    <a:p>
                      <a:pPr>
                        <a:buNone/>
                      </a:pPr>
                      <a:r>
                        <a:rPr lang="en-IN" b="1"/>
                        <a:t>Confidentiality</a:t>
                      </a:r>
                      <a:endParaRPr lang="en-IN"/>
                    </a:p>
                  </a:txBody>
                  <a:tcPr anchor="ctr"/>
                </a:tc>
                <a:tc>
                  <a:txBody>
                    <a:bodyPr/>
                    <a:lstStyle/>
                    <a:p>
                      <a:pPr>
                        <a:buNone/>
                      </a:pPr>
                      <a:r>
                        <a:rPr lang="en-IN"/>
                        <a:t>Other people should not be able to read the data</a:t>
                      </a:r>
                    </a:p>
                  </a:txBody>
                  <a:tcPr anchor="ctr"/>
                </a:tc>
                <a:extLst>
                  <a:ext uri="{0D108BD9-81ED-4DB2-BD59-A6C34878D82A}">
                    <a16:rowId xmlns:a16="http://schemas.microsoft.com/office/drawing/2014/main" val="3812000831"/>
                  </a:ext>
                </a:extLst>
              </a:tr>
              <a:tr h="370840">
                <a:tc>
                  <a:txBody>
                    <a:bodyPr/>
                    <a:lstStyle/>
                    <a:p>
                      <a:pPr>
                        <a:buNone/>
                      </a:pPr>
                      <a:r>
                        <a:rPr lang="en-IN" b="1"/>
                        <a:t>Integrity</a:t>
                      </a:r>
                      <a:endParaRPr lang="en-IN"/>
                    </a:p>
                  </a:txBody>
                  <a:tcPr anchor="ctr"/>
                </a:tc>
                <a:tc>
                  <a:txBody>
                    <a:bodyPr/>
                    <a:lstStyle/>
                    <a:p>
                      <a:pPr>
                        <a:buNone/>
                      </a:pPr>
                      <a:r>
                        <a:rPr lang="en-IN"/>
                        <a:t>Data should not be secretly changed during communication</a:t>
                      </a:r>
                    </a:p>
                  </a:txBody>
                  <a:tcPr anchor="ctr"/>
                </a:tc>
                <a:extLst>
                  <a:ext uri="{0D108BD9-81ED-4DB2-BD59-A6C34878D82A}">
                    <a16:rowId xmlns:a16="http://schemas.microsoft.com/office/drawing/2014/main" val="690255804"/>
                  </a:ext>
                </a:extLst>
              </a:tr>
              <a:tr h="370840">
                <a:tc>
                  <a:txBody>
                    <a:bodyPr/>
                    <a:lstStyle/>
                    <a:p>
                      <a:pPr>
                        <a:buNone/>
                      </a:pPr>
                      <a:r>
                        <a:rPr lang="en-IN" b="1"/>
                        <a:t>Authentication</a:t>
                      </a:r>
                      <a:endParaRPr lang="en-IN"/>
                    </a:p>
                  </a:txBody>
                  <a:tcPr anchor="ctr"/>
                </a:tc>
                <a:tc>
                  <a:txBody>
                    <a:bodyPr/>
                    <a:lstStyle/>
                    <a:p>
                      <a:pPr>
                        <a:buNone/>
                      </a:pPr>
                      <a:r>
                        <a:rPr lang="en-IN" dirty="0"/>
                        <a:t>Helps verify that you are communicating with the intended server</a:t>
                      </a:r>
                    </a:p>
                  </a:txBody>
                  <a:tcPr anchor="ctr"/>
                </a:tc>
                <a:extLst>
                  <a:ext uri="{0D108BD9-81ED-4DB2-BD59-A6C34878D82A}">
                    <a16:rowId xmlns:a16="http://schemas.microsoft.com/office/drawing/2014/main" val="4263358218"/>
                  </a:ext>
                </a:extLst>
              </a:tr>
            </a:tbl>
          </a:graphicData>
        </a:graphic>
      </p:graphicFrame>
      <p:sp>
        <p:nvSpPr>
          <p:cNvPr id="9" name="TextBox 8">
            <a:extLst>
              <a:ext uri="{FF2B5EF4-FFF2-40B4-BE49-F238E27FC236}">
                <a16:creationId xmlns:a16="http://schemas.microsoft.com/office/drawing/2014/main" id="{A2C86813-35FD-0B61-A24A-72367699D09E}"/>
              </a:ext>
            </a:extLst>
          </p:cNvPr>
          <p:cNvSpPr txBox="1"/>
          <p:nvPr/>
        </p:nvSpPr>
        <p:spPr>
          <a:xfrm>
            <a:off x="7876673" y="1485900"/>
            <a:ext cx="3360365" cy="369332"/>
          </a:xfrm>
          <a:prstGeom prst="rect">
            <a:avLst/>
          </a:prstGeom>
          <a:noFill/>
        </p:spPr>
        <p:txBody>
          <a:bodyPr wrap="square">
            <a:spAutoFit/>
          </a:bodyPr>
          <a:lstStyle/>
          <a:p>
            <a:r>
              <a:rPr lang="en-IN" b="1" dirty="0"/>
              <a:t>Simple Working of TLS</a:t>
            </a:r>
          </a:p>
        </p:txBody>
      </p:sp>
      <p:pic>
        <p:nvPicPr>
          <p:cNvPr id="11" name="Picture 10">
            <a:extLst>
              <a:ext uri="{FF2B5EF4-FFF2-40B4-BE49-F238E27FC236}">
                <a16:creationId xmlns:a16="http://schemas.microsoft.com/office/drawing/2014/main" id="{884C4D9C-32A1-E56B-2973-9470AE3ED3E5}"/>
              </a:ext>
            </a:extLst>
          </p:cNvPr>
          <p:cNvPicPr>
            <a:picLocks noChangeAspect="1"/>
          </p:cNvPicPr>
          <p:nvPr/>
        </p:nvPicPr>
        <p:blipFill>
          <a:blip r:embed="rId2"/>
          <a:stretch>
            <a:fillRect/>
          </a:stretch>
        </p:blipFill>
        <p:spPr>
          <a:xfrm>
            <a:off x="6773104" y="2233445"/>
            <a:ext cx="4761170" cy="4407987"/>
          </a:xfrm>
          <a:prstGeom prst="rect">
            <a:avLst/>
          </a:prstGeom>
        </p:spPr>
      </p:pic>
    </p:spTree>
    <p:extLst>
      <p:ext uri="{BB962C8B-B14F-4D97-AF65-F5344CB8AC3E}">
        <p14:creationId xmlns:p14="http://schemas.microsoft.com/office/powerpoint/2010/main" val="23898035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BD8DC-8119-81C0-3A41-D6E8308CC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DAE61-B5F8-88C8-9749-FAD19F01FDAC}"/>
              </a:ext>
            </a:extLst>
          </p:cNvPr>
          <p:cNvSpPr>
            <a:spLocks noGrp="1"/>
          </p:cNvSpPr>
          <p:nvPr>
            <p:ph type="title"/>
          </p:nvPr>
        </p:nvSpPr>
        <p:spPr>
          <a:xfrm>
            <a:off x="275844" y="495220"/>
            <a:ext cx="11640312" cy="464900"/>
          </a:xfrm>
        </p:spPr>
        <p:txBody>
          <a:bodyPr>
            <a:normAutofit/>
          </a:bodyPr>
          <a:lstStyle/>
          <a:p>
            <a:r>
              <a:rPr lang="en-IN" sz="2400" b="1" dirty="0"/>
              <a:t>Transport Layer Security (TLS)</a:t>
            </a:r>
          </a:p>
        </p:txBody>
      </p:sp>
      <p:sp>
        <p:nvSpPr>
          <p:cNvPr id="5" name="TextBox 4">
            <a:extLst>
              <a:ext uri="{FF2B5EF4-FFF2-40B4-BE49-F238E27FC236}">
                <a16:creationId xmlns:a16="http://schemas.microsoft.com/office/drawing/2014/main" id="{C0523F06-3264-A81A-A64E-5EB4080BCE39}"/>
              </a:ext>
            </a:extLst>
          </p:cNvPr>
          <p:cNvSpPr txBox="1"/>
          <p:nvPr/>
        </p:nvSpPr>
        <p:spPr>
          <a:xfrm>
            <a:off x="275843" y="1112330"/>
            <a:ext cx="11515103" cy="923330"/>
          </a:xfrm>
          <a:prstGeom prst="rect">
            <a:avLst/>
          </a:prstGeom>
          <a:noFill/>
        </p:spPr>
        <p:txBody>
          <a:bodyPr wrap="square">
            <a:spAutoFit/>
          </a:bodyPr>
          <a:lstStyle/>
          <a:p>
            <a:pPr>
              <a:buNone/>
            </a:pPr>
            <a:r>
              <a:rPr lang="en-IN" b="1" dirty="0">
                <a:highlight>
                  <a:srgbClr val="FFFF00"/>
                </a:highlight>
              </a:rPr>
              <a:t>What is TLS Handshake?</a:t>
            </a:r>
          </a:p>
          <a:p>
            <a:pPr>
              <a:buNone/>
            </a:pPr>
            <a:r>
              <a:rPr lang="en-IN" dirty="0"/>
              <a:t>The TLS handshake happens before normal protected application data is exchanged.</a:t>
            </a:r>
          </a:p>
          <a:p>
            <a:pPr>
              <a:buNone/>
            </a:pPr>
            <a:r>
              <a:rPr lang="en-IN" dirty="0"/>
              <a:t>Its basic purpose is to allow the client and server to establish the information needed for secure communication.</a:t>
            </a:r>
          </a:p>
        </p:txBody>
      </p:sp>
      <p:sp>
        <p:nvSpPr>
          <p:cNvPr id="10" name="TextBox 9">
            <a:extLst>
              <a:ext uri="{FF2B5EF4-FFF2-40B4-BE49-F238E27FC236}">
                <a16:creationId xmlns:a16="http://schemas.microsoft.com/office/drawing/2014/main" id="{B25843CF-77C6-9631-A1DE-B949753DF774}"/>
              </a:ext>
            </a:extLst>
          </p:cNvPr>
          <p:cNvSpPr txBox="1"/>
          <p:nvPr/>
        </p:nvSpPr>
        <p:spPr>
          <a:xfrm>
            <a:off x="417095" y="2187870"/>
            <a:ext cx="6096000" cy="646331"/>
          </a:xfrm>
          <a:prstGeom prst="rect">
            <a:avLst/>
          </a:prstGeom>
          <a:noFill/>
        </p:spPr>
        <p:txBody>
          <a:bodyPr wrap="square">
            <a:spAutoFit/>
          </a:bodyPr>
          <a:lstStyle/>
          <a:p>
            <a:pPr>
              <a:buNone/>
            </a:pPr>
            <a:r>
              <a:rPr lang="en-IN" b="1" dirty="0"/>
              <a:t>Simple Browser Example</a:t>
            </a:r>
          </a:p>
          <a:p>
            <a:pPr>
              <a:buNone/>
            </a:pPr>
            <a:r>
              <a:rPr lang="en-IN" dirty="0"/>
              <a:t>Suppose you visit: </a:t>
            </a:r>
            <a:r>
              <a:rPr lang="en-IN" dirty="0">
                <a:latin typeface="+mn-lt"/>
              </a:rPr>
              <a:t>https://example.com</a:t>
            </a:r>
            <a:endParaRPr lang="en-IN" dirty="0">
              <a:latin typeface="Courier New" panose="02070309020205020404" pitchFamily="49" charset="0"/>
            </a:endParaRPr>
          </a:p>
        </p:txBody>
      </p:sp>
      <p:pic>
        <p:nvPicPr>
          <p:cNvPr id="13" name="Picture 12">
            <a:extLst>
              <a:ext uri="{FF2B5EF4-FFF2-40B4-BE49-F238E27FC236}">
                <a16:creationId xmlns:a16="http://schemas.microsoft.com/office/drawing/2014/main" id="{6A93BFDA-D708-9A9E-C749-98DA532707FB}"/>
              </a:ext>
            </a:extLst>
          </p:cNvPr>
          <p:cNvPicPr>
            <a:picLocks noChangeAspect="1"/>
          </p:cNvPicPr>
          <p:nvPr/>
        </p:nvPicPr>
        <p:blipFill>
          <a:blip r:embed="rId2"/>
          <a:stretch>
            <a:fillRect/>
          </a:stretch>
        </p:blipFill>
        <p:spPr>
          <a:xfrm>
            <a:off x="243759" y="2986411"/>
            <a:ext cx="4087609" cy="3703147"/>
          </a:xfrm>
          <a:prstGeom prst="rect">
            <a:avLst/>
          </a:prstGeom>
        </p:spPr>
      </p:pic>
    </p:spTree>
    <p:extLst>
      <p:ext uri="{BB962C8B-B14F-4D97-AF65-F5344CB8AC3E}">
        <p14:creationId xmlns:p14="http://schemas.microsoft.com/office/powerpoint/2010/main" val="2045651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10039</TotalTime>
  <Words>11205</Words>
  <Application>Microsoft Office PowerPoint</Application>
  <PresentationFormat>Widescreen</PresentationFormat>
  <Paragraphs>1988</Paragraphs>
  <Slides>134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134</vt:i4>
      </vt:variant>
    </vt:vector>
  </HeadingPairs>
  <TitlesOfParts>
    <vt:vector size="140" baseType="lpstr">
      <vt:lpstr>Arial</vt:lpstr>
      <vt:lpstr>Calibri</vt:lpstr>
      <vt:lpstr>Calibri Light</vt:lpstr>
      <vt:lpstr>Cambria Math</vt:lpstr>
      <vt:lpstr>Courier New</vt:lpstr>
      <vt:lpstr>Office Theme</vt:lpstr>
      <vt:lpstr>Computer Networks</vt:lpstr>
      <vt:lpstr>Contents</vt:lpstr>
      <vt:lpstr>Responsibilities of Transport Layer</vt:lpstr>
      <vt:lpstr>Responsibilities of Transport Layer</vt:lpstr>
      <vt:lpstr>Introduction to Transport Layer</vt:lpstr>
      <vt:lpstr>What is Transport Layer</vt:lpstr>
      <vt:lpstr>Host to Host vs Process-to-Process</vt:lpstr>
      <vt:lpstr>What are the main responsibilities of Transport Layer</vt:lpstr>
      <vt:lpstr>Port Numbers and Process Identification</vt:lpstr>
      <vt:lpstr>Port Numbers and Process Identification</vt:lpstr>
      <vt:lpstr>How large is a Port Number?</vt:lpstr>
      <vt:lpstr>Port Number Categories</vt:lpstr>
      <vt:lpstr>Port Number Categories</vt:lpstr>
      <vt:lpstr>Server Port vs Client Port</vt:lpstr>
      <vt:lpstr>What is a Socket Address?</vt:lpstr>
      <vt:lpstr>What is a Socket Address?</vt:lpstr>
      <vt:lpstr>What is a Socket Address?</vt:lpstr>
      <vt:lpstr>Socket Address vs IP Address vs Port Number vs Socket</vt:lpstr>
      <vt:lpstr>Multiplexing &amp; Demultiplexing at the Transport Layer</vt:lpstr>
      <vt:lpstr>Multiplexing &amp; Demultiplexing at the Transport Layer</vt:lpstr>
      <vt:lpstr>How does Multiplexing Works?</vt:lpstr>
      <vt:lpstr>Now what happens at the Receiver?</vt:lpstr>
      <vt:lpstr>Demultiplexing</vt:lpstr>
      <vt:lpstr>Introduction to TCP &amp; TCP Service Model</vt:lpstr>
      <vt:lpstr>TCP is Connection-Oriented</vt:lpstr>
      <vt:lpstr>TCP provides Reliable Delivery</vt:lpstr>
      <vt:lpstr>Acknowledgment — Basic Idea</vt:lpstr>
      <vt:lpstr>What if TCP doesn't receive the required acknowledgment?</vt:lpstr>
      <vt:lpstr>TCP provides Ordered Delivery</vt:lpstr>
      <vt:lpstr>TCP is Byte-Stream Oriented</vt:lpstr>
      <vt:lpstr>TCP provides Flow Control</vt:lpstr>
      <vt:lpstr>TCP also performs Error Detection</vt:lpstr>
      <vt:lpstr>TCP Service Model</vt:lpstr>
      <vt:lpstr>What is a TCP Segment?</vt:lpstr>
      <vt:lpstr>TCP Header Size</vt:lpstr>
      <vt:lpstr>TCP Header</vt:lpstr>
      <vt:lpstr>Source Port — 16 bits</vt:lpstr>
      <vt:lpstr>Sequence Number — 32 bits</vt:lpstr>
      <vt:lpstr>Sequence Number — 32 bits</vt:lpstr>
      <vt:lpstr>Acknowledgment Number — 32 bits</vt:lpstr>
      <vt:lpstr>Acknowledgment Number — 32 bits</vt:lpstr>
      <vt:lpstr>Acknowledgment Number — 32 bits</vt:lpstr>
      <vt:lpstr>Acknowledgment Number — 32 bits</vt:lpstr>
      <vt:lpstr>Data Offset — 4 bits</vt:lpstr>
      <vt:lpstr>Reserved — 3 bits</vt:lpstr>
      <vt:lpstr>PowerPoint Presentation</vt:lpstr>
      <vt:lpstr>PowerPoint Presentation</vt:lpstr>
      <vt:lpstr>PowerPoint Presentation</vt:lpstr>
      <vt:lpstr>Window Size — 16 bits</vt:lpstr>
      <vt:lpstr>Checksum — 16 bits</vt:lpstr>
      <vt:lpstr>Options — 0 to 40 bytes</vt:lpstr>
      <vt:lpstr>Padding — Variable</vt:lpstr>
      <vt:lpstr>PowerPoint Presentation</vt:lpstr>
      <vt:lpstr>TCP Connection Establishment: Three-Way Handshake</vt:lpstr>
      <vt:lpstr>Client and Server before the Handshake</vt:lpstr>
      <vt:lpstr>Three-Way Handshaking</vt:lpstr>
      <vt:lpstr>Three-Way Handshaking</vt:lpstr>
      <vt:lpstr>Three-Way Handshaking</vt:lpstr>
      <vt:lpstr>Three-Way Handshaking</vt:lpstr>
      <vt:lpstr>Three-Way Handshaking</vt:lpstr>
      <vt:lpstr>PowerPoint Presentation</vt:lpstr>
      <vt:lpstr>Three-Way Handshaking</vt:lpstr>
      <vt:lpstr>TCP Connection Release</vt:lpstr>
      <vt:lpstr>TCP Connection Release</vt:lpstr>
      <vt:lpstr>TCP Connection Release</vt:lpstr>
      <vt:lpstr>TCP Flow Control</vt:lpstr>
      <vt:lpstr>How does the Receiver tell the Sender?</vt:lpstr>
      <vt:lpstr>Why does TCP need a Sliding Window?</vt:lpstr>
      <vt:lpstr>TCP Sliding Window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Numerical Example:</vt:lpstr>
      <vt:lpstr>Numerical Example:</vt:lpstr>
      <vt:lpstr>Advantages of TCP Sliding Window</vt:lpstr>
      <vt:lpstr>What is TCP Transmission Policy?</vt:lpstr>
      <vt:lpstr>Why do we need a Transmission Policy?</vt:lpstr>
      <vt:lpstr>TCP Timer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Transactional TCP (T/TCP)</vt:lpstr>
      <vt:lpstr>Transactional TCP (T/TCP)</vt:lpstr>
      <vt:lpstr>Transactional TCP (T/TCP)</vt:lpstr>
      <vt:lpstr>Transactional TCP (T/TCP) - Advantages</vt:lpstr>
      <vt:lpstr>Mobile TCP</vt:lpstr>
      <vt:lpstr>Mobile TCP</vt:lpstr>
      <vt:lpstr>Mobile TCP</vt:lpstr>
      <vt:lpstr>Approaches Used for Mobile TCP</vt:lpstr>
      <vt:lpstr>UDP Introduction</vt:lpstr>
      <vt:lpstr>UDP Introduction</vt:lpstr>
      <vt:lpstr>What Does UDP Send?</vt:lpstr>
      <vt:lpstr>Why UDP is considered Lightweight?</vt:lpstr>
      <vt:lpstr>Where is UDP Used?</vt:lpstr>
      <vt:lpstr>Principles of Reliable Data Transfer</vt:lpstr>
      <vt:lpstr>How Can Reliability Be Provided?</vt:lpstr>
      <vt:lpstr>Perfect Channel vs Real Channel</vt:lpstr>
      <vt:lpstr>TCP vs UDP</vt:lpstr>
      <vt:lpstr>TCP vs UDP addressing differences</vt:lpstr>
      <vt:lpstr>TCP vs UDP addressing differences</vt:lpstr>
      <vt:lpstr>TCP vs UDP addressing differences</vt:lpstr>
      <vt:lpstr>SCTP: Stream Control Transmission Protocol</vt:lpstr>
      <vt:lpstr>What is Multi-Homing?</vt:lpstr>
      <vt:lpstr>QUIC</vt:lpstr>
      <vt:lpstr>QUIC - Example</vt:lpstr>
      <vt:lpstr>TCP Congestion Control</vt:lpstr>
      <vt:lpstr>TCP Congestion Control</vt:lpstr>
      <vt:lpstr>TCP Congestion Control</vt:lpstr>
      <vt:lpstr>MPTCP - Multipath TCP</vt:lpstr>
      <vt:lpstr>How Does MPTCP Work?</vt:lpstr>
      <vt:lpstr>Why Do We Need MPTCP?</vt:lpstr>
      <vt:lpstr>Advantages of MPTCP</vt:lpstr>
      <vt:lpstr>Transport Layer Security (TLS)</vt:lpstr>
      <vt:lpstr>Transport Layer Security (TLS)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Alok Singh Rathore</cp:lastModifiedBy>
  <cp:revision>383</cp:revision>
  <dcterms:created xsi:type="dcterms:W3CDTF">2026-06-17T09:11:57Z</dcterms:created>
  <dcterms:modified xsi:type="dcterms:W3CDTF">2026-09-24T05:02:57Z</dcterms:modified>
</cp:coreProperties>
</file>