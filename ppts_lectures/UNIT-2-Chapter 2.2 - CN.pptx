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1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314" r:id="rId19"/>
    <p:sldId id="272" r:id="rId20"/>
    <p:sldId id="273" r:id="rId21"/>
    <p:sldId id="274" r:id="rId22"/>
    <p:sldId id="275" r:id="rId23"/>
    <p:sldId id="276" r:id="rId24"/>
    <p:sldId id="277" r:id="rId25"/>
    <p:sldId id="315" r:id="rId26"/>
    <p:sldId id="278" r:id="rId27"/>
    <p:sldId id="316" r:id="rId28"/>
    <p:sldId id="279" r:id="rId29"/>
    <p:sldId id="317" r:id="rId30"/>
    <p:sldId id="280" r:id="rId31"/>
    <p:sldId id="374" r:id="rId32"/>
    <p:sldId id="375" r:id="rId33"/>
    <p:sldId id="376" r:id="rId34"/>
    <p:sldId id="281" r:id="rId35"/>
    <p:sldId id="318" r:id="rId36"/>
    <p:sldId id="319" r:id="rId37"/>
    <p:sldId id="320" r:id="rId38"/>
    <p:sldId id="321" r:id="rId39"/>
    <p:sldId id="282" r:id="rId40"/>
    <p:sldId id="283" r:id="rId41"/>
    <p:sldId id="284" r:id="rId42"/>
    <p:sldId id="322" r:id="rId43"/>
    <p:sldId id="323" r:id="rId44"/>
    <p:sldId id="324" r:id="rId45"/>
    <p:sldId id="285" r:id="rId46"/>
    <p:sldId id="325" r:id="rId47"/>
    <p:sldId id="326" r:id="rId48"/>
    <p:sldId id="286" r:id="rId49"/>
    <p:sldId id="287" r:id="rId50"/>
    <p:sldId id="288" r:id="rId51"/>
    <p:sldId id="289" r:id="rId52"/>
    <p:sldId id="327" r:id="rId53"/>
    <p:sldId id="328" r:id="rId54"/>
    <p:sldId id="329" r:id="rId55"/>
    <p:sldId id="330" r:id="rId56"/>
    <p:sldId id="377" r:id="rId57"/>
    <p:sldId id="378" r:id="rId58"/>
    <p:sldId id="379" r:id="rId59"/>
    <p:sldId id="380" r:id="rId60"/>
    <p:sldId id="290" r:id="rId61"/>
    <p:sldId id="291" r:id="rId62"/>
    <p:sldId id="331" r:id="rId63"/>
    <p:sldId id="292" r:id="rId64"/>
    <p:sldId id="332" r:id="rId65"/>
    <p:sldId id="333" r:id="rId66"/>
    <p:sldId id="334" r:id="rId67"/>
    <p:sldId id="337" r:id="rId68"/>
    <p:sldId id="293" r:id="rId69"/>
    <p:sldId id="335" r:id="rId70"/>
    <p:sldId id="336" r:id="rId71"/>
    <p:sldId id="294" r:id="rId72"/>
    <p:sldId id="338" r:id="rId73"/>
    <p:sldId id="339" r:id="rId74"/>
    <p:sldId id="295" r:id="rId75"/>
    <p:sldId id="340" r:id="rId76"/>
    <p:sldId id="341" r:id="rId77"/>
    <p:sldId id="296" r:id="rId78"/>
    <p:sldId id="297" r:id="rId79"/>
    <p:sldId id="342" r:id="rId80"/>
    <p:sldId id="343" r:id="rId81"/>
    <p:sldId id="298" r:id="rId82"/>
    <p:sldId id="299" r:id="rId83"/>
    <p:sldId id="300" r:id="rId84"/>
    <p:sldId id="344" r:id="rId85"/>
    <p:sldId id="301" r:id="rId86"/>
    <p:sldId id="302" r:id="rId87"/>
    <p:sldId id="345" r:id="rId88"/>
    <p:sldId id="346" r:id="rId89"/>
    <p:sldId id="303" r:id="rId90"/>
    <p:sldId id="304" r:id="rId91"/>
    <p:sldId id="305" r:id="rId92"/>
    <p:sldId id="306" r:id="rId93"/>
    <p:sldId id="347" r:id="rId94"/>
    <p:sldId id="307" r:id="rId95"/>
    <p:sldId id="348" r:id="rId96"/>
    <p:sldId id="308" r:id="rId97"/>
    <p:sldId id="309" r:id="rId98"/>
    <p:sldId id="349" r:id="rId99"/>
    <p:sldId id="350" r:id="rId100"/>
    <p:sldId id="351" r:id="rId101"/>
    <p:sldId id="369" r:id="rId102"/>
    <p:sldId id="352" r:id="rId103"/>
    <p:sldId id="353" r:id="rId104"/>
    <p:sldId id="370" r:id="rId105"/>
    <p:sldId id="354" r:id="rId106"/>
    <p:sldId id="355" r:id="rId107"/>
    <p:sldId id="356" r:id="rId108"/>
    <p:sldId id="371" r:id="rId109"/>
    <p:sldId id="357" r:id="rId110"/>
    <p:sldId id="372" r:id="rId1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F35B0-2E11-C739-69DB-364B50BC4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7A682-50E1-D718-98BB-0C03CDEB4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5C3F3-5A4E-2CA7-F0D3-1E368F13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371E8-D93E-C2FF-CFBA-894890D4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FCED8-5C15-079E-5683-4F4A6379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3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165B-2DD9-C21D-9E4B-088A3598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2A5AD-2FF5-E1F8-9931-4285120FC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FA393-9C5E-1CAD-F178-46E249C7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D7A9-F787-B9BD-5A26-DB0D5849D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38EA-0CBA-3E52-9115-778AD4389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82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6E5D-98F1-37C7-FC25-CCB699F9B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2DC34-E631-12FA-549C-E52BEBBD9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53A9A-7129-18CF-AAB2-D8395854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E5574-9C57-B457-E05A-77C66C67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17AD6-B667-E2B4-D2E5-710323E5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58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BC63-7456-D1F9-A162-78594A30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C7F6-A474-AC27-613F-B48A7AAD8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829F0-327A-2F26-9F9B-0B312F1A9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87326-1987-B189-28DE-A090D08D8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D356B-9C9E-BDC0-DAEC-E972AE539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B52F5-53DD-D223-CE59-66255741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830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0C4C7-14EC-4BB0-E0DC-AB13AD28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C2B95-E867-D870-7C7F-CA0903AB7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5D53E-3BA6-8B31-AFF3-D0EDE9D70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D6DBE8-84D2-5E9A-371C-AB768F4E2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B7287E-4DA7-20FD-B7C1-37509F0F7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CBF527-5D51-4795-2713-056103C2E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7B607-5F54-9092-0C4D-CCD41044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F3AE7A-0B5F-B4FC-70F0-1E87A92E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869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4A22-D351-DF7C-00FF-B94A6EFD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9F6709-02AC-CA33-E808-586F5E852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60254-780D-7B92-0902-421F461CC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DF8FF-41B4-3716-C394-EE0159FD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58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7B3BD-D617-3C35-1AB6-6C6A4E44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060D8F-3B0A-6713-FDD1-2537105CB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9A2E4-0DFD-D51C-6B82-6C14A169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08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0D0AE-FA26-BFCE-5B03-7D92BD27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E4246-2740-AF92-4924-2AC4B2FE1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0E825-8180-0E22-1F76-6C71A0ED9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1EF12-4D15-0E18-B33E-F1E50CB2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60264-ABCF-9739-E5C5-6FC0E4A1A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1ADC3-C221-91B1-DF01-C4839B44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33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A673-9EFF-961A-B81C-4BEB57BE7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5C82A-3DD1-B7D0-C4FB-6E2E9CBCC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84FB1-2EE9-7A86-3114-329876C28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A6D42-E88E-3A27-5384-50319FAD3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7F436-1513-6D61-E222-645EFA47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1E9D6-0990-5804-1808-BD85CFEC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20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2D2B-210E-8CCD-C1B7-690B8B07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AE3B0-5D83-7159-2547-F9770F73D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2A936-1387-088C-2B2E-6C9C7D3A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F6D25-0002-D4B1-11BD-6EB85C6C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5D986-C532-24B9-4B76-4466D0DD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55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013FA5-C7CD-0413-1726-170EBEC24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AB966-7617-A5E8-BE31-2072AB807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02B28-064F-861F-B8F9-E8ABDFB9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01644-CEEF-85C2-108C-FDD7804D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0FC37-4F38-9433-D755-3B53E822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40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2FEC6-FDE4-5248-150B-C0D1D84B9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D9D89-6AD7-5F4F-E83D-1D646A846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C4029-7543-0447-F921-F38837163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1D44E-AB28-4CBC-A39C-24E65F43CA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3F134-11C7-5AA3-F3BB-52B4D224B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DA509-422C-EE10-B291-6D7B469A5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7FC92D-6EC7-3DCB-B94C-619543D8C54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0770" y="60385"/>
            <a:ext cx="11904453" cy="50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29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18BC5-2CDF-002D-43CC-10F2FB6378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Networks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0DBBC-FF82-56F1-2B4E-AF7B9BF0BF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2.2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E4571-81D3-3F2E-A57B-5EBD74A8A0B7}"/>
              </a:ext>
            </a:extLst>
          </p:cNvPr>
          <p:cNvSpPr txBox="1"/>
          <p:nvPr/>
        </p:nvSpPr>
        <p:spPr>
          <a:xfrm>
            <a:off x="2385883" y="6092518"/>
            <a:ext cx="7735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ALOK KUMAR – ASSISTANT PROFESSOR &amp; KARGIL TECHINCAL TRAINER (DCPD) </a:t>
            </a:r>
            <a:br>
              <a:rPr lang="en-US" dirty="0"/>
            </a:br>
            <a:r>
              <a:rPr lang="en-US" dirty="0"/>
              <a:t>EMAIL: DCPD.KARGILT1@CUMAIL.IN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4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EA74-A973-F2A5-CD14-1B7EFD8F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163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9EDEE-0AED-5107-CD8E-199C43709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6736"/>
            <a:ext cx="10515600" cy="48602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Routing. </a:t>
            </a:r>
          </a:p>
          <a:p>
            <a:r>
              <a:rPr lang="en-US" dirty="0"/>
              <a:t>Distance Vector Routing(Concept, Bellman Ford, Working, Numerical Examples, Count-to-infinity problem, Adv &amp; Disad) </a:t>
            </a:r>
          </a:p>
          <a:p>
            <a:r>
              <a:rPr lang="en-US" dirty="0"/>
              <a:t>Link State Routing(Concept, Dijkstra Algo Logic, Examples, Adv &amp; Disad) </a:t>
            </a:r>
          </a:p>
          <a:p>
            <a:r>
              <a:rPr lang="en-US" dirty="0"/>
              <a:t>Hierarchical Routing </a:t>
            </a:r>
          </a:p>
          <a:p>
            <a:r>
              <a:rPr lang="en-US" dirty="0"/>
              <a:t>Broadcast Routing(Concept, Flooding &amp; Techniques, Problems with Simple flooding, Controlled Flooding Methods, Spanning Tree Routing)</a:t>
            </a:r>
          </a:p>
          <a:p>
            <a:r>
              <a:rPr lang="en-US" dirty="0"/>
              <a:t>Shortest Path Algorithm</a:t>
            </a:r>
          </a:p>
          <a:p>
            <a:r>
              <a:rPr lang="en-US" dirty="0"/>
              <a:t>Unicast Routing(Concept, Dijkstra Algo logic, Link state vs Distance Vector)</a:t>
            </a:r>
          </a:p>
          <a:p>
            <a:r>
              <a:rPr lang="en-US" dirty="0"/>
              <a:t>DHCP</a:t>
            </a:r>
          </a:p>
          <a:p>
            <a:r>
              <a:rPr lang="en-US" dirty="0"/>
              <a:t>VLAN</a:t>
            </a:r>
          </a:p>
        </p:txBody>
      </p:sp>
    </p:spTree>
    <p:extLst>
      <p:ext uri="{BB962C8B-B14F-4D97-AF65-F5344CB8AC3E}">
        <p14:creationId xmlns:p14="http://schemas.microsoft.com/office/powerpoint/2010/main" val="279024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8C79-1282-A4A7-3E5E-236A1DD75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Introduction to Routing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F0F645-91F1-A07A-AC79-7C0186F60545}"/>
              </a:ext>
            </a:extLst>
          </p:cNvPr>
          <p:cNvSpPr txBox="1"/>
          <p:nvPr/>
        </p:nvSpPr>
        <p:spPr>
          <a:xfrm>
            <a:off x="385011" y="1026696"/>
            <a:ext cx="11608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What is Routing?</a:t>
            </a:r>
          </a:p>
          <a:p>
            <a:r>
              <a:rPr lang="en-IN" b="1" dirty="0"/>
              <a:t>Routing</a:t>
            </a:r>
            <a:r>
              <a:rPr lang="en-IN" dirty="0"/>
              <a:t> is the process of finding a suitable path for sending an IP packet from a </a:t>
            </a:r>
            <a:r>
              <a:rPr lang="en-IN" b="1" dirty="0"/>
              <a:t>source network to a destination network</a:t>
            </a:r>
            <a:r>
              <a:rPr lang="en-IN" dirty="0"/>
              <a:t>.</a:t>
            </a:r>
          </a:p>
          <a:p>
            <a:r>
              <a:rPr lang="en-IN" dirty="0"/>
              <a:t>When the source and destination are on different networks, the packet usually passes through one or more </a:t>
            </a:r>
            <a:r>
              <a:rPr lang="en-IN" b="1" dirty="0"/>
              <a:t>routers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ABD256-4177-0C79-DF47-200EB4C5C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2062593"/>
            <a:ext cx="6276536" cy="22366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7A79A1-BF42-A5A3-7B46-D15ABE97F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11" y="4592127"/>
            <a:ext cx="6276536" cy="22366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ECCF7C-329C-6C9F-7703-7DA168445AB5}"/>
              </a:ext>
            </a:extLst>
          </p:cNvPr>
          <p:cNvSpPr txBox="1"/>
          <p:nvPr/>
        </p:nvSpPr>
        <p:spPr>
          <a:xfrm>
            <a:off x="7383441" y="2762798"/>
            <a:ext cx="44235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router has to decide: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Which path should be used to reach the destination network?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This process of learning/selecting a path is called </a:t>
            </a:r>
            <a:r>
              <a:rPr lang="en-IN" b="1" dirty="0"/>
              <a:t>Routing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718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C9484-471A-7B83-94E5-5EB59794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A7944-FFD4-F20F-D861-0BEF9068A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Why is Routing Required?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353803-C4D5-4115-8611-8DF0C4B06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7" y="1069112"/>
            <a:ext cx="6205625" cy="34547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299276-2B7E-122F-7DF8-A7F383B71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979" y="1395977"/>
            <a:ext cx="3866146" cy="33364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52EB7A-D48F-8AD3-6B50-430C9187A2F5}"/>
              </a:ext>
            </a:extLst>
          </p:cNvPr>
          <p:cNvSpPr txBox="1"/>
          <p:nvPr/>
        </p:nvSpPr>
        <p:spPr>
          <a:xfrm>
            <a:off x="1114926" y="5223142"/>
            <a:ext cx="9962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Therefore:</a:t>
            </a:r>
          </a:p>
          <a:p>
            <a:pPr>
              <a:buNone/>
            </a:pPr>
            <a:r>
              <a:rPr lang="en-IN" b="1" dirty="0"/>
              <a:t>Routing is required when packets have to travel between different IP networks.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49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7BDE2-2DAF-5F3D-E41E-9311CE717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C6F4-7317-1F55-9BBF-C7A40F07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Routing vs Forwarding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130B1-7BC4-61B5-612C-E424907AC49E}"/>
              </a:ext>
            </a:extLst>
          </p:cNvPr>
          <p:cNvSpPr txBox="1"/>
          <p:nvPr/>
        </p:nvSpPr>
        <p:spPr>
          <a:xfrm>
            <a:off x="513348" y="1020088"/>
            <a:ext cx="53580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They are related, but they are </a:t>
            </a:r>
            <a:r>
              <a:rPr lang="en-IN" b="1" dirty="0"/>
              <a:t>not exactly the same</a:t>
            </a:r>
            <a:r>
              <a:rPr lang="en-IN" dirty="0"/>
              <a:t>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>
                <a:highlight>
                  <a:srgbClr val="FFFF00"/>
                </a:highlight>
              </a:rPr>
              <a:t>Routing</a:t>
            </a:r>
          </a:p>
          <a:p>
            <a:pPr>
              <a:buNone/>
            </a:pPr>
            <a:r>
              <a:rPr lang="en-IN" dirty="0"/>
              <a:t>Routing means: </a:t>
            </a:r>
            <a:r>
              <a:rPr lang="en-IN" b="1" dirty="0"/>
              <a:t>Finding/learning the path to a destination.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EDDDE6-0BAB-A93D-FCD5-93B69FB54770}"/>
              </a:ext>
            </a:extLst>
          </p:cNvPr>
          <p:cNvSpPr txBox="1"/>
          <p:nvPr/>
        </p:nvSpPr>
        <p:spPr>
          <a:xfrm>
            <a:off x="513348" y="2690336"/>
            <a:ext cx="26950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R1 learns: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Network 192.168.3.0/24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can be reached through R2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935D8E-C352-B17C-F215-FF46A49FE79B}"/>
              </a:ext>
            </a:extLst>
          </p:cNvPr>
          <p:cNvSpPr txBox="1"/>
          <p:nvPr/>
        </p:nvSpPr>
        <p:spPr>
          <a:xfrm>
            <a:off x="6593306" y="1674674"/>
            <a:ext cx="5213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highlight>
                  <a:srgbClr val="FFFF00"/>
                </a:highlight>
              </a:rPr>
              <a:t>Forwarding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Forwarding means:</a:t>
            </a:r>
          </a:p>
          <a:p>
            <a:pPr>
              <a:buNone/>
            </a:pPr>
            <a:r>
              <a:rPr lang="en-IN" b="1" dirty="0"/>
              <a:t>Actually sending a received packet through the correct outgoing interface/next hop.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2F331-6582-5CAF-2315-21AF7B68C3D1}"/>
              </a:ext>
            </a:extLst>
          </p:cNvPr>
          <p:cNvSpPr txBox="1"/>
          <p:nvPr/>
        </p:nvSpPr>
        <p:spPr>
          <a:xfrm>
            <a:off x="6593306" y="3486173"/>
            <a:ext cx="32725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Packet arrives at R1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Destination = 192.168.3.10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R1 checks its routing table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192.168.3.0/24 → R2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R1 forwards packet toward R2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56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94F3B-D72F-5B2C-09D3-4FF643947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C4E1-77C0-C4A4-DBAE-B8A94675B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Difference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036E48-3A6E-39E5-99B3-7C5CF562B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508572"/>
              </p:ext>
            </p:extLst>
          </p:nvPr>
        </p:nvGraphicFramePr>
        <p:xfrm>
          <a:off x="385011" y="1072592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8126108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9827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Routing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Forwarding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067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Finds/learns the 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Sends the actual packet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07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Builds/maintains routing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Uses routing/forwarding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959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Concerned with path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Concerned with packet movement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74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Example: “Use R2 to reach Network B”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Example: “Send this packet to R2”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81188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DFA7233-B05F-D2FA-4209-53D469551808}"/>
              </a:ext>
            </a:extLst>
          </p:cNvPr>
          <p:cNvSpPr txBox="1"/>
          <p:nvPr/>
        </p:nvSpPr>
        <p:spPr>
          <a:xfrm>
            <a:off x="1251282" y="3766115"/>
            <a:ext cx="33848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ROUTING</a:t>
            </a:r>
          </a:p>
          <a:p>
            <a:r>
              <a:rPr lang="en-IN" dirty="0"/>
              <a:t>"Which road should I use?"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Path is learned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FORWARDING</a:t>
            </a:r>
          </a:p>
          <a:p>
            <a:r>
              <a:rPr lang="en-IN" dirty="0"/>
              <a:t>"Send this packet on that road."</a:t>
            </a:r>
          </a:p>
        </p:txBody>
      </p:sp>
    </p:spTree>
    <p:extLst>
      <p:ext uri="{BB962C8B-B14F-4D97-AF65-F5344CB8AC3E}">
        <p14:creationId xmlns:p14="http://schemas.microsoft.com/office/powerpoint/2010/main" val="3032504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18516-D3FA-FEA9-10E9-A02E7BDAC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597F3-7F49-0158-C6E1-EE52632FC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a Route?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EAC21-D88D-6FA3-902B-BF524B05175C}"/>
              </a:ext>
            </a:extLst>
          </p:cNvPr>
          <p:cNvSpPr txBox="1"/>
          <p:nvPr/>
        </p:nvSpPr>
        <p:spPr>
          <a:xfrm>
            <a:off x="385010" y="1074094"/>
            <a:ext cx="114219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</a:t>
            </a:r>
            <a:r>
              <a:rPr lang="en-IN" b="1" dirty="0"/>
              <a:t>route</a:t>
            </a:r>
            <a:r>
              <a:rPr lang="en-IN" dirty="0"/>
              <a:t> is information that tells a router how a particular destination network can be reached.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For example: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Destination Network:     192.168.20.0/24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Next Hop:                          10.0.0.2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885C3-144B-6EE7-BA79-C4F533E25543}"/>
              </a:ext>
            </a:extLst>
          </p:cNvPr>
          <p:cNvSpPr txBox="1"/>
          <p:nvPr/>
        </p:nvSpPr>
        <p:spPr>
          <a:xfrm>
            <a:off x="385010" y="2720260"/>
            <a:ext cx="10491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It simply means:</a:t>
            </a:r>
          </a:p>
          <a:p>
            <a:pPr>
              <a:buNone/>
            </a:pPr>
            <a:r>
              <a:rPr lang="en-IN" dirty="0"/>
              <a:t>To reach </a:t>
            </a:r>
            <a:r>
              <a:rPr lang="en-IN" dirty="0">
                <a:latin typeface="+mn-lt"/>
              </a:rPr>
              <a:t>192.168.20.0/24</a:t>
            </a:r>
            <a:r>
              <a:rPr lang="en-IN" dirty="0"/>
              <a:t>, send the packet toward router </a:t>
            </a:r>
            <a:r>
              <a:rPr lang="en-IN" dirty="0">
                <a:latin typeface="+mn-lt"/>
              </a:rPr>
              <a:t>10.0.0.2</a:t>
            </a:r>
            <a:r>
              <a:rPr lang="en-IN" dirty="0"/>
              <a:t>. A router can contain many such routes.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88EAB25-8F82-B68E-FEFE-D5990777B3CC}"/>
              </a:ext>
            </a:extLst>
          </p:cNvPr>
          <p:cNvSpPr txBox="1">
            <a:spLocks/>
          </p:cNvSpPr>
          <p:nvPr/>
        </p:nvSpPr>
        <p:spPr>
          <a:xfrm>
            <a:off x="385010" y="3598870"/>
            <a:ext cx="11421978" cy="395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/>
              <a:t>What is a Routing Table?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A4092-52F3-DE03-AF4F-D432450799D6}"/>
              </a:ext>
            </a:extLst>
          </p:cNvPr>
          <p:cNvSpPr txBox="1"/>
          <p:nvPr/>
        </p:nvSpPr>
        <p:spPr>
          <a:xfrm>
            <a:off x="385010" y="4118739"/>
            <a:ext cx="11421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</a:t>
            </a:r>
            <a:r>
              <a:rPr lang="en-IN" b="1" dirty="0"/>
              <a:t>routing table</a:t>
            </a:r>
            <a:r>
              <a:rPr lang="en-IN" dirty="0"/>
              <a:t> is a table maintained by a router containing information about how different destination networks can be reached.</a:t>
            </a:r>
          </a:p>
          <a:p>
            <a:pPr>
              <a:buNone/>
            </a:pPr>
            <a:r>
              <a:rPr lang="en-IN" dirty="0"/>
              <a:t>Think of it as a router's </a:t>
            </a:r>
            <a:r>
              <a:rPr lang="en-IN" b="1" dirty="0"/>
              <a:t>road map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8492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82FBA-E815-C8C4-C292-14FF2BEF0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7DCD-1C8A-95A6-CF96-764D936EC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a Routing Table?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80D7B-EAD6-4DF3-7FE9-8F0EF4453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1121056"/>
            <a:ext cx="6785810" cy="25846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483EBC-853A-E970-4561-3DEEF308A082}"/>
              </a:ext>
            </a:extLst>
          </p:cNvPr>
          <p:cNvSpPr txBox="1"/>
          <p:nvPr/>
        </p:nvSpPr>
        <p:spPr>
          <a:xfrm>
            <a:off x="7860631" y="1436092"/>
            <a:ext cx="39463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 a packet arrives with: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Destination IP = 192.168.3.25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Router checks: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192.168.3.25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Belongs to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192.168.3.0/24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Routing table says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Next Hop = 10.0.0.2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Send through G0/1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364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BE5A8-95ED-1871-B2F1-7C9E3A38D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0FE3-BE74-9EF9-44EB-E0A8DF677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a Destination Network?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E2C04-874D-41E8-57E4-2DE19A9D94D9}"/>
              </a:ext>
            </a:extLst>
          </p:cNvPr>
          <p:cNvSpPr txBox="1"/>
          <p:nvPr/>
        </p:nvSpPr>
        <p:spPr>
          <a:xfrm>
            <a:off x="272716" y="905256"/>
            <a:ext cx="114219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Routers normally make forwarding decisions based on the </a:t>
            </a:r>
            <a:r>
              <a:rPr lang="en-IN" b="1" dirty="0"/>
              <a:t>destination IP address and matching network prefix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Suppose the destination computer is: 192.168.20.25</a:t>
            </a:r>
          </a:p>
          <a:p>
            <a:r>
              <a:rPr lang="en-IN" dirty="0"/>
              <a:t>and the routing table contains: 192.168.20.0/24</a:t>
            </a:r>
          </a:p>
          <a:p>
            <a:endParaRPr lang="en-IN" dirty="0"/>
          </a:p>
          <a:p>
            <a:r>
              <a:rPr lang="en-IN" dirty="0"/>
              <a:t>The router understands that: 192.168.20.25</a:t>
            </a:r>
          </a:p>
          <a:p>
            <a:r>
              <a:rPr lang="en-IN" dirty="0"/>
              <a:t>belongs to: 192.168.20.0/24</a:t>
            </a:r>
          </a:p>
          <a:p>
            <a:endParaRPr lang="en-IN" dirty="0"/>
          </a:p>
          <a:p>
            <a:r>
              <a:rPr lang="en-IN" dirty="0"/>
              <a:t>Therefore, it uses that matching route.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C997C-1636-59EC-9F3C-AF00A6CDED33}"/>
              </a:ext>
            </a:extLst>
          </p:cNvPr>
          <p:cNvSpPr txBox="1"/>
          <p:nvPr/>
        </p:nvSpPr>
        <p:spPr>
          <a:xfrm>
            <a:off x="6882063" y="2870667"/>
            <a:ext cx="3048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Destination IP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192.168.20.25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Matching Route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192.168.20.0/24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Next Hop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10.0.0.2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370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906AE-F13F-8EE9-5DF5-B7C502889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67B1D-560B-1A32-204D-65BB7D04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a Metric?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DF2E0-78A4-5347-80DF-66789C7D02B1}"/>
              </a:ext>
            </a:extLst>
          </p:cNvPr>
          <p:cNvSpPr txBox="1"/>
          <p:nvPr/>
        </p:nvSpPr>
        <p:spPr>
          <a:xfrm>
            <a:off x="385010" y="1072497"/>
            <a:ext cx="11149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Sometimes there can be </a:t>
            </a:r>
            <a:r>
              <a:rPr lang="en-IN" b="1" dirty="0"/>
              <a:t>more than one possible route</a:t>
            </a:r>
            <a:r>
              <a:rPr lang="en-IN" dirty="0"/>
              <a:t> to a destination.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90448D-7DA5-CA24-1407-AEAD49DC6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1" y="1766344"/>
            <a:ext cx="4860758" cy="497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F6141A-A5FC-0FE4-659B-46A2F8208EE4}"/>
              </a:ext>
            </a:extLst>
          </p:cNvPr>
          <p:cNvSpPr txBox="1"/>
          <p:nvPr/>
        </p:nvSpPr>
        <p:spPr>
          <a:xfrm>
            <a:off x="6577264" y="1609070"/>
            <a:ext cx="48607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Routing protocols use a value called a </a:t>
            </a:r>
            <a:r>
              <a:rPr lang="en-IN" b="1" dirty="0"/>
              <a:t>Metric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Metric is a value used by a routing protocol to compare routes and help select a preferred path.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D9F39F-8BE5-6E9E-A190-E339726ED896}"/>
              </a:ext>
            </a:extLst>
          </p:cNvPr>
          <p:cNvSpPr txBox="1"/>
          <p:nvPr/>
        </p:nvSpPr>
        <p:spPr>
          <a:xfrm>
            <a:off x="6577264" y="3877180"/>
            <a:ext cx="37217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Different routing protocols can use different metrics.</a:t>
            </a:r>
          </a:p>
          <a:p>
            <a:pPr>
              <a:buNone/>
            </a:pPr>
            <a:r>
              <a:rPr lang="en-IN" dirty="0"/>
              <a:t>Examples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Hop count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Link cost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Bandwidth-related cost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Delay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Other protocol-specific values</a:t>
            </a:r>
          </a:p>
        </p:txBody>
      </p:sp>
    </p:spTree>
    <p:extLst>
      <p:ext uri="{BB962C8B-B14F-4D97-AF65-F5344CB8AC3E}">
        <p14:creationId xmlns:p14="http://schemas.microsoft.com/office/powerpoint/2010/main" val="883820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8A56-4D0E-C9F4-B0D8-567015BE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0B38-D561-DD31-2A8A-0DC5791E6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Does the Shortest Path Always Mean Physically Shortest?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C21AA-AC63-AFCD-1893-9722397ABFFE}"/>
              </a:ext>
            </a:extLst>
          </p:cNvPr>
          <p:cNvSpPr txBox="1"/>
          <p:nvPr/>
        </p:nvSpPr>
        <p:spPr>
          <a:xfrm>
            <a:off x="385010" y="905256"/>
            <a:ext cx="118069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 networking:</a:t>
            </a:r>
          </a:p>
          <a:p>
            <a:pPr>
              <a:buNone/>
            </a:pPr>
            <a:r>
              <a:rPr lang="en-IN" b="1" dirty="0"/>
              <a:t>Shortest path usually means the path with the lowest routing metric/cost—not necessarily the shortest physical distance.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122183-6396-CE04-5146-EC1CFE231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0" y="1667477"/>
            <a:ext cx="3804666" cy="27761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577829-909A-0806-66C7-EBC5EAFBEF9D}"/>
              </a:ext>
            </a:extLst>
          </p:cNvPr>
          <p:cNvSpPr txBox="1"/>
          <p:nvPr/>
        </p:nvSpPr>
        <p:spPr>
          <a:xfrm>
            <a:off x="612287" y="4752415"/>
            <a:ext cx="35773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Physically, Path B may look shorter.</a:t>
            </a:r>
          </a:p>
          <a:p>
            <a:pPr>
              <a:buNone/>
            </a:pPr>
            <a:r>
              <a:rPr lang="en-IN" dirty="0"/>
              <a:t>But depending on the routing protocol and metric, Path A may have a better routing cost.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5013F4-FFA4-B934-9BD2-F40EE7431770}"/>
              </a:ext>
            </a:extLst>
          </p:cNvPr>
          <p:cNvSpPr txBox="1"/>
          <p:nvPr/>
        </p:nvSpPr>
        <p:spPr>
          <a:xfrm>
            <a:off x="4636168" y="32702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It generally means:</a:t>
            </a:r>
          </a:p>
          <a:p>
            <a:pPr>
              <a:buNone/>
            </a:pPr>
            <a:r>
              <a:rPr lang="en-IN" b="1" dirty="0"/>
              <a:t>Best/least-cost path according to the routing metric</a:t>
            </a:r>
          </a:p>
        </p:txBody>
      </p:sp>
    </p:spTree>
    <p:extLst>
      <p:ext uri="{BB962C8B-B14F-4D97-AF65-F5344CB8AC3E}">
        <p14:creationId xmlns:p14="http://schemas.microsoft.com/office/powerpoint/2010/main" val="3940720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DE0E-4E90-C199-0E81-F9F6BA154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0ECCF-43F8-F948-2FA4-060DA3596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How Does a Router Learn Routes?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13BC7-0499-E881-CF5E-0E139344E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02" y="1707378"/>
            <a:ext cx="7059729" cy="302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11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A6630-E6E0-9D68-D3E4-F2E1454C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2BEDE-FFD7-8AD4-9F68-CB70B7892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Happens When a Link Fails?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4529F1-4161-FAB8-B000-50EC31AF5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1096122"/>
            <a:ext cx="5887452" cy="4454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3CF1D7-DA94-625A-0F3B-41FC203EEE80}"/>
              </a:ext>
            </a:extLst>
          </p:cNvPr>
          <p:cNvSpPr txBox="1"/>
          <p:nvPr/>
        </p:nvSpPr>
        <p:spPr>
          <a:xfrm>
            <a:off x="6882063" y="1604210"/>
            <a:ext cx="50853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With properly configured dynamic routing, routers can learn about the topology/route change and eventually select another available path.</a:t>
            </a:r>
          </a:p>
          <a:p>
            <a:endParaRPr lang="en-IN" dirty="0"/>
          </a:p>
          <a:p>
            <a:r>
              <a:rPr lang="en-IN" dirty="0"/>
              <a:t>This process is related to: </a:t>
            </a:r>
            <a:r>
              <a:rPr lang="en-IN" b="1" dirty="0"/>
              <a:t>Convergence</a:t>
            </a:r>
          </a:p>
        </p:txBody>
      </p:sp>
    </p:spTree>
    <p:extLst>
      <p:ext uri="{BB962C8B-B14F-4D97-AF65-F5344CB8AC3E}">
        <p14:creationId xmlns:p14="http://schemas.microsoft.com/office/powerpoint/2010/main" val="804537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F7D20-B326-4A61-AED8-A6AA3B4C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40B1F-A5DC-984B-F7BD-3F5798AF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Convergence?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88948-4E60-6835-603F-74CD639300E9}"/>
              </a:ext>
            </a:extLst>
          </p:cNvPr>
          <p:cNvSpPr txBox="1"/>
          <p:nvPr/>
        </p:nvSpPr>
        <p:spPr>
          <a:xfrm>
            <a:off x="385011" y="1090863"/>
            <a:ext cx="11421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Convergence</a:t>
            </a:r>
            <a:r>
              <a:rPr lang="en-IN" dirty="0"/>
              <a:t> is the process/state in which routers have updated and reached a consistent understanding of the available routes after a network change.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EF7D4-9A3B-ACB8-3DED-4E5D9BFF1F07}"/>
              </a:ext>
            </a:extLst>
          </p:cNvPr>
          <p:cNvSpPr txBox="1"/>
          <p:nvPr/>
        </p:nvSpPr>
        <p:spPr>
          <a:xfrm>
            <a:off x="385011" y="1737194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Example:</a:t>
            </a:r>
          </a:p>
          <a:p>
            <a:pPr>
              <a:buNone/>
            </a:pPr>
            <a:r>
              <a:rPr lang="en-IN" dirty="0"/>
              <a:t>Initially: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R1 → R2 → R3</a:t>
            </a:r>
          </a:p>
          <a:p>
            <a:pPr>
              <a:buNone/>
            </a:pPr>
            <a:r>
              <a:rPr lang="en-IN" dirty="0"/>
              <a:t>Then a link fails: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R1 → R2 --X-- R3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Routers need some time to: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Detect failure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Exchange/update routing information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Calculate/select new routes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Routing information becomes stable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When the routers have updated to the new network condition, the routing system is said to have </a:t>
            </a:r>
            <a:r>
              <a:rPr lang="en-IN" b="1" dirty="0"/>
              <a:t>converged</a:t>
            </a:r>
            <a:r>
              <a:rPr lang="en-IN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62DE8-914C-EC12-24FE-3EEFD4D0B80F}"/>
              </a:ext>
            </a:extLst>
          </p:cNvPr>
          <p:cNvSpPr txBox="1"/>
          <p:nvPr/>
        </p:nvSpPr>
        <p:spPr>
          <a:xfrm>
            <a:off x="6481010" y="2971345"/>
            <a:ext cx="53259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Convergence is the process of routers updating their routing information until they agree on the current reachable paths after a change.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Important to understand for Distance Vector &amp; Link State Routing.</a:t>
            </a:r>
          </a:p>
        </p:txBody>
      </p:sp>
    </p:spTree>
    <p:extLst>
      <p:ext uri="{BB962C8B-B14F-4D97-AF65-F5344CB8AC3E}">
        <p14:creationId xmlns:p14="http://schemas.microsoft.com/office/powerpoint/2010/main" val="3509153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56C77-69E0-3BC2-F27D-33A68D37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2D899-3D47-C210-4A2C-2428F659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a Routing Algorithm?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C4AED3-14C6-A11F-D827-9AE9EE9D8988}"/>
              </a:ext>
            </a:extLst>
          </p:cNvPr>
          <p:cNvSpPr txBox="1"/>
          <p:nvPr/>
        </p:nvSpPr>
        <p:spPr>
          <a:xfrm>
            <a:off x="385011" y="905256"/>
            <a:ext cx="853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</a:t>
            </a:r>
            <a:r>
              <a:rPr lang="en-IN" b="1" dirty="0"/>
              <a:t>routing algorithm</a:t>
            </a:r>
            <a:r>
              <a:rPr lang="en-IN" dirty="0"/>
              <a:t> is the logic used to determine good routes through a network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1A57C7-C81E-909D-95DB-CE6106A3D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08" y="1429708"/>
            <a:ext cx="4758429" cy="36395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2842AB-05DB-8DA8-01A4-CB9994ACFE06}"/>
              </a:ext>
            </a:extLst>
          </p:cNvPr>
          <p:cNvSpPr txBox="1"/>
          <p:nvPr/>
        </p:nvSpPr>
        <p:spPr>
          <a:xfrm>
            <a:off x="6095999" y="1918020"/>
            <a:ext cx="59676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For now, simply remember: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Distance Vector</a:t>
            </a:r>
          </a:p>
          <a:p>
            <a:pPr>
              <a:buNone/>
            </a:pPr>
            <a:r>
              <a:rPr lang="en-IN" dirty="0"/>
              <a:t>A router mainly learns routing information from its </a:t>
            </a:r>
            <a:r>
              <a:rPr lang="en-IN" b="1" dirty="0" err="1"/>
              <a:t>neighbors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b="0" dirty="0"/>
              <a:t>It uses</a:t>
            </a:r>
            <a:r>
              <a:rPr lang="en-IN" dirty="0"/>
              <a:t>: </a:t>
            </a:r>
            <a:r>
              <a:rPr lang="en-IN" b="1" dirty="0"/>
              <a:t>Bellman-Ford Logic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Link State</a:t>
            </a:r>
          </a:p>
          <a:p>
            <a:pPr>
              <a:buNone/>
            </a:pPr>
            <a:r>
              <a:rPr lang="en-IN" dirty="0"/>
              <a:t>Routers build a view of the network topology and calculate best paths.</a:t>
            </a:r>
          </a:p>
          <a:p>
            <a:pPr>
              <a:buNone/>
            </a:pPr>
            <a:r>
              <a:rPr lang="en-IN" dirty="0"/>
              <a:t>It uses: </a:t>
            </a:r>
            <a:r>
              <a:rPr lang="en-IN" b="1" dirty="0"/>
              <a:t>Dijkstra’s algorithm​s</a:t>
            </a:r>
          </a:p>
        </p:txBody>
      </p:sp>
    </p:spTree>
    <p:extLst>
      <p:ext uri="{BB962C8B-B14F-4D97-AF65-F5344CB8AC3E}">
        <p14:creationId xmlns:p14="http://schemas.microsoft.com/office/powerpoint/2010/main" val="2770206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7B939-AACA-220F-B945-28F130B73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D3D3A-9C3B-035D-E729-C6EE9E62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Topic 2: Shortest Path / Least-Cost Path Concept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08F45-B357-9EE2-9E91-0D200F3ADAB0}"/>
              </a:ext>
            </a:extLst>
          </p:cNvPr>
          <p:cNvSpPr txBox="1"/>
          <p:nvPr/>
        </p:nvSpPr>
        <p:spPr>
          <a:xfrm>
            <a:off x="385011" y="1068214"/>
            <a:ext cx="111492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You should first understand one simple question: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If multiple paths are available to reach a destination, how does a router decide which path is better?</a:t>
            </a:r>
            <a:endParaRPr lang="en-IN" dirty="0"/>
          </a:p>
          <a:p>
            <a:pPr>
              <a:buNone/>
            </a:pPr>
            <a:r>
              <a:rPr lang="en-IN" dirty="0"/>
              <a:t>This is the basic idea behind </a:t>
            </a:r>
            <a:r>
              <a:rPr lang="en-IN" b="1" dirty="0"/>
              <a:t>Shortest Path Routing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A2EC7-CF7A-006A-11A2-ADAC410EDBB5}"/>
              </a:ext>
            </a:extLst>
          </p:cNvPr>
          <p:cNvSpPr txBox="1"/>
          <p:nvPr/>
        </p:nvSpPr>
        <p:spPr>
          <a:xfrm>
            <a:off x="192506" y="2505670"/>
            <a:ext cx="39623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What is a Path?</a:t>
            </a:r>
          </a:p>
          <a:p>
            <a:pPr>
              <a:buNone/>
            </a:pPr>
            <a:r>
              <a:rPr lang="en-IN" dirty="0"/>
              <a:t>A </a:t>
            </a:r>
            <a:r>
              <a:rPr lang="en-IN" b="1" dirty="0"/>
              <a:t>path</a:t>
            </a:r>
            <a:r>
              <a:rPr lang="en-IN" dirty="0"/>
              <a:t> is a sequence of routers/links through which a packet can travel from a source to a destination.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B02AFC-FCB6-80EC-FE1C-D03CAA573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6" y="3859339"/>
            <a:ext cx="3181766" cy="22330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8E5501-09F2-F3A8-609F-323774A244DC}"/>
              </a:ext>
            </a:extLst>
          </p:cNvPr>
          <p:cNvSpPr txBox="1"/>
          <p:nvPr/>
        </p:nvSpPr>
        <p:spPr>
          <a:xfrm>
            <a:off x="326272" y="6310205"/>
            <a:ext cx="3379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 R1 wants to reach R4.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07095C-AF46-A1B8-F150-3C3052FB67FD}"/>
              </a:ext>
            </a:extLst>
          </p:cNvPr>
          <p:cNvSpPr txBox="1"/>
          <p:nvPr/>
        </p:nvSpPr>
        <p:spPr>
          <a:xfrm>
            <a:off x="5374105" y="3507101"/>
            <a:ext cx="45399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There are two possible paths: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Path 1: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R1 → R2 → R4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Path 2: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R1 → R3 → R4</a:t>
            </a:r>
          </a:p>
          <a:p>
            <a:pPr>
              <a:buNone/>
            </a:pPr>
            <a:r>
              <a:rPr lang="en-IN" dirty="0"/>
              <a:t>Both paths can reach the same destination.</a:t>
            </a:r>
          </a:p>
          <a:p>
            <a:pPr>
              <a:buNone/>
            </a:pPr>
            <a:r>
              <a:rPr lang="en-IN" dirty="0"/>
              <a:t>So the router needs some method to decide:</a:t>
            </a:r>
          </a:p>
          <a:p>
            <a:pPr>
              <a:buNone/>
            </a:pPr>
            <a:r>
              <a:rPr lang="en-IN" dirty="0"/>
              <a:t>Which path should I choose?</a:t>
            </a:r>
          </a:p>
        </p:txBody>
      </p:sp>
    </p:spTree>
    <p:extLst>
      <p:ext uri="{BB962C8B-B14F-4D97-AF65-F5344CB8AC3E}">
        <p14:creationId xmlns:p14="http://schemas.microsoft.com/office/powerpoint/2010/main" val="2601215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D0BE-BF5E-55A3-1362-84F9506E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2508-FC88-3801-3298-369C935C0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the Shortest Path?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FDAFD-810C-6B8A-39A0-97FA5FC26E56}"/>
              </a:ext>
            </a:extLst>
          </p:cNvPr>
          <p:cNvSpPr txBox="1"/>
          <p:nvPr/>
        </p:nvSpPr>
        <p:spPr>
          <a:xfrm>
            <a:off x="385011" y="1084257"/>
            <a:ext cx="111973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</a:t>
            </a:r>
            <a:r>
              <a:rPr lang="en-IN" b="1" dirty="0"/>
              <a:t>Shortest Path</a:t>
            </a:r>
            <a:r>
              <a:rPr lang="en-IN" dirty="0"/>
              <a:t> is the best path from a source to a destination according to a particular </a:t>
            </a:r>
            <a:r>
              <a:rPr lang="en-IN" b="1" dirty="0"/>
              <a:t>metric or cost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word </a:t>
            </a:r>
            <a:r>
              <a:rPr lang="en-IN" b="1" dirty="0"/>
              <a:t>shortest</a:t>
            </a:r>
            <a:r>
              <a:rPr lang="en-IN" dirty="0"/>
              <a:t> does NOT always mean physically shortest distance.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F285B9-7861-8BCC-7419-FB5F985C623E}"/>
              </a:ext>
            </a:extLst>
          </p:cNvPr>
          <p:cNvSpPr txBox="1"/>
          <p:nvPr/>
        </p:nvSpPr>
        <p:spPr>
          <a:xfrm>
            <a:off x="385011" y="2341419"/>
            <a:ext cx="108765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 networking:</a:t>
            </a:r>
          </a:p>
          <a:p>
            <a:pPr>
              <a:buNone/>
            </a:pPr>
            <a:r>
              <a:rPr lang="en-IN" b="1" dirty="0"/>
              <a:t>Shortest Path usually means the path having the lowest calculated routing cost according to the metric being used.</a:t>
            </a:r>
            <a:endParaRPr lang="en-IN" dirty="0"/>
          </a:p>
          <a:p>
            <a:pPr>
              <a:buNone/>
            </a:pPr>
            <a:r>
              <a:rPr lang="en-IN" dirty="0"/>
              <a:t>Also called as: </a:t>
            </a:r>
            <a:r>
              <a:rPr lang="en-IN" b="1" dirty="0"/>
              <a:t>Least-Cost Path</a:t>
            </a:r>
          </a:p>
        </p:txBody>
      </p:sp>
    </p:spTree>
    <p:extLst>
      <p:ext uri="{BB962C8B-B14F-4D97-AF65-F5344CB8AC3E}">
        <p14:creationId xmlns:p14="http://schemas.microsoft.com/office/powerpoint/2010/main" val="2350851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81C7A-742F-1933-654A-12C464407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4C5B-5AB4-3629-A91A-B6BF55E8C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Cost?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87ECE-92AD-B3E2-D3FD-6101B48B1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9" y="1066469"/>
            <a:ext cx="5133474" cy="31044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FE848C-68E0-74C0-45A9-C77B70B2A198}"/>
              </a:ext>
            </a:extLst>
          </p:cNvPr>
          <p:cNvSpPr txBox="1"/>
          <p:nvPr/>
        </p:nvSpPr>
        <p:spPr>
          <a:xfrm>
            <a:off x="385011" y="4594169"/>
            <a:ext cx="33207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numbers: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2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2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</a:t>
            </a:r>
          </a:p>
          <a:p>
            <a:pPr>
              <a:buNone/>
            </a:pPr>
            <a:r>
              <a:rPr lang="en-IN" dirty="0"/>
              <a:t>represent the </a:t>
            </a:r>
            <a:r>
              <a:rPr lang="en-IN" b="1" dirty="0"/>
              <a:t>cost of the links</a:t>
            </a:r>
            <a:r>
              <a:rPr lang="en-IN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E05503-3B7B-27F8-067E-8BEAA6A4FD5C}"/>
              </a:ext>
            </a:extLst>
          </p:cNvPr>
          <p:cNvSpPr txBox="1"/>
          <p:nvPr/>
        </p:nvSpPr>
        <p:spPr>
          <a:xfrm>
            <a:off x="6022398" y="1066469"/>
            <a:ext cx="178350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For example:</a:t>
            </a:r>
          </a:p>
          <a:p>
            <a:r>
              <a:rPr lang="en-IN" dirty="0"/>
              <a:t>R1 → R2 = Cost 2</a:t>
            </a:r>
          </a:p>
          <a:p>
            <a:r>
              <a:rPr lang="en-IN" dirty="0"/>
              <a:t>R2 → R4 = Cost 2</a:t>
            </a:r>
          </a:p>
          <a:p>
            <a:endParaRPr lang="en-IN" dirty="0"/>
          </a:p>
          <a:p>
            <a:r>
              <a:rPr lang="en-IN" dirty="0"/>
              <a:t>R1 → R3 = Cost 5</a:t>
            </a:r>
          </a:p>
          <a:p>
            <a:r>
              <a:rPr lang="en-IN" dirty="0"/>
              <a:t>R3 → R4 = Cost 1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F59A91-3943-669C-218E-52BCE3D2E094}"/>
                  </a:ext>
                </a:extLst>
              </p:cNvPr>
              <p:cNvSpPr txBox="1"/>
              <p:nvPr/>
            </p:nvSpPr>
            <p:spPr>
              <a:xfrm>
                <a:off x="6022398" y="3641558"/>
                <a:ext cx="4155561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How do we calculate Path Cost?</a:t>
                </a:r>
              </a:p>
              <a:p>
                <a:endParaRPr lang="en-IN" b="1" dirty="0"/>
              </a:p>
              <a:p>
                <a:r>
                  <a:rPr lang="en-IN" b="1" dirty="0"/>
                  <a:t>Add the costs of all links used in the path.</a:t>
                </a:r>
                <a:endParaRPr lang="en-IN" dirty="0"/>
              </a:p>
              <a:p>
                <a:r>
                  <a:rPr lang="en-IN" dirty="0"/>
                  <a:t>Consider:</a:t>
                </a:r>
              </a:p>
              <a:p>
                <a:r>
                  <a:rPr lang="en-IN" dirty="0"/>
                  <a:t>R1 --2-- R2 --3-- R3</a:t>
                </a:r>
              </a:p>
              <a:p>
                <a:r>
                  <a:rPr lang="en-IN" dirty="0"/>
                  <a:t>From R1 to R3: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2+3=5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:r>
                  <a:rPr lang="en-IN" dirty="0"/>
                  <a:t>Path Cost=5​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F59A91-3943-669C-218E-52BCE3D2E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398" y="3641558"/>
                <a:ext cx="4155561" cy="2585323"/>
              </a:xfrm>
              <a:prstGeom prst="rect">
                <a:avLst/>
              </a:prstGeom>
              <a:blipFill>
                <a:blip r:embed="rId3"/>
                <a:stretch>
                  <a:fillRect l="-1320" t="-1179" r="-293" b="-2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637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03659-A8C6-2BF6-1E98-8FF6DD38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0087-27CC-9DFE-BC48-28B0E825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Can Be Used as a Routing Metric?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367E1-111D-0669-FEA1-A0E31905CB6E}"/>
              </a:ext>
            </a:extLst>
          </p:cNvPr>
          <p:cNvSpPr txBox="1"/>
          <p:nvPr/>
        </p:nvSpPr>
        <p:spPr>
          <a:xfrm>
            <a:off x="385011" y="110458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Different routing protocols can measure a route differently.</a:t>
            </a:r>
          </a:p>
          <a:p>
            <a:pPr>
              <a:buNone/>
            </a:pPr>
            <a:r>
              <a:rPr lang="en-IN" dirty="0"/>
              <a:t>A metric may be based on factors such as: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6F6D68-C560-DF7C-0BE7-0F44E9057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817866"/>
              </p:ext>
            </p:extLst>
          </p:nvPr>
        </p:nvGraphicFramePr>
        <p:xfrm>
          <a:off x="385010" y="1750913"/>
          <a:ext cx="879107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075">
                  <a:extLst>
                    <a:ext uri="{9D8B030D-6E8A-4147-A177-3AD203B41FA5}">
                      <a16:colId xmlns:a16="http://schemas.microsoft.com/office/drawing/2014/main" val="146492206"/>
                    </a:ext>
                  </a:extLst>
                </a:gridCol>
                <a:gridCol w="6066998">
                  <a:extLst>
                    <a:ext uri="{9D8B030D-6E8A-4147-A177-3AD203B41FA5}">
                      <a16:colId xmlns:a16="http://schemas.microsoft.com/office/drawing/2014/main" val="3016416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Simple 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5215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Hop Count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Number of routers/hops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572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Cost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Assigned value for a link/path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0459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Bandwidth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Capacity/speed of the link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01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Delay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 required to send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82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Reliability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How reliable/stable the link 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241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Load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How busy the link 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2752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9A2F5D6-3413-4BCC-44FA-5CF58BB2AE42}"/>
              </a:ext>
            </a:extLst>
          </p:cNvPr>
          <p:cNvSpPr txBox="1"/>
          <p:nvPr/>
        </p:nvSpPr>
        <p:spPr>
          <a:xfrm>
            <a:off x="385010" y="4460756"/>
            <a:ext cx="81279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Different routing protocols use different approaches.</a:t>
            </a:r>
          </a:p>
          <a:p>
            <a:pPr>
              <a:buNone/>
            </a:pPr>
            <a:r>
              <a:rPr lang="en-IN" dirty="0"/>
              <a:t>For example: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RIP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Hop Count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OSPF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Cost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7C183-1A05-6BD3-6C35-71ED83E310A5}"/>
              </a:ext>
            </a:extLst>
          </p:cNvPr>
          <p:cNvSpPr txBox="1"/>
          <p:nvPr/>
        </p:nvSpPr>
        <p:spPr>
          <a:xfrm>
            <a:off x="6481011" y="4453786"/>
            <a:ext cx="26148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Hop Count Example</a:t>
            </a:r>
          </a:p>
          <a:p>
            <a:pPr>
              <a:buNone/>
            </a:pPr>
            <a:r>
              <a:rPr lang="en-IN" dirty="0"/>
              <a:t>Suppose: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Path A: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R1 → R2 → R3 → R6</a:t>
            </a:r>
            <a:br>
              <a:rPr lang="en-IN" dirty="0">
                <a:latin typeface="+mn-lt"/>
              </a:rPr>
            </a:br>
            <a:br>
              <a:rPr lang="en-IN" dirty="0">
                <a:latin typeface="+mn-lt"/>
              </a:rPr>
            </a:br>
            <a:r>
              <a:rPr lang="en-IN" dirty="0">
                <a:latin typeface="+mn-lt"/>
              </a:rPr>
              <a:t>Hop Count: 3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633251-2478-50A1-DB1E-E113BDCBACAF}"/>
              </a:ext>
            </a:extLst>
          </p:cNvPr>
          <p:cNvSpPr txBox="1"/>
          <p:nvPr/>
        </p:nvSpPr>
        <p:spPr>
          <a:xfrm>
            <a:off x="9737558" y="2002940"/>
            <a:ext cx="16362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best route depends on the metric used by the routing protocol</a:t>
            </a:r>
          </a:p>
        </p:txBody>
      </p:sp>
    </p:spTree>
    <p:extLst>
      <p:ext uri="{BB962C8B-B14F-4D97-AF65-F5344CB8AC3E}">
        <p14:creationId xmlns:p14="http://schemas.microsoft.com/office/powerpoint/2010/main" val="3515337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CAA6B-F008-9585-4587-52A7C4F2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2EB41-D8A8-98DA-0637-6AAC5ADD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Representing a Network as a Graph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C3A3A-21D6-7AD5-F091-71B7E9CC78F4}"/>
              </a:ext>
            </a:extLst>
          </p:cNvPr>
          <p:cNvSpPr txBox="1"/>
          <p:nvPr/>
        </p:nvSpPr>
        <p:spPr>
          <a:xfrm>
            <a:off x="385010" y="1110461"/>
            <a:ext cx="11421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Routing algorithms often represent a network using a </a:t>
            </a:r>
            <a:r>
              <a:rPr lang="en-IN" b="1" dirty="0"/>
              <a:t>graph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It is simply a network diagram.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209709-AEDE-AB26-88A7-4C35E7C72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0" y="1816949"/>
            <a:ext cx="3609474" cy="31400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AF700D-DEE6-55DA-0428-D86523B73813}"/>
              </a:ext>
            </a:extLst>
          </p:cNvPr>
          <p:cNvSpPr txBox="1"/>
          <p:nvPr/>
        </p:nvSpPr>
        <p:spPr>
          <a:xfrm>
            <a:off x="786064" y="5148166"/>
            <a:ext cx="2534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Here:</a:t>
            </a:r>
          </a:p>
          <a:p>
            <a:r>
              <a:rPr lang="en-IN" dirty="0"/>
              <a:t>A, B, C, D</a:t>
            </a:r>
          </a:p>
          <a:p>
            <a:r>
              <a:rPr lang="en-IN" dirty="0"/>
              <a:t>are called: </a:t>
            </a:r>
            <a:r>
              <a:rPr lang="en-IN" b="1" dirty="0"/>
              <a:t>Nodes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627CB-EF24-24E5-D93E-B6B5BD52A0F5}"/>
              </a:ext>
            </a:extLst>
          </p:cNvPr>
          <p:cNvSpPr txBox="1"/>
          <p:nvPr/>
        </p:nvSpPr>
        <p:spPr>
          <a:xfrm>
            <a:off x="786064" y="6211669"/>
            <a:ext cx="4138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networking, nodes can represent routers.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4A334F-2D45-187D-B51B-0549AF01FFCC}"/>
              </a:ext>
            </a:extLst>
          </p:cNvPr>
          <p:cNvSpPr txBox="1"/>
          <p:nvPr/>
        </p:nvSpPr>
        <p:spPr>
          <a:xfrm>
            <a:off x="6095998" y="1632653"/>
            <a:ext cx="27592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connections: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— B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— C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 — 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 — D</a:t>
            </a:r>
          </a:p>
          <a:p>
            <a:pPr>
              <a:buNone/>
            </a:pPr>
            <a:r>
              <a:rPr lang="en-IN" dirty="0"/>
              <a:t>are called: </a:t>
            </a:r>
            <a:r>
              <a:rPr lang="en-IN" b="1" dirty="0"/>
              <a:t>Links or Edges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32E90-5F4A-016F-556E-5F2623F1E33F}"/>
              </a:ext>
            </a:extLst>
          </p:cNvPr>
          <p:cNvSpPr txBox="1"/>
          <p:nvPr/>
        </p:nvSpPr>
        <p:spPr>
          <a:xfrm>
            <a:off x="6095998" y="4033680"/>
            <a:ext cx="25346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numbers: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2, 5, 4, 1</a:t>
            </a:r>
          </a:p>
          <a:p>
            <a:pPr>
              <a:buNone/>
            </a:pPr>
            <a:r>
              <a:rPr lang="en-IN" dirty="0"/>
              <a:t>are: </a:t>
            </a:r>
            <a:r>
              <a:rPr lang="en-IN" b="1" dirty="0"/>
              <a:t>Link Costs</a:t>
            </a:r>
          </a:p>
        </p:txBody>
      </p:sp>
    </p:spTree>
    <p:extLst>
      <p:ext uri="{BB962C8B-B14F-4D97-AF65-F5344CB8AC3E}">
        <p14:creationId xmlns:p14="http://schemas.microsoft.com/office/powerpoint/2010/main" val="1324913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71FAF-4A87-A846-CEA0-366B2201B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FAA7-2315-7088-0162-419DDE7FB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Numerical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F2653E-F73E-1ADE-1FFD-D9DB0B58F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71" y="952153"/>
            <a:ext cx="4499281" cy="3716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D0565F-2F40-913B-61A8-F44111B9F23E}"/>
              </a:ext>
            </a:extLst>
          </p:cNvPr>
          <p:cNvSpPr txBox="1"/>
          <p:nvPr/>
        </p:nvSpPr>
        <p:spPr>
          <a:xfrm>
            <a:off x="385011" y="486591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dirty="0">
                <a:latin typeface="+mn-lt"/>
              </a:rPr>
              <a:t>A → E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Possible paths include:</a:t>
            </a:r>
          </a:p>
          <a:p>
            <a:pPr>
              <a:buNone/>
            </a:pPr>
            <a:r>
              <a:rPr lang="en-IN" b="1" dirty="0"/>
              <a:t>Path 1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→ C → E</a:t>
            </a:r>
          </a:p>
          <a:p>
            <a:pPr>
              <a:buNone/>
            </a:pPr>
            <a:r>
              <a:rPr lang="en-IN" dirty="0"/>
              <a:t>Cost:</a:t>
            </a:r>
          </a:p>
          <a:p>
            <a:pPr>
              <a:buNone/>
            </a:pPr>
            <a:r>
              <a:rPr lang="en-IN" dirty="0"/>
              <a:t>6+1=7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64BC1-7FB8-5A69-2902-E78A0635FF46}"/>
              </a:ext>
            </a:extLst>
          </p:cNvPr>
          <p:cNvSpPr txBox="1"/>
          <p:nvPr/>
        </p:nvSpPr>
        <p:spPr>
          <a:xfrm>
            <a:off x="5029200" y="1391925"/>
            <a:ext cx="29036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Path 2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→ B → D → E</a:t>
            </a:r>
          </a:p>
          <a:p>
            <a:pPr>
              <a:buNone/>
            </a:pPr>
            <a:r>
              <a:rPr lang="en-IN" dirty="0"/>
              <a:t>Cost:</a:t>
            </a:r>
          </a:p>
          <a:p>
            <a:pPr>
              <a:buNone/>
            </a:pPr>
            <a:r>
              <a:rPr lang="en-IN" dirty="0"/>
              <a:t>2+3+4=9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D2BC7A-78B0-EBC2-7C0D-821DB6F19123}"/>
              </a:ext>
            </a:extLst>
          </p:cNvPr>
          <p:cNvSpPr txBox="1"/>
          <p:nvPr/>
        </p:nvSpPr>
        <p:spPr>
          <a:xfrm>
            <a:off x="5029200" y="2966588"/>
            <a:ext cx="24544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Path 3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→ B → D → C → E</a:t>
            </a:r>
          </a:p>
          <a:p>
            <a:pPr>
              <a:buNone/>
            </a:pPr>
            <a:r>
              <a:rPr lang="en-IN" dirty="0"/>
              <a:t>Cost:</a:t>
            </a:r>
          </a:p>
          <a:p>
            <a:pPr>
              <a:buNone/>
            </a:pPr>
            <a:r>
              <a:rPr lang="en-IN" dirty="0"/>
              <a:t>2+3+2+1=8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EF0A0C-652A-3AE3-5314-56886FCF5833}"/>
                  </a:ext>
                </a:extLst>
              </p:cNvPr>
              <p:cNvSpPr txBox="1"/>
              <p:nvPr/>
            </p:nvSpPr>
            <p:spPr>
              <a:xfrm>
                <a:off x="5029200" y="4799994"/>
                <a:ext cx="6096000" cy="15485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Therefore: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borderBox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is the least-cost path with cost: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borderBox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For now, we found it by manually checking paths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EF0A0C-652A-3AE3-5314-56886FCF5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799994"/>
                <a:ext cx="6096000" cy="1548501"/>
              </a:xfrm>
              <a:prstGeom prst="rect">
                <a:avLst/>
              </a:prstGeom>
              <a:blipFill>
                <a:blip r:embed="rId3"/>
                <a:stretch>
                  <a:fillRect l="-800" t="-1969" b="-55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624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B1B9F-D810-F467-64AD-079A3A81A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0AB0-872B-7394-22EC-1807295D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Bellman-Ford vs Dijkstra — Just the Basic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2A7269-33C7-5C95-D0B2-89358C966C39}"/>
                  </a:ext>
                </a:extLst>
              </p:cNvPr>
              <p:cNvSpPr txBox="1"/>
              <p:nvPr/>
            </p:nvSpPr>
            <p:spPr>
              <a:xfrm>
                <a:off x="160421" y="1281216"/>
                <a:ext cx="6096000" cy="2378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highlight>
                      <a:srgbClr val="FFFF00"/>
                    </a:highlight>
                  </a:rPr>
                  <a:t>Bellman-Ford</a:t>
                </a:r>
              </a:p>
              <a:p>
                <a:pPr>
                  <a:buNone/>
                </a:pPr>
                <a:r>
                  <a:rPr lang="en-IN" dirty="0"/>
                  <a:t>Used as the basic algorithmic idea behind: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Distance Vector Routing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A router learns distance information through its </a:t>
                </a:r>
                <a:r>
                  <a:rPr lang="en-IN" b="1" dirty="0" err="1"/>
                  <a:t>neighbors</a:t>
                </a:r>
                <a:r>
                  <a:rPr lang="en-IN" dirty="0"/>
                  <a:t>.</a:t>
                </a:r>
              </a:p>
              <a:p>
                <a:pPr>
                  <a:buNone/>
                </a:pPr>
                <a:r>
                  <a:rPr lang="en-IN" dirty="0"/>
                  <a:t>Think: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Router asks/learns from </a:t>
                </a:r>
                <a:r>
                  <a:rPr lang="en-IN" dirty="0" err="1">
                    <a:latin typeface="+mn-lt"/>
                  </a:rPr>
                  <a:t>neighbors</a:t>
                </a:r>
                <a:r>
                  <a:rPr lang="en-IN" dirty="0">
                    <a:latin typeface="+mn-lt"/>
                  </a:rPr>
                  <a:t>:</a:t>
                </a:r>
              </a:p>
              <a:p>
                <a:pPr rtl="0">
                  <a:buNone/>
                </a:pPr>
                <a:endParaRPr lang="en-IN" dirty="0">
                  <a:latin typeface="+mn-lt"/>
                </a:endParaRP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"How far are you from Network X?"</a:t>
                </a:r>
                <a:endParaRPr lang="en-IN" dirty="0">
                  <a:latin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2A7269-33C7-5C95-D0B2-89358C966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21" y="1281216"/>
                <a:ext cx="6096000" cy="2378536"/>
              </a:xfrm>
              <a:prstGeom prst="rect">
                <a:avLst/>
              </a:prstGeom>
              <a:blipFill>
                <a:blip r:embed="rId2"/>
                <a:stretch>
                  <a:fillRect l="-800" t="-1282" b="-28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FC8604-207F-06BE-7161-C23E18CC4AC5}"/>
                  </a:ext>
                </a:extLst>
              </p:cNvPr>
              <p:cNvSpPr txBox="1"/>
              <p:nvPr/>
            </p:nvSpPr>
            <p:spPr>
              <a:xfrm>
                <a:off x="6336631" y="1281216"/>
                <a:ext cx="5470358" cy="2662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highlight>
                      <a:srgbClr val="FFFF00"/>
                    </a:highlight>
                  </a:rPr>
                  <a:t>Dijkstra</a:t>
                </a:r>
              </a:p>
              <a:p>
                <a:pPr>
                  <a:buNone/>
                </a:pPr>
                <a:r>
                  <a:rPr lang="en-IN" dirty="0"/>
                  <a:t>Used in: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Link State Routing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A router builds a view/map of the network topology and calculates least-cost paths.</a:t>
                </a:r>
              </a:p>
              <a:p>
                <a:pPr>
                  <a:buNone/>
                </a:pPr>
                <a:r>
                  <a:rPr lang="en-IN" dirty="0"/>
                  <a:t>Think: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"I know the network map.</a:t>
                </a:r>
              </a:p>
              <a:p>
                <a:pPr rtl="0">
                  <a:buNone/>
                </a:pPr>
                <a:endParaRPr lang="en-IN" dirty="0">
                  <a:latin typeface="+mn-lt"/>
                </a:endParaRP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Now I'll calculate the shortest paths."</a:t>
                </a:r>
                <a:endParaRPr lang="en-IN" dirty="0">
                  <a:latin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FC8604-207F-06BE-7161-C23E18CC4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631" y="1281216"/>
                <a:ext cx="5470358" cy="2662973"/>
              </a:xfrm>
              <a:prstGeom prst="rect">
                <a:avLst/>
              </a:prstGeom>
              <a:blipFill>
                <a:blip r:embed="rId3"/>
                <a:stretch>
                  <a:fillRect l="-891" t="-1144" r="-891" b="-22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CF9FC1C-F2AE-578A-2763-2311F7600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190137"/>
              </p:ext>
            </p:extLst>
          </p:nvPr>
        </p:nvGraphicFramePr>
        <p:xfrm>
          <a:off x="1903663" y="471415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041136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61570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Distance 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Link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044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Bellman-Ford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Dijkstra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77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Learns through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Builds topology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354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Distance-based calculations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Shortest-path calculation from topology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4467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454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67CCE-9608-FAA9-EDD1-F44F0C4B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6836-6F4D-374E-AC38-EB2E3FA9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a Shortest Path Tree?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51C48D-C3DB-818F-DB07-10E83B8CE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96" y="1119798"/>
            <a:ext cx="6861599" cy="25057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501FCA-FC9A-DB38-F989-E7D3E3E3F0FA}"/>
                  </a:ext>
                </a:extLst>
              </p:cNvPr>
              <p:cNvSpPr txBox="1"/>
              <p:nvPr/>
            </p:nvSpPr>
            <p:spPr>
              <a:xfrm>
                <a:off x="609600" y="4203032"/>
                <a:ext cx="9456243" cy="1792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After calculating the best paths, A can form a structure showing only the selected least-cost routes.</a:t>
                </a:r>
              </a:p>
              <a:p>
                <a:r>
                  <a:rPr lang="en-IN" dirty="0"/>
                  <a:t>This is called a:</a:t>
                </a:r>
              </a:p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Shortest Path Tree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Think of it as:</a:t>
                </a:r>
              </a:p>
              <a:p>
                <a:r>
                  <a:rPr lang="en-IN" b="1" dirty="0"/>
                  <a:t>A tree containing the best paths from one source router to all reachable routers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501FCA-FC9A-DB38-F989-E7D3E3E3F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203032"/>
                <a:ext cx="9456243" cy="1792991"/>
              </a:xfrm>
              <a:prstGeom prst="rect">
                <a:avLst/>
              </a:prstGeom>
              <a:blipFill>
                <a:blip r:embed="rId3"/>
                <a:stretch>
                  <a:fillRect l="-516" t="-16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4019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7DE0-DEC3-1E48-0CCC-5688F1B87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7782-2E0C-391B-5EF2-323003C03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highlight>
                  <a:srgbClr val="FFFF00"/>
                </a:highlight>
              </a:rPr>
              <a:t>What is Distance Vector Routing?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EFA6D-4E93-640F-821C-DA838CC2A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1076886"/>
            <a:ext cx="9833810" cy="388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779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3BAB3-3CFC-435B-0B4F-EB429A086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04FE5-07E8-8AE1-7BD2-A0B771803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Distance Vector Routing?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DC3B63-D6B9-50DB-7554-BDAB70708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80" y="1096434"/>
            <a:ext cx="5983057" cy="3507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C299DC-A2B3-86BC-C83D-1FBACB75D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144" y="905255"/>
            <a:ext cx="5487576" cy="562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15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18206-D184-4D2A-F523-8CFFE5BAC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A6994-9106-754B-5DDE-4B44CB75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Example: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35672-0241-9523-0639-EB8B660AA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9118"/>
            <a:ext cx="5021179" cy="5149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417743-DAF6-E7B9-2BC8-14B466B24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23421"/>
            <a:ext cx="3769895" cy="361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67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1CDC-02AA-7E16-35DC-A330E645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95A6-5CCF-D664-720E-B615C7E81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Information Does a Router Maintain?</a:t>
            </a:r>
            <a:r>
              <a:rPr lang="en-US" sz="3200" b="1" dirty="0"/>
              <a:t>:</a:t>
            </a:r>
            <a:endParaRPr lang="en-IN" sz="32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3CF515-B4EC-01AF-5EDD-2D7E96878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443141"/>
              </p:ext>
            </p:extLst>
          </p:nvPr>
        </p:nvGraphicFramePr>
        <p:xfrm>
          <a:off x="385011" y="1040508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1357515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981813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46334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Distance/Cost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Next Hop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730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Self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5796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616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297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8234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2784A0-AF89-3431-6B14-29EB6896EC43}"/>
              </a:ext>
            </a:extLst>
          </p:cNvPr>
          <p:cNvSpPr txBox="1"/>
          <p:nvPr/>
        </p:nvSpPr>
        <p:spPr>
          <a:xfrm>
            <a:off x="385011" y="322533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For Router A, this means: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+mn-lt"/>
              </a:rPr>
              <a:t>Destination A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Cost = 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Because I am A.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Destination B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Cost = 1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Reach directly through B.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50CB3A-D221-49D0-713A-082BE14793A2}"/>
              </a:ext>
            </a:extLst>
          </p:cNvPr>
          <p:cNvSpPr txBox="1"/>
          <p:nvPr/>
        </p:nvSpPr>
        <p:spPr>
          <a:xfrm>
            <a:off x="3866147" y="3526121"/>
            <a:ext cx="20533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Destination C </a:t>
            </a:r>
          </a:p>
          <a:p>
            <a:r>
              <a:rPr lang="en-IN" dirty="0"/>
              <a:t>Cost = 2 </a:t>
            </a:r>
          </a:p>
          <a:p>
            <a:r>
              <a:rPr lang="en-IN" dirty="0"/>
              <a:t>Reach through B. </a:t>
            </a:r>
          </a:p>
          <a:p>
            <a:endParaRPr lang="en-IN" dirty="0"/>
          </a:p>
          <a:p>
            <a:r>
              <a:rPr lang="en-IN" dirty="0"/>
              <a:t>Destination D </a:t>
            </a:r>
          </a:p>
          <a:p>
            <a:r>
              <a:rPr lang="en-IN" dirty="0"/>
              <a:t>Cost = 4 </a:t>
            </a:r>
          </a:p>
          <a:p>
            <a:r>
              <a:rPr lang="en-IN" dirty="0"/>
              <a:t>Reach through B.</a:t>
            </a:r>
          </a:p>
        </p:txBody>
      </p:sp>
    </p:spTree>
    <p:extLst>
      <p:ext uri="{BB962C8B-B14F-4D97-AF65-F5344CB8AC3E}">
        <p14:creationId xmlns:p14="http://schemas.microsoft.com/office/powerpoint/2010/main" val="34330648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7756F-0908-30A4-EA9D-33C1AE1B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034B-F512-D7BE-C37D-4FDE3CDBA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Does a Router Know Initially?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ED65B-37FD-78CE-EEAD-E13A0E029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89" y="1157012"/>
            <a:ext cx="6160170" cy="48748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60F8AB-8071-7F39-0CB1-5127979EC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421" y="906666"/>
            <a:ext cx="5550568" cy="575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51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A2597-50CE-6ADA-869E-E802E0A90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A01C-8585-3B15-E6CE-D1052C4D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Main Rule of Distance Vector Routing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3B51A6-FE7F-7B0E-9C05-C263FC876A96}"/>
              </a:ext>
            </a:extLst>
          </p:cNvPr>
          <p:cNvSpPr txBox="1"/>
          <p:nvPr/>
        </p:nvSpPr>
        <p:spPr>
          <a:xfrm>
            <a:off x="385011" y="905256"/>
            <a:ext cx="11293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basic calculation is: </a:t>
            </a:r>
            <a:r>
              <a:rPr lang="en-IN" b="1" dirty="0"/>
              <a:t>Cost through a </a:t>
            </a:r>
            <a:r>
              <a:rPr lang="en-IN" b="1" dirty="0" err="1"/>
              <a:t>neighbor</a:t>
            </a:r>
            <a:r>
              <a:rPr lang="en-IN" b="1" dirty="0"/>
              <a:t> = Cost to that </a:t>
            </a:r>
            <a:r>
              <a:rPr lang="en-IN" b="1" dirty="0" err="1"/>
              <a:t>neighbor</a:t>
            </a:r>
            <a:r>
              <a:rPr lang="en-IN" b="1" dirty="0"/>
              <a:t> + </a:t>
            </a:r>
            <a:r>
              <a:rPr lang="en-IN" b="1" dirty="0" err="1"/>
              <a:t>Neighbor's</a:t>
            </a:r>
            <a:r>
              <a:rPr lang="en-IN" b="1" dirty="0"/>
              <a:t> cost to destination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CDE389-ECF7-1860-FD00-4417B2219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56" y="1375750"/>
            <a:ext cx="6810124" cy="53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03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2435B-DFE5-9294-F37D-8AD9E6525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CE5C-0B37-A9DF-F9CD-96F4F8104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Bellman-Ford Equation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71AE6D-E502-6F6D-1C9F-BA9EF5D45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12" y="1099799"/>
            <a:ext cx="6313426" cy="1466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F8CECEB-E951-CB4E-2BCA-CA9F8A0B21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523069"/>
                  </p:ext>
                </p:extLst>
              </p:nvPr>
            </p:nvGraphicFramePr>
            <p:xfrm>
              <a:off x="385011" y="2807904"/>
              <a:ext cx="6313427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3157">
                      <a:extLst>
                        <a:ext uri="{9D8B030D-6E8A-4147-A177-3AD203B41FA5}">
                          <a16:colId xmlns:a16="http://schemas.microsoft.com/office/drawing/2014/main" val="2233904288"/>
                        </a:ext>
                      </a:extLst>
                    </a:gridCol>
                    <a:gridCol w="5200270">
                      <a:extLst>
                        <a:ext uri="{9D8B030D-6E8A-4147-A177-3AD203B41FA5}">
                          <a16:colId xmlns:a16="http://schemas.microsoft.com/office/drawing/2014/main" val="3605001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58129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Current/source router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029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Destination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83267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A neighbor of router </a:t>
                          </a:r>
                          <a14:m>
                            <m:oMath xmlns:m="http://schemas.openxmlformats.org/officeDocument/2006/math"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16332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Best known cost from x to 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73419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Direct link cost from x to neighbor 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36291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Neighbor v's known cost to 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97203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IN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Choose the smallest calculated cost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16029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F8CECEB-E951-CB4E-2BCA-CA9F8A0B21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523069"/>
                  </p:ext>
                </p:extLst>
              </p:nvPr>
            </p:nvGraphicFramePr>
            <p:xfrm>
              <a:off x="385011" y="2807904"/>
              <a:ext cx="6313427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3157">
                      <a:extLst>
                        <a:ext uri="{9D8B030D-6E8A-4147-A177-3AD203B41FA5}">
                          <a16:colId xmlns:a16="http://schemas.microsoft.com/office/drawing/2014/main" val="2233904288"/>
                        </a:ext>
                      </a:extLst>
                    </a:gridCol>
                    <a:gridCol w="5200270">
                      <a:extLst>
                        <a:ext uri="{9D8B030D-6E8A-4147-A177-3AD203B41FA5}">
                          <a16:colId xmlns:a16="http://schemas.microsoft.com/office/drawing/2014/main" val="3605001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58129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46" t="-106557" r="-468306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Current/source router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0299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46" t="-206557" r="-468306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Destination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83267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46" t="-306557" r="-468306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571" t="-306557" r="-469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6332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46" t="-406557" r="-468306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Best known cost from x to 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73419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46" t="-506557" r="-46830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Direct link cost from x to neighbor 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36291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46" t="-606557" r="-468306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/>
                            <a:t>Neighbor v's known cost to 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97203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46" t="-706557" r="-46830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dirty="0"/>
                            <a:t>Choose the smallest calculated cost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16029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22DB047-0D1A-8031-3CC2-ED1B95E65A02}"/>
              </a:ext>
            </a:extLst>
          </p:cNvPr>
          <p:cNvSpPr txBox="1"/>
          <p:nvPr/>
        </p:nvSpPr>
        <p:spPr>
          <a:xfrm>
            <a:off x="385011" y="5814349"/>
            <a:ext cx="114219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My cost to destination</a:t>
            </a:r>
          </a:p>
          <a:p>
            <a:pPr>
              <a:buNone/>
            </a:pPr>
            <a:r>
              <a:rPr lang="en-IN" sz="2400" dirty="0"/>
              <a:t>=min(cost to neighbour    +     neighbour's cost to destination)</a:t>
            </a:r>
          </a:p>
        </p:txBody>
      </p:sp>
    </p:spTree>
    <p:extLst>
      <p:ext uri="{BB962C8B-B14F-4D97-AF65-F5344CB8AC3E}">
        <p14:creationId xmlns:p14="http://schemas.microsoft.com/office/powerpoint/2010/main" val="1471807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E751-8CD9-3910-2357-33CBA0BF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C85D-FCC7-600A-A65B-5A022372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1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E5AD6-164C-1A78-8380-5227D05B3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5" y="905256"/>
            <a:ext cx="3296110" cy="1991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4CA675-3F55-CCAA-D956-AE24B28D80E6}"/>
              </a:ext>
            </a:extLst>
          </p:cNvPr>
          <p:cNvSpPr txBox="1"/>
          <p:nvPr/>
        </p:nvSpPr>
        <p:spPr>
          <a:xfrm>
            <a:off x="3316851" y="1116341"/>
            <a:ext cx="870994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basic idea of Distance Vector Routing Algorithm is to determine the best path to travel.</a:t>
            </a:r>
            <a:br>
              <a:rPr lang="en-US" dirty="0"/>
            </a:br>
            <a:r>
              <a:rPr lang="en-US" dirty="0"/>
              <a:t>Least Cost Path.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Every Router Consist of Routing table having 3 fields [Destination | Distance | Next Router]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Every router shares its routing table [distance vector] with its neighbor routers, and based </a:t>
            </a:r>
          </a:p>
          <a:p>
            <a:r>
              <a:rPr lang="en-US" dirty="0"/>
              <a:t>upon that every router updates.</a:t>
            </a: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BF7E5B-1E70-BFEA-B41E-02E4EA06A2B0}"/>
              </a:ext>
            </a:extLst>
          </p:cNvPr>
          <p:cNvGraphicFramePr>
            <a:graphicFrameLocks noGrp="1"/>
          </p:cNvGraphicFramePr>
          <p:nvPr/>
        </p:nvGraphicFramePr>
        <p:xfrm>
          <a:off x="385011" y="4097209"/>
          <a:ext cx="247778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929">
                  <a:extLst>
                    <a:ext uri="{9D8B030D-6E8A-4147-A177-3AD203B41FA5}">
                      <a16:colId xmlns:a16="http://schemas.microsoft.com/office/drawing/2014/main" val="3910171938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2363367446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426830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 Hop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94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08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9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32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23304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BAD64A8-672B-EC34-6A2C-E8928A97D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023223"/>
              </p:ext>
            </p:extLst>
          </p:nvPr>
        </p:nvGraphicFramePr>
        <p:xfrm>
          <a:off x="3077411" y="4097209"/>
          <a:ext cx="247778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929">
                  <a:extLst>
                    <a:ext uri="{9D8B030D-6E8A-4147-A177-3AD203B41FA5}">
                      <a16:colId xmlns:a16="http://schemas.microsoft.com/office/drawing/2014/main" val="3910171938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2363367446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426830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 Hop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94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08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9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32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23304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333D175-4B1E-6E11-4D14-FC88ABEF4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835419"/>
              </p:ext>
            </p:extLst>
          </p:nvPr>
        </p:nvGraphicFramePr>
        <p:xfrm>
          <a:off x="5769811" y="4097209"/>
          <a:ext cx="247778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929">
                  <a:extLst>
                    <a:ext uri="{9D8B030D-6E8A-4147-A177-3AD203B41FA5}">
                      <a16:colId xmlns:a16="http://schemas.microsoft.com/office/drawing/2014/main" val="3910171938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2363367446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426830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 Hop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94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08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9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32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23304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FFF11C1-3B67-CBF6-1113-5F5087AA5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290246"/>
              </p:ext>
            </p:extLst>
          </p:nvPr>
        </p:nvGraphicFramePr>
        <p:xfrm>
          <a:off x="8462211" y="4097209"/>
          <a:ext cx="247778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929">
                  <a:extLst>
                    <a:ext uri="{9D8B030D-6E8A-4147-A177-3AD203B41FA5}">
                      <a16:colId xmlns:a16="http://schemas.microsoft.com/office/drawing/2014/main" val="3910171938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2363367446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426830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 Hop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94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08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9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32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23304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2BC9306-C59D-0898-AE27-9130E6FCA7D0}"/>
              </a:ext>
            </a:extLst>
          </p:cNvPr>
          <p:cNvSpPr txBox="1"/>
          <p:nvPr/>
        </p:nvSpPr>
        <p:spPr>
          <a:xfrm>
            <a:off x="159356" y="3292010"/>
            <a:ext cx="790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Step1: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70DC1-8FCB-19F2-67C9-B4F93C945E6D}"/>
              </a:ext>
            </a:extLst>
          </p:cNvPr>
          <p:cNvSpPr txBox="1"/>
          <p:nvPr/>
        </p:nvSpPr>
        <p:spPr>
          <a:xfrm>
            <a:off x="1625600" y="362373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BC443-CCBD-1E8F-9162-0E9F21F66F47}"/>
              </a:ext>
            </a:extLst>
          </p:cNvPr>
          <p:cNvSpPr txBox="1"/>
          <p:nvPr/>
        </p:nvSpPr>
        <p:spPr>
          <a:xfrm>
            <a:off x="3979333" y="374226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C3EB5-435F-05E3-E601-00D79C47A8A9}"/>
              </a:ext>
            </a:extLst>
          </p:cNvPr>
          <p:cNvSpPr txBox="1"/>
          <p:nvPr/>
        </p:nvSpPr>
        <p:spPr>
          <a:xfrm>
            <a:off x="6790267" y="379306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20FC21-59FF-F71C-21CA-B9707763C079}"/>
              </a:ext>
            </a:extLst>
          </p:cNvPr>
          <p:cNvSpPr txBox="1"/>
          <p:nvPr/>
        </p:nvSpPr>
        <p:spPr>
          <a:xfrm>
            <a:off x="9599599" y="377613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16771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E02C2-8650-0A2D-1B6E-1FF1D89C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76A60-1A94-593D-674F-35E83124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1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5DF703-06EC-4362-A706-B8ACDC652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5" y="905256"/>
            <a:ext cx="3296110" cy="1991003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544F46-5D4D-1932-4E22-14EBED3C5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425122"/>
              </p:ext>
            </p:extLst>
          </p:nvPr>
        </p:nvGraphicFramePr>
        <p:xfrm>
          <a:off x="385011" y="4097209"/>
          <a:ext cx="247778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929">
                  <a:extLst>
                    <a:ext uri="{9D8B030D-6E8A-4147-A177-3AD203B41FA5}">
                      <a16:colId xmlns:a16="http://schemas.microsoft.com/office/drawing/2014/main" val="3910171938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2363367446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426830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 Hop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94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08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D, 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9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32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23304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65C2A17-995F-BA9F-FC10-6FEF160FD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583230"/>
              </p:ext>
            </p:extLst>
          </p:nvPr>
        </p:nvGraphicFramePr>
        <p:xfrm>
          <a:off x="3077411" y="4097209"/>
          <a:ext cx="247778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929">
                  <a:extLst>
                    <a:ext uri="{9D8B030D-6E8A-4147-A177-3AD203B41FA5}">
                      <a16:colId xmlns:a16="http://schemas.microsoft.com/office/drawing/2014/main" val="3910171938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2363367446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426830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 Hop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94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C, 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08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9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32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C, 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23304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79FC443-82F9-3698-C8AF-9DBC7BD8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689257"/>
              </p:ext>
            </p:extLst>
          </p:nvPr>
        </p:nvGraphicFramePr>
        <p:xfrm>
          <a:off x="5769811" y="4097209"/>
          <a:ext cx="247778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929">
                  <a:extLst>
                    <a:ext uri="{9D8B030D-6E8A-4147-A177-3AD203B41FA5}">
                      <a16:colId xmlns:a16="http://schemas.microsoft.com/office/drawing/2014/main" val="3910171938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2363367446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426830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 Hop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94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08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9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32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23304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A67EA0E-D289-6FD4-2D09-254A2E51F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167148"/>
              </p:ext>
            </p:extLst>
          </p:nvPr>
        </p:nvGraphicFramePr>
        <p:xfrm>
          <a:off x="8462211" y="4097209"/>
          <a:ext cx="247778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929">
                  <a:extLst>
                    <a:ext uri="{9D8B030D-6E8A-4147-A177-3AD203B41FA5}">
                      <a16:colId xmlns:a16="http://schemas.microsoft.com/office/drawing/2014/main" val="3910171938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2363367446"/>
                    </a:ext>
                  </a:extLst>
                </a:gridCol>
                <a:gridCol w="825929">
                  <a:extLst>
                    <a:ext uri="{9D8B030D-6E8A-4147-A177-3AD203B41FA5}">
                      <a16:colId xmlns:a16="http://schemas.microsoft.com/office/drawing/2014/main" val="426830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 Hop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94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08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9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32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23304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7440561-4840-CBA8-02B7-BBD0C9BE092A}"/>
              </a:ext>
            </a:extLst>
          </p:cNvPr>
          <p:cNvSpPr txBox="1"/>
          <p:nvPr/>
        </p:nvSpPr>
        <p:spPr>
          <a:xfrm>
            <a:off x="129945" y="3147666"/>
            <a:ext cx="843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Step 2: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E7F01-0DC9-1E04-8CCC-716B933EB4E6}"/>
              </a:ext>
            </a:extLst>
          </p:cNvPr>
          <p:cNvSpPr txBox="1"/>
          <p:nvPr/>
        </p:nvSpPr>
        <p:spPr>
          <a:xfrm>
            <a:off x="1625600" y="362373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9E0CD-735D-E9A7-F570-0CAB3A8AA30E}"/>
              </a:ext>
            </a:extLst>
          </p:cNvPr>
          <p:cNvSpPr txBox="1"/>
          <p:nvPr/>
        </p:nvSpPr>
        <p:spPr>
          <a:xfrm>
            <a:off x="3979333" y="374226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ECB9F-F28E-0848-FBE3-51568C9416DB}"/>
              </a:ext>
            </a:extLst>
          </p:cNvPr>
          <p:cNvSpPr txBox="1"/>
          <p:nvPr/>
        </p:nvSpPr>
        <p:spPr>
          <a:xfrm>
            <a:off x="6790267" y="379306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E26D6A-1517-8730-DC9E-59C8C92EB8B3}"/>
              </a:ext>
            </a:extLst>
          </p:cNvPr>
          <p:cNvSpPr txBox="1"/>
          <p:nvPr/>
        </p:nvSpPr>
        <p:spPr>
          <a:xfrm>
            <a:off x="9599599" y="377613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B8B052-016E-F73C-EEEB-A9A70C91E4DE}"/>
              </a:ext>
            </a:extLst>
          </p:cNvPr>
          <p:cNvSpPr txBox="1"/>
          <p:nvPr/>
        </p:nvSpPr>
        <p:spPr>
          <a:xfrm>
            <a:off x="3426055" y="720590"/>
            <a:ext cx="788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step 2, every router will share its routing table [Distance Vector] with neighbors.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60C83D-F312-628B-828C-48B4689CAD9B}"/>
              </a:ext>
            </a:extLst>
          </p:cNvPr>
          <p:cNvSpPr txBox="1"/>
          <p:nvPr/>
        </p:nvSpPr>
        <p:spPr>
          <a:xfrm>
            <a:off x="3426056" y="1209398"/>
            <a:ext cx="36723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earlier for router A, Going from A to B was 12,</a:t>
            </a:r>
            <a:br>
              <a:rPr lang="en-US" dirty="0"/>
            </a:br>
            <a:r>
              <a:rPr lang="en-US" dirty="0"/>
              <a:t>and now after sharing distance vectors,</a:t>
            </a:r>
            <a:br>
              <a:rPr lang="en-US" dirty="0"/>
            </a:br>
            <a:r>
              <a:rPr lang="en-US" dirty="0"/>
              <a:t>we can go like: A -&gt; B = A -&gt;C + C -&gt; B</a:t>
            </a:r>
            <a:br>
              <a:rPr lang="en-US" dirty="0"/>
            </a:br>
            <a:r>
              <a:rPr lang="en-US" dirty="0"/>
              <a:t>		  = 9 + 1 = 10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Compare: min (12, 10) = 10 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0F0500-8BED-742A-3607-B105672DC776}"/>
              </a:ext>
            </a:extLst>
          </p:cNvPr>
          <p:cNvSpPr txBox="1"/>
          <p:nvPr/>
        </p:nvSpPr>
        <p:spPr>
          <a:xfrm>
            <a:off x="7098365" y="1209398"/>
            <a:ext cx="49636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earlier for router A, Going from A to B was 12,</a:t>
            </a:r>
            <a:br>
              <a:rPr lang="en-US" dirty="0"/>
            </a:br>
            <a:r>
              <a:rPr lang="en-US" dirty="0"/>
              <a:t>and now after sharing distance vectors,</a:t>
            </a:r>
            <a:br>
              <a:rPr lang="en-US" dirty="0"/>
            </a:br>
            <a:r>
              <a:rPr lang="en-US" dirty="0"/>
              <a:t>we can go like: A -&gt; B = A -&gt;D + D -&gt; C + C -&gt; B</a:t>
            </a:r>
            <a:br>
              <a:rPr lang="en-US" dirty="0"/>
            </a:br>
            <a:r>
              <a:rPr lang="en-US" dirty="0"/>
              <a:t>		  =  4 + 2 + 1 = 7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Compare: min (12, 7) = 7</a:t>
            </a:r>
          </a:p>
          <a:p>
            <a:r>
              <a:rPr lang="en-US" dirty="0"/>
              <a:t>Hence, this will be updated in A’s routing table.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B3F246-0918-53DB-FE44-269727DE9684}"/>
              </a:ext>
            </a:extLst>
          </p:cNvPr>
          <p:cNvSpPr txBox="1"/>
          <p:nvPr/>
        </p:nvSpPr>
        <p:spPr>
          <a:xfrm>
            <a:off x="3741563" y="6430804"/>
            <a:ext cx="202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Routing Tables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5575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A7485-2C88-A0ED-E6F7-FD14D7222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51393"/>
            <a:ext cx="10981267" cy="566208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Least Cost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175752-3999-FC61-DC15-8C3928BA2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55892"/>
              </p:ext>
            </p:extLst>
          </p:nvPr>
        </p:nvGraphicFramePr>
        <p:xfrm>
          <a:off x="372533" y="1524001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3498699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6417956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6031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56461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718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From /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1690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222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61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26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80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075EB-268A-FF59-157C-585DD6FDC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8278-163D-6216-97CB-897AF513C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2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D04724-CFCB-06AC-881E-5B0A8AA0C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8" y="1047728"/>
            <a:ext cx="3529263" cy="4919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86EF33-C14F-C1BA-AC03-ED0B2A9046BD}"/>
              </a:ext>
            </a:extLst>
          </p:cNvPr>
          <p:cNvSpPr txBox="1"/>
          <p:nvPr/>
        </p:nvSpPr>
        <p:spPr>
          <a:xfrm>
            <a:off x="4010526" y="10477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highlight>
                  <a:srgbClr val="FFFF00"/>
                </a:highlight>
              </a:rPr>
              <a:t>Step 1 — Initial Distance Vectors</a:t>
            </a:r>
          </a:p>
          <a:p>
            <a:pPr>
              <a:buNone/>
            </a:pPr>
            <a:r>
              <a:rPr lang="en-IN" dirty="0"/>
              <a:t>Initially each router knows itself and its direct </a:t>
            </a:r>
            <a:r>
              <a:rPr lang="en-IN" dirty="0" err="1"/>
              <a:t>neighbors</a:t>
            </a:r>
            <a:r>
              <a:rPr lang="en-IN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61FBB7-7DB2-F36B-78E2-C56FCCE98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526" y="1836531"/>
            <a:ext cx="5775158" cy="22577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BC0D2C-39A3-A622-0109-1FCA0B697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525" y="4328985"/>
            <a:ext cx="5614737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138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96CE-FEA8-97B1-D5E5-64625DD59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74B2-97CE-C13C-AE15-3A6295A6E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EDD88-3432-AF7A-5E2B-2F411170E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1171260"/>
            <a:ext cx="5229726" cy="2523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99C5B1-4C18-C737-1445-5F1ABB406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69" y="3695004"/>
            <a:ext cx="5172568" cy="26534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A63EDC-7751-B958-8543-3378E88BF7B2}"/>
              </a:ext>
            </a:extLst>
          </p:cNvPr>
          <p:cNvSpPr txBox="1"/>
          <p:nvPr/>
        </p:nvSpPr>
        <p:spPr>
          <a:xfrm>
            <a:off x="240631" y="6396335"/>
            <a:ext cx="792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At this point: </a:t>
            </a:r>
            <a:r>
              <a:rPr lang="en-IN" sz="2400" dirty="0">
                <a:latin typeface="+mn-lt"/>
              </a:rPr>
              <a:t>∞ = Route currently unknown</a:t>
            </a:r>
            <a:endParaRPr lang="en-IN" sz="2400" dirty="0"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8FC842-7170-3053-84E5-9E167ABDD1A7}"/>
              </a:ext>
            </a:extLst>
          </p:cNvPr>
          <p:cNvSpPr txBox="1"/>
          <p:nvPr/>
        </p:nvSpPr>
        <p:spPr>
          <a:xfrm>
            <a:off x="6416842" y="1155404"/>
            <a:ext cx="431532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highlight>
                  <a:srgbClr val="FFFF00"/>
                </a:highlight>
              </a:rPr>
              <a:t>Step 2 — Routers Exchange Information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Let's focus on </a:t>
            </a:r>
            <a:r>
              <a:rPr lang="en-IN" b="1" dirty="0"/>
              <a:t>Router A</a:t>
            </a:r>
            <a:r>
              <a:rPr lang="en-IN" dirty="0"/>
              <a:t> first.</a:t>
            </a:r>
          </a:p>
          <a:p>
            <a:pPr>
              <a:buNone/>
            </a:pPr>
            <a:r>
              <a:rPr lang="en-IN" dirty="0"/>
              <a:t>A has two neighbours: </a:t>
            </a:r>
            <a:r>
              <a:rPr lang="en-IN" dirty="0">
                <a:latin typeface="+mn-lt"/>
              </a:rPr>
              <a:t>B and C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A receives their distance vectors.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B says: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= 1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 = 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 = ∞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D = 2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C says: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= 4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 = ∞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 = 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D = 1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A wants to determine the best route to D.</a:t>
            </a:r>
          </a:p>
        </p:txBody>
      </p:sp>
    </p:spTree>
    <p:extLst>
      <p:ext uri="{BB962C8B-B14F-4D97-AF65-F5344CB8AC3E}">
        <p14:creationId xmlns:p14="http://schemas.microsoft.com/office/powerpoint/2010/main" val="14400254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1475-0E6B-A124-3BFC-A5C77793E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F08F-3111-2257-768D-793804677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45A87-23E4-B131-1C29-D6A759DB9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1449534"/>
            <a:ext cx="4450930" cy="23364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6E76D6-E358-53B7-417D-E53B50DD7346}"/>
              </a:ext>
            </a:extLst>
          </p:cNvPr>
          <p:cNvSpPr txBox="1"/>
          <p:nvPr/>
        </p:nvSpPr>
        <p:spPr>
          <a:xfrm>
            <a:off x="1399297" y="1080202"/>
            <a:ext cx="2422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 Calculates Route to 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DC733D-B438-8455-E2B5-EE1967727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89" y="3993806"/>
            <a:ext cx="4973053" cy="2829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908E96-AC6A-26F8-73BE-60C9497FB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641" y="1080201"/>
            <a:ext cx="6609347" cy="370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107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B3CD-8473-19E0-6180-E8ABEDE6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8487-569E-709B-EFE5-A855207D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</a:t>
            </a:r>
            <a:endParaRPr lang="en-IN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41157F-3C1C-543A-37BF-0A62F0ADA9BD}"/>
              </a:ext>
            </a:extLst>
          </p:cNvPr>
          <p:cNvSpPr txBox="1"/>
          <p:nvPr/>
        </p:nvSpPr>
        <p:spPr>
          <a:xfrm>
            <a:off x="385011" y="1048118"/>
            <a:ext cx="2422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 Calculates Route to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E7CE0D-631A-0624-F635-0F39D4587C68}"/>
              </a:ext>
            </a:extLst>
          </p:cNvPr>
          <p:cNvSpPr txBox="1"/>
          <p:nvPr/>
        </p:nvSpPr>
        <p:spPr>
          <a:xfrm>
            <a:off x="385011" y="1453762"/>
            <a:ext cx="26790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B's </a:t>
            </a:r>
            <a:r>
              <a:rPr lang="en-IN" dirty="0" err="1"/>
              <a:t>neighbors</a:t>
            </a:r>
            <a:r>
              <a:rPr lang="en-IN" dirty="0"/>
              <a:t> are: </a:t>
            </a:r>
            <a:r>
              <a:rPr lang="en-IN" dirty="0">
                <a:latin typeface="+mn-lt"/>
              </a:rPr>
              <a:t>A and D</a:t>
            </a:r>
          </a:p>
          <a:p>
            <a:pPr>
              <a:buNone/>
            </a:pPr>
            <a:r>
              <a:rPr lang="en-IN" b="1" dirty="0"/>
              <a:t>Through A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 → A = 1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→ C = 4</a:t>
            </a:r>
          </a:p>
          <a:p>
            <a:pPr>
              <a:buNone/>
            </a:pPr>
            <a:r>
              <a:rPr lang="en-IN" dirty="0"/>
              <a:t>Cost:</a:t>
            </a:r>
          </a:p>
          <a:p>
            <a:pPr>
              <a:buNone/>
            </a:pPr>
            <a:r>
              <a:rPr lang="en-IN" dirty="0"/>
              <a:t>1+4=5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03A5F4-BF02-9DC7-CC59-63705CD051B2}"/>
                  </a:ext>
                </a:extLst>
              </p:cNvPr>
              <p:cNvSpPr txBox="1"/>
              <p:nvPr/>
            </p:nvSpPr>
            <p:spPr>
              <a:xfrm>
                <a:off x="385011" y="3372913"/>
                <a:ext cx="2679031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Through D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B → D = 2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D → C = 1</a:t>
                </a:r>
              </a:p>
              <a:p>
                <a:pPr>
                  <a:buNone/>
                </a:pPr>
                <a:r>
                  <a:rPr lang="en-IN" dirty="0"/>
                  <a:t>Cost: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+1=3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Compare:</a:t>
                </a:r>
              </a:p>
              <a:p>
                <a:pPr>
                  <a:buNone/>
                </a:pPr>
                <a:r>
                  <a:rPr lang="en-IN" dirty="0"/>
                  <a:t>min(5,3)=3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03A5F4-BF02-9DC7-CC59-63705CD05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1" y="3372913"/>
                <a:ext cx="2679031" cy="2031325"/>
              </a:xfrm>
              <a:prstGeom prst="rect">
                <a:avLst/>
              </a:prstGeom>
              <a:blipFill>
                <a:blip r:embed="rId2"/>
                <a:stretch>
                  <a:fillRect l="-1818" t="-1497" b="-35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801EBF4-00E9-99A2-FFBE-EF70D6EAFBA1}"/>
              </a:ext>
            </a:extLst>
          </p:cNvPr>
          <p:cNvSpPr txBox="1"/>
          <p:nvPr/>
        </p:nvSpPr>
        <p:spPr>
          <a:xfrm>
            <a:off x="385011" y="5809882"/>
            <a:ext cx="20213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Therefore: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 → D → C</a:t>
            </a:r>
          </a:p>
          <a:p>
            <a:pPr>
              <a:buNone/>
            </a:pPr>
            <a:r>
              <a:rPr lang="en-IN" dirty="0"/>
              <a:t>is selected.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FCEFB9-AAB0-F25D-BCFF-4F6F18135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944" y="2476570"/>
            <a:ext cx="6885414" cy="116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009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04C38-9962-5051-6503-FD04A58B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EDD76-8F50-25E1-21C2-278F3863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</a:t>
            </a:r>
            <a:endParaRPr lang="en-IN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9F222-7CCF-867B-DFD3-404ECC6C7257}"/>
              </a:ext>
            </a:extLst>
          </p:cNvPr>
          <p:cNvSpPr txBox="1"/>
          <p:nvPr/>
        </p:nvSpPr>
        <p:spPr>
          <a:xfrm>
            <a:off x="385011" y="1048118"/>
            <a:ext cx="2422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 Calculates Route to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DDE69E-7122-DFB3-44BF-85185E6665E3}"/>
                  </a:ext>
                </a:extLst>
              </p:cNvPr>
              <p:cNvSpPr txBox="1"/>
              <p:nvPr/>
            </p:nvSpPr>
            <p:spPr>
              <a:xfrm>
                <a:off x="385011" y="1560312"/>
                <a:ext cx="4347411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C's </a:t>
                </a:r>
                <a:r>
                  <a:rPr lang="en-IN" dirty="0" err="1"/>
                  <a:t>neighbors</a:t>
                </a:r>
                <a:r>
                  <a:rPr lang="en-IN" dirty="0"/>
                  <a:t> are: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A and D</a:t>
                </a:r>
              </a:p>
              <a:p>
                <a:pPr>
                  <a:buNone/>
                </a:pPr>
                <a:r>
                  <a:rPr lang="en-IN" b="1" dirty="0"/>
                  <a:t>Through 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+1=5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b="1" dirty="0"/>
                  <a:t>Through 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+2=3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Therefore: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en-IN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C selects: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C → D → B</a:t>
                </a:r>
              </a:p>
              <a:p>
                <a:pPr>
                  <a:buNone/>
                </a:pPr>
                <a:r>
                  <a:rPr lang="en-IN" dirty="0"/>
                  <a:t>Cost:</a:t>
                </a:r>
              </a:p>
              <a:p>
                <a:pPr>
                  <a:buNone/>
                </a:pPr>
                <a:r>
                  <a:rPr lang="en-IN" dirty="0"/>
                  <a:t>3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DDE69E-7122-DFB3-44BF-85185E66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1" y="1560312"/>
                <a:ext cx="4347411" cy="3970318"/>
              </a:xfrm>
              <a:prstGeom prst="rect">
                <a:avLst/>
              </a:prstGeom>
              <a:blipFill>
                <a:blip r:embed="rId2"/>
                <a:stretch>
                  <a:fillRect l="-1122" t="-922" b="-15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258A85F-C253-BE52-8D8D-DDB2670797CC}"/>
              </a:ext>
            </a:extLst>
          </p:cNvPr>
          <p:cNvSpPr txBox="1"/>
          <p:nvPr/>
        </p:nvSpPr>
        <p:spPr>
          <a:xfrm>
            <a:off x="6360694" y="943085"/>
            <a:ext cx="2422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 Calculates Route to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64C035-5758-4BF7-BF1C-AE2B6790A7AF}"/>
                  </a:ext>
                </a:extLst>
              </p:cNvPr>
              <p:cNvSpPr txBox="1"/>
              <p:nvPr/>
            </p:nvSpPr>
            <p:spPr>
              <a:xfrm>
                <a:off x="6360694" y="1403314"/>
                <a:ext cx="4186989" cy="4284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D's </a:t>
                </a:r>
                <a:r>
                  <a:rPr lang="en-IN" dirty="0" err="1"/>
                  <a:t>neighbors</a:t>
                </a:r>
                <a:r>
                  <a:rPr lang="en-IN" dirty="0"/>
                  <a:t> are:</a:t>
                </a:r>
              </a:p>
              <a:p>
                <a:r>
                  <a:rPr lang="en-IN" dirty="0"/>
                  <a:t>B and C</a:t>
                </a:r>
              </a:p>
              <a:p>
                <a:r>
                  <a:rPr lang="en-IN" b="1" dirty="0"/>
                  <a:t>Through B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2+1=3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b="1" dirty="0"/>
                  <a:t>Through C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1+4=5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D selects:</a:t>
                </a:r>
              </a:p>
              <a:p>
                <a:r>
                  <a:rPr lang="en-IN" dirty="0"/>
                  <a:t>D → B → A</a:t>
                </a:r>
              </a:p>
              <a:p>
                <a:r>
                  <a:rPr lang="en-IN" dirty="0"/>
                  <a:t>Cost:</a:t>
                </a:r>
              </a:p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borderBox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64C035-5758-4BF7-BF1C-AE2B6790A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694" y="1403314"/>
                <a:ext cx="4186989" cy="4284314"/>
              </a:xfrm>
              <a:prstGeom prst="rect">
                <a:avLst/>
              </a:prstGeom>
              <a:blipFill>
                <a:blip r:embed="rId3"/>
                <a:stretch>
                  <a:fillRect l="-1164" t="-7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5422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8BBC9-CB76-5A36-5376-3BECB32E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969EB5-5DD7-3C8D-6378-4DDF75C8B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7" y="740288"/>
            <a:ext cx="5887453" cy="537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932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3E0A3-C020-3BD0-2531-063051C73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83CDB-0A60-53C4-DFC9-5C4B99D8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Final Least Costs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90C2A3-FB79-49CC-A282-7A290DCF3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30721"/>
              </p:ext>
            </p:extLst>
          </p:nvPr>
        </p:nvGraphicFramePr>
        <p:xfrm>
          <a:off x="385011" y="110467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3498699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6417956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6031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56461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718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From /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7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1690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222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61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26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9246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191BB-8698-79BF-3E5F-53849513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08A8-89B2-78AE-DA10-8CF9D22B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Happens When Network Conditions Change?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B40696-5739-80AD-495C-5AFC6F344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1134886"/>
            <a:ext cx="7993620" cy="572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434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CFF73-9E8E-2247-49C1-0E9B96C1E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BDDFC-EADB-7233-0326-426FF1171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Happens When Network Conditions Change?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34DE13-FBF9-4CCA-3AB6-D2B60A02D7E2}"/>
              </a:ext>
            </a:extLst>
          </p:cNvPr>
          <p:cNvSpPr txBox="1"/>
          <p:nvPr/>
        </p:nvSpPr>
        <p:spPr>
          <a:xfrm>
            <a:off x="385011" y="1122948"/>
            <a:ext cx="738368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This is one of the </a:t>
            </a:r>
            <a:r>
              <a:rPr lang="en-IN" b="1" dirty="0"/>
              <a:t>most important disadvantages of Distance Vector Routing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Initially:</a:t>
            </a:r>
          </a:p>
          <a:p>
            <a:r>
              <a:rPr lang="en-IN" dirty="0"/>
              <a:t>A -------- B -------- C</a:t>
            </a:r>
          </a:p>
          <a:p>
            <a:r>
              <a:rPr lang="en-IN" dirty="0"/>
              <a:t>    1                1</a:t>
            </a:r>
          </a:p>
          <a:p>
            <a:r>
              <a:rPr lang="en-IN" dirty="0"/>
              <a:t>Suppose C represents a destination/network.</a:t>
            </a:r>
          </a:p>
          <a:p>
            <a:r>
              <a:rPr lang="en-IN" dirty="0"/>
              <a:t>Initially:</a:t>
            </a:r>
          </a:p>
          <a:p>
            <a:r>
              <a:rPr lang="en-IN" dirty="0"/>
              <a:t>B → C = 1</a:t>
            </a:r>
          </a:p>
          <a:p>
            <a:endParaRPr lang="en-IN" dirty="0"/>
          </a:p>
          <a:p>
            <a:r>
              <a:rPr lang="en-IN" dirty="0"/>
              <a:t>A → C = 2</a:t>
            </a:r>
          </a:p>
          <a:p>
            <a:r>
              <a:rPr lang="en-IN" dirty="0"/>
              <a:t>through B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A6863-338D-9FA5-7500-DD064A564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4768992"/>
            <a:ext cx="6268325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098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A57D2-BE44-036C-9406-0C2FE30B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4FBE-8A82-4051-0521-F5FFED919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Happens When Network Conditions Change?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2A9032-FE61-1008-DA6A-19D7FE62314F}"/>
              </a:ext>
            </a:extLst>
          </p:cNvPr>
          <p:cNvSpPr txBox="1"/>
          <p:nvPr/>
        </p:nvSpPr>
        <p:spPr>
          <a:xfrm>
            <a:off x="385012" y="1122948"/>
            <a:ext cx="1989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Initially:</a:t>
            </a:r>
          </a:p>
          <a:p>
            <a:r>
              <a:rPr lang="en-IN" dirty="0"/>
              <a:t>A -------- B -------- C</a:t>
            </a:r>
          </a:p>
          <a:p>
            <a:r>
              <a:rPr lang="en-IN" dirty="0"/>
              <a:t>    1                1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43212-6AA2-EB30-D633-666AF43BAA5B}"/>
              </a:ext>
            </a:extLst>
          </p:cNvPr>
          <p:cNvSpPr txBox="1"/>
          <p:nvPr/>
        </p:nvSpPr>
        <p:spPr>
          <a:xfrm>
            <a:off x="385011" y="259573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Now suppose: </a:t>
            </a:r>
            <a:r>
              <a:rPr lang="en-IN" dirty="0">
                <a:latin typeface="+mn-lt"/>
              </a:rPr>
              <a:t>B ----X---- C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link between B and C fails.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B should understand: </a:t>
            </a:r>
            <a:r>
              <a:rPr lang="en-IN" dirty="0">
                <a:latin typeface="+mn-lt"/>
              </a:rPr>
              <a:t>C = unreachable</a:t>
            </a:r>
          </a:p>
          <a:p>
            <a:pPr>
              <a:buNone/>
            </a:pPr>
            <a:r>
              <a:rPr lang="en-IN" dirty="0"/>
              <a:t>But a problem can occur if B receives old information from A saying: </a:t>
            </a:r>
            <a:r>
              <a:rPr lang="en-IN" dirty="0">
                <a:latin typeface="+mn-lt"/>
              </a:rPr>
              <a:t>A → C = 2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B may incorrectly think:</a:t>
            </a:r>
          </a:p>
          <a:p>
            <a:pPr>
              <a:buNone/>
            </a:pPr>
            <a:r>
              <a:rPr lang="en-IN" dirty="0"/>
              <a:t>"A can reach C with cost 2. I can reach A with cost 1. Therefore, I can reach C through A with cost 3."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B4A3D2-1CE3-B7F6-C976-D50C4984C5ED}"/>
              </a:ext>
            </a:extLst>
          </p:cNvPr>
          <p:cNvSpPr txBox="1"/>
          <p:nvPr/>
        </p:nvSpPr>
        <p:spPr>
          <a:xfrm>
            <a:off x="6481011" y="1674674"/>
            <a:ext cx="41869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So B updates: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 → A → C = 3</a:t>
            </a:r>
          </a:p>
          <a:p>
            <a:pPr>
              <a:buNone/>
            </a:pPr>
            <a:r>
              <a:rPr lang="en-IN" dirty="0"/>
              <a:t>But where was A actually going to reach C?</a:t>
            </a:r>
          </a:p>
          <a:p>
            <a:pPr>
              <a:buNone/>
            </a:pPr>
            <a:r>
              <a:rPr lang="en-IN" dirty="0"/>
              <a:t>Through B!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→ B → C</a:t>
            </a:r>
          </a:p>
          <a:p>
            <a:pPr>
              <a:buNone/>
            </a:pPr>
            <a:r>
              <a:rPr lang="en-IN" dirty="0"/>
              <a:t>So we have created a routing loop.</a:t>
            </a:r>
          </a:p>
        </p:txBody>
      </p:sp>
    </p:spTree>
    <p:extLst>
      <p:ext uri="{BB962C8B-B14F-4D97-AF65-F5344CB8AC3E}">
        <p14:creationId xmlns:p14="http://schemas.microsoft.com/office/powerpoint/2010/main" val="17364864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FA90A-DC13-2F44-2C5D-16408A90B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140F-D6C3-70AE-E5B5-31431ACB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Happens When Network Conditions Change?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9CC258-BE54-A2A5-5173-3E03A0A1CA97}"/>
              </a:ext>
            </a:extLst>
          </p:cNvPr>
          <p:cNvSpPr txBox="1"/>
          <p:nvPr/>
        </p:nvSpPr>
        <p:spPr>
          <a:xfrm>
            <a:off x="385012" y="1122948"/>
            <a:ext cx="1989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Initially:</a:t>
            </a:r>
          </a:p>
          <a:p>
            <a:r>
              <a:rPr lang="en-IN" dirty="0"/>
              <a:t>A -------- B -------- C</a:t>
            </a:r>
          </a:p>
          <a:p>
            <a:r>
              <a:rPr lang="en-IN" dirty="0"/>
              <a:t>    1                1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0B5EA3-115D-CAEF-5881-0ADD1B61B7F1}"/>
              </a:ext>
            </a:extLst>
          </p:cNvPr>
          <p:cNvSpPr txBox="1"/>
          <p:nvPr/>
        </p:nvSpPr>
        <p:spPr>
          <a:xfrm>
            <a:off x="385011" y="2688064"/>
            <a:ext cx="34811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Before failure: </a:t>
            </a:r>
            <a:r>
              <a:rPr lang="en-IN" dirty="0">
                <a:latin typeface="+mn-lt"/>
              </a:rPr>
              <a:t>B thinks C = 1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A thinks C = 2 via B</a:t>
            </a:r>
          </a:p>
          <a:p>
            <a:pPr>
              <a:buNone/>
            </a:pPr>
            <a:r>
              <a:rPr lang="en-IN" dirty="0"/>
              <a:t>After failure, B may learn: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 thinks: C = 3 via A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Then A hears B saying 3.</a:t>
            </a:r>
          </a:p>
          <a:p>
            <a:pPr>
              <a:buNone/>
            </a:pPr>
            <a:r>
              <a:rPr lang="en-IN" dirty="0"/>
              <a:t>A calculates:</a:t>
            </a:r>
          </a:p>
          <a:p>
            <a:pPr>
              <a:buNone/>
            </a:pPr>
            <a:r>
              <a:rPr lang="en-IN" dirty="0"/>
              <a:t>1+3=4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3C5BF0-98D9-7A87-692D-D292A7DC59B1}"/>
                  </a:ext>
                </a:extLst>
              </p:cNvPr>
              <p:cNvSpPr txBox="1"/>
              <p:nvPr/>
            </p:nvSpPr>
            <p:spPr>
              <a:xfrm>
                <a:off x="4973053" y="2077777"/>
                <a:ext cx="6096000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Now: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A thinks C = 4 via B</a:t>
                </a:r>
              </a:p>
              <a:p>
                <a:pPr>
                  <a:buNone/>
                </a:pPr>
                <a:r>
                  <a:rPr lang="en-IN" dirty="0"/>
                  <a:t>Then B hears 4: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+4=5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Then 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+5=6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And so on: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2 → 3 → 4 → 5 → 6 → 7 → ...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The routers slowly increase the metric until the protocol's defined value for </a:t>
                </a:r>
                <a:r>
                  <a:rPr lang="en-IN" b="1" dirty="0"/>
                  <a:t>infinity/unreachable</a:t>
                </a:r>
                <a:r>
                  <a:rPr lang="en-IN" dirty="0"/>
                  <a:t> is reached.</a:t>
                </a:r>
              </a:p>
              <a:p>
                <a:pPr>
                  <a:buNone/>
                </a:pPr>
                <a:r>
                  <a:rPr lang="en-IN" dirty="0"/>
                  <a:t>This is called:</a:t>
                </a:r>
              </a:p>
              <a:p>
                <a:pPr>
                  <a:buNone/>
                </a:pPr>
                <a:r>
                  <a:rPr lang="en-IN" b="1" dirty="0">
                    <a:highlight>
                      <a:srgbClr val="FFFF00"/>
                    </a:highlight>
                  </a:rPr>
                  <a:t>Count-to-Infinity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3C5BF0-98D9-7A87-692D-D292A7DC5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53" y="2077777"/>
                <a:ext cx="6096000" cy="3693319"/>
              </a:xfrm>
              <a:prstGeom prst="rect">
                <a:avLst/>
              </a:prstGeom>
              <a:blipFill>
                <a:blip r:embed="rId2"/>
                <a:stretch>
                  <a:fillRect l="-900" t="-990" b="-16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1089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6D965-B5C9-FA1C-5AA9-C02D37259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10697-E670-E143-FA27-BA5ACEAE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Count-to-Infinity in RIP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4FB28-F2D0-6885-05C4-34CBEBC10704}"/>
              </a:ext>
            </a:extLst>
          </p:cNvPr>
          <p:cNvSpPr txBox="1"/>
          <p:nvPr/>
        </p:nvSpPr>
        <p:spPr>
          <a:xfrm>
            <a:off x="385011" y="905256"/>
            <a:ext cx="10395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common real-world example of Distance Vector routing is </a:t>
            </a:r>
            <a:r>
              <a:rPr lang="en-IN" b="1" dirty="0"/>
              <a:t>RIP — Routing Information Protocol</a:t>
            </a:r>
            <a:r>
              <a:rPr lang="en-IN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165630-4D19-2A65-8ECE-BA54D53EFA59}"/>
                  </a:ext>
                </a:extLst>
              </p:cNvPr>
              <p:cNvSpPr txBox="1"/>
              <p:nvPr/>
            </p:nvSpPr>
            <p:spPr>
              <a:xfrm>
                <a:off x="513347" y="1824172"/>
                <a:ext cx="10266947" cy="29406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RIP uses: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Metric = Hop Count</a:t>
                </a:r>
              </a:p>
              <a:p>
                <a:pPr>
                  <a:buNone/>
                </a:pPr>
                <a:r>
                  <a:rPr lang="en-IN" dirty="0"/>
                  <a:t>and defines: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1–15 hops → reachable</a:t>
                </a:r>
              </a:p>
              <a:p>
                <a:pPr rtl="0">
                  <a:buNone/>
                </a:pPr>
                <a:endParaRPr lang="en-IN" dirty="0">
                  <a:latin typeface="+mn-lt"/>
                </a:endParaRP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16 hops → unreachable / infinity</a:t>
                </a:r>
              </a:p>
              <a:p>
                <a:pPr>
                  <a:buNone/>
                </a:pPr>
                <a:r>
                  <a:rPr lang="en-IN" dirty="0"/>
                  <a:t>Therefore, in RIP: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Infinity</m:t>
                          </m:r>
                          <m:r>
                            <a:rPr lang="en-IN" b="0" i="0">
                              <a:latin typeface="Cambria Math" panose="02040503050406030204" pitchFamily="18" charset="0"/>
                            </a:rPr>
                            <m:t>=16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This prevents the count from increasing forever, but it does not by itself eliminate every temporary routing-loop/convergence issue.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165630-4D19-2A65-8ECE-BA54D53EF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47" y="1824172"/>
                <a:ext cx="10266947" cy="2940677"/>
              </a:xfrm>
              <a:prstGeom prst="rect">
                <a:avLst/>
              </a:prstGeom>
              <a:blipFill>
                <a:blip r:embed="rId2"/>
                <a:stretch>
                  <a:fillRect l="-475" t="-1035" b="-22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62845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FDC9F-CEB7-DEE9-605A-AD6EC78FA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4EBAA-0792-F465-0AB4-DD8A050FC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Advantages of Distance Vector Routing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6CD055-51C4-D835-364D-8A5BBB26E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215163"/>
              </p:ext>
            </p:extLst>
          </p:nvPr>
        </p:nvGraphicFramePr>
        <p:xfrm>
          <a:off x="508000" y="1152803"/>
          <a:ext cx="8128000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9376322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17597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189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Simple concept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Easy to understand and implement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28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Less topology knowledge required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Router does not need a complete topology map like Link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699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Lower algorithmic complexity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calculations are relatively simple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852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Suitable for smaller networks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work well where network size and complexity are limited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228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Automatic route learning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Dynamic protocol can learn/update remote routes without manually entering every route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500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Neighbor-based exchange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Routing information is exchanged with directly connected </a:t>
                      </a:r>
                      <a:r>
                        <a:rPr lang="en-IN" dirty="0" err="1"/>
                        <a:t>neighbors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922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0912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C62F-F569-22CE-1096-1909BA9DF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3069-A294-57DE-D820-B4E140D25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Disadvantages of Distance Vector Routing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6BB533-B228-8A8F-6C26-629A00BC1A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789806"/>
              </p:ext>
            </p:extLst>
          </p:nvPr>
        </p:nvGraphicFramePr>
        <p:xfrm>
          <a:off x="508000" y="1152803"/>
          <a:ext cx="8128000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9376322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17597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189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Slower convergence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take longer for routing information to stabilize after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28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Count-to-Infinity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Failed routes may temporarily appear reachable with increasing 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699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Routing loops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Incorrect/stale information can create loops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852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Periodic update overhead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 DV protocols such as RIP periodically exchange routing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228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Limited scalability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DV protocols such as RIP are not suitable for very large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500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Less topology visibility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 router does not have the same complete topology database as a Link State router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922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6571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C17C4-9CEF-84D2-12BC-7CFFB9028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A458-27FC-AA7E-8862-4721FF29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Link State Routing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600A4D-4550-AE5A-39BB-260F19986E2B}"/>
                  </a:ext>
                </a:extLst>
              </p:cNvPr>
              <p:cNvSpPr txBox="1"/>
              <p:nvPr/>
            </p:nvSpPr>
            <p:spPr>
              <a:xfrm>
                <a:off x="385011" y="1075063"/>
                <a:ext cx="11421978" cy="3217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Link State Routing</a:t>
                </a:r>
                <a:r>
                  <a:rPr lang="en-IN" dirty="0"/>
                  <a:t> is a dynamic routing approach in which every router learns the </a:t>
                </a:r>
                <a:r>
                  <a:rPr lang="en-IN" b="1" dirty="0"/>
                  <a:t>complete network topology</a:t>
                </a:r>
                <a:r>
                  <a:rPr lang="en-IN" dirty="0"/>
                  <a:t> and then calculates the best path to every destination.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The router does not simply ask a </a:t>
                </a:r>
                <a:r>
                  <a:rPr lang="en-IN" dirty="0" err="1"/>
                  <a:t>neighbor</a:t>
                </a:r>
                <a:r>
                  <a:rPr lang="en-IN" dirty="0"/>
                  <a:t>: “How far are you from destination X?”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Instead, routers share information about their own directly connected links.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Using this information, every router builds a </a:t>
                </a:r>
                <a:r>
                  <a:rPr lang="en-IN" b="1" dirty="0"/>
                  <a:t>network map</a:t>
                </a:r>
                <a:r>
                  <a:rPr lang="en-IN" dirty="0"/>
                  <a:t>.</a:t>
                </a:r>
              </a:p>
              <a:p>
                <a:pPr>
                  <a:buNone/>
                </a:pPr>
                <a:r>
                  <a:rPr lang="en-IN" dirty="0"/>
                  <a:t>Then each router runs: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Dijkstra’s Shortest Path Algorithm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to calculate the least-cost paths.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600A4D-4550-AE5A-39BB-260F19986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1" y="1075063"/>
                <a:ext cx="11421978" cy="3217740"/>
              </a:xfrm>
              <a:prstGeom prst="rect">
                <a:avLst/>
              </a:prstGeom>
              <a:blipFill>
                <a:blip r:embed="rId2"/>
                <a:stretch>
                  <a:fillRect l="-427" t="-947" b="-20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79C25AE-7E5F-4E5A-CAFF-7B821FFDBCAA}"/>
              </a:ext>
            </a:extLst>
          </p:cNvPr>
          <p:cNvSpPr txBox="1"/>
          <p:nvPr/>
        </p:nvSpPr>
        <p:spPr>
          <a:xfrm>
            <a:off x="385011" y="4462610"/>
            <a:ext cx="11108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Link State Routing is a routing method in which routers share the state and cost of their directly connected links, build a complete topology map, and use Dijkstra's algorithm to find the shortest path.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FD3A67-8679-755D-D4DA-FF5368CD9AAE}"/>
              </a:ext>
            </a:extLst>
          </p:cNvPr>
          <p:cNvSpPr txBox="1"/>
          <p:nvPr/>
        </p:nvSpPr>
        <p:spPr>
          <a:xfrm>
            <a:off x="643467" y="5425165"/>
            <a:ext cx="21505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</a:t>
            </a:r>
            <a:r>
              <a:rPr lang="en-IN" b="1" dirty="0"/>
              <a:t>link</a:t>
            </a:r>
            <a:r>
              <a:rPr lang="en-IN" dirty="0"/>
              <a:t> means the connection between two routers.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765F4-B228-ECB4-34BE-B6FE2DCBB9AB}"/>
              </a:ext>
            </a:extLst>
          </p:cNvPr>
          <p:cNvSpPr txBox="1"/>
          <p:nvPr/>
        </p:nvSpPr>
        <p:spPr>
          <a:xfrm>
            <a:off x="3403600" y="5372084"/>
            <a:ext cx="20658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b="1" dirty="0"/>
              <a:t>state</a:t>
            </a:r>
            <a:r>
              <a:rPr lang="en-IN" dirty="0"/>
              <a:t> tells information about that link.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A31670-8966-4972-0B08-6878AB53BE2A}"/>
              </a:ext>
            </a:extLst>
          </p:cNvPr>
          <p:cNvSpPr txBox="1"/>
          <p:nvPr/>
        </p:nvSpPr>
        <p:spPr>
          <a:xfrm>
            <a:off x="6722535" y="5286665"/>
            <a:ext cx="34713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For example: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Link is UP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Cost = 2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Connected </a:t>
            </a:r>
            <a:r>
              <a:rPr lang="en-IN" dirty="0" err="1">
                <a:latin typeface="+mn-lt"/>
              </a:rPr>
              <a:t>Neighbor</a:t>
            </a:r>
            <a:r>
              <a:rPr lang="en-IN" dirty="0">
                <a:latin typeface="+mn-lt"/>
              </a:rPr>
              <a:t> = R2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0002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C8BE2-6F61-284D-7E18-C24D29F01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FE5E-5169-EEA0-3CE4-BE764E9B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Main Difference from Distance Vector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7F72AC-2B67-9DB5-A548-CAE428854A0E}"/>
              </a:ext>
            </a:extLst>
          </p:cNvPr>
          <p:cNvSpPr txBox="1"/>
          <p:nvPr/>
        </p:nvSpPr>
        <p:spPr>
          <a:xfrm>
            <a:off x="385011" y="9052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the biggest conceptual difference.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358D1-7964-168A-5A7D-CE6A037DFF97}"/>
              </a:ext>
            </a:extLst>
          </p:cNvPr>
          <p:cNvSpPr txBox="1"/>
          <p:nvPr/>
        </p:nvSpPr>
        <p:spPr>
          <a:xfrm>
            <a:off x="385011" y="1670339"/>
            <a:ext cx="465666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Distance Vector</a:t>
            </a:r>
          </a:p>
          <a:p>
            <a:r>
              <a:rPr lang="en-IN" dirty="0"/>
              <a:t>Router mainly learns:</a:t>
            </a:r>
          </a:p>
          <a:p>
            <a:endParaRPr lang="en-IN" dirty="0"/>
          </a:p>
          <a:p>
            <a:r>
              <a:rPr lang="en-IN" dirty="0" err="1"/>
              <a:t>Neighbor</a:t>
            </a:r>
            <a:r>
              <a:rPr lang="en-IN" dirty="0"/>
              <a:t> says:</a:t>
            </a:r>
          </a:p>
          <a:p>
            <a:endParaRPr lang="en-IN" dirty="0"/>
          </a:p>
          <a:p>
            <a:r>
              <a:rPr lang="en-IN" dirty="0"/>
              <a:t>"I can reach D with cost 4.“</a:t>
            </a:r>
          </a:p>
          <a:p>
            <a:endParaRPr lang="en-IN" dirty="0"/>
          </a:p>
          <a:p>
            <a:r>
              <a:rPr lang="en-IN" dirty="0"/>
              <a:t>Router does not necessarily know the complete path behind that information.</a:t>
            </a:r>
          </a:p>
          <a:p>
            <a:endParaRPr lang="en-IN" dirty="0"/>
          </a:p>
          <a:p>
            <a:r>
              <a:rPr lang="en-IN" dirty="0"/>
              <a:t>Think Like:</a:t>
            </a:r>
          </a:p>
          <a:p>
            <a:r>
              <a:rPr lang="en-IN" b="1" dirty="0"/>
              <a:t>“My </a:t>
            </a:r>
            <a:r>
              <a:rPr lang="en-IN" b="1" dirty="0" err="1"/>
              <a:t>neighbor</a:t>
            </a:r>
            <a:r>
              <a:rPr lang="en-IN" b="1" dirty="0"/>
              <a:t> tells me the distance.”</a:t>
            </a:r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B00D2-A8B3-B3F1-9B4D-C573B42C171C}"/>
              </a:ext>
            </a:extLst>
          </p:cNvPr>
          <p:cNvSpPr txBox="1"/>
          <p:nvPr/>
        </p:nvSpPr>
        <p:spPr>
          <a:xfrm>
            <a:off x="6481011" y="1670339"/>
            <a:ext cx="42841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highlight>
                  <a:srgbClr val="FFFF00"/>
                </a:highlight>
              </a:rPr>
              <a:t>Link State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Router learns: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1. Which routers are connected?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2. What are the link costs?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3. Which links are up or down?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Then it builds a topology map and calculates the path itself.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Think Like:</a:t>
            </a:r>
          </a:p>
          <a:p>
            <a:pPr>
              <a:buNone/>
            </a:pPr>
            <a:r>
              <a:rPr lang="en-IN" b="1" dirty="0"/>
              <a:t>“I know the map, so I calculate the path myself.”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5154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94753-A626-3DCB-F6F6-05386AA26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BE209-95C8-79B1-ACED-4B308933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Complete Working of Link State Routing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EBE7DE-D0E7-90D5-8351-ACFAD3612D3B}"/>
              </a:ext>
            </a:extLst>
          </p:cNvPr>
          <p:cNvSpPr txBox="1"/>
          <p:nvPr/>
        </p:nvSpPr>
        <p:spPr>
          <a:xfrm>
            <a:off x="385011" y="1231543"/>
            <a:ext cx="430106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Discover neighbours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Measure link cost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Create Link State information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Flood this information to all routers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Every router builds Link State Database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Every router gets the topology map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Run Dijkstra's Algorithm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Build Shortest Path Tree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Create Routing Table</a:t>
            </a:r>
          </a:p>
        </p:txBody>
      </p:sp>
    </p:spTree>
    <p:extLst>
      <p:ext uri="{BB962C8B-B14F-4D97-AF65-F5344CB8AC3E}">
        <p14:creationId xmlns:p14="http://schemas.microsoft.com/office/powerpoint/2010/main" val="19278466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AA566-4E1F-A5DF-7D98-09A48D5D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C41C55-2141-6412-3A25-9C9B656293FA}"/>
              </a:ext>
            </a:extLst>
          </p:cNvPr>
          <p:cNvSpPr txBox="1"/>
          <p:nvPr/>
        </p:nvSpPr>
        <p:spPr>
          <a:xfrm>
            <a:off x="169334" y="653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Step 1 — Discover Neighbours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C878D-CADA-FDE7-B6F1-45217DBD3975}"/>
              </a:ext>
            </a:extLst>
          </p:cNvPr>
          <p:cNvSpPr txBox="1"/>
          <p:nvPr/>
        </p:nvSpPr>
        <p:spPr>
          <a:xfrm>
            <a:off x="169334" y="1226235"/>
            <a:ext cx="34205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first job of a router is to identify its directly connected </a:t>
            </a:r>
            <a:r>
              <a:rPr lang="en-IN" dirty="0" err="1"/>
              <a:t>neighboring</a:t>
            </a:r>
            <a:r>
              <a:rPr lang="en-IN" dirty="0"/>
              <a:t> routers.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640789-EE76-A576-5E78-38C814F22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87" y="2352934"/>
            <a:ext cx="3250825" cy="31165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6C64DC-D124-D219-D163-0B6280915FF4}"/>
              </a:ext>
            </a:extLst>
          </p:cNvPr>
          <p:cNvSpPr txBox="1"/>
          <p:nvPr/>
        </p:nvSpPr>
        <p:spPr>
          <a:xfrm>
            <a:off x="254187" y="5742801"/>
            <a:ext cx="38438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It must know:</a:t>
            </a:r>
          </a:p>
          <a:p>
            <a:pPr>
              <a:buNone/>
            </a:pPr>
            <a:r>
              <a:rPr lang="en-IN" dirty="0"/>
              <a:t>“Which routers are directly connected to me?”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37D90F-2910-184F-0654-A46AB6B543FB}"/>
              </a:ext>
            </a:extLst>
          </p:cNvPr>
          <p:cNvCxnSpPr/>
          <p:nvPr/>
        </p:nvCxnSpPr>
        <p:spPr>
          <a:xfrm>
            <a:off x="4098054" y="653534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22A2F5-7423-12EE-9509-CA1337354451}"/>
              </a:ext>
            </a:extLst>
          </p:cNvPr>
          <p:cNvSpPr txBox="1"/>
          <p:nvPr/>
        </p:nvSpPr>
        <p:spPr>
          <a:xfrm>
            <a:off x="4216776" y="662886"/>
            <a:ext cx="38438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Link State protocols use control messages to discover and maintain </a:t>
            </a:r>
            <a:r>
              <a:rPr lang="en-IN" dirty="0" err="1"/>
              <a:t>neighbor</a:t>
            </a:r>
            <a:r>
              <a:rPr lang="en-IN" dirty="0"/>
              <a:t> relationships.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3702A8-E2AB-182B-F7E3-E6BC1B29FECF}"/>
              </a:ext>
            </a:extLst>
          </p:cNvPr>
          <p:cNvSpPr txBox="1"/>
          <p:nvPr/>
        </p:nvSpPr>
        <p:spPr>
          <a:xfrm>
            <a:off x="4216776" y="1826399"/>
            <a:ext cx="3708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example, </a:t>
            </a:r>
            <a:r>
              <a:rPr lang="en-IN" b="1" dirty="0"/>
              <a:t>OSPF</a:t>
            </a:r>
            <a:r>
              <a:rPr lang="en-IN" dirty="0"/>
              <a:t> uses </a:t>
            </a:r>
            <a:r>
              <a:rPr lang="en-IN" b="1" dirty="0"/>
              <a:t>Hello packets</a:t>
            </a:r>
            <a:r>
              <a:rPr lang="en-IN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A78D97-6ABC-FC68-16E5-ABBC2A787426}"/>
              </a:ext>
            </a:extLst>
          </p:cNvPr>
          <p:cNvSpPr txBox="1"/>
          <p:nvPr/>
        </p:nvSpPr>
        <p:spPr>
          <a:xfrm>
            <a:off x="4216776" y="2712913"/>
            <a:ext cx="3454021" cy="368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Step 2 – Find the cost of each link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EBB56B-6060-834C-6DFA-C146C5133A53}"/>
              </a:ext>
            </a:extLst>
          </p:cNvPr>
          <p:cNvSpPr txBox="1"/>
          <p:nvPr/>
        </p:nvSpPr>
        <p:spPr>
          <a:xfrm>
            <a:off x="4216776" y="3231003"/>
            <a:ext cx="34205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router then determines the cost of its directly connected links.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61C7A13-9756-55D8-BEA0-FC294F7DD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066" y="3961601"/>
            <a:ext cx="3188659" cy="238839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C778CC-1E92-6435-B450-66B5B9A26F0D}"/>
              </a:ext>
            </a:extLst>
          </p:cNvPr>
          <p:cNvCxnSpPr/>
          <p:nvPr/>
        </p:nvCxnSpPr>
        <p:spPr>
          <a:xfrm>
            <a:off x="7925173" y="653534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96A08DCE-1760-0B1F-D641-757078857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840" y="755133"/>
            <a:ext cx="3759197" cy="215739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2E51273-484D-73AF-E0ED-C197E2591297}"/>
              </a:ext>
            </a:extLst>
          </p:cNvPr>
          <p:cNvSpPr txBox="1"/>
          <p:nvPr/>
        </p:nvSpPr>
        <p:spPr>
          <a:xfrm>
            <a:off x="8094507" y="3124475"/>
            <a:ext cx="38433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link cost is a numerical value used to compare paths.</a:t>
            </a:r>
          </a:p>
          <a:p>
            <a:pPr>
              <a:buNone/>
            </a:pPr>
            <a:r>
              <a:rPr lang="en-IN" dirty="0"/>
              <a:t>It can depend on protocol-specific rules.</a:t>
            </a:r>
          </a:p>
          <a:p>
            <a:pPr>
              <a:buNone/>
            </a:pPr>
            <a:r>
              <a:rPr lang="en-IN" dirty="0"/>
              <a:t>For example, cost may reflect: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Bandwidth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Administrative cost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Other configured metric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679920-B44D-8712-34FE-79A49B437901}"/>
              </a:ext>
            </a:extLst>
          </p:cNvPr>
          <p:cNvSpPr txBox="1"/>
          <p:nvPr/>
        </p:nvSpPr>
        <p:spPr>
          <a:xfrm>
            <a:off x="8213038" y="5742801"/>
            <a:ext cx="24717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Lower cost generally means a more preferred link.</a:t>
            </a:r>
          </a:p>
        </p:txBody>
      </p:sp>
    </p:spTree>
    <p:extLst>
      <p:ext uri="{BB962C8B-B14F-4D97-AF65-F5344CB8AC3E}">
        <p14:creationId xmlns:p14="http://schemas.microsoft.com/office/powerpoint/2010/main" val="1232074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5DD8E-6582-7651-0117-AC9099BD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BB6568-9965-12A7-B866-A98EBB32A4EA}"/>
              </a:ext>
            </a:extLst>
          </p:cNvPr>
          <p:cNvSpPr txBox="1"/>
          <p:nvPr/>
        </p:nvSpPr>
        <p:spPr>
          <a:xfrm>
            <a:off x="169334" y="653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Step 3 —Create Link State Information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BDDBE7-ACC1-3059-1B16-C7A1C9294242}"/>
              </a:ext>
            </a:extLst>
          </p:cNvPr>
          <p:cNvCxnSpPr/>
          <p:nvPr/>
        </p:nvCxnSpPr>
        <p:spPr>
          <a:xfrm>
            <a:off x="4098054" y="653534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3A5A47-F944-48C7-5F6D-82F5B3E8C7C4}"/>
              </a:ext>
            </a:extLst>
          </p:cNvPr>
          <p:cNvCxnSpPr/>
          <p:nvPr/>
        </p:nvCxnSpPr>
        <p:spPr>
          <a:xfrm>
            <a:off x="7721599" y="674006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205357-CD69-3556-1D57-A11AEA527A41}"/>
                  </a:ext>
                </a:extLst>
              </p:cNvPr>
              <p:cNvSpPr txBox="1"/>
              <p:nvPr/>
            </p:nvSpPr>
            <p:spPr>
              <a:xfrm>
                <a:off x="93509" y="1279559"/>
                <a:ext cx="3674532" cy="2109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After identifying </a:t>
                </a:r>
                <a:r>
                  <a:rPr lang="en-IN" dirty="0" err="1"/>
                  <a:t>neighbors</a:t>
                </a:r>
                <a:r>
                  <a:rPr lang="en-IN" dirty="0"/>
                  <a:t> and costs, a router creates a message describing its local links.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This is commonly called 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Link State Advertisement (LSA)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or more generally a Link State Packet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205357-CD69-3556-1D57-A11AEA527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9" y="1279559"/>
                <a:ext cx="3674532" cy="2109680"/>
              </a:xfrm>
              <a:prstGeom prst="rect">
                <a:avLst/>
              </a:prstGeom>
              <a:blipFill>
                <a:blip r:embed="rId2"/>
                <a:stretch>
                  <a:fillRect l="-1327" t="-1734" r="-2156" b="-37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B53B014-3272-53D7-E0DB-910AAB63DAB6}"/>
              </a:ext>
            </a:extLst>
          </p:cNvPr>
          <p:cNvSpPr txBox="1"/>
          <p:nvPr/>
        </p:nvSpPr>
        <p:spPr>
          <a:xfrm>
            <a:off x="270936" y="3818805"/>
            <a:ext cx="30479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 simple form, it can contain: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Router identity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Neighbor</a:t>
            </a:r>
            <a:r>
              <a:rPr lang="en-IN" dirty="0"/>
              <a:t> information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Link cost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Link status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Sequence number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Age/lifetime information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TTL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E8AA93-59F9-5B67-F8B7-6EC6CFA7672C}"/>
              </a:ext>
            </a:extLst>
          </p:cNvPr>
          <p:cNvSpPr txBox="1"/>
          <p:nvPr/>
        </p:nvSpPr>
        <p:spPr>
          <a:xfrm>
            <a:off x="4266828" y="781881"/>
            <a:ext cx="3386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Sequence Number is Used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8387D5-43F1-28BB-8A3A-B0A82CDAF169}"/>
              </a:ext>
            </a:extLst>
          </p:cNvPr>
          <p:cNvSpPr txBox="1"/>
          <p:nvPr/>
        </p:nvSpPr>
        <p:spPr>
          <a:xfrm>
            <a:off x="4149227" y="1279648"/>
            <a:ext cx="321733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 an old LSA and a new LSA both exist.</a:t>
            </a:r>
          </a:p>
          <a:p>
            <a:pPr>
              <a:buNone/>
            </a:pPr>
            <a:r>
              <a:rPr lang="en-IN" dirty="0"/>
              <a:t>The router must identify which one is newer.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LSA Sequence Number = 20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Later: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LSA Sequence Number = 21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router understands: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21 is newer than 20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This helps prevent outdated topology information from replacing newer information.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2F02B5-49C2-C2C4-3C6D-DA92D10A86ED}"/>
              </a:ext>
            </a:extLst>
          </p:cNvPr>
          <p:cNvSpPr txBox="1"/>
          <p:nvPr/>
        </p:nvSpPr>
        <p:spPr>
          <a:xfrm>
            <a:off x="7873442" y="1259175"/>
            <a:ext cx="40476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Routing information should not remain forever.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If an old advertisement stays in the network even after it is no longer valid, routers may use stale information.</a:t>
            </a:r>
          </a:p>
          <a:p>
            <a:pPr>
              <a:buNone/>
            </a:pPr>
            <a:r>
              <a:rPr lang="en-IN" dirty="0"/>
              <a:t>Therefore LSAs usually have some aging mechanism.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Conceptually: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LSA created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Used for some period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If not refreshed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Eventually removed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This helps keep topology information current.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E370D9-834A-2479-3259-30EDE1C8B1F6}"/>
              </a:ext>
            </a:extLst>
          </p:cNvPr>
          <p:cNvSpPr txBox="1"/>
          <p:nvPr/>
        </p:nvSpPr>
        <p:spPr>
          <a:xfrm>
            <a:off x="8059706" y="781881"/>
            <a:ext cx="3217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Age / Lifetime is Used</a:t>
            </a:r>
          </a:p>
        </p:txBody>
      </p:sp>
    </p:spTree>
    <p:extLst>
      <p:ext uri="{BB962C8B-B14F-4D97-AF65-F5344CB8AC3E}">
        <p14:creationId xmlns:p14="http://schemas.microsoft.com/office/powerpoint/2010/main" val="37895136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E80CE-5F19-943B-79AA-0986374A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44EC0E-703E-1A68-7338-E8AC5273EC07}"/>
              </a:ext>
            </a:extLst>
          </p:cNvPr>
          <p:cNvSpPr txBox="1"/>
          <p:nvPr/>
        </p:nvSpPr>
        <p:spPr>
          <a:xfrm>
            <a:off x="169334" y="653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Step 4—Flooding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BD77F2-7EE4-548C-E0BE-06AA0A60C3E9}"/>
              </a:ext>
            </a:extLst>
          </p:cNvPr>
          <p:cNvCxnSpPr/>
          <p:nvPr/>
        </p:nvCxnSpPr>
        <p:spPr>
          <a:xfrm>
            <a:off x="3860798" y="653534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3390E3-60A3-F549-F3F4-94F9CCEF5131}"/>
              </a:ext>
            </a:extLst>
          </p:cNvPr>
          <p:cNvCxnSpPr/>
          <p:nvPr/>
        </p:nvCxnSpPr>
        <p:spPr>
          <a:xfrm>
            <a:off x="7840130" y="653534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5FAA66-BF0B-E5B1-97EA-46D254EECBD2}"/>
                  </a:ext>
                </a:extLst>
              </p:cNvPr>
              <p:cNvSpPr txBox="1"/>
              <p:nvPr/>
            </p:nvSpPr>
            <p:spPr>
              <a:xfrm>
                <a:off x="304800" y="1233914"/>
                <a:ext cx="3555998" cy="3493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Now comes a very important concept.</a:t>
                </a:r>
              </a:p>
              <a:p>
                <a:pPr>
                  <a:buNone/>
                </a:pPr>
                <a:r>
                  <a:rPr lang="en-IN" dirty="0"/>
                  <a:t>Each router needs the link-state information to reach all relevant routers.</a:t>
                </a:r>
              </a:p>
              <a:p>
                <a:pPr>
                  <a:buNone/>
                </a:pPr>
                <a:r>
                  <a:rPr lang="en-IN" dirty="0"/>
                  <a:t>This is done using: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Flooding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In simple terms:</a:t>
                </a:r>
              </a:p>
              <a:p>
                <a:pPr>
                  <a:buNone/>
                </a:pPr>
                <a:r>
                  <a:rPr lang="en-IN" b="1" dirty="0"/>
                  <a:t>A router forwards newly received link-state information to its other </a:t>
                </a:r>
                <a:r>
                  <a:rPr lang="en-IN" b="1" dirty="0" err="1"/>
                  <a:t>neighbors</a:t>
                </a:r>
                <a:r>
                  <a:rPr lang="en-IN" b="1" dirty="0"/>
                  <a:t> so that the information spreads through the network.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5FAA66-BF0B-E5B1-97EA-46D254EEC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233914"/>
                <a:ext cx="3555998" cy="3493970"/>
              </a:xfrm>
              <a:prstGeom prst="rect">
                <a:avLst/>
              </a:prstGeom>
              <a:blipFill>
                <a:blip r:embed="rId2"/>
                <a:stretch>
                  <a:fillRect l="-1372" t="-871" b="-17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6619F0A-2251-CF20-DDB2-CDAA8DE0930D}"/>
              </a:ext>
            </a:extLst>
          </p:cNvPr>
          <p:cNvSpPr txBox="1"/>
          <p:nvPr/>
        </p:nvSpPr>
        <p:spPr>
          <a:xfrm>
            <a:off x="3860798" y="1411238"/>
            <a:ext cx="39793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+mn-lt"/>
              </a:rPr>
              <a:t>A ---- B ---- C ---- D</a:t>
            </a:r>
          </a:p>
          <a:p>
            <a:pPr>
              <a:buNone/>
            </a:pPr>
            <a:r>
              <a:rPr lang="en-IN" dirty="0"/>
              <a:t>A creates an LSA.</a:t>
            </a:r>
          </a:p>
          <a:p>
            <a:pPr>
              <a:buNone/>
            </a:pPr>
            <a:r>
              <a:rPr lang="en-IN" dirty="0"/>
              <a:t>A sends it to B.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A → B</a:t>
            </a:r>
          </a:p>
          <a:p>
            <a:pPr>
              <a:buNone/>
            </a:pPr>
            <a:r>
              <a:rPr lang="en-IN" dirty="0"/>
              <a:t>B receives it and forwards it toward C.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A → B → C</a:t>
            </a:r>
          </a:p>
          <a:p>
            <a:pPr>
              <a:buNone/>
            </a:pPr>
            <a:r>
              <a:rPr lang="en-IN" dirty="0"/>
              <a:t>C forwards it to D.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A → B → C → D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Eventually, the information reaches all routers.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22B9C9-6E34-5358-004B-128CDBF8F931}"/>
              </a:ext>
            </a:extLst>
          </p:cNvPr>
          <p:cNvSpPr txBox="1"/>
          <p:nvPr/>
        </p:nvSpPr>
        <p:spPr>
          <a:xfrm>
            <a:off x="7890926" y="662001"/>
            <a:ext cx="304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Does Every Router Keep Forwarding the Same LSA Forever?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3E058A-693D-6266-B1E0-81449B7F125A}"/>
              </a:ext>
            </a:extLst>
          </p:cNvPr>
          <p:cNvSpPr txBox="1"/>
          <p:nvPr/>
        </p:nvSpPr>
        <p:spPr>
          <a:xfrm>
            <a:off x="7890926" y="1720840"/>
            <a:ext cx="355599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No.</a:t>
            </a:r>
          </a:p>
          <a:p>
            <a:pPr>
              <a:buNone/>
            </a:pPr>
            <a:r>
              <a:rPr lang="en-IN" dirty="0"/>
              <a:t>That would create an infinite flood.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Routers use mechanisms such as: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1.Sequence Number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2.Age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3.Duplicate checking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to recognize whether an LSA is: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New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Old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Duplicate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If it is a duplicate, it does not need to be endlessly flooded again</a:t>
            </a:r>
          </a:p>
        </p:txBody>
      </p:sp>
    </p:spTree>
    <p:extLst>
      <p:ext uri="{BB962C8B-B14F-4D97-AF65-F5344CB8AC3E}">
        <p14:creationId xmlns:p14="http://schemas.microsoft.com/office/powerpoint/2010/main" val="30006620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9DFC8-F988-F74C-7FF0-B8881DA6E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03864B-C857-E58F-4E09-FCF4EEAA38A7}"/>
              </a:ext>
            </a:extLst>
          </p:cNvPr>
          <p:cNvSpPr txBox="1"/>
          <p:nvPr/>
        </p:nvSpPr>
        <p:spPr>
          <a:xfrm>
            <a:off x="169334" y="653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Step 5—Link State Database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1A1E5C-3ED6-A2BD-1E8B-C2F1FA981672}"/>
              </a:ext>
            </a:extLst>
          </p:cNvPr>
          <p:cNvCxnSpPr/>
          <p:nvPr/>
        </p:nvCxnSpPr>
        <p:spPr>
          <a:xfrm>
            <a:off x="3860798" y="653534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6AC5F30-E043-B605-00C5-1220112D3205}"/>
              </a:ext>
            </a:extLst>
          </p:cNvPr>
          <p:cNvCxnSpPr/>
          <p:nvPr/>
        </p:nvCxnSpPr>
        <p:spPr>
          <a:xfrm>
            <a:off x="7840130" y="653534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B5E3DA-F654-5B81-616B-07BAE135810F}"/>
                  </a:ext>
                </a:extLst>
              </p:cNvPr>
              <p:cNvSpPr txBox="1"/>
              <p:nvPr/>
            </p:nvSpPr>
            <p:spPr>
              <a:xfrm>
                <a:off x="169334" y="1197926"/>
                <a:ext cx="3691463" cy="18326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After routers receive LSAs from all routers, they store the topology information in 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Link State Database (LSDB)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The LSDB is like a </a:t>
                </a:r>
                <a:r>
                  <a:rPr lang="en-IN" b="1" dirty="0"/>
                  <a:t>map of the network topology</a:t>
                </a:r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B5E3DA-F654-5B81-616B-07BAE1358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34" y="1197926"/>
                <a:ext cx="3691463" cy="1832681"/>
              </a:xfrm>
              <a:prstGeom prst="rect">
                <a:avLst/>
              </a:prstGeom>
              <a:blipFill>
                <a:blip r:embed="rId2"/>
                <a:stretch>
                  <a:fillRect l="-1488" t="-2000" b="-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C02F922-E8A0-93C8-04BE-4245F6CFB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3030607"/>
            <a:ext cx="2963332" cy="23372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F9AE0A-5EE7-EA2E-1684-45AC3188A51C}"/>
              </a:ext>
            </a:extLst>
          </p:cNvPr>
          <p:cNvSpPr txBox="1"/>
          <p:nvPr/>
        </p:nvSpPr>
        <p:spPr>
          <a:xfrm>
            <a:off x="3860799" y="626194"/>
            <a:ext cx="3691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LSDB contains information similar to: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F707E52-0811-3E73-273D-0ECDE173F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871" y="1401005"/>
            <a:ext cx="2472258" cy="49659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7B0327-825F-DB31-6B5B-188E94A46271}"/>
              </a:ext>
            </a:extLst>
          </p:cNvPr>
          <p:cNvSpPr txBox="1"/>
          <p:nvPr/>
        </p:nvSpPr>
        <p:spPr>
          <a:xfrm>
            <a:off x="8127999" y="734622"/>
            <a:ext cx="369145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Routers in the same Link State routing area/domain should have a </a:t>
            </a:r>
            <a:r>
              <a:rPr lang="en-IN" b="1" dirty="0"/>
              <a:t>consistent view of topology</a:t>
            </a:r>
            <a:r>
              <a:rPr lang="en-IN" dirty="0"/>
              <a:t> after convergence.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For example: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Router A → topology map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Router B → topology map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Router C → topology map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Router D → topology map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topology information should agree.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However, each router calculates its </a:t>
            </a:r>
            <a:r>
              <a:rPr lang="en-IN" b="1" dirty="0"/>
              <a:t>own shortest path tree</a:t>
            </a:r>
            <a:r>
              <a:rPr lang="en-IN" dirty="0"/>
              <a:t>, because each router uses itself as the source.</a:t>
            </a:r>
          </a:p>
        </p:txBody>
      </p:sp>
    </p:spTree>
    <p:extLst>
      <p:ext uri="{BB962C8B-B14F-4D97-AF65-F5344CB8AC3E}">
        <p14:creationId xmlns:p14="http://schemas.microsoft.com/office/powerpoint/2010/main" val="3489496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CF1C7-8FCA-363A-5E97-3C3E19D04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F6102E-C32B-B248-0FB6-F28451E3F99A}"/>
              </a:ext>
            </a:extLst>
          </p:cNvPr>
          <p:cNvSpPr txBox="1"/>
          <p:nvPr/>
        </p:nvSpPr>
        <p:spPr>
          <a:xfrm>
            <a:off x="169334" y="653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Step 6—Run Dijkstra Algorithm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CD031B-33D8-BC81-79A0-5095A96FA5D6}"/>
              </a:ext>
            </a:extLst>
          </p:cNvPr>
          <p:cNvCxnSpPr/>
          <p:nvPr/>
        </p:nvCxnSpPr>
        <p:spPr>
          <a:xfrm>
            <a:off x="4114798" y="653534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0C2D639-6613-47FB-8DB8-FB8101C23A45}"/>
              </a:ext>
            </a:extLst>
          </p:cNvPr>
          <p:cNvCxnSpPr/>
          <p:nvPr/>
        </p:nvCxnSpPr>
        <p:spPr>
          <a:xfrm>
            <a:off x="7619996" y="823295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AB1DAC-E792-B0D0-485B-B08A330169BD}"/>
                  </a:ext>
                </a:extLst>
              </p:cNvPr>
              <p:cNvSpPr txBox="1"/>
              <p:nvPr/>
            </p:nvSpPr>
            <p:spPr>
              <a:xfrm>
                <a:off x="-1" y="1319255"/>
                <a:ext cx="4114791" cy="1832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Once a router has the topology map, it runs: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Dijkstra’s Shortest Path First Algorithm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The goal is:</a:t>
                </a:r>
              </a:p>
              <a:p>
                <a:pPr>
                  <a:buNone/>
                </a:pPr>
                <a:r>
                  <a:rPr lang="en-IN" b="1" dirty="0"/>
                  <a:t>Find the least-cost path from the current router to every other router/network.</a:t>
                </a:r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AB1DAC-E792-B0D0-485B-B08A33016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319255"/>
                <a:ext cx="4114791" cy="1832746"/>
              </a:xfrm>
              <a:prstGeom prst="rect">
                <a:avLst/>
              </a:prstGeom>
              <a:blipFill>
                <a:blip r:embed="rId2"/>
                <a:stretch>
                  <a:fillRect l="-1185" t="-1661" r="-148" b="-43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D177226-4B66-BD47-0DEE-CCB3B6B480F0}"/>
              </a:ext>
            </a:extLst>
          </p:cNvPr>
          <p:cNvSpPr txBox="1"/>
          <p:nvPr/>
        </p:nvSpPr>
        <p:spPr>
          <a:xfrm>
            <a:off x="169334" y="3429000"/>
            <a:ext cx="313226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For example:</a:t>
            </a:r>
          </a:p>
          <a:p>
            <a:endParaRPr lang="en-IN" dirty="0"/>
          </a:p>
          <a:p>
            <a:r>
              <a:rPr lang="en-IN" dirty="0"/>
              <a:t>Source Router = A</a:t>
            </a:r>
          </a:p>
          <a:p>
            <a:endParaRPr lang="en-IN" dirty="0"/>
          </a:p>
          <a:p>
            <a:r>
              <a:rPr lang="en-IN" dirty="0"/>
              <a:t>A runs Dijkstra and determines:</a:t>
            </a:r>
          </a:p>
          <a:p>
            <a:endParaRPr lang="en-IN" dirty="0"/>
          </a:p>
          <a:p>
            <a:r>
              <a:rPr lang="en-IN" dirty="0"/>
              <a:t>Best path to B</a:t>
            </a:r>
          </a:p>
          <a:p>
            <a:r>
              <a:rPr lang="en-IN" dirty="0"/>
              <a:t>Best path to C</a:t>
            </a:r>
          </a:p>
          <a:p>
            <a:r>
              <a:rPr lang="en-IN" dirty="0"/>
              <a:t>Best path to D</a:t>
            </a:r>
          </a:p>
          <a:p>
            <a:r>
              <a:rPr lang="en-IN" dirty="0"/>
              <a:t>Best path to E</a:t>
            </a:r>
          </a:p>
          <a:p>
            <a:r>
              <a:rPr lang="en-IN" dirty="0"/>
              <a:t>...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2227DA-7CBD-A119-BE5D-7E8C9BAC329B}"/>
              </a:ext>
            </a:extLst>
          </p:cNvPr>
          <p:cNvSpPr txBox="1"/>
          <p:nvPr/>
        </p:nvSpPr>
        <p:spPr>
          <a:xfrm>
            <a:off x="4364566" y="653534"/>
            <a:ext cx="2408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Dijkstra's Basic Logic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1BF787-C442-C98E-B433-F703EBD8B483}"/>
              </a:ext>
            </a:extLst>
          </p:cNvPr>
          <p:cNvSpPr txBox="1"/>
          <p:nvPr/>
        </p:nvSpPr>
        <p:spPr>
          <a:xfrm>
            <a:off x="4389964" y="1305342"/>
            <a:ext cx="30861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Start from source router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Give source cost 0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All other routers initially ∞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Select nearest unvisited router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Check its </a:t>
            </a:r>
            <a:r>
              <a:rPr lang="en-IN" dirty="0" err="1"/>
              <a:t>neighbors</a:t>
            </a:r>
            <a:endParaRPr lang="en-IN" dirty="0"/>
          </a:p>
          <a:p>
            <a:r>
              <a:rPr lang="en-IN" dirty="0"/>
              <a:t>      ↓</a:t>
            </a:r>
          </a:p>
          <a:p>
            <a:r>
              <a:rPr lang="en-IN" dirty="0"/>
              <a:t>Update costs if a cheaper path is found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Mark router as selected/visited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Repeat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All shortest paths found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B43D6D-49DC-F018-D1CB-5F5B54557014}"/>
              </a:ext>
            </a:extLst>
          </p:cNvPr>
          <p:cNvSpPr txBox="1"/>
          <p:nvPr/>
        </p:nvSpPr>
        <p:spPr>
          <a:xfrm>
            <a:off x="7725836" y="711200"/>
            <a:ext cx="42968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update logic can be written as: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D(v)=min[D(v),D(u)+c(</a:t>
            </a:r>
            <a:r>
              <a:rPr lang="en-IN" dirty="0" err="1"/>
              <a:t>u,v</a:t>
            </a:r>
            <a:r>
              <a:rPr lang="en-IN" dirty="0"/>
              <a:t>)]​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D(v): Current best known cost to node v.</a:t>
            </a:r>
          </a:p>
          <a:p>
            <a:pPr>
              <a:buNone/>
            </a:pPr>
            <a:r>
              <a:rPr lang="en-IN" dirty="0"/>
              <a:t>D(u): Best known cost to current node u.</a:t>
            </a:r>
            <a:br>
              <a:rPr lang="en-IN" dirty="0"/>
            </a:br>
            <a:r>
              <a:rPr lang="en-IN" dirty="0"/>
              <a:t>C(</a:t>
            </a:r>
            <a:r>
              <a:rPr lang="en-IN" dirty="0" err="1"/>
              <a:t>u,v</a:t>
            </a:r>
            <a:r>
              <a:rPr lang="en-IN" dirty="0"/>
              <a:t>); Cost of link from u to v.</a:t>
            </a:r>
          </a:p>
          <a:p>
            <a:pPr>
              <a:buNone/>
            </a:pPr>
            <a:r>
              <a:rPr lang="en-IN" dirty="0"/>
              <a:t>Min: Keep the smaller value.</a:t>
            </a:r>
          </a:p>
          <a:p>
            <a:pPr>
              <a:buNone/>
            </a:pPr>
            <a:endParaRPr lang="en-IN" dirty="0"/>
          </a:p>
          <a:p>
            <a:r>
              <a:rPr lang="en-IN" dirty="0"/>
              <a:t>Simple meaning:</a:t>
            </a:r>
          </a:p>
          <a:p>
            <a:r>
              <a:rPr lang="en-IN" b="1" dirty="0"/>
              <a:t>New cost to </a:t>
            </a:r>
            <a:r>
              <a:rPr lang="en-IN" b="1" dirty="0" err="1"/>
              <a:t>neighbor</a:t>
            </a:r>
            <a:r>
              <a:rPr lang="en-IN" b="1" dirty="0"/>
              <a:t> = Current cost to current router + link cost</a:t>
            </a:r>
            <a:endParaRPr lang="en-IN" dirty="0"/>
          </a:p>
          <a:p>
            <a:r>
              <a:rPr lang="en-IN" dirty="0"/>
              <a:t>If the new value is smaller, update it.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1164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16D2-5A77-6954-26D1-CD5E5D6E9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A12C-3226-EA12-5D14-CDDEFBDD9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1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707A1-F399-61C2-3A05-9BA9AF336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5256"/>
            <a:ext cx="3591426" cy="223868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B2E6CDC-4AAB-100E-DB2E-1D9D60F3F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911317"/>
              </p:ext>
            </p:extLst>
          </p:nvPr>
        </p:nvGraphicFramePr>
        <p:xfrm>
          <a:off x="3742266" y="1077314"/>
          <a:ext cx="1422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97568365"/>
                    </a:ext>
                  </a:extLst>
                </a:gridCol>
              </a:tblGrid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99689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Seq No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675226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Age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4081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971CC0-4CD3-08F6-288E-8B27C2F83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947434"/>
              </p:ext>
            </p:extLst>
          </p:nvPr>
        </p:nvGraphicFramePr>
        <p:xfrm>
          <a:off x="3742266" y="2190596"/>
          <a:ext cx="14224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23153043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04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776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7756B85-131D-83A8-D567-748138524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943816"/>
              </p:ext>
            </p:extLst>
          </p:nvPr>
        </p:nvGraphicFramePr>
        <p:xfrm>
          <a:off x="5774266" y="1077314"/>
          <a:ext cx="1422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97568365"/>
                    </a:ext>
                  </a:extLst>
                </a:gridCol>
              </a:tblGrid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B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99689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Seq No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675226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Age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4081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2E34166-AC91-13AB-8BA7-F14FC669D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311327"/>
              </p:ext>
            </p:extLst>
          </p:nvPr>
        </p:nvGraphicFramePr>
        <p:xfrm>
          <a:off x="5774266" y="2190596"/>
          <a:ext cx="14224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23153043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04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7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08049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2E0B672-DB20-DB53-1312-E0CFD36CE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52558"/>
              </p:ext>
            </p:extLst>
          </p:nvPr>
        </p:nvGraphicFramePr>
        <p:xfrm>
          <a:off x="7653866" y="1097118"/>
          <a:ext cx="1422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97568365"/>
                    </a:ext>
                  </a:extLst>
                </a:gridCol>
              </a:tblGrid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99689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Seq No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675226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Age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408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1B125F8-4E61-D52C-7B88-2ED0E5EAB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0421"/>
              </p:ext>
            </p:extLst>
          </p:nvPr>
        </p:nvGraphicFramePr>
        <p:xfrm>
          <a:off x="7653866" y="2210400"/>
          <a:ext cx="14224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23153043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04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7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40313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FAFEB0B-263C-B1ED-9CA8-BC6C2418D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731843"/>
              </p:ext>
            </p:extLst>
          </p:nvPr>
        </p:nvGraphicFramePr>
        <p:xfrm>
          <a:off x="9533466" y="1097118"/>
          <a:ext cx="1422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97568365"/>
                    </a:ext>
                  </a:extLst>
                </a:gridCol>
              </a:tblGrid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D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99689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Seq No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675226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Age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4081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F4B71AF-3E95-C6C6-DE49-65EEEB1B3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894089"/>
              </p:ext>
            </p:extLst>
          </p:nvPr>
        </p:nvGraphicFramePr>
        <p:xfrm>
          <a:off x="9533466" y="2210400"/>
          <a:ext cx="14224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23153043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04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7760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E8C8B97-F755-D27C-866E-8C401343F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362205"/>
              </p:ext>
            </p:extLst>
          </p:nvPr>
        </p:nvGraphicFramePr>
        <p:xfrm>
          <a:off x="385011" y="4097782"/>
          <a:ext cx="1422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97568365"/>
                    </a:ext>
                  </a:extLst>
                </a:gridCol>
              </a:tblGrid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99689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Seq No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675226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Age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40819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A4FC0C2-C1C1-EC07-B39A-F9DED5175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583727"/>
              </p:ext>
            </p:extLst>
          </p:nvPr>
        </p:nvGraphicFramePr>
        <p:xfrm>
          <a:off x="385011" y="5211064"/>
          <a:ext cx="14224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23153043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04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7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89104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CFABF2C-BD0E-B794-1084-BB484B374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188"/>
              </p:ext>
            </p:extLst>
          </p:nvPr>
        </p:nvGraphicFramePr>
        <p:xfrm>
          <a:off x="2169026" y="4068064"/>
          <a:ext cx="1422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97568365"/>
                    </a:ext>
                  </a:extLst>
                </a:gridCol>
              </a:tblGrid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F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99689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Seq No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675226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Age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40819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2EF0B63-15BD-E4A1-274C-0C86D155E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338563"/>
              </p:ext>
            </p:extLst>
          </p:nvPr>
        </p:nvGraphicFramePr>
        <p:xfrm>
          <a:off x="2169026" y="5181346"/>
          <a:ext cx="14224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23153043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04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7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766136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80A2541-4BDF-C49E-701A-7368D0F7162C}"/>
              </a:ext>
            </a:extLst>
          </p:cNvPr>
          <p:cNvSpPr txBox="1"/>
          <p:nvPr/>
        </p:nvSpPr>
        <p:spPr>
          <a:xfrm>
            <a:off x="4250815" y="437287"/>
            <a:ext cx="1888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Link State Packets</a:t>
            </a:r>
            <a:endParaRPr lang="en-IN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44BF74-EAFB-F5B2-7756-45F877902E43}"/>
              </a:ext>
            </a:extLst>
          </p:cNvPr>
          <p:cNvSpPr txBox="1"/>
          <p:nvPr/>
        </p:nvSpPr>
        <p:spPr>
          <a:xfrm>
            <a:off x="4216948" y="3429000"/>
            <a:ext cx="74715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Objective</a:t>
            </a:r>
            <a:r>
              <a:rPr lang="en-US" dirty="0"/>
              <a:t>: To find the shortest path from A to remaining all routers.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Initially, All routers will send HELLO packet to their neighbor routers.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Each router will do the Flooding of their </a:t>
            </a:r>
            <a:r>
              <a:rPr lang="en-US" b="1" dirty="0"/>
              <a:t>own LSP to all routers in network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Which means each router will have the </a:t>
            </a:r>
            <a:r>
              <a:rPr lang="en-US" b="1" dirty="0"/>
              <a:t>global knowledge.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Now, every router has the information of each other routers LSP.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Now with the help of Dijkstra, we will find shortest path from A to all routers.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36514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417C0-A59D-4265-9EED-D90B28DD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1B8E-91F3-E493-79B4-7A696675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1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188DDE-414C-C2FD-3715-0BAA03D0F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5256"/>
            <a:ext cx="3591426" cy="223868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3BB868-B39C-2E1A-9741-3BAAC08F073B}"/>
              </a:ext>
            </a:extLst>
          </p:cNvPr>
          <p:cNvGraphicFramePr>
            <a:graphicFrameLocks noGrp="1"/>
          </p:cNvGraphicFramePr>
          <p:nvPr/>
        </p:nvGraphicFramePr>
        <p:xfrm>
          <a:off x="3742266" y="1077314"/>
          <a:ext cx="1422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97568365"/>
                    </a:ext>
                  </a:extLst>
                </a:gridCol>
              </a:tblGrid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99689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Seq No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675226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Age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4081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465634A-479D-7677-0EDB-B6105417C91A}"/>
              </a:ext>
            </a:extLst>
          </p:cNvPr>
          <p:cNvGraphicFramePr>
            <a:graphicFrameLocks noGrp="1"/>
          </p:cNvGraphicFramePr>
          <p:nvPr/>
        </p:nvGraphicFramePr>
        <p:xfrm>
          <a:off x="3742266" y="2190596"/>
          <a:ext cx="14224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23153043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04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776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60B4CB7-A970-0581-E22E-911449A08EB5}"/>
              </a:ext>
            </a:extLst>
          </p:cNvPr>
          <p:cNvGraphicFramePr>
            <a:graphicFrameLocks noGrp="1"/>
          </p:cNvGraphicFramePr>
          <p:nvPr/>
        </p:nvGraphicFramePr>
        <p:xfrm>
          <a:off x="5774266" y="1077314"/>
          <a:ext cx="1422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97568365"/>
                    </a:ext>
                  </a:extLst>
                </a:gridCol>
              </a:tblGrid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B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99689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Seq No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675226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Age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4081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6D774A1-E89F-0FA5-2889-ACD644581097}"/>
              </a:ext>
            </a:extLst>
          </p:cNvPr>
          <p:cNvGraphicFramePr>
            <a:graphicFrameLocks noGrp="1"/>
          </p:cNvGraphicFramePr>
          <p:nvPr/>
        </p:nvGraphicFramePr>
        <p:xfrm>
          <a:off x="5774266" y="2190596"/>
          <a:ext cx="14224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23153043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04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7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08049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5CA25B8-47D6-9704-B688-0EB14E76CBF9}"/>
              </a:ext>
            </a:extLst>
          </p:cNvPr>
          <p:cNvGraphicFramePr>
            <a:graphicFrameLocks noGrp="1"/>
          </p:cNvGraphicFramePr>
          <p:nvPr/>
        </p:nvGraphicFramePr>
        <p:xfrm>
          <a:off x="7653866" y="1097118"/>
          <a:ext cx="1422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97568365"/>
                    </a:ext>
                  </a:extLst>
                </a:gridCol>
              </a:tblGrid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99689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Seq No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675226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Age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408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E4DDEB5-1B35-9DF3-B155-A97A7ECC8CE8}"/>
              </a:ext>
            </a:extLst>
          </p:cNvPr>
          <p:cNvGraphicFramePr>
            <a:graphicFrameLocks noGrp="1"/>
          </p:cNvGraphicFramePr>
          <p:nvPr/>
        </p:nvGraphicFramePr>
        <p:xfrm>
          <a:off x="7653866" y="2210400"/>
          <a:ext cx="14224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23153043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04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7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40313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743ADE4-D496-AD3E-FDA3-DDDE1D07BF03}"/>
              </a:ext>
            </a:extLst>
          </p:cNvPr>
          <p:cNvGraphicFramePr>
            <a:graphicFrameLocks noGrp="1"/>
          </p:cNvGraphicFramePr>
          <p:nvPr/>
        </p:nvGraphicFramePr>
        <p:xfrm>
          <a:off x="9533466" y="1097118"/>
          <a:ext cx="1422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97568365"/>
                    </a:ext>
                  </a:extLst>
                </a:gridCol>
              </a:tblGrid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D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99689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Seq No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675226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Age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4081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4EB1AA7-12C0-5FE0-7A7D-04B54E2C24DC}"/>
              </a:ext>
            </a:extLst>
          </p:cNvPr>
          <p:cNvGraphicFramePr>
            <a:graphicFrameLocks noGrp="1"/>
          </p:cNvGraphicFramePr>
          <p:nvPr/>
        </p:nvGraphicFramePr>
        <p:xfrm>
          <a:off x="9533466" y="2210400"/>
          <a:ext cx="14224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23153043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04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7760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84CB7CC-3BE6-1075-F3F8-5E8501362B1F}"/>
              </a:ext>
            </a:extLst>
          </p:cNvPr>
          <p:cNvGraphicFramePr>
            <a:graphicFrameLocks noGrp="1"/>
          </p:cNvGraphicFramePr>
          <p:nvPr/>
        </p:nvGraphicFramePr>
        <p:xfrm>
          <a:off x="385011" y="4097782"/>
          <a:ext cx="1422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97568365"/>
                    </a:ext>
                  </a:extLst>
                </a:gridCol>
              </a:tblGrid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99689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Seq No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675226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Age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40819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F85A29B-77F2-A9A3-D1C0-B293164D6083}"/>
              </a:ext>
            </a:extLst>
          </p:cNvPr>
          <p:cNvGraphicFramePr>
            <a:graphicFrameLocks noGrp="1"/>
          </p:cNvGraphicFramePr>
          <p:nvPr/>
        </p:nvGraphicFramePr>
        <p:xfrm>
          <a:off x="385011" y="5211064"/>
          <a:ext cx="14224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23153043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04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7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89104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7F386A5-7671-7345-3D70-7E089BADE7B3}"/>
              </a:ext>
            </a:extLst>
          </p:cNvPr>
          <p:cNvGraphicFramePr>
            <a:graphicFrameLocks noGrp="1"/>
          </p:cNvGraphicFramePr>
          <p:nvPr/>
        </p:nvGraphicFramePr>
        <p:xfrm>
          <a:off x="2169026" y="4068064"/>
          <a:ext cx="1422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97568365"/>
                    </a:ext>
                  </a:extLst>
                </a:gridCol>
              </a:tblGrid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F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99689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Seq No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675226"/>
                  </a:ext>
                </a:extLst>
              </a:tr>
              <a:tr h="3764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Age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40819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E5E44A1-F2E9-AB24-8ED5-505E3B40F603}"/>
              </a:ext>
            </a:extLst>
          </p:cNvPr>
          <p:cNvGraphicFramePr>
            <a:graphicFrameLocks noGrp="1"/>
          </p:cNvGraphicFramePr>
          <p:nvPr/>
        </p:nvGraphicFramePr>
        <p:xfrm>
          <a:off x="2169026" y="5181346"/>
          <a:ext cx="14224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323153043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004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7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766136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A11A3B66-E27E-9FB6-A43B-600928A2BCE0}"/>
              </a:ext>
            </a:extLst>
          </p:cNvPr>
          <p:cNvSpPr txBox="1"/>
          <p:nvPr/>
        </p:nvSpPr>
        <p:spPr>
          <a:xfrm>
            <a:off x="4250815" y="437287"/>
            <a:ext cx="1888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Link State Packets</a:t>
            </a: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6D1981-7B0B-D242-85C4-257D88752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372951"/>
              </p:ext>
            </p:extLst>
          </p:nvPr>
        </p:nvGraphicFramePr>
        <p:xfrm>
          <a:off x="3742266" y="3554885"/>
          <a:ext cx="8128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373473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3322176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67741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145433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063881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25422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9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99411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8C762BF-D535-F074-414A-2C62F53682A5}"/>
              </a:ext>
            </a:extLst>
          </p:cNvPr>
          <p:cNvSpPr txBox="1"/>
          <p:nvPr/>
        </p:nvSpPr>
        <p:spPr>
          <a:xfrm>
            <a:off x="5226233" y="4816538"/>
            <a:ext cx="516006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as per Dijkstra, what is the minimum value from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MIN(4, INF, INF, 5, INF) = 4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Hence, Router B will be chosen. 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4A9CCD-F059-60CE-F425-93F7512FDB1E}"/>
              </a:ext>
            </a:extLst>
          </p:cNvPr>
          <p:cNvSpPr/>
          <p:nvPr/>
        </p:nvSpPr>
        <p:spPr>
          <a:xfrm>
            <a:off x="5477932" y="3905921"/>
            <a:ext cx="592667" cy="424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1901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42702-FDF7-EDAE-85B9-2DBB8CD58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FD942-3C19-6EFB-FADD-F99EA6BAA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1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A041E-F749-8B95-A4AF-649E410B4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5256"/>
            <a:ext cx="3591426" cy="223868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53A9DF-6024-354D-611D-45F19EB6D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12025"/>
              </p:ext>
            </p:extLst>
          </p:nvPr>
        </p:nvGraphicFramePr>
        <p:xfrm>
          <a:off x="3591426" y="559327"/>
          <a:ext cx="81280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373473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3322176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67741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145433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063881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25422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9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994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403783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CC47A30C-5D6C-1CC9-25AA-8B3DFC1C4B38}"/>
              </a:ext>
            </a:extLst>
          </p:cNvPr>
          <p:cNvSpPr/>
          <p:nvPr/>
        </p:nvSpPr>
        <p:spPr>
          <a:xfrm>
            <a:off x="5342466" y="882792"/>
            <a:ext cx="592667" cy="424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AA9144-8950-5C7C-5BB1-FDDF003CBE40}"/>
              </a:ext>
            </a:extLst>
          </p:cNvPr>
          <p:cNvSpPr/>
          <p:nvPr/>
        </p:nvSpPr>
        <p:spPr>
          <a:xfrm>
            <a:off x="5342466" y="1307036"/>
            <a:ext cx="592667" cy="424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DE2E52-AFF4-CE03-10DE-A924D2AE2843}"/>
              </a:ext>
            </a:extLst>
          </p:cNvPr>
          <p:cNvSpPr txBox="1"/>
          <p:nvPr/>
        </p:nvSpPr>
        <p:spPr>
          <a:xfrm>
            <a:off x="5638799" y="1740812"/>
            <a:ext cx="4004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as 4 is already chosen, find:</a:t>
            </a:r>
            <a:br>
              <a:rPr lang="en-US" dirty="0"/>
            </a:br>
            <a:r>
              <a:rPr lang="en-US" dirty="0"/>
              <a:t>MIN (6, INF, 5, 10) = 5 -&gt; Choose router E</a:t>
            </a:r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E039425-40B9-FF0A-9017-7F02D1D10634}"/>
              </a:ext>
            </a:extLst>
          </p:cNvPr>
          <p:cNvSpPr/>
          <p:nvPr/>
        </p:nvSpPr>
        <p:spPr>
          <a:xfrm>
            <a:off x="9346703" y="1277320"/>
            <a:ext cx="592667" cy="424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3816B5C-A138-36BB-6BDF-36745E39D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167565"/>
              </p:ext>
            </p:extLst>
          </p:nvPr>
        </p:nvGraphicFramePr>
        <p:xfrm>
          <a:off x="3576917" y="2656648"/>
          <a:ext cx="81280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373473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3322176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67741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145433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063881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25422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9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994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403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06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05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ABECD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750884"/>
                  </a:ext>
                </a:extLst>
              </a:tr>
            </a:tbl>
          </a:graphicData>
        </a:graphic>
      </p:graphicFrame>
      <p:sp>
        <p:nvSpPr>
          <p:cNvPr id="32" name="Oval 31">
            <a:extLst>
              <a:ext uri="{FF2B5EF4-FFF2-40B4-BE49-F238E27FC236}">
                <a16:creationId xmlns:a16="http://schemas.microsoft.com/office/drawing/2014/main" id="{D9AEA07C-F986-226B-5CAF-A7DAFF7DA874}"/>
              </a:ext>
            </a:extLst>
          </p:cNvPr>
          <p:cNvSpPr/>
          <p:nvPr/>
        </p:nvSpPr>
        <p:spPr>
          <a:xfrm>
            <a:off x="5342466" y="3371944"/>
            <a:ext cx="592667" cy="424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8A07D26-4B90-C8F4-0567-EB6B78F470CB}"/>
              </a:ext>
            </a:extLst>
          </p:cNvPr>
          <p:cNvSpPr/>
          <p:nvPr/>
        </p:nvSpPr>
        <p:spPr>
          <a:xfrm>
            <a:off x="9363635" y="3371944"/>
            <a:ext cx="592667" cy="424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1DF8D38-2260-9633-CD49-1C6BDCEFDD42}"/>
              </a:ext>
            </a:extLst>
          </p:cNvPr>
          <p:cNvSpPr/>
          <p:nvPr/>
        </p:nvSpPr>
        <p:spPr>
          <a:xfrm>
            <a:off x="6694145" y="3796188"/>
            <a:ext cx="592667" cy="424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5D646B8-A76F-70B0-0286-33DF436608FB}"/>
              </a:ext>
            </a:extLst>
          </p:cNvPr>
          <p:cNvSpPr/>
          <p:nvPr/>
        </p:nvSpPr>
        <p:spPr>
          <a:xfrm>
            <a:off x="8028890" y="4122864"/>
            <a:ext cx="592667" cy="424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9C4FDF1-D33C-3AF6-8D0C-920EA92D57E0}"/>
              </a:ext>
            </a:extLst>
          </p:cNvPr>
          <p:cNvSpPr/>
          <p:nvPr/>
        </p:nvSpPr>
        <p:spPr>
          <a:xfrm>
            <a:off x="10755156" y="4547108"/>
            <a:ext cx="592667" cy="424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43190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933B-2972-A07D-D25E-D4D5E70F5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7CF51-C914-366F-2FC1-1CD824612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1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D34FA9-808B-21A6-128C-DFE222ADF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5256"/>
            <a:ext cx="3591426" cy="223868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0700D9-41A3-3B7E-A70B-D6C319957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243844"/>
              </p:ext>
            </p:extLst>
          </p:nvPr>
        </p:nvGraphicFramePr>
        <p:xfrm>
          <a:off x="4605866" y="918903"/>
          <a:ext cx="450426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423">
                  <a:extLst>
                    <a:ext uri="{9D8B030D-6E8A-4147-A177-3AD203B41FA5}">
                      <a16:colId xmlns:a16="http://schemas.microsoft.com/office/drawing/2014/main" val="1924660673"/>
                    </a:ext>
                  </a:extLst>
                </a:gridCol>
                <a:gridCol w="1501423">
                  <a:extLst>
                    <a:ext uri="{9D8B030D-6E8A-4147-A177-3AD203B41FA5}">
                      <a16:colId xmlns:a16="http://schemas.microsoft.com/office/drawing/2014/main" val="3991533267"/>
                    </a:ext>
                  </a:extLst>
                </a:gridCol>
                <a:gridCol w="1501423">
                  <a:extLst>
                    <a:ext uri="{9D8B030D-6E8A-4147-A177-3AD203B41FA5}">
                      <a16:colId xmlns:a16="http://schemas.microsoft.com/office/drawing/2014/main" val="24255942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Routers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Least Cost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34642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6656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3048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513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59661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5451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B1097A4-0866-1123-910A-F5157E17137E}"/>
              </a:ext>
            </a:extLst>
          </p:cNvPr>
          <p:cNvSpPr txBox="1"/>
          <p:nvPr/>
        </p:nvSpPr>
        <p:spPr>
          <a:xfrm>
            <a:off x="4165600" y="371405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After Router A runs Dijkstra with A as the source, every other router will also run Dijkstra independently, taking itself as the source.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Every router creates its own Shortest Path Tree (SPT).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A7812-7153-0B59-AA1D-58380410D421}"/>
              </a:ext>
            </a:extLst>
          </p:cNvPr>
          <p:cNvSpPr txBox="1"/>
          <p:nvPr/>
        </p:nvSpPr>
        <p:spPr>
          <a:xfrm>
            <a:off x="4165600" y="549108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After Dijkstra calculates the shortest paths, the router uses those results to determine the appropriate next hops/routes for its routing table.</a:t>
            </a:r>
          </a:p>
        </p:txBody>
      </p:sp>
    </p:spTree>
    <p:extLst>
      <p:ext uri="{BB962C8B-B14F-4D97-AF65-F5344CB8AC3E}">
        <p14:creationId xmlns:p14="http://schemas.microsoft.com/office/powerpoint/2010/main" val="21221018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A55F1-41E0-A77B-0FD1-6CCA564C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2602-1988-28B2-A942-E3A0302D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2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AC2BC-CBF0-7E3C-688D-B91B4A18E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0" y="1218891"/>
            <a:ext cx="5710990" cy="49448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7D2C67-4F2A-5452-82BF-F86DD5049004}"/>
                  </a:ext>
                </a:extLst>
              </p:cNvPr>
              <p:cNvSpPr txBox="1"/>
              <p:nvPr/>
            </p:nvSpPr>
            <p:spPr>
              <a:xfrm>
                <a:off x="6814426" y="2104050"/>
                <a:ext cx="4670830" cy="31745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Links:</a:t>
                </a:r>
              </a:p>
              <a:p>
                <a:r>
                  <a:rPr lang="en-IN" dirty="0"/>
                  <a:t>A-B = 2</a:t>
                </a:r>
              </a:p>
              <a:p>
                <a:r>
                  <a:rPr lang="en-IN" dirty="0"/>
                  <a:t>A-C = 5</a:t>
                </a:r>
              </a:p>
              <a:p>
                <a:r>
                  <a:rPr lang="en-IN" dirty="0"/>
                  <a:t>B-D = 3</a:t>
                </a:r>
              </a:p>
              <a:p>
                <a:r>
                  <a:rPr lang="en-IN" dirty="0"/>
                  <a:t>C-D = 2</a:t>
                </a:r>
              </a:p>
              <a:p>
                <a:r>
                  <a:rPr lang="en-IN" dirty="0"/>
                  <a:t>C-E = 1</a:t>
                </a:r>
              </a:p>
              <a:p>
                <a:r>
                  <a:rPr lang="en-IN" dirty="0"/>
                  <a:t>D-E = 4</a:t>
                </a:r>
              </a:p>
              <a:p>
                <a:r>
                  <a:rPr lang="en-IN" dirty="0"/>
                  <a:t>Source:</a:t>
                </a:r>
              </a:p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orderBox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We want the shortest paths from A to all nodes.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7D2C67-4F2A-5452-82BF-F86DD5049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426" y="2104050"/>
                <a:ext cx="4670830" cy="3174523"/>
              </a:xfrm>
              <a:prstGeom prst="rect">
                <a:avLst/>
              </a:prstGeom>
              <a:blipFill>
                <a:blip r:embed="rId3"/>
                <a:stretch>
                  <a:fillRect l="-1175" t="-960" r="-3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69131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C366B-386B-55A4-64A8-3E13C61A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CA5E1F-1B3D-1F85-0CB8-7E18BA8EC5C3}"/>
              </a:ext>
            </a:extLst>
          </p:cNvPr>
          <p:cNvSpPr txBox="1"/>
          <p:nvPr/>
        </p:nvSpPr>
        <p:spPr>
          <a:xfrm>
            <a:off x="270934" y="585801"/>
            <a:ext cx="1913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Initial Step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F87C3-54B6-0BA8-500C-EEC809BC1D95}"/>
              </a:ext>
            </a:extLst>
          </p:cNvPr>
          <p:cNvSpPr txBox="1"/>
          <p:nvPr/>
        </p:nvSpPr>
        <p:spPr>
          <a:xfrm>
            <a:off x="228600" y="955133"/>
            <a:ext cx="19981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Set: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= 0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Direct neighbours: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 = 2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 = 5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Other nodes: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D = ∞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E = ∞</a:t>
            </a:r>
            <a:endParaRPr lang="en-IN" dirty="0">
              <a:latin typeface="Courier New" panose="02070309020205020404" pitchFamily="49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4DA6125-535B-6DE0-8FC4-A905F4094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224483"/>
              </p:ext>
            </p:extLst>
          </p:nvPr>
        </p:nvGraphicFramePr>
        <p:xfrm>
          <a:off x="228600" y="3817455"/>
          <a:ext cx="379306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356">
                  <a:extLst>
                    <a:ext uri="{9D8B030D-6E8A-4147-A177-3AD203B41FA5}">
                      <a16:colId xmlns:a16="http://schemas.microsoft.com/office/drawing/2014/main" val="2513546934"/>
                    </a:ext>
                  </a:extLst>
                </a:gridCol>
                <a:gridCol w="1264356">
                  <a:extLst>
                    <a:ext uri="{9D8B030D-6E8A-4147-A177-3AD203B41FA5}">
                      <a16:colId xmlns:a16="http://schemas.microsoft.com/office/drawing/2014/main" val="13785917"/>
                    </a:ext>
                  </a:extLst>
                </a:gridCol>
                <a:gridCol w="1264356">
                  <a:extLst>
                    <a:ext uri="{9D8B030D-6E8A-4147-A177-3AD203B41FA5}">
                      <a16:colId xmlns:a16="http://schemas.microsoft.com/office/drawing/2014/main" val="157208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Cost from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Previous Node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631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21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25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043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289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89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426BA78-0702-0D61-A36F-B4C26A1B1A33}"/>
              </a:ext>
            </a:extLst>
          </p:cNvPr>
          <p:cNvSpPr txBox="1"/>
          <p:nvPr/>
        </p:nvSpPr>
        <p:spPr>
          <a:xfrm>
            <a:off x="660400" y="63117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is now selected.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461EC7-7349-ABEF-000B-107754BAE82A}"/>
              </a:ext>
            </a:extLst>
          </p:cNvPr>
          <p:cNvSpPr txBox="1"/>
          <p:nvPr/>
        </p:nvSpPr>
        <p:spPr>
          <a:xfrm>
            <a:off x="4775200" y="585801"/>
            <a:ext cx="357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Iteration 1 — Select 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38E4A0-A1EC-9645-6859-17FE3021A43D}"/>
              </a:ext>
            </a:extLst>
          </p:cNvPr>
          <p:cNvCxnSpPr/>
          <p:nvPr/>
        </p:nvCxnSpPr>
        <p:spPr>
          <a:xfrm>
            <a:off x="4114798" y="653534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7062493-106F-8813-83CE-51D48142D56A}"/>
              </a:ext>
            </a:extLst>
          </p:cNvPr>
          <p:cNvSpPr txBox="1"/>
          <p:nvPr/>
        </p:nvSpPr>
        <p:spPr>
          <a:xfrm>
            <a:off x="4495798" y="955133"/>
            <a:ext cx="237066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Among unvisited nodes: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B = 2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 = 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D = ∞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E = ∞</a:t>
            </a:r>
          </a:p>
          <a:p>
            <a:pPr>
              <a:buNone/>
            </a:pPr>
            <a:r>
              <a:rPr lang="en-IN" dirty="0"/>
              <a:t>Smallest is: B = 2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So Select B.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3F4164-06AA-D78F-AC00-03D961D987BC}"/>
                  </a:ext>
                </a:extLst>
              </p:cNvPr>
              <p:cNvSpPr txBox="1"/>
              <p:nvPr/>
            </p:nvSpPr>
            <p:spPr>
              <a:xfrm>
                <a:off x="4495798" y="3659832"/>
                <a:ext cx="370839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B has </a:t>
                </a:r>
                <a:r>
                  <a:rPr lang="en-IN" dirty="0" err="1"/>
                  <a:t>neighbor</a:t>
                </a:r>
                <a:r>
                  <a:rPr lang="en-IN" dirty="0"/>
                  <a:t> D with link cost 3.</a:t>
                </a:r>
              </a:p>
              <a:p>
                <a:pPr>
                  <a:buNone/>
                </a:pPr>
                <a:r>
                  <a:rPr lang="en-IN" dirty="0"/>
                  <a:t>Calculate: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2+3=5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3F4164-06AA-D78F-AC00-03D961D98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798" y="3659832"/>
                <a:ext cx="3708396" cy="1200329"/>
              </a:xfrm>
              <a:prstGeom prst="rect">
                <a:avLst/>
              </a:prstGeom>
              <a:blipFill>
                <a:blip r:embed="rId2"/>
                <a:stretch>
                  <a:fillRect l="-1314" t="-2538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4D78A03-6F5A-39B9-4E84-98023120BE2D}"/>
              </a:ext>
            </a:extLst>
          </p:cNvPr>
          <p:cNvSpPr txBox="1"/>
          <p:nvPr/>
        </p:nvSpPr>
        <p:spPr>
          <a:xfrm>
            <a:off x="4622800" y="5111406"/>
            <a:ext cx="42671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Current: </a:t>
            </a:r>
            <a:r>
              <a:rPr lang="en-IN" dirty="0">
                <a:latin typeface="+mn-lt"/>
              </a:rPr>
              <a:t>D = ∞</a:t>
            </a:r>
          </a:p>
          <a:p>
            <a:pPr>
              <a:buNone/>
            </a:pPr>
            <a:r>
              <a:rPr lang="en-IN" dirty="0"/>
              <a:t>New: </a:t>
            </a:r>
            <a:r>
              <a:rPr lang="en-IN" dirty="0">
                <a:latin typeface="+mn-lt"/>
              </a:rPr>
              <a:t>D = 5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Update D in table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9BCFB0B-C6AA-19BD-803A-5FC5AA31E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237669"/>
              </p:ext>
            </p:extLst>
          </p:nvPr>
        </p:nvGraphicFramePr>
        <p:xfrm>
          <a:off x="8068727" y="1441794"/>
          <a:ext cx="379306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356">
                  <a:extLst>
                    <a:ext uri="{9D8B030D-6E8A-4147-A177-3AD203B41FA5}">
                      <a16:colId xmlns:a16="http://schemas.microsoft.com/office/drawing/2014/main" val="2513546934"/>
                    </a:ext>
                  </a:extLst>
                </a:gridCol>
                <a:gridCol w="1264356">
                  <a:extLst>
                    <a:ext uri="{9D8B030D-6E8A-4147-A177-3AD203B41FA5}">
                      <a16:colId xmlns:a16="http://schemas.microsoft.com/office/drawing/2014/main" val="13785917"/>
                    </a:ext>
                  </a:extLst>
                </a:gridCol>
                <a:gridCol w="1264356">
                  <a:extLst>
                    <a:ext uri="{9D8B030D-6E8A-4147-A177-3AD203B41FA5}">
                      <a16:colId xmlns:a16="http://schemas.microsoft.com/office/drawing/2014/main" val="157208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Cost from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Previous Node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631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21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25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043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289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8986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A3537AE-1284-33F2-16CE-4C46C06C49D5}"/>
              </a:ext>
            </a:extLst>
          </p:cNvPr>
          <p:cNvCxnSpPr/>
          <p:nvPr/>
        </p:nvCxnSpPr>
        <p:spPr>
          <a:xfrm>
            <a:off x="7873998" y="668470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2699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5B5B5-B0D0-4043-4461-A838F9A6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3CA9CB4-2232-25AB-4BBB-CECC7DE97164}"/>
              </a:ext>
            </a:extLst>
          </p:cNvPr>
          <p:cNvSpPr txBox="1"/>
          <p:nvPr/>
        </p:nvSpPr>
        <p:spPr>
          <a:xfrm>
            <a:off x="347137" y="668470"/>
            <a:ext cx="357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Iteration 2 — Select C or 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480180-2AF5-5463-521E-BEEF7B85468F}"/>
              </a:ext>
            </a:extLst>
          </p:cNvPr>
          <p:cNvCxnSpPr/>
          <p:nvPr/>
        </p:nvCxnSpPr>
        <p:spPr>
          <a:xfrm>
            <a:off x="4114798" y="653534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B0830AD-6E4E-EC89-03F9-22B5808F6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414369"/>
              </p:ext>
            </p:extLst>
          </p:nvPr>
        </p:nvGraphicFramePr>
        <p:xfrm>
          <a:off x="4317994" y="4303471"/>
          <a:ext cx="379306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356">
                  <a:extLst>
                    <a:ext uri="{9D8B030D-6E8A-4147-A177-3AD203B41FA5}">
                      <a16:colId xmlns:a16="http://schemas.microsoft.com/office/drawing/2014/main" val="2513546934"/>
                    </a:ext>
                  </a:extLst>
                </a:gridCol>
                <a:gridCol w="1264356">
                  <a:extLst>
                    <a:ext uri="{9D8B030D-6E8A-4147-A177-3AD203B41FA5}">
                      <a16:colId xmlns:a16="http://schemas.microsoft.com/office/drawing/2014/main" val="13785917"/>
                    </a:ext>
                  </a:extLst>
                </a:gridCol>
                <a:gridCol w="1264356">
                  <a:extLst>
                    <a:ext uri="{9D8B030D-6E8A-4147-A177-3AD203B41FA5}">
                      <a16:colId xmlns:a16="http://schemas.microsoft.com/office/drawing/2014/main" val="157208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Cost from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Previous Node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631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21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25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043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289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8986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5A27F91-287A-7AC8-437A-1B8919FAAC9B}"/>
              </a:ext>
            </a:extLst>
          </p:cNvPr>
          <p:cNvCxnSpPr/>
          <p:nvPr/>
        </p:nvCxnSpPr>
        <p:spPr>
          <a:xfrm>
            <a:off x="8246531" y="785154"/>
            <a:ext cx="0" cy="6012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5CB693F-AEFE-1D2C-94A3-43823B0F0419}"/>
              </a:ext>
            </a:extLst>
          </p:cNvPr>
          <p:cNvSpPr txBox="1"/>
          <p:nvPr/>
        </p:nvSpPr>
        <p:spPr>
          <a:xfrm>
            <a:off x="330204" y="1197170"/>
            <a:ext cx="327659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Now: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 = 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D = 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E = ∞</a:t>
            </a:r>
          </a:p>
          <a:p>
            <a:pPr>
              <a:buNone/>
            </a:pPr>
            <a:r>
              <a:rPr lang="en-IN" dirty="0"/>
              <a:t>There is a tie.</a:t>
            </a:r>
          </a:p>
          <a:p>
            <a:pPr>
              <a:buNone/>
            </a:pPr>
            <a:r>
              <a:rPr lang="en-IN" dirty="0"/>
              <a:t>We can select either C or D first.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Lets select C.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 has neighbours D and E.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Check D through C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Current Cost to C: 5</a:t>
            </a:r>
            <a:br>
              <a:rPr lang="en-IN" dirty="0"/>
            </a:br>
            <a:r>
              <a:rPr lang="en-IN" dirty="0"/>
              <a:t>C-D cost = 2</a:t>
            </a:r>
            <a:br>
              <a:rPr lang="en-IN" dirty="0"/>
            </a:br>
            <a:br>
              <a:rPr lang="en-IN" dirty="0"/>
            </a:br>
            <a:r>
              <a:rPr lang="en-IN" dirty="0"/>
              <a:t>New Possible Cost; 5 + 2 = 7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690CCA-B1EA-90D4-D359-04DEFEC5B78A}"/>
              </a:ext>
            </a:extLst>
          </p:cNvPr>
          <p:cNvSpPr txBox="1"/>
          <p:nvPr/>
        </p:nvSpPr>
        <p:spPr>
          <a:xfrm>
            <a:off x="4309527" y="841629"/>
            <a:ext cx="2235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Current D: 5</a:t>
            </a:r>
          </a:p>
          <a:p>
            <a:pPr>
              <a:buNone/>
            </a:pPr>
            <a:r>
              <a:rPr lang="en-IN" dirty="0"/>
              <a:t>Compare: Min(5,7)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So no change.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6D3AF-BEA9-D6B1-F356-5F5987023C19}"/>
              </a:ext>
            </a:extLst>
          </p:cNvPr>
          <p:cNvSpPr txBox="1"/>
          <p:nvPr/>
        </p:nvSpPr>
        <p:spPr>
          <a:xfrm>
            <a:off x="4267197" y="2041958"/>
            <a:ext cx="24383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Check E through C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A -&gt; C  = 5</a:t>
            </a:r>
            <a:br>
              <a:rPr lang="en-IN" dirty="0"/>
            </a:br>
            <a:r>
              <a:rPr lang="en-IN" dirty="0"/>
              <a:t>C -&gt; E = 1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Therefore: 5 + 1 = 6</a:t>
            </a:r>
            <a:br>
              <a:rPr lang="en-IN" dirty="0"/>
            </a:br>
            <a:br>
              <a:rPr lang="en-IN" dirty="0"/>
            </a:br>
            <a:r>
              <a:rPr lang="en-IN" dirty="0"/>
              <a:t>Update E = 6</a:t>
            </a:r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5410C0-5B62-AD4C-4CD9-8D2FB25FD938}"/>
              </a:ext>
            </a:extLst>
          </p:cNvPr>
          <p:cNvSpPr txBox="1"/>
          <p:nvPr/>
        </p:nvSpPr>
        <p:spPr>
          <a:xfrm>
            <a:off x="8246531" y="668470"/>
            <a:ext cx="3276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Iteration 3 — Select 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E0BC9C-1FF4-7B8C-BE56-A627FB1420CB}"/>
              </a:ext>
            </a:extLst>
          </p:cNvPr>
          <p:cNvSpPr txBox="1"/>
          <p:nvPr/>
        </p:nvSpPr>
        <p:spPr>
          <a:xfrm>
            <a:off x="8382001" y="1037802"/>
            <a:ext cx="19219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Remaining: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D = 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E = 6</a:t>
            </a:r>
          </a:p>
          <a:p>
            <a:pPr>
              <a:buNone/>
            </a:pPr>
            <a:r>
              <a:rPr lang="en-IN" dirty="0"/>
              <a:t>Select: 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9BEC8D-2D50-5007-F5A3-A7B5E9BBF55C}"/>
              </a:ext>
            </a:extLst>
          </p:cNvPr>
          <p:cNvSpPr txBox="1"/>
          <p:nvPr/>
        </p:nvSpPr>
        <p:spPr>
          <a:xfrm>
            <a:off x="8322732" y="2238131"/>
            <a:ext cx="3496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 is connected to E with cost 4.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022E75-DF97-20E6-682E-916CB0CB5788}"/>
                  </a:ext>
                </a:extLst>
              </p:cNvPr>
              <p:cNvSpPr txBox="1"/>
              <p:nvPr/>
            </p:nvSpPr>
            <p:spPr>
              <a:xfrm>
                <a:off x="8610592" y="2819377"/>
                <a:ext cx="291253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Possible path: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Cost: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+4=9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Current E cost: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Compare: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en-IN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So E remains: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E = 6</a:t>
                </a:r>
                <a:endParaRPr lang="en-IN" dirty="0">
                  <a:latin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022E75-DF97-20E6-682E-916CB0CB5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592" y="2819377"/>
                <a:ext cx="2912530" cy="2862322"/>
              </a:xfrm>
              <a:prstGeom prst="rect">
                <a:avLst/>
              </a:prstGeom>
              <a:blipFill>
                <a:blip r:embed="rId2"/>
                <a:stretch>
                  <a:fillRect l="-1674" t="-1064" b="-21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7523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95E5-7664-F6CB-DE04-61FEB1A5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DFD044-B40D-18C1-CFFF-BFE4D09270E8}"/>
              </a:ext>
            </a:extLst>
          </p:cNvPr>
          <p:cNvSpPr txBox="1"/>
          <p:nvPr/>
        </p:nvSpPr>
        <p:spPr>
          <a:xfrm>
            <a:off x="347137" y="668470"/>
            <a:ext cx="357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Iteration 4 — Select 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5127C-DE33-92E9-D088-B29BC2E2475E}"/>
              </a:ext>
            </a:extLst>
          </p:cNvPr>
          <p:cNvSpPr txBox="1"/>
          <p:nvPr/>
        </p:nvSpPr>
        <p:spPr>
          <a:xfrm>
            <a:off x="347137" y="1168400"/>
            <a:ext cx="31339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Now E is selected.</a:t>
            </a:r>
          </a:p>
          <a:p>
            <a:r>
              <a:rPr lang="en-IN" dirty="0"/>
              <a:t>All nodes have been processed.</a:t>
            </a:r>
          </a:p>
          <a:p>
            <a:r>
              <a:rPr lang="en-IN" dirty="0"/>
              <a:t>Algorithm ends.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DD3428-F705-8910-52E1-442840F4C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888694"/>
              </p:ext>
            </p:extLst>
          </p:nvPr>
        </p:nvGraphicFramePr>
        <p:xfrm>
          <a:off x="169334" y="2264232"/>
          <a:ext cx="4690533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511">
                  <a:extLst>
                    <a:ext uri="{9D8B030D-6E8A-4147-A177-3AD203B41FA5}">
                      <a16:colId xmlns:a16="http://schemas.microsoft.com/office/drawing/2014/main" val="1089963216"/>
                    </a:ext>
                  </a:extLst>
                </a:gridCol>
                <a:gridCol w="1563511">
                  <a:extLst>
                    <a:ext uri="{9D8B030D-6E8A-4147-A177-3AD203B41FA5}">
                      <a16:colId xmlns:a16="http://schemas.microsoft.com/office/drawing/2014/main" val="4011540481"/>
                    </a:ext>
                  </a:extLst>
                </a:gridCol>
                <a:gridCol w="1563511">
                  <a:extLst>
                    <a:ext uri="{9D8B030D-6E8A-4147-A177-3AD203B41FA5}">
                      <a16:colId xmlns:a16="http://schemas.microsoft.com/office/drawing/2014/main" val="752435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Best Cost from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Best Path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91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0545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 →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225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 → 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627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 → B → 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713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 → C → 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8683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19CA7A1-225A-0EB5-8713-A71CF28614DA}"/>
              </a:ext>
            </a:extLst>
          </p:cNvPr>
          <p:cNvSpPr txBox="1"/>
          <p:nvPr/>
        </p:nvSpPr>
        <p:spPr>
          <a:xfrm>
            <a:off x="5222599" y="858005"/>
            <a:ext cx="3488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Shortest Path Tree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EA6D26-19A7-FB0D-4740-01D4F50FF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867" y="1441732"/>
            <a:ext cx="5862400" cy="526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700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9568D-B396-4F7F-34AC-5796D24B7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047AC-05F5-F3C5-171A-A41FD632F4F9}"/>
              </a:ext>
            </a:extLst>
          </p:cNvPr>
          <p:cNvSpPr txBox="1"/>
          <p:nvPr/>
        </p:nvSpPr>
        <p:spPr>
          <a:xfrm>
            <a:off x="321733" y="6704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How Routing Table is Built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11CA0-58B7-E10C-2548-946B8BB8B096}"/>
              </a:ext>
            </a:extLst>
          </p:cNvPr>
          <p:cNvSpPr txBox="1"/>
          <p:nvPr/>
        </p:nvSpPr>
        <p:spPr>
          <a:xfrm>
            <a:off x="321733" y="1206268"/>
            <a:ext cx="11396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After Dijkstra calculates paths, the router determines the </a:t>
            </a:r>
            <a:r>
              <a:rPr lang="en-IN" b="1" dirty="0"/>
              <a:t>next hop</a:t>
            </a:r>
            <a:r>
              <a:rPr lang="en-IN" dirty="0"/>
              <a:t> for each destination.</a:t>
            </a:r>
          </a:p>
          <a:p>
            <a:pPr>
              <a:buNone/>
            </a:pPr>
            <a:r>
              <a:rPr lang="en-IN" dirty="0"/>
              <a:t>From Router A: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A8906BE-7C3A-CC59-7CAF-F25F49A86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971283"/>
              </p:ext>
            </p:extLst>
          </p:nvPr>
        </p:nvGraphicFramePr>
        <p:xfrm>
          <a:off x="321733" y="2019067"/>
          <a:ext cx="557106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022">
                  <a:extLst>
                    <a:ext uri="{9D8B030D-6E8A-4147-A177-3AD203B41FA5}">
                      <a16:colId xmlns:a16="http://schemas.microsoft.com/office/drawing/2014/main" val="2407180015"/>
                    </a:ext>
                  </a:extLst>
                </a:gridCol>
                <a:gridCol w="1857022">
                  <a:extLst>
                    <a:ext uri="{9D8B030D-6E8A-4147-A177-3AD203B41FA5}">
                      <a16:colId xmlns:a16="http://schemas.microsoft.com/office/drawing/2014/main" val="4212570031"/>
                    </a:ext>
                  </a:extLst>
                </a:gridCol>
                <a:gridCol w="1857022">
                  <a:extLst>
                    <a:ext uri="{9D8B030D-6E8A-4147-A177-3AD203B41FA5}">
                      <a16:colId xmlns:a16="http://schemas.microsoft.com/office/drawing/2014/main" val="4126927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Next Hop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1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753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04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95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717067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CCA9C59-3A98-8057-5A44-FE24F1471139}"/>
              </a:ext>
            </a:extLst>
          </p:cNvPr>
          <p:cNvSpPr txBox="1"/>
          <p:nvPr/>
        </p:nvSpPr>
        <p:spPr>
          <a:xfrm>
            <a:off x="321733" y="4039735"/>
            <a:ext cx="187948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Notice:</a:t>
            </a:r>
          </a:p>
          <a:p>
            <a:r>
              <a:rPr lang="en-IN" dirty="0"/>
              <a:t>To reach D:</a:t>
            </a:r>
          </a:p>
          <a:p>
            <a:r>
              <a:rPr lang="en-IN" dirty="0"/>
              <a:t>A → B → D</a:t>
            </a:r>
          </a:p>
          <a:p>
            <a:r>
              <a:rPr lang="en-IN" dirty="0"/>
              <a:t>So A's next hop is:</a:t>
            </a:r>
          </a:p>
          <a:p>
            <a:r>
              <a:rPr lang="en-IN" dirty="0"/>
              <a:t>B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829D47-8A62-B614-8E7B-90A5C7B756B8}"/>
              </a:ext>
            </a:extLst>
          </p:cNvPr>
          <p:cNvSpPr txBox="1"/>
          <p:nvPr/>
        </p:nvSpPr>
        <p:spPr>
          <a:xfrm>
            <a:off x="2827867" y="4039735"/>
            <a:ext cx="22690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To reach 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→ C → E</a:t>
            </a:r>
          </a:p>
          <a:p>
            <a:pPr>
              <a:buNone/>
            </a:pPr>
            <a:r>
              <a:rPr lang="en-IN" dirty="0"/>
              <a:t>So A's next hop is: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5730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15DC-02D9-5D85-4E91-76EB80370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F4A96-3276-0D59-6E99-66516F0B6012}"/>
              </a:ext>
            </a:extLst>
          </p:cNvPr>
          <p:cNvSpPr txBox="1"/>
          <p:nvPr/>
        </p:nvSpPr>
        <p:spPr>
          <a:xfrm>
            <a:off x="304800" y="755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Does Every Router Run Dijkstra?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F578D2-338E-85DF-5031-E84B0F7FFBE2}"/>
                  </a:ext>
                </a:extLst>
              </p:cNvPr>
              <p:cNvSpPr txBox="1"/>
              <p:nvPr/>
            </p:nvSpPr>
            <p:spPr>
              <a:xfrm>
                <a:off x="304800" y="1124466"/>
                <a:ext cx="4165600" cy="5393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Yes.</a:t>
                </a:r>
              </a:p>
              <a:p>
                <a:pPr>
                  <a:buNone/>
                </a:pPr>
                <a:r>
                  <a:rPr lang="en-IN" dirty="0"/>
                  <a:t>This is very important.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Suppose routers are: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A, B, C, D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Then:</a:t>
                </a:r>
              </a:p>
              <a:p>
                <a:pPr rtl="0">
                  <a:buNone/>
                </a:pPr>
                <a:endParaRPr lang="en-IN" dirty="0">
                  <a:latin typeface="+mn-lt"/>
                </a:endParaRP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A runs Dijkstra with A as source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B runs Dijkstra with B as source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C runs Dijkstra with C as source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D runs Dijkstra with D as source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Each router creates its own: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Shortest Path Tree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because every router has a different starting point.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F578D2-338E-85DF-5031-E84B0F7FF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124466"/>
                <a:ext cx="4165600" cy="5393977"/>
              </a:xfrm>
              <a:prstGeom prst="rect">
                <a:avLst/>
              </a:prstGeom>
              <a:blipFill>
                <a:blip r:embed="rId2"/>
                <a:stretch>
                  <a:fillRect l="-1171" t="-565" b="-7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A876CF2-7DE8-F1A5-971E-882B7262C84D}"/>
              </a:ext>
            </a:extLst>
          </p:cNvPr>
          <p:cNvSpPr txBox="1"/>
          <p:nvPr/>
        </p:nvSpPr>
        <p:spPr>
          <a:xfrm>
            <a:off x="5046134" y="755134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Link State Convergence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1550B4-6CC2-CA91-4B7C-B1D415C65A33}"/>
              </a:ext>
            </a:extLst>
          </p:cNvPr>
          <p:cNvSpPr txBox="1"/>
          <p:nvPr/>
        </p:nvSpPr>
        <p:spPr>
          <a:xfrm>
            <a:off x="5046134" y="112446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 a link fails: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 ---- B ----X---- C</a:t>
            </a:r>
          </a:p>
          <a:p>
            <a:pPr>
              <a:buNone/>
            </a:pPr>
            <a:r>
              <a:rPr lang="en-IN" dirty="0"/>
              <a:t>The nearby router detects the link change.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F1AFEF-32E5-192E-1050-17B9B503F979}"/>
              </a:ext>
            </a:extLst>
          </p:cNvPr>
          <p:cNvSpPr txBox="1"/>
          <p:nvPr/>
        </p:nvSpPr>
        <p:spPr>
          <a:xfrm>
            <a:off x="5046134" y="2056686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Then: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Link failure detected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New Link State Advertisement created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Advertisement flooded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Routers update LSDB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Routers run Dijkstra again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New shortest paths calculated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Routing tables updated</a:t>
            </a:r>
          </a:p>
          <a:p>
            <a:pPr>
              <a:buNone/>
            </a:pPr>
            <a:r>
              <a:rPr lang="en-IN" dirty="0"/>
              <a:t>When routers have a consistent view of the changed topology and routes are recalculated, the network has:</a:t>
            </a:r>
          </a:p>
          <a:p>
            <a:pPr>
              <a:buNone/>
            </a:pPr>
            <a:r>
              <a:rPr lang="en-IN" dirty="0"/>
              <a:t>Converged</a:t>
            </a:r>
          </a:p>
        </p:txBody>
      </p:sp>
    </p:spTree>
    <p:extLst>
      <p:ext uri="{BB962C8B-B14F-4D97-AF65-F5344CB8AC3E}">
        <p14:creationId xmlns:p14="http://schemas.microsoft.com/office/powerpoint/2010/main" val="20568000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4076D-150F-1C8F-037A-95F30738E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330649-ACA8-B0AE-0FDC-B4EF8948A2A9}"/>
                  </a:ext>
                </a:extLst>
              </p:cNvPr>
              <p:cNvSpPr txBox="1"/>
              <p:nvPr/>
            </p:nvSpPr>
            <p:spPr>
              <a:xfrm>
                <a:off x="440267" y="1073430"/>
                <a:ext cx="6096000" cy="4553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Example of Link State Routing Protocol</a:t>
                </a:r>
              </a:p>
              <a:p>
                <a:pPr>
                  <a:buNone/>
                </a:pPr>
                <a:endParaRPr lang="en-IN" b="1" dirty="0"/>
              </a:p>
              <a:p>
                <a:pPr>
                  <a:buNone/>
                </a:pPr>
                <a:r>
                  <a:rPr lang="en-IN" dirty="0"/>
                  <a:t>The most important example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OSPF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OSPF stands for: </a:t>
                </a:r>
                <a:r>
                  <a:rPr lang="en-IN" b="1" dirty="0"/>
                  <a:t>Open Shortest Path First</a:t>
                </a:r>
                <a:endParaRPr lang="en-IN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OSPF is a Link State routing protocol.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It uses: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Link State Advertisements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      ↓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Link State Database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      ↓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Shortest Path First calculation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      ↓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Dijkstra's Algorithm</a:t>
                </a:r>
                <a:endParaRPr lang="en-IN" dirty="0">
                  <a:latin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330649-ACA8-B0AE-0FDC-B4EF8948A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7" y="1073430"/>
                <a:ext cx="6096000" cy="4553939"/>
              </a:xfrm>
              <a:prstGeom prst="rect">
                <a:avLst/>
              </a:prstGeom>
              <a:blipFill>
                <a:blip r:embed="rId2"/>
                <a:stretch>
                  <a:fillRect l="-800" t="-669" b="-9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8447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F0410-F1F3-2CC3-FD17-7C7F1727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CC68E8-446C-F221-8FE2-B389556E953B}"/>
                  </a:ext>
                </a:extLst>
              </p:cNvPr>
              <p:cNvSpPr txBox="1"/>
              <p:nvPr/>
            </p:nvSpPr>
            <p:spPr>
              <a:xfrm>
                <a:off x="965200" y="612844"/>
                <a:ext cx="8178800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Dijkstra's Algorithm</a:t>
                </a:r>
              </a:p>
              <a:p>
                <a:pPr>
                  <a:buNone/>
                </a:pPr>
                <a:endParaRPr lang="en-IN" sz="2400" b="1" dirty="0"/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sz="2400" dirty="0"/>
                  <a:t>Select the </a:t>
                </a:r>
                <a:r>
                  <a:rPr lang="en-IN" sz="2400" b="1" dirty="0"/>
                  <a:t>source router</a:t>
                </a:r>
                <a:r>
                  <a:rPr lang="en-IN" sz="2400" dirty="0"/>
                  <a:t>. 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sz="2400" dirty="0"/>
                  <a:t>Assign source router cost = </a:t>
                </a:r>
                <a:r>
                  <a:rPr lang="en-IN" sz="2400" b="1" dirty="0"/>
                  <a:t>0</a:t>
                </a:r>
                <a:r>
                  <a:rPr lang="en-IN" sz="2400" dirty="0"/>
                  <a:t>. 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sz="2400" dirty="0"/>
                  <a:t>Assign all other routers cost = </a:t>
                </a:r>
                <a:r>
                  <a:rPr lang="en-IN" sz="2400" b="1" dirty="0"/>
                  <a:t>∞</a:t>
                </a:r>
                <a:r>
                  <a:rPr lang="en-IN" sz="2400" dirty="0"/>
                  <a:t>. 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sz="2400" dirty="0"/>
                  <a:t>Find directly connected </a:t>
                </a:r>
                <a:r>
                  <a:rPr lang="en-IN" sz="2400" dirty="0" err="1"/>
                  <a:t>neighbors</a:t>
                </a:r>
                <a:r>
                  <a:rPr lang="en-IN" sz="2400" dirty="0"/>
                  <a:t> and their costs. 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sz="2400" dirty="0"/>
                  <a:t>Select the unvisited router having the </a:t>
                </a:r>
                <a:r>
                  <a:rPr lang="en-IN" sz="2400" b="1" dirty="0"/>
                  <a:t>smallest cost</a:t>
                </a:r>
                <a:r>
                  <a:rPr lang="en-IN" sz="2400" dirty="0"/>
                  <a:t>. 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sz="2400" dirty="0"/>
                  <a:t>Check all of its </a:t>
                </a:r>
                <a:r>
                  <a:rPr lang="en-IN" sz="2400" dirty="0" err="1"/>
                  <a:t>neighboring</a:t>
                </a:r>
                <a:r>
                  <a:rPr lang="en-IN" sz="2400" dirty="0"/>
                  <a:t> routers. 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sz="2400" dirty="0"/>
                  <a:t>Calculate: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sz="2400" b="0" i="0"/>
                        <m:t>New Cost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400" b="0" i="0">
                          <a:latin typeface="+mn-lt"/>
                        </a:rPr>
                        <m:t>Current Router Cost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IN" sz="2400" b="0" i="0">
                          <a:latin typeface="+mn-lt"/>
                        </a:rPr>
                        <m:t>Link Cost</m:t>
                      </m:r>
                    </m:oMath>
                  </m:oMathPara>
                </a14:m>
                <a:endParaRPr lang="en-IN" sz="2400" b="0" dirty="0"/>
              </a:p>
              <a:p>
                <a:pPr marL="342900" lvl="0" indent="-342900">
                  <a:buFont typeface="+mj-lt"/>
                  <a:buAutoNum type="arabicPeriod" startAt="8"/>
                </a:pPr>
                <a:r>
                  <a:rPr lang="en-IN" sz="2400" dirty="0"/>
                  <a:t>If the new cost is smaller than the existing cost, update it. </a:t>
                </a:r>
              </a:p>
              <a:p>
                <a:pPr marL="342900" lvl="0" indent="-342900">
                  <a:buFont typeface="+mj-lt"/>
                  <a:buAutoNum type="arabicPeriod" startAt="8"/>
                </a:pPr>
                <a:r>
                  <a:rPr lang="en-IN" sz="2400" dirty="0"/>
                  <a:t>Mark the selected router as visited. </a:t>
                </a:r>
              </a:p>
              <a:p>
                <a:pPr marL="342900" lvl="0" indent="-342900">
                  <a:buFont typeface="+mj-lt"/>
                  <a:buAutoNum type="arabicPeriod" startAt="8"/>
                </a:pPr>
                <a:r>
                  <a:rPr lang="en-IN" sz="2400" dirty="0"/>
                  <a:t>Repeat until all routers are processed. </a:t>
                </a:r>
              </a:p>
              <a:p>
                <a:pPr marL="342900" lvl="0" indent="-342900">
                  <a:buFont typeface="+mj-lt"/>
                  <a:buAutoNum type="arabicPeriod" startAt="8"/>
                </a:pPr>
                <a:r>
                  <a:rPr lang="en-IN" sz="2400" dirty="0"/>
                  <a:t>Construct the </a:t>
                </a:r>
                <a:r>
                  <a:rPr lang="en-IN" sz="2400" b="1" dirty="0"/>
                  <a:t>Shortest Path Tree</a:t>
                </a:r>
                <a:r>
                  <a:rPr lang="en-IN" sz="2400" dirty="0"/>
                  <a:t>. </a:t>
                </a:r>
              </a:p>
              <a:p>
                <a:pPr marL="342900" lvl="0" indent="-342900">
                  <a:buFont typeface="+mj-lt"/>
                  <a:buAutoNum type="arabicPeriod" startAt="8"/>
                </a:pPr>
                <a:r>
                  <a:rPr lang="en-IN" sz="2400" dirty="0"/>
                  <a:t>Use the tree to build the routing table.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CC68E8-446C-F221-8FE2-B389556E9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" y="612844"/>
                <a:ext cx="8178800" cy="5632311"/>
              </a:xfrm>
              <a:prstGeom prst="rect">
                <a:avLst/>
              </a:prstGeom>
              <a:blipFill>
                <a:blip r:embed="rId2"/>
                <a:stretch>
                  <a:fillRect l="-1192" t="-867" b="-16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155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2ED85-8125-C25C-13CF-81F1152E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A6D2-D47C-9778-C6A0-403523583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Advantages of Link State Routing</a:t>
            </a:r>
            <a:endParaRPr lang="en-IN" sz="32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A0F9AE-54E9-1A22-F838-B764E4147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462487"/>
              </p:ext>
            </p:extLst>
          </p:nvPr>
        </p:nvGraphicFramePr>
        <p:xfrm>
          <a:off x="385011" y="1272540"/>
          <a:ext cx="10655522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7761">
                  <a:extLst>
                    <a:ext uri="{9D8B030D-6E8A-4147-A177-3AD203B41FA5}">
                      <a16:colId xmlns:a16="http://schemas.microsoft.com/office/drawing/2014/main" val="2029858230"/>
                    </a:ext>
                  </a:extLst>
                </a:gridCol>
                <a:gridCol w="5327761">
                  <a:extLst>
                    <a:ext uri="{9D8B030D-6E8A-4147-A177-3AD203B41FA5}">
                      <a16:colId xmlns:a16="http://schemas.microsoft.com/office/drawing/2014/main" val="582834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16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Fast convergence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Routers can quickly learn topology changes and recalculate paths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809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Complete topology knowledge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Routers maintain a topology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53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No Count-to-Infinity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Does not suffer from classic DV Count-to-Infinity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115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Better scalability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Suitable for larger networks than basic protocols such as RIP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267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Efficient path calculation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Dijkstra to calculate least-cost routes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176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Better response to topology change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Updated link-state information is flooded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8148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Supports hierarchical design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Protocols such as OSPF can divide large networks into 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738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7249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4502E-86FF-D006-FB99-F9C3343BA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4BAE-A00B-58F2-37F7-E6ACF3F3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Disadvantages of Link State Routing</a:t>
            </a:r>
            <a:endParaRPr lang="en-IN" sz="32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F712D2-5921-0C80-0760-211562B40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877399"/>
              </p:ext>
            </p:extLst>
          </p:nvPr>
        </p:nvGraphicFramePr>
        <p:xfrm>
          <a:off x="385011" y="1272540"/>
          <a:ext cx="10655522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7761">
                  <a:extLst>
                    <a:ext uri="{9D8B030D-6E8A-4147-A177-3AD203B41FA5}">
                      <a16:colId xmlns:a16="http://schemas.microsoft.com/office/drawing/2014/main" val="2029858230"/>
                    </a:ext>
                  </a:extLst>
                </a:gridCol>
                <a:gridCol w="5327761">
                  <a:extLst>
                    <a:ext uri="{9D8B030D-6E8A-4147-A177-3AD203B41FA5}">
                      <a16:colId xmlns:a16="http://schemas.microsoft.com/office/drawing/2014/main" val="582834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16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More complex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difficult to understand/configure than basic Distance Vector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809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More memory required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Router stores the topology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53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More CPU processing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Router runs Dijkstra calculations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115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Flooding overhead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Link-state information must be distributed through the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267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Initial synchronization can create traffic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Routers may exchange substantial topology information when forming/synchronizing databases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176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Requires stronger routers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resources are generally needed compared with simple Distance Vector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8148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738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5805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95E09-A129-1442-5CAE-62F1D448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923D-4DE4-0BB3-BFA3-71166B688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Distance vector vs Link State</a:t>
            </a:r>
            <a:endParaRPr lang="en-IN" sz="32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E57FC9-2705-E640-12B2-6168679F4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028064"/>
              </p:ext>
            </p:extLst>
          </p:nvPr>
        </p:nvGraphicFramePr>
        <p:xfrm>
          <a:off x="254000" y="989095"/>
          <a:ext cx="11421978" cy="535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1867">
                  <a:extLst>
                    <a:ext uri="{9D8B030D-6E8A-4147-A177-3AD203B41FA5}">
                      <a16:colId xmlns:a16="http://schemas.microsoft.com/office/drawing/2014/main" val="649647383"/>
                    </a:ext>
                  </a:extLst>
                </a:gridCol>
                <a:gridCol w="4532785">
                  <a:extLst>
                    <a:ext uri="{9D8B030D-6E8A-4147-A177-3AD203B41FA5}">
                      <a16:colId xmlns:a16="http://schemas.microsoft.com/office/drawing/2014/main" val="2365522110"/>
                    </a:ext>
                  </a:extLst>
                </a:gridCol>
                <a:gridCol w="3807326">
                  <a:extLst>
                    <a:ext uri="{9D8B030D-6E8A-4147-A177-3AD203B41FA5}">
                      <a16:colId xmlns:a16="http://schemas.microsoft.com/office/drawing/2014/main" val="1349677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Distance 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Link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7715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 routes/distances from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Build topology map and calculate routes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024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Bellman-Ford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Dijkstra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49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Information knowledge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Neighbor-based routing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Topology/link-state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071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Complete topology 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Yes, within its routing scope/area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597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Information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Routing vectors to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Link-state information is flooded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917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Convergence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Generally slower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Generally faster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527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Count-to-Infinity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Possible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classic Count-to-Infinity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53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Routing loops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prone during convergence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prone due to topology-based calculation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760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CPU 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06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 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576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 for basic DV protocols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521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OSPF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452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0578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2FBF-48C4-7267-1C98-5CE782DC7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4498-DA48-A0A6-8EC0-FECC0AAFF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Unicast Routing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CEAA2-5AB2-3CE9-D7AD-7B76FCB6D77E}"/>
              </a:ext>
            </a:extLst>
          </p:cNvPr>
          <p:cNvSpPr txBox="1"/>
          <p:nvPr/>
        </p:nvSpPr>
        <p:spPr>
          <a:xfrm>
            <a:off x="385011" y="1090768"/>
            <a:ext cx="11421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most important idea is:</a:t>
            </a:r>
          </a:p>
          <a:p>
            <a:pPr>
              <a:buNone/>
            </a:pPr>
            <a:r>
              <a:rPr lang="en-IN" b="1" dirty="0"/>
              <a:t>Unicast = One sender sends data to one specific receiver.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09CE75-5BB3-7D99-2D84-56552AB62D91}"/>
                  </a:ext>
                </a:extLst>
              </p:cNvPr>
              <p:cNvSpPr txBox="1"/>
              <p:nvPr/>
            </p:nvSpPr>
            <p:spPr>
              <a:xfrm>
                <a:off x="385011" y="2114628"/>
                <a:ext cx="9148456" cy="3170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Suppose there are four computers: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PC-A       PC-B       PC-C       PC-D</a:t>
                </a:r>
              </a:p>
              <a:p>
                <a:pPr>
                  <a:buNone/>
                </a:pPr>
                <a:r>
                  <a:rPr lang="en-IN" dirty="0"/>
                  <a:t>PC-A wants to send some data </a:t>
                </a:r>
                <a:r>
                  <a:rPr lang="en-IN" b="1" dirty="0"/>
                  <a:t>only to PC-C</a:t>
                </a:r>
                <a:r>
                  <a:rPr lang="en-IN" dirty="0"/>
                  <a:t>.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PC-A  ──────────────────────→  PC-C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Sender                         Receiver</a:t>
                </a:r>
              </a:p>
              <a:p>
                <a:pPr>
                  <a:buNone/>
                </a:pPr>
                <a:r>
                  <a:rPr lang="en-IN" dirty="0"/>
                  <a:t>PC-B and PC-D are </a:t>
                </a:r>
                <a:r>
                  <a:rPr lang="en-IN" b="1" dirty="0"/>
                  <a:t>not supposed to receive that data</a:t>
                </a:r>
                <a:r>
                  <a:rPr lang="en-IN" dirty="0"/>
                  <a:t>.</a:t>
                </a:r>
              </a:p>
              <a:p>
                <a:pPr>
                  <a:buNone/>
                </a:pPr>
                <a:r>
                  <a:rPr lang="en-IN" dirty="0"/>
                  <a:t>This type of communication is called: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Unicast Communication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So:</a:t>
                </a:r>
              </a:p>
              <a:p>
                <a:pPr>
                  <a:buNone/>
                </a:pPr>
                <a:r>
                  <a:rPr lang="en-IN" b="1" dirty="0"/>
                  <a:t>Unicast is one-to-one communication in which one source sends a packet to one specific destination.</a:t>
                </a:r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09CE75-5BB3-7D99-2D84-56552AB62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1" y="2114628"/>
                <a:ext cx="9148456" cy="3170612"/>
              </a:xfrm>
              <a:prstGeom prst="rect">
                <a:avLst/>
              </a:prstGeom>
              <a:blipFill>
                <a:blip r:embed="rId2"/>
                <a:stretch>
                  <a:fillRect l="-533" t="-1154" b="-2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2972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59E0A-5008-8E24-FEC4-B83720CB0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E5BB-D250-A8ED-BCDB-55C43588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Unicast Routing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BE5D00-BB30-D23B-6198-977F8E12B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982842"/>
            <a:ext cx="7116456" cy="37076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7B6376-0867-C299-A617-A77A4930D643}"/>
              </a:ext>
            </a:extLst>
          </p:cNvPr>
          <p:cNvSpPr txBox="1"/>
          <p:nvPr/>
        </p:nvSpPr>
        <p:spPr>
          <a:xfrm>
            <a:off x="8077200" y="1460268"/>
            <a:ext cx="1524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routers have to determine how that packet should reach the network containing PC-C.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That is </a:t>
            </a:r>
            <a:r>
              <a:rPr lang="en-IN" b="1" dirty="0"/>
              <a:t>Unicast Routing</a:t>
            </a:r>
            <a:r>
              <a:rPr lang="en-IN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40C966-D9C7-14B7-29FA-1F599F195218}"/>
              </a:ext>
            </a:extLst>
          </p:cNvPr>
          <p:cNvSpPr txBox="1"/>
          <p:nvPr/>
        </p:nvSpPr>
        <p:spPr>
          <a:xfrm>
            <a:off x="385011" y="541349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Unicast Routing is the process of forwarding packets from one source to one specific destination using the destination IP address and routing information.</a:t>
            </a:r>
          </a:p>
        </p:txBody>
      </p:sp>
    </p:spTree>
    <p:extLst>
      <p:ext uri="{BB962C8B-B14F-4D97-AF65-F5344CB8AC3E}">
        <p14:creationId xmlns:p14="http://schemas.microsoft.com/office/powerpoint/2010/main" val="18050333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4A841-80A5-0726-107D-5690F6AE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96D2D-E782-30F9-D24F-485266EC8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Unicast Routing: Router Mainly Looks at Destination 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10FA6-0795-BA2A-68A1-81C655D7031E}"/>
              </a:ext>
            </a:extLst>
          </p:cNvPr>
          <p:cNvSpPr txBox="1"/>
          <p:nvPr/>
        </p:nvSpPr>
        <p:spPr>
          <a:xfrm>
            <a:off x="385011" y="905256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 a packet contains: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Source IP      = 192.168.1.10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Destination IP = 172.16.5.20</a:t>
            </a:r>
          </a:p>
          <a:p>
            <a:pPr>
              <a:buNone/>
            </a:pPr>
            <a:r>
              <a:rPr lang="en-IN" dirty="0"/>
              <a:t>For normal forwarding, the router asks:</a:t>
            </a:r>
          </a:p>
          <a:p>
            <a:pPr>
              <a:buNone/>
            </a:pPr>
            <a:r>
              <a:rPr lang="en-IN" b="1" dirty="0"/>
              <a:t>“Where should I send a packet whose destination is 172.16.5.20?”</a:t>
            </a:r>
            <a:endParaRPr lang="en-IN" dirty="0"/>
          </a:p>
          <a:p>
            <a:pPr>
              <a:buNone/>
            </a:pPr>
            <a:r>
              <a:rPr lang="en-IN" dirty="0"/>
              <a:t>It checks its routing/forwarding table.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695C401-C8EC-B609-1CB7-3B17D76CC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348293"/>
              </p:ext>
            </p:extLst>
          </p:nvPr>
        </p:nvGraphicFramePr>
        <p:xfrm>
          <a:off x="385011" y="3311579"/>
          <a:ext cx="535539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130">
                  <a:extLst>
                    <a:ext uri="{9D8B030D-6E8A-4147-A177-3AD203B41FA5}">
                      <a16:colId xmlns:a16="http://schemas.microsoft.com/office/drawing/2014/main" val="2543261447"/>
                    </a:ext>
                  </a:extLst>
                </a:gridCol>
                <a:gridCol w="1785130">
                  <a:extLst>
                    <a:ext uri="{9D8B030D-6E8A-4147-A177-3AD203B41FA5}">
                      <a16:colId xmlns:a16="http://schemas.microsoft.com/office/drawing/2014/main" val="3665660827"/>
                    </a:ext>
                  </a:extLst>
                </a:gridCol>
                <a:gridCol w="1785130">
                  <a:extLst>
                    <a:ext uri="{9D8B030D-6E8A-4147-A177-3AD203B41FA5}">
                      <a16:colId xmlns:a16="http://schemas.microsoft.com/office/drawing/2014/main" val="3859392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Destination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Next Hop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077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10.0.0.0/8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G0/0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784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172.16.0.0/16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G0/1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02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192.168.20.0/24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G0/2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15146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ABEA4EE-82D5-5862-7184-043E6CEA11C8}"/>
              </a:ext>
            </a:extLst>
          </p:cNvPr>
          <p:cNvSpPr txBox="1"/>
          <p:nvPr/>
        </p:nvSpPr>
        <p:spPr>
          <a:xfrm>
            <a:off x="6807200" y="2936581"/>
            <a:ext cx="343301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Destination: </a:t>
            </a:r>
            <a:r>
              <a:rPr lang="en-IN" dirty="0">
                <a:latin typeface="+mn-lt"/>
              </a:rPr>
              <a:t>172.16.5.20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matches: </a:t>
            </a:r>
            <a:r>
              <a:rPr lang="en-IN" dirty="0">
                <a:latin typeface="+mn-lt"/>
              </a:rPr>
              <a:t>172.16.0.0/16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Therefore: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Next Hop = R3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Outgoing Interface = G0/1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So the router forwards the packet toward R3.</a:t>
            </a:r>
          </a:p>
        </p:txBody>
      </p:sp>
    </p:spTree>
    <p:extLst>
      <p:ext uri="{BB962C8B-B14F-4D97-AF65-F5344CB8AC3E}">
        <p14:creationId xmlns:p14="http://schemas.microsoft.com/office/powerpoint/2010/main" val="35535935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0E83D-B511-F77D-B366-4D2BCF748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02E9-9D63-A974-7F64-0D09D8F8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Example: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CA107-5DB9-1D9C-8B15-CB906BADD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4" y="1061770"/>
            <a:ext cx="3800665" cy="5286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8E96C2-FC3F-7AB3-14E0-FCEFEFB72489}"/>
                  </a:ext>
                </a:extLst>
              </p:cNvPr>
              <p:cNvSpPr txBox="1"/>
              <p:nvPr/>
            </p:nvSpPr>
            <p:spPr>
              <a:xfrm>
                <a:off x="4199467" y="1061770"/>
                <a:ext cx="6790266" cy="3494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PC1 Checks the Destination</a:t>
                </a:r>
              </a:p>
              <a:p>
                <a:pPr>
                  <a:buNone/>
                </a:pPr>
                <a:r>
                  <a:rPr lang="en-IN" dirty="0"/>
                  <a:t>PC1 determines whether: </a:t>
                </a:r>
                <a:r>
                  <a:rPr lang="en-IN" dirty="0">
                    <a:latin typeface="+mn-lt"/>
                  </a:rPr>
                  <a:t>192.168.4.10</a:t>
                </a:r>
                <a:r>
                  <a:rPr lang="en-IN" dirty="0"/>
                  <a:t> is on its own local subnet.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Suppose PC1 belongs to: </a:t>
                </a:r>
                <a:r>
                  <a:rPr lang="en-IN" dirty="0">
                    <a:latin typeface="+mn-lt"/>
                  </a:rPr>
                  <a:t>192.168.1.0/24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PC2 belongs to: </a:t>
                </a:r>
                <a:r>
                  <a:rPr lang="en-IN" dirty="0">
                    <a:latin typeface="+mn-lt"/>
                  </a:rPr>
                  <a:t>192.168.4.0/24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Different networks.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Therefore PC1 sends the packet toward its: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Default Gateway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which is R1.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8E96C2-FC3F-7AB3-14E0-FCEFEFB72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467" y="1061770"/>
                <a:ext cx="6790266" cy="3494675"/>
              </a:xfrm>
              <a:prstGeom prst="rect">
                <a:avLst/>
              </a:prstGeom>
              <a:blipFill>
                <a:blip r:embed="rId3"/>
                <a:stretch>
                  <a:fillRect l="-808" t="-873" b="-19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55037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B089-DC96-851D-EDD5-4B40AD354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F62B-474B-196C-A4B1-9273D2D0D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Example: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5728BC-2D68-9CE9-8106-87B525C2C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4" y="1061770"/>
            <a:ext cx="3800665" cy="5286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C5548B-FA49-5DAC-C972-452B33B9D41B}"/>
              </a:ext>
            </a:extLst>
          </p:cNvPr>
          <p:cNvSpPr txBox="1"/>
          <p:nvPr/>
        </p:nvSpPr>
        <p:spPr>
          <a:xfrm>
            <a:off x="4199466" y="1061770"/>
            <a:ext cx="35221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2: R1 Checks Destination IP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R1 receives the packet.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Destination is still: </a:t>
            </a:r>
            <a:r>
              <a:rPr lang="en-IN" dirty="0">
                <a:latin typeface="+mn-lt"/>
              </a:rPr>
              <a:t>192.168.4.10</a:t>
            </a:r>
          </a:p>
          <a:p>
            <a:pPr>
              <a:buNone/>
            </a:pPr>
            <a:r>
              <a:rPr lang="en-IN" dirty="0"/>
              <a:t>R1 checks its routing table.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Suppose: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192.168.4.0/24 → Next Hop R2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So R1 forwards it toward R2.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4EE0C-E19B-8428-9CE6-AFCA98E70D02}"/>
              </a:ext>
            </a:extLst>
          </p:cNvPr>
          <p:cNvSpPr txBox="1"/>
          <p:nvPr/>
        </p:nvSpPr>
        <p:spPr>
          <a:xfrm>
            <a:off x="8195733" y="1061770"/>
            <a:ext cx="35221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3 — R2 Checks Destination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R2 also checks: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Destination = 192.168.4.10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Its routing information says: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192.168.4.0/24 → Next Hop R3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So: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R2 → R3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750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F502B-E216-EF6D-84EC-93F6D79D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BF5-A14A-D89B-5FEC-FA85EF74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Example: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BC1B0-0935-427B-920A-C236E5387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4" y="1061770"/>
            <a:ext cx="3800665" cy="5286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2E35CE-DCCB-9177-C79C-CCE08465AF1E}"/>
                  </a:ext>
                </a:extLst>
              </p:cNvPr>
              <p:cNvSpPr txBox="1"/>
              <p:nvPr/>
            </p:nvSpPr>
            <p:spPr>
              <a:xfrm>
                <a:off x="4394203" y="1120359"/>
                <a:ext cx="7569200" cy="5148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Step 4 — R3 Reaches Destination Network</a:t>
                </a:r>
              </a:p>
              <a:p>
                <a:pPr>
                  <a:buNone/>
                </a:pPr>
                <a:r>
                  <a:rPr lang="en-IN" dirty="0"/>
                  <a:t>R3 knows: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192.168.4.0/24</a:t>
                </a:r>
              </a:p>
              <a:p>
                <a:pPr>
                  <a:buNone/>
                </a:pPr>
                <a:r>
                  <a:rPr lang="en-IN" dirty="0"/>
                  <a:t>is directly connected.</a:t>
                </a:r>
              </a:p>
              <a:p>
                <a:pPr>
                  <a:buNone/>
                </a:pPr>
                <a:r>
                  <a:rPr lang="en-IN" dirty="0"/>
                  <a:t>So R3 delivers the packet onto that network toward PC2.</a:t>
                </a:r>
              </a:p>
              <a:p>
                <a:pPr>
                  <a:buNone/>
                </a:pPr>
                <a:r>
                  <a:rPr lang="en-IN" dirty="0"/>
                  <a:t>Complete path: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PC1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 ↓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R1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 ↓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R2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 ↓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R3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 ↓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PC2</a:t>
                </a:r>
              </a:p>
              <a:p>
                <a:pPr>
                  <a:buNone/>
                </a:pPr>
                <a:r>
                  <a:rPr lang="en-IN" dirty="0"/>
                  <a:t>This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Unicast Routing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because the packet is intended for </a:t>
                </a:r>
                <a:r>
                  <a:rPr lang="en-IN" b="1" dirty="0"/>
                  <a:t>one specific destination</a:t>
                </a:r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2E35CE-DCCB-9177-C79C-CCE08465A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203" y="1120359"/>
                <a:ext cx="7569200" cy="5148525"/>
              </a:xfrm>
              <a:prstGeom prst="rect">
                <a:avLst/>
              </a:prstGeom>
              <a:blipFill>
                <a:blip r:embed="rId3"/>
                <a:stretch>
                  <a:fillRect l="-725" t="-711" b="-1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3250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E179C-8C5B-93DB-D26A-E6480BCE9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EFA1-1E4A-BBA0-57BC-A2F717747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Information is Required for Unicast Routing?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8F7B3-F6F7-BC1B-2E7A-0EBF4D2E3767}"/>
              </a:ext>
            </a:extLst>
          </p:cNvPr>
          <p:cNvSpPr txBox="1"/>
          <p:nvPr/>
        </p:nvSpPr>
        <p:spPr>
          <a:xfrm>
            <a:off x="385011" y="9052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router generally needs routing information such as: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2FBCDB-9AAA-9D54-CE3F-F7DAC4D75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087934"/>
              </p:ext>
            </p:extLst>
          </p:nvPr>
        </p:nvGraphicFramePr>
        <p:xfrm>
          <a:off x="385011" y="1301007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6606906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94919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947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Destination Prefix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Network to be reached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056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Prefix Length/Mask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Defines that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110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Next Hop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Next router toward destination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32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Outgoing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Interface used to send packet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45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Metric/Preference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Helps choose among possible routes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10252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B656F4B-F1F5-E12F-3918-28D4AF810E33}"/>
              </a:ext>
            </a:extLst>
          </p:cNvPr>
          <p:cNvSpPr txBox="1"/>
          <p:nvPr/>
        </p:nvSpPr>
        <p:spPr>
          <a:xfrm>
            <a:off x="571278" y="4054102"/>
            <a:ext cx="2493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Distance Vector is one method by which routers can </a:t>
            </a:r>
            <a:r>
              <a:rPr lang="en-IN" b="1" dirty="0"/>
              <a:t>learn unicast routes</a:t>
            </a:r>
            <a:r>
              <a:rPr lang="en-IN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54E66-3E21-E986-A92A-D60F45057848}"/>
              </a:ext>
            </a:extLst>
          </p:cNvPr>
          <p:cNvSpPr txBox="1"/>
          <p:nvPr/>
        </p:nvSpPr>
        <p:spPr>
          <a:xfrm>
            <a:off x="5831306" y="3921798"/>
            <a:ext cx="18457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Link State is another way of learning/calculating unicast routes.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2AABD-1724-6EAD-E674-6466E950D7E5}"/>
              </a:ext>
            </a:extLst>
          </p:cNvPr>
          <p:cNvSpPr txBox="1"/>
          <p:nvPr/>
        </p:nvSpPr>
        <p:spPr>
          <a:xfrm>
            <a:off x="8686800" y="1271728"/>
            <a:ext cx="29339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Routers advertise link-state information</a:t>
            </a:r>
          </a:p>
          <a:p>
            <a:r>
              <a:rPr lang="en-IN" dirty="0"/>
              <a:t>              ↓</a:t>
            </a:r>
          </a:p>
          <a:p>
            <a:r>
              <a:rPr lang="en-IN" dirty="0"/>
              <a:t>           Flooding</a:t>
            </a:r>
          </a:p>
          <a:p>
            <a:r>
              <a:rPr lang="en-IN" dirty="0"/>
              <a:t>              ↓</a:t>
            </a:r>
          </a:p>
          <a:p>
            <a:r>
              <a:rPr lang="en-IN" dirty="0"/>
              <a:t>             LSDB</a:t>
            </a:r>
          </a:p>
          <a:p>
            <a:r>
              <a:rPr lang="en-IN" dirty="0"/>
              <a:t>              ↓</a:t>
            </a:r>
          </a:p>
          <a:p>
            <a:r>
              <a:rPr lang="en-IN" dirty="0"/>
              <a:t>      Network topology map</a:t>
            </a:r>
          </a:p>
          <a:p>
            <a:r>
              <a:rPr lang="en-IN" dirty="0"/>
              <a:t>              ↓</a:t>
            </a:r>
          </a:p>
          <a:p>
            <a:r>
              <a:rPr lang="en-IN" dirty="0"/>
              <a:t>           Dijkstra</a:t>
            </a:r>
          </a:p>
          <a:p>
            <a:r>
              <a:rPr lang="en-IN" dirty="0"/>
              <a:t>              ↓</a:t>
            </a:r>
          </a:p>
          <a:p>
            <a:r>
              <a:rPr lang="en-IN" dirty="0"/>
              <a:t>      Shortest Path Tree</a:t>
            </a:r>
          </a:p>
          <a:p>
            <a:r>
              <a:rPr lang="en-IN" dirty="0"/>
              <a:t>              ↓</a:t>
            </a:r>
          </a:p>
          <a:p>
            <a:r>
              <a:rPr lang="en-IN" dirty="0"/>
              <a:t>        Routing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9E557D-E9B3-9DC1-BB3E-3CEE7C36AD0C}"/>
              </a:ext>
            </a:extLst>
          </p:cNvPr>
          <p:cNvSpPr txBox="1"/>
          <p:nvPr/>
        </p:nvSpPr>
        <p:spPr>
          <a:xfrm>
            <a:off x="6936428" y="5637797"/>
            <a:ext cx="46842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Once the routing table has the preferred route, the router can forward unicast packets.</a:t>
            </a:r>
          </a:p>
          <a:p>
            <a:pPr>
              <a:buNone/>
            </a:pPr>
            <a:r>
              <a:rPr lang="en-IN" dirty="0"/>
              <a:t>Example: OSPF</a:t>
            </a:r>
          </a:p>
        </p:txBody>
      </p:sp>
    </p:spTree>
    <p:extLst>
      <p:ext uri="{BB962C8B-B14F-4D97-AF65-F5344CB8AC3E}">
        <p14:creationId xmlns:p14="http://schemas.microsoft.com/office/powerpoint/2010/main" val="15876811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AF044-1CD5-A389-2957-B4E0C1CDA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A3C7-AAE8-98B2-8318-16914CFDA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Characteristics of Unicast Routing</a:t>
            </a:r>
            <a:endParaRPr lang="en-IN" sz="32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BC5577-D57F-3A00-AB93-BF0BE64BC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844"/>
              </p:ext>
            </p:extLst>
          </p:nvPr>
        </p:nvGraphicFramePr>
        <p:xfrm>
          <a:off x="385011" y="1203960"/>
          <a:ext cx="9939867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3290">
                  <a:extLst>
                    <a:ext uri="{9D8B030D-6E8A-4147-A177-3AD203B41FA5}">
                      <a16:colId xmlns:a16="http://schemas.microsoft.com/office/drawing/2014/main" val="505887805"/>
                    </a:ext>
                  </a:extLst>
                </a:gridCol>
                <a:gridCol w="6626577">
                  <a:extLst>
                    <a:ext uri="{9D8B030D-6E8A-4147-A177-3AD203B41FA5}">
                      <a16:colId xmlns:a16="http://schemas.microsoft.com/office/drawing/2014/main" val="4099068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237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One-to-one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95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 specific destination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921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packet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Destination IP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03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Router uses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Routing/forwarding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12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 may 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Connected, static or dynamically learned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78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Dynamic 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Bellman-Ford, Dijkstra, depending on protocol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033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DV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76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LS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OSPF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432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 lookup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destination prefix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41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matching routes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Longest Prefix Match is fundamental to IP forwarding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672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matching specific route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Default route may be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8561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90948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C4AD-E5C1-7A7E-A67B-A4278EA38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4615E-79F7-5962-FF74-FF9986F0F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Advantages of Unicast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8C3BDF-DBE7-0B45-EBC3-65647532F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475477"/>
              </p:ext>
            </p:extLst>
          </p:nvPr>
        </p:nvGraphicFramePr>
        <p:xfrm>
          <a:off x="385011" y="1092200"/>
          <a:ext cx="81280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4117973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0744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97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Specific delivery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Data is addressed to one specific destination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2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Common Internet communication model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Many client-server communications use unicast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491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Routing flexibility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Routes can be connected, static, or dynamically learned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715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Scalable forwarding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Routers can use network prefixes instead of storing every host individually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264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Supports route optimization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Routing protocols can calculate preferred paths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524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2678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88570-05B1-46EB-42CB-763836909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AD64-2EF3-B12E-5A30-8CCE4CFC5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Disadvantages of Unicast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A2E04-9711-049E-77C7-A77E47476E7C}"/>
              </a:ext>
            </a:extLst>
          </p:cNvPr>
          <p:cNvSpPr txBox="1"/>
          <p:nvPr/>
        </p:nvSpPr>
        <p:spPr>
          <a:xfrm>
            <a:off x="385010" y="1034409"/>
            <a:ext cx="1043538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 one sender wants to send the </a:t>
            </a:r>
            <a:r>
              <a:rPr lang="en-IN" b="1" dirty="0"/>
              <a:t>same content to 1,000 receivers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With separate unicast delivery, conceptually: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Sender → Receiver 1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Sender → Receiver 2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Sender → Receiver 3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...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Sender → Receiver 1000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This may require many separate packet flows/copies.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So unicast is excellent for: </a:t>
            </a:r>
            <a:r>
              <a:rPr lang="en-IN" dirty="0">
                <a:latin typeface="+mn-lt"/>
              </a:rPr>
              <a:t>One sender → One destination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but can be inefficient when the same data needs to be distributed to a large group, depending on the application and network design.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That is one reason </a:t>
            </a:r>
            <a:r>
              <a:rPr lang="en-IN" b="1" dirty="0"/>
              <a:t>multicast</a:t>
            </a:r>
            <a:r>
              <a:rPr lang="en-IN" dirty="0"/>
              <a:t> exists.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F9AE10-768C-28B0-50E9-9F5E526A500B}"/>
              </a:ext>
            </a:extLst>
          </p:cNvPr>
          <p:cNvSpPr txBox="1"/>
          <p:nvPr/>
        </p:nvSpPr>
        <p:spPr>
          <a:xfrm>
            <a:off x="8771467" y="1508036"/>
            <a:ext cx="2692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Important Note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Unicast tells us WHO the packet is intended for—one specific destination. Distance Vector and Link State are methods/protocol approaches that can be used to learn the routes used to reach that destination.</a:t>
            </a:r>
          </a:p>
        </p:txBody>
      </p:sp>
    </p:spTree>
    <p:extLst>
      <p:ext uri="{BB962C8B-B14F-4D97-AF65-F5344CB8AC3E}">
        <p14:creationId xmlns:p14="http://schemas.microsoft.com/office/powerpoint/2010/main" val="16026098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FCEB7-8003-7CE4-CCC5-7F2400F2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8889-131C-EC61-2966-D417B617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Hierarchical Routing: Need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A57AA-E7C3-AE7A-72E6-F187F6F2C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50" y="1152207"/>
            <a:ext cx="6293749" cy="51962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908DE2-8741-4B94-46EE-81EA045CC5BB}"/>
              </a:ext>
            </a:extLst>
          </p:cNvPr>
          <p:cNvSpPr txBox="1"/>
          <p:nvPr/>
        </p:nvSpPr>
        <p:spPr>
          <a:xfrm>
            <a:off x="6587066" y="707380"/>
            <a:ext cx="5012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If every router had to maintain very detailed information about every other router and network, routing would become difficult to manage.</a:t>
            </a:r>
          </a:p>
          <a:p>
            <a:pPr>
              <a:buNone/>
            </a:pPr>
            <a:r>
              <a:rPr lang="en-IN" dirty="0"/>
              <a:t>We would have problems such as: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867A02-92C8-C76D-5477-606D6A325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195122"/>
              </p:ext>
            </p:extLst>
          </p:nvPr>
        </p:nvGraphicFramePr>
        <p:xfrm>
          <a:off x="6587066" y="2105584"/>
          <a:ext cx="5401734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867">
                  <a:extLst>
                    <a:ext uri="{9D8B030D-6E8A-4147-A177-3AD203B41FA5}">
                      <a16:colId xmlns:a16="http://schemas.microsoft.com/office/drawing/2014/main" val="3106885968"/>
                    </a:ext>
                  </a:extLst>
                </a:gridCol>
                <a:gridCol w="2700867">
                  <a:extLst>
                    <a:ext uri="{9D8B030D-6E8A-4147-A177-3AD203B41FA5}">
                      <a16:colId xmlns:a16="http://schemas.microsoft.com/office/drawing/2014/main" val="3176965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What happens?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64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Large routing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Routers need more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375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More routing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More network traffic is used for routing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214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More calculations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Routers need more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147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Slow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 very large network becomes difficult to organize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582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Poor 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The routing system becomes harder to expand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496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00425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5DC23-45A4-9C16-CA58-9DCDA085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5C9A6-E75F-6A1E-DDB7-2A49270E4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Hierarchical Routing?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7F806-09B5-EF6A-7814-F24474370454}"/>
              </a:ext>
            </a:extLst>
          </p:cNvPr>
          <p:cNvSpPr txBox="1"/>
          <p:nvPr/>
        </p:nvSpPr>
        <p:spPr>
          <a:xfrm>
            <a:off x="385011" y="905256"/>
            <a:ext cx="10841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word </a:t>
            </a:r>
            <a:r>
              <a:rPr lang="en-IN" b="1" dirty="0"/>
              <a:t>hierarchical</a:t>
            </a:r>
            <a:r>
              <a:rPr lang="en-IN" dirty="0"/>
              <a:t> simply means: </a:t>
            </a:r>
            <a:r>
              <a:rPr lang="en-IN" b="1" dirty="0"/>
              <a:t>Organizing something into different levels or groups.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5E2FA8-A579-E601-1FB9-B5A6BA46575F}"/>
              </a:ext>
            </a:extLst>
          </p:cNvPr>
          <p:cNvSpPr txBox="1"/>
          <p:nvPr/>
        </p:nvSpPr>
        <p:spPr>
          <a:xfrm>
            <a:off x="385011" y="1274588"/>
            <a:ext cx="11421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Instead of treating one huge network as a single flat network, we divide it into smaller logical regions.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5360E1-7460-5C94-8293-A2A7D74DA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49" y="2013252"/>
            <a:ext cx="4136184" cy="45399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09E300-FF16-1CE4-F88B-EA31854FF6AC}"/>
              </a:ext>
            </a:extLst>
          </p:cNvPr>
          <p:cNvSpPr txBox="1"/>
          <p:nvPr/>
        </p:nvSpPr>
        <p:spPr>
          <a:xfrm>
            <a:off x="4792134" y="1832801"/>
            <a:ext cx="675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Hierarchical Routing divides a large network into smaller regions or areas so that routing can be managed more efficiently.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			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550C8D-8490-D670-502D-8ACF05F0B5C0}"/>
              </a:ext>
            </a:extLst>
          </p:cNvPr>
          <p:cNvSpPr txBox="1"/>
          <p:nvPr/>
        </p:nvSpPr>
        <p:spPr>
          <a:xfrm>
            <a:off x="4792134" y="3544562"/>
            <a:ext cx="64346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Hierarchical Routing is a routing approach in which a large network is divided into smaller regions, areas, or domains. Routers maintain detailed information about their own region while summarized or higher-level routing information can be used for other regions.</a:t>
            </a:r>
          </a:p>
        </p:txBody>
      </p:sp>
    </p:spTree>
    <p:extLst>
      <p:ext uri="{BB962C8B-B14F-4D97-AF65-F5344CB8AC3E}">
        <p14:creationId xmlns:p14="http://schemas.microsoft.com/office/powerpoint/2010/main" val="3260362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C946-3350-D20F-5193-5685354D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1B678-C0A6-1C25-4569-3167858DA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Real Life Example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75DEA-2534-69E9-7331-59BB34886D70}"/>
              </a:ext>
            </a:extLst>
          </p:cNvPr>
          <p:cNvSpPr txBox="1"/>
          <p:nvPr/>
        </p:nvSpPr>
        <p:spPr>
          <a:xfrm>
            <a:off x="385011" y="993183"/>
            <a:ext cx="116884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Think about a postal address: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House No. 25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Sector 20</a:t>
            </a:r>
          </a:p>
          <a:p>
            <a:pPr rtl="0">
              <a:buNone/>
            </a:pPr>
            <a:r>
              <a:rPr lang="en-IN" dirty="0" err="1">
                <a:latin typeface="+mn-lt"/>
              </a:rPr>
              <a:t>Kharar</a:t>
            </a: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Punjab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India</a:t>
            </a:r>
          </a:p>
          <a:p>
            <a:pPr>
              <a:buNone/>
            </a:pPr>
            <a:r>
              <a:rPr lang="en-IN" dirty="0"/>
              <a:t>We have different levels: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Country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State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City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Sector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House</a:t>
            </a:r>
          </a:p>
          <a:p>
            <a:pPr>
              <a:buNone/>
            </a:pPr>
            <a:r>
              <a:rPr lang="en-IN" dirty="0"/>
              <a:t>A postal system does not need every post office in India to memorize the exact location of every house.</a:t>
            </a:r>
          </a:p>
          <a:p>
            <a:pPr>
              <a:buNone/>
            </a:pPr>
            <a:r>
              <a:rPr lang="en-IN" dirty="0"/>
              <a:t>First, mail is moved toward the correct </a:t>
            </a:r>
            <a:r>
              <a:rPr lang="en-IN" b="1" dirty="0"/>
              <a:t>state/city/region</a:t>
            </a:r>
            <a:r>
              <a:rPr lang="en-IN" dirty="0"/>
              <a:t>, and then local delivery handles the more detailed destination.</a:t>
            </a:r>
          </a:p>
          <a:p>
            <a:pPr>
              <a:buNone/>
            </a:pPr>
            <a:r>
              <a:rPr lang="en-IN" dirty="0">
                <a:highlight>
                  <a:srgbClr val="FFFF00"/>
                </a:highlight>
              </a:rPr>
              <a:t>Hierarchical routing follows a similar idea.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D4F39-A644-592E-1CF5-EE7F95F6680C}"/>
              </a:ext>
            </a:extLst>
          </p:cNvPr>
          <p:cNvSpPr txBox="1"/>
          <p:nvPr/>
        </p:nvSpPr>
        <p:spPr>
          <a:xfrm>
            <a:off x="6824133" y="993183"/>
            <a:ext cx="513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 In CN:</a:t>
            </a:r>
            <a:br>
              <a:rPr lang="en-US" dirty="0"/>
            </a:br>
            <a:r>
              <a:rPr lang="en-US" dirty="0"/>
              <a:t>1. OSPF</a:t>
            </a:r>
            <a:br>
              <a:rPr lang="en-US" dirty="0"/>
            </a:br>
            <a:r>
              <a:rPr lang="en-US" dirty="0"/>
              <a:t>2. BGP: Border Gateway Protocol (Intra-Routing)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2820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7A8E-3928-2E10-AD84-792FAA3B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DE9717-86DC-C6D5-1B37-B8E0F90C8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6" y="508000"/>
            <a:ext cx="5960533" cy="6146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099DCD-C23B-808E-F222-DB21E43EAF63}"/>
              </a:ext>
            </a:extLst>
          </p:cNvPr>
          <p:cNvSpPr txBox="1"/>
          <p:nvPr/>
        </p:nvSpPr>
        <p:spPr>
          <a:xfrm>
            <a:off x="5960534" y="863600"/>
            <a:ext cx="59605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Big Network is divided into regions.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 Each region, the routers only know how to send data within the region only.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But they have no Idea, how to send packet outside the region.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Hence, we use </a:t>
            </a:r>
            <a:r>
              <a:rPr lang="en-US" b="1" dirty="0"/>
              <a:t>Gateway Routers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1B, 1C, 2A, 2D, 3B, 4A, 5A, 5C are gateway routers.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684149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0FB6-BB32-B087-CF2F-700C2228C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BC1117-A499-6B56-46A7-AFCC0696A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7" y="508000"/>
            <a:ext cx="5588000" cy="61468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E0A690-4847-CB70-CBAE-E39C22EF6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719465"/>
              </p:ext>
            </p:extLst>
          </p:nvPr>
        </p:nvGraphicFramePr>
        <p:xfrm>
          <a:off x="5723467" y="274320"/>
          <a:ext cx="3064932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644">
                  <a:extLst>
                    <a:ext uri="{9D8B030D-6E8A-4147-A177-3AD203B41FA5}">
                      <a16:colId xmlns:a16="http://schemas.microsoft.com/office/drawing/2014/main" val="1262885172"/>
                    </a:ext>
                  </a:extLst>
                </a:gridCol>
                <a:gridCol w="1021644">
                  <a:extLst>
                    <a:ext uri="{9D8B030D-6E8A-4147-A177-3AD203B41FA5}">
                      <a16:colId xmlns:a16="http://schemas.microsoft.com/office/drawing/2014/main" val="637160667"/>
                    </a:ext>
                  </a:extLst>
                </a:gridCol>
                <a:gridCol w="1021644">
                  <a:extLst>
                    <a:ext uri="{9D8B030D-6E8A-4147-A177-3AD203B41FA5}">
                      <a16:colId xmlns:a16="http://schemas.microsoft.com/office/drawing/2014/main" val="171871827"/>
                    </a:ext>
                  </a:extLst>
                </a:gridCol>
              </a:tblGrid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Dest.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Hops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04588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1A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20196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227407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843177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2A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76474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2B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132607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2C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697480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2D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77349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3A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568297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3B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977185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4A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061589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4B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192544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4C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016499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5A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937689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5B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0437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5C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620293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5D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380361"/>
                  </a:ext>
                </a:extLst>
              </a:tr>
              <a:tr h="341489">
                <a:tc>
                  <a:txBody>
                    <a:bodyPr/>
                    <a:lstStyle/>
                    <a:p>
                      <a:r>
                        <a:rPr lang="en-US" dirty="0"/>
                        <a:t>5E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9313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0964D6-B903-16E1-DE0F-B7C5CB36B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116485"/>
              </p:ext>
            </p:extLst>
          </p:nvPr>
        </p:nvGraphicFramePr>
        <p:xfrm>
          <a:off x="9008533" y="3429000"/>
          <a:ext cx="304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0363739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7245729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4527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Hops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357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959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415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54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6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988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53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3247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2C6A994-FD99-ECE1-51A9-FAB30B94138B}"/>
              </a:ext>
            </a:extLst>
          </p:cNvPr>
          <p:cNvSpPr txBox="1"/>
          <p:nvPr/>
        </p:nvSpPr>
        <p:spPr>
          <a:xfrm>
            <a:off x="9804400" y="2472267"/>
            <a:ext cx="1659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Hierarchical Routing table for 1A router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326ADC-1BB9-F579-4E0B-842D7ABABE4B}"/>
              </a:ext>
            </a:extLst>
          </p:cNvPr>
          <p:cNvSpPr txBox="1"/>
          <p:nvPr/>
        </p:nvSpPr>
        <p:spPr>
          <a:xfrm>
            <a:off x="8788399" y="508000"/>
            <a:ext cx="1322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 is 1A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648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00B2A-2CD4-8B4E-ADD6-F900E9EDC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F40C-2EC5-9924-452B-F8C46EC4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Advantages of Hierarchical Routing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3E3F6E-D415-D794-15E6-2DC97AFF4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190591"/>
              </p:ext>
            </p:extLst>
          </p:nvPr>
        </p:nvGraphicFramePr>
        <p:xfrm>
          <a:off x="385011" y="1003300"/>
          <a:ext cx="8128000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666325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40254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969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Better scalability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networks can be divided into manageable regions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8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Smaller routing information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Summarization can reduce the number of routes advertised/stored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31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Less update propagation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 topology changes can remain within a region/area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915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Reduced processing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Routers may not need to process every detailed change everywhere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446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Reduced memory requirement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Routers may store less detailed information about remote regions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Easier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networks can be organized into logical 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790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Suitable for large networks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Works better than one huge flat routing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873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02191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45AC-CB40-0954-ED5B-B0773327D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8ECA4-E5AD-175C-E771-0B399C6D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Disadvantages of Hierarchical Routing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8F4A1B-29AA-83B7-8BBF-B5D17AC2E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724969"/>
              </p:ext>
            </p:extLst>
          </p:nvPr>
        </p:nvGraphicFramePr>
        <p:xfrm>
          <a:off x="385011" y="1003300"/>
          <a:ext cx="8128000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666325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40254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969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More complex design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Areas and boundaries must be planned properly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8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Configuration is more complex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planning is needed than in a small flat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31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Possible non-optimal paths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Hierarchical restrictions or summarization can sometimes lead to paths that are not globally shortest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915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Troubleshooting can be harder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Problems may involve multiple routing levels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446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Poor area design can create problems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Incorrect hierarchy can reduce performance or scalability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Summarization requires planning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Address allocation should support useful aggregation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790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05428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21144-1335-7F75-433E-1CE2F0F20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D77D5-3F54-89C2-A0CD-135AF960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Flat vs Hierarchical Routing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D00C37-1F73-8582-9CD8-CFDC3F3AC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491270"/>
              </p:ext>
            </p:extLst>
          </p:nvPr>
        </p:nvGraphicFramePr>
        <p:xfrm>
          <a:off x="677334" y="1329266"/>
          <a:ext cx="8127999" cy="468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263800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8889656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76842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Flat Routing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Hierarchical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11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 organization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 broad routing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Divided into regions/areas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28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Smaller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Larger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154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Routing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become 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be reduced/summarized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951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242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Simpler initially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 structured for large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864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grow significantly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be reduced through hierarchy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880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 summarization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central to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Often important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50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 single-area routing 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Multi-area OSPF / Internet AS hierarchy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584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69581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DB212-95BA-3C13-5E54-59412C5EA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38A7-3B04-EDED-5383-69D13DF38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Broadcast Routing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5ACB0-699C-9299-BB62-2DB33194ABF5}"/>
              </a:ext>
            </a:extLst>
          </p:cNvPr>
          <p:cNvSpPr txBox="1"/>
          <p:nvPr/>
        </p:nvSpPr>
        <p:spPr>
          <a:xfrm>
            <a:off x="385011" y="905256"/>
            <a:ext cx="10892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Broadcast</a:t>
            </a:r>
            <a:r>
              <a:rPr lang="en-IN" dirty="0"/>
              <a:t> means: </a:t>
            </a:r>
            <a:r>
              <a:rPr lang="en-IN" b="1" dirty="0"/>
              <a:t>One sender sends the same information to all nodes in the intended broadcast scope.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C9C93-6399-903B-52E3-C8FD56B22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3" y="1551587"/>
            <a:ext cx="5081914" cy="4019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5C2905-460F-83E2-798F-FB9C792D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667" y="1947338"/>
            <a:ext cx="6388322" cy="313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89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A9377-BAA6-5AB0-AAB8-16752876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8B8C-DD4E-4A3E-E859-AE18CDE2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Need for Broadcast Routing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48B07-415C-5DF1-F1D9-2B3FFDD52BB8}"/>
              </a:ext>
            </a:extLst>
          </p:cNvPr>
          <p:cNvSpPr txBox="1"/>
          <p:nvPr/>
        </p:nvSpPr>
        <p:spPr>
          <a:xfrm>
            <a:off x="385011" y="905256"/>
            <a:ext cx="10875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Broadcast is useful when </a:t>
            </a:r>
            <a:r>
              <a:rPr lang="en-IN" b="1" dirty="0"/>
              <a:t>the same information needs to reach everyone in a defined scope</a:t>
            </a:r>
            <a:r>
              <a:rPr lang="en-IN" dirty="0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44615D-958C-B404-8552-A2EBEBD70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118628"/>
              </p:ext>
            </p:extLst>
          </p:nvPr>
        </p:nvGraphicFramePr>
        <p:xfrm>
          <a:off x="524933" y="1464733"/>
          <a:ext cx="8128000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7841585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64114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9088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One-to-all delivery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information must reach all nodes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769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Discovery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device may need to discover another device/service without initially knowing exactly where it 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55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Network configuration/discovery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 network mechanisms use broadcast during discovery/configuration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152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Reduce sender-side repetition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Sender does not have to individually address every receiver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78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Routing/control scenarios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Some algorithms need information distributed widely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357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883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9241A-EC10-E1EF-33A3-80A3D751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DDB8E-BE2C-D21E-F187-53ECE8EA4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Example: ARP (Address Resolution Protocol)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5C7D52-F221-B71D-92CE-602271FFF889}"/>
              </a:ext>
            </a:extLst>
          </p:cNvPr>
          <p:cNvSpPr txBox="1"/>
          <p:nvPr/>
        </p:nvSpPr>
        <p:spPr>
          <a:xfrm>
            <a:off x="385011" y="1114274"/>
            <a:ext cx="571098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+mn-lt"/>
              </a:rPr>
              <a:t>PC1 IP  = 192.168.1.10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PC2 IP  = 192.168.1.20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PC1 wants to communicate locally with PC2 but does not know PC2's MAC address.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PC1 essentially needs to ask: </a:t>
            </a:r>
            <a:r>
              <a:rPr lang="en-IN" b="1" dirty="0"/>
              <a:t>“Who has 192.168.1.20?”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But PC1 does not know which MAC address should receive this request.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That's exactly why the ARP Request is sent as an </a:t>
            </a:r>
            <a:r>
              <a:rPr lang="en-IN" b="1" dirty="0"/>
              <a:t>Ethernet broadcast</a:t>
            </a:r>
            <a:r>
              <a:rPr lang="en-IN" dirty="0"/>
              <a:t> on the local LAN/VLAN.</a:t>
            </a:r>
          </a:p>
        </p:txBody>
      </p:sp>
    </p:spTree>
    <p:extLst>
      <p:ext uri="{BB962C8B-B14F-4D97-AF65-F5344CB8AC3E}">
        <p14:creationId xmlns:p14="http://schemas.microsoft.com/office/powerpoint/2010/main" val="5675195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6ECA5-8775-4E60-81BA-2C505E7E6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6217-8AA7-5037-FCC1-691C82B8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How Can Broadcast Routing Be Performed?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695F4F-F3EC-55DA-2F04-3C227B318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133902"/>
              </p:ext>
            </p:extLst>
          </p:nvPr>
        </p:nvGraphicFramePr>
        <p:xfrm>
          <a:off x="694267" y="1295399"/>
          <a:ext cx="81280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369136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13444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Idea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320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Flooding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Forward packet through many/all outgoing links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452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Controlled Flooding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Flood, but use rules to control duplicates/loops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82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Spanning Tree Routing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Build/use a loop-free tree and send broadcast along tree links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084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55951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15FB-23BE-009F-8CBC-166869D30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01BC1-5D0C-A8C0-192F-713DD1F87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Broadcast vs Unicast vs Multicast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2C22F3-0985-A707-830D-A2DE9080D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228895"/>
              </p:ext>
            </p:extLst>
          </p:nvPr>
        </p:nvGraphicFramePr>
        <p:xfrm>
          <a:off x="508000" y="1295399"/>
          <a:ext cx="8128000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851024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771986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452137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94566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Broadcast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Multicast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431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One-to-one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One-to-all in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One-to-selected-group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21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Receiver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 specific receiver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receivers in broadcast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Group members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08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PC →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ARP Request on 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Group-based delivery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5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Duplicate copies from sender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 destination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 distributes broadcast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 distributes to group where supported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96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IPv4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14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IPv6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No IP broadcast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573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7425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2E330-F85F-509F-0727-A503505F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9618-4B24-3DB7-F4D0-D98FC606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Advantages of Broadcast Routing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50EE84-020B-2431-101D-53245AF9F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118863"/>
              </p:ext>
            </p:extLst>
          </p:nvPr>
        </p:nvGraphicFramePr>
        <p:xfrm>
          <a:off x="592667" y="1346200"/>
          <a:ext cx="8128000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7590723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28113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3157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One-to-all delivery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information can reach all intended nodes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2219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Useful for discovery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Sender may not initially know the exact receiver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49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Simple concept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Sender does not need separate destination communication for every node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36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Useful for distributing common information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information can be distributed widely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030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Can improve reachability of control information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Appropriate broadcast techniques can spread information throughout a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95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Some methods are highly robust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Flooding can still find alternative paths if links 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740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72472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B0F87-BCBE-6578-B41C-30C955B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075F-7C38-BC29-C51D-E8FF9A8F2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Disadvantages of Broadcast Routing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054087-3C08-3FD0-A805-D14695814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365297"/>
              </p:ext>
            </p:extLst>
          </p:nvPr>
        </p:nvGraphicFramePr>
        <p:xfrm>
          <a:off x="592667" y="1346200"/>
          <a:ext cx="8128000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7590723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28113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3157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Extra traffic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Many packet copies may be generated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17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Duplicate packets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router/node may receive the same packet multiple times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2219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Routing loops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 forwarding rules can circulate packets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49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Bandwidth consumption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Unnecessary copies use network capacity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36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Processing overhead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Devices may need to inspect/process broadcast traffic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030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Poor scalability if uncontrolled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Broadcasting everywhere becomes expensive in large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95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Security concerns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Broadcast traffic reaches many devices, so it should not be treated as private delivery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740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12307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15D93-4CF9-F724-6CEA-A8A3B3EC3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EC8B0-5C4F-EC02-D420-D89ADFB01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DHCP — Dynamic Host Configuration Protocol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5368E-7A3A-121A-8728-E94C02C587F0}"/>
              </a:ext>
            </a:extLst>
          </p:cNvPr>
          <p:cNvSpPr txBox="1"/>
          <p:nvPr/>
        </p:nvSpPr>
        <p:spPr>
          <a:xfrm>
            <a:off x="220133" y="905256"/>
            <a:ext cx="11243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Whenever a computer connects to an IP network, it needs certain network settings before it can communicate properly.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38DC1D-9D60-77FE-7294-14EB3FFB4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950916"/>
              </p:ext>
            </p:extLst>
          </p:nvPr>
        </p:nvGraphicFramePr>
        <p:xfrm>
          <a:off x="575734" y="1909651"/>
          <a:ext cx="8127999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851595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188001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48047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2864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IP Address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Identifies the device on the IP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192.168.10.20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170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Subnet Mask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Identifies network and host portions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255.255.255.0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925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Default Gateway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Used to reach other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192.168.10.1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787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DNS Server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Converts domain names into IP addresses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8.8.8.8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6346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67BCE3-F80C-032A-D2FE-20C803D96393}"/>
              </a:ext>
            </a:extLst>
          </p:cNvPr>
          <p:cNvSpPr txBox="1"/>
          <p:nvPr/>
        </p:nvSpPr>
        <p:spPr>
          <a:xfrm>
            <a:off x="965199" y="5306413"/>
            <a:ext cx="9618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Without DHCP, an administrator could configure these values manually on every device.</a:t>
            </a:r>
          </a:p>
        </p:txBody>
      </p:sp>
    </p:spTree>
    <p:extLst>
      <p:ext uri="{BB962C8B-B14F-4D97-AF65-F5344CB8AC3E}">
        <p14:creationId xmlns:p14="http://schemas.microsoft.com/office/powerpoint/2010/main" val="159221166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AD08B-9703-7CAD-F03D-022A1261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6B3B-F7D0-E7C5-AAEB-00B59B155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DHCP?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56364E-124D-2152-0AC5-F21790FA4E3C}"/>
              </a:ext>
            </a:extLst>
          </p:cNvPr>
          <p:cNvSpPr txBox="1"/>
          <p:nvPr/>
        </p:nvSpPr>
        <p:spPr>
          <a:xfrm>
            <a:off x="385011" y="905256"/>
            <a:ext cx="5210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DHCP stands for Dynamic Host Configuration Protocol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AB501-B102-833A-0465-3BF32A687C37}"/>
              </a:ext>
            </a:extLst>
          </p:cNvPr>
          <p:cNvSpPr txBox="1"/>
          <p:nvPr/>
        </p:nvSpPr>
        <p:spPr>
          <a:xfrm>
            <a:off x="385011" y="1301007"/>
            <a:ext cx="11028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DHCP is an application-layer protocol that automatically provides IP configuration to devices connected to a network.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2DE3E3-B49E-A51F-4544-E7B5EC6A8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411866"/>
              </p:ext>
            </p:extLst>
          </p:nvPr>
        </p:nvGraphicFramePr>
        <p:xfrm>
          <a:off x="385011" y="3112535"/>
          <a:ext cx="11028056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4028">
                  <a:extLst>
                    <a:ext uri="{9D8B030D-6E8A-4147-A177-3AD203B41FA5}">
                      <a16:colId xmlns:a16="http://schemas.microsoft.com/office/drawing/2014/main" val="3976306350"/>
                    </a:ext>
                  </a:extLst>
                </a:gridCol>
                <a:gridCol w="5514028">
                  <a:extLst>
                    <a:ext uri="{9D8B030D-6E8A-4147-A177-3AD203B41FA5}">
                      <a16:colId xmlns:a16="http://schemas.microsoft.com/office/drawing/2014/main" val="2551427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160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Automatic IP assignment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Devices can receive IP addresses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563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Less manual work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Administrator does not configure every PC individually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03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Fewer configuration mistakes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Reduces chances of entering wrong IP settings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1241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Prevents many IP conflicts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DHCP manages address allocation from its configured pool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53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Centralized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 settings can be managed from the DHCP 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72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Easy for large networks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Hundreds of devices can be configured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5315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Temporary allocation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IP addresses can be leased and later reused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222993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01C2E164-F372-1514-BB96-AF69E2066307}"/>
              </a:ext>
            </a:extLst>
          </p:cNvPr>
          <p:cNvSpPr txBox="1">
            <a:spLocks/>
          </p:cNvSpPr>
          <p:nvPr/>
        </p:nvSpPr>
        <p:spPr>
          <a:xfrm>
            <a:off x="385011" y="2439785"/>
            <a:ext cx="11421978" cy="395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/>
              <a:t>Why is DHCP Required?</a:t>
            </a:r>
          </a:p>
        </p:txBody>
      </p:sp>
    </p:spTree>
    <p:extLst>
      <p:ext uri="{BB962C8B-B14F-4D97-AF65-F5344CB8AC3E}">
        <p14:creationId xmlns:p14="http://schemas.microsoft.com/office/powerpoint/2010/main" val="39761849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6859F-438D-D793-08A7-B95DB50C6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3FA56-53EA-6B43-C8DC-DE6F45EB3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Does a DHCP Server Provide?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F8E5A7-81AF-D9BD-784D-FF44D3135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611084"/>
              </p:ext>
            </p:extLst>
          </p:nvPr>
        </p:nvGraphicFramePr>
        <p:xfrm>
          <a:off x="385011" y="1058333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8813691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41934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03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IP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192.168.10.11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829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Subnet Mask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255.255.255.0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11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Default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192.168.10.1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305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DNS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8.8.8.8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80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Lease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e.g. 24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617227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5293E583-0BC4-13D9-58A9-759DB17AF46D}"/>
              </a:ext>
            </a:extLst>
          </p:cNvPr>
          <p:cNvSpPr txBox="1">
            <a:spLocks/>
          </p:cNvSpPr>
          <p:nvPr/>
        </p:nvSpPr>
        <p:spPr>
          <a:xfrm>
            <a:off x="385011" y="3633894"/>
            <a:ext cx="11421978" cy="395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/>
              <a:t>DHCP Client and DHCP Server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00895E-BAB1-1AD4-04F9-B5F078421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750333"/>
              </p:ext>
            </p:extLst>
          </p:nvPr>
        </p:nvGraphicFramePr>
        <p:xfrm>
          <a:off x="385011" y="4194746"/>
          <a:ext cx="812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618126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76453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47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DHCP Client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Device requesting network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515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DHCP Server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Device/server providing network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103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3722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B71FB-2177-9C51-3F7D-D338E8A3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F92FD4-A174-66BB-A049-4A46F3060228}"/>
                  </a:ext>
                </a:extLst>
              </p:cNvPr>
              <p:cNvSpPr txBox="1"/>
              <p:nvPr/>
            </p:nvSpPr>
            <p:spPr>
              <a:xfrm>
                <a:off x="287867" y="745912"/>
                <a:ext cx="6096000" cy="5670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highlight>
                      <a:srgbClr val="FFFF00"/>
                    </a:highlight>
                  </a:rPr>
                  <a:t>DHCP Pool</a:t>
                </a:r>
              </a:p>
              <a:p>
                <a:pPr>
                  <a:buNone/>
                </a:pPr>
                <a:r>
                  <a:rPr lang="en-IN" dirty="0"/>
                  <a:t>The DHCP server needs to know </a:t>
                </a:r>
                <a:r>
                  <a:rPr lang="en-IN" b="1" dirty="0"/>
                  <a:t>which network's addresses it is allowed to provide</a:t>
                </a:r>
                <a:r>
                  <a:rPr lang="en-IN" dirty="0"/>
                  <a:t>.</a:t>
                </a:r>
              </a:p>
              <a:p>
                <a:pPr>
                  <a:buNone/>
                </a:pPr>
                <a:r>
                  <a:rPr lang="en-IN" dirty="0"/>
                  <a:t>For this purpose, we configure 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DHCP Pool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A DHCP pool is basically a set of configuration information for a particular IP network.</a:t>
                </a:r>
              </a:p>
              <a:p>
                <a:pPr>
                  <a:buNone/>
                </a:pPr>
                <a:r>
                  <a:rPr lang="en-IN" dirty="0"/>
                  <a:t>For example: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Pool Name: VLAN10</a:t>
                </a:r>
              </a:p>
              <a:p>
                <a:pPr rtl="0">
                  <a:buNone/>
                </a:pPr>
                <a:endParaRPr lang="en-IN" dirty="0">
                  <a:latin typeface="+mn-lt"/>
                </a:endParaRP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Network: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192.168.10.0/24</a:t>
                </a:r>
              </a:p>
              <a:p>
                <a:pPr rtl="0">
                  <a:buNone/>
                </a:pPr>
                <a:endParaRPr lang="en-IN" dirty="0">
                  <a:latin typeface="+mn-lt"/>
                </a:endParaRP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Default Gateway: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192.168.10.1</a:t>
                </a:r>
              </a:p>
              <a:p>
                <a:pPr rtl="0">
                  <a:buNone/>
                </a:pPr>
                <a:endParaRPr lang="en-IN" dirty="0">
                  <a:latin typeface="+mn-lt"/>
                </a:endParaRP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DNS Server: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8.8.8.8</a:t>
                </a:r>
              </a:p>
              <a:p>
                <a:pPr>
                  <a:buNone/>
                </a:pPr>
                <a:r>
                  <a:rPr lang="en-IN" dirty="0"/>
                  <a:t>Then clients belonging to that network can receive appropriate addresses/settings.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F92FD4-A174-66BB-A049-4A46F3060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67" y="745912"/>
                <a:ext cx="6096000" cy="5670976"/>
              </a:xfrm>
              <a:prstGeom prst="rect">
                <a:avLst/>
              </a:prstGeom>
              <a:blipFill>
                <a:blip r:embed="rId2"/>
                <a:stretch>
                  <a:fillRect l="-800" t="-537" r="-900" b="-6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E79A642-83B4-BF00-25BD-C0B9530E268B}"/>
              </a:ext>
            </a:extLst>
          </p:cNvPr>
          <p:cNvSpPr txBox="1"/>
          <p:nvPr/>
        </p:nvSpPr>
        <p:spPr>
          <a:xfrm>
            <a:off x="6942666" y="745912"/>
            <a:ext cx="43349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highlight>
                  <a:srgbClr val="FFFF00"/>
                </a:highlight>
              </a:rPr>
              <a:t>Excluded IP Addresses</a:t>
            </a:r>
          </a:p>
          <a:p>
            <a:pPr>
              <a:buNone/>
            </a:pPr>
            <a:r>
              <a:rPr lang="en-IN" dirty="0"/>
              <a:t>An </a:t>
            </a:r>
            <a:r>
              <a:rPr lang="en-IN" b="1" dirty="0"/>
              <a:t>excluded address</a:t>
            </a:r>
            <a:r>
              <a:rPr lang="en-IN" dirty="0"/>
              <a:t> is an address that DHCP is instructed </a:t>
            </a:r>
            <a:r>
              <a:rPr lang="en-IN" b="1" dirty="0"/>
              <a:t>not to assign automatically</a:t>
            </a:r>
            <a:r>
              <a:rPr lang="en-IN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EED7C-1700-3124-EED1-FD942304ED5D}"/>
              </a:ext>
            </a:extLst>
          </p:cNvPr>
          <p:cNvSpPr txBox="1"/>
          <p:nvPr/>
        </p:nvSpPr>
        <p:spPr>
          <a:xfrm>
            <a:off x="6866465" y="2557903"/>
            <a:ext cx="44873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highlight>
                  <a:srgbClr val="FFFF00"/>
                </a:highlight>
              </a:rPr>
              <a:t>What is a DHCP Lease?</a:t>
            </a:r>
          </a:p>
          <a:p>
            <a:pPr>
              <a:buNone/>
            </a:pPr>
            <a:r>
              <a:rPr lang="en-IN" dirty="0"/>
              <a:t>DHCP normally does not permanently give an address to a client.</a:t>
            </a:r>
          </a:p>
          <a:p>
            <a:pPr>
              <a:buNone/>
            </a:pPr>
            <a:r>
              <a:rPr lang="en-IN" dirty="0"/>
              <a:t>Instead, the address is provided for a period of time called a: </a:t>
            </a:r>
            <a:r>
              <a:rPr lang="en-IN" b="1" dirty="0"/>
              <a:t>Lease</a:t>
            </a:r>
          </a:p>
        </p:txBody>
      </p:sp>
    </p:spTree>
    <p:extLst>
      <p:ext uri="{BB962C8B-B14F-4D97-AF65-F5344CB8AC3E}">
        <p14:creationId xmlns:p14="http://schemas.microsoft.com/office/powerpoint/2010/main" val="169189812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596A0-ED0C-C65E-59BF-9D2D8C53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5DFD-032E-B561-2CA7-CBAFEAFDD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DORA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333228-7574-E4BD-08FD-A1B02AE52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340225"/>
              </p:ext>
            </p:extLst>
          </p:nvPr>
        </p:nvGraphicFramePr>
        <p:xfrm>
          <a:off x="541867" y="1176866"/>
          <a:ext cx="1071879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2933">
                  <a:extLst>
                    <a:ext uri="{9D8B030D-6E8A-4147-A177-3AD203B41FA5}">
                      <a16:colId xmlns:a16="http://schemas.microsoft.com/office/drawing/2014/main" val="497334223"/>
                    </a:ext>
                  </a:extLst>
                </a:gridCol>
                <a:gridCol w="3572933">
                  <a:extLst>
                    <a:ext uri="{9D8B030D-6E8A-4147-A177-3AD203B41FA5}">
                      <a16:colId xmlns:a16="http://schemas.microsoft.com/office/drawing/2014/main" val="1445325538"/>
                    </a:ext>
                  </a:extLst>
                </a:gridCol>
                <a:gridCol w="3572933">
                  <a:extLst>
                    <a:ext uri="{9D8B030D-6E8A-4147-A177-3AD203B41FA5}">
                      <a16:colId xmlns:a16="http://schemas.microsoft.com/office/drawing/2014/main" val="4047569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Simple 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009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Discover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Client searches for DHCP 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339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Offer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Server offers configuration/address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761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Client requests the offered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057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Acknowledgement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Server confirms the lease/configuration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06962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F2B9D5-18F4-57C9-3594-20927A2FE843}"/>
                  </a:ext>
                </a:extLst>
              </p:cNvPr>
              <p:cNvSpPr txBox="1"/>
              <p:nvPr/>
            </p:nvSpPr>
            <p:spPr>
              <a:xfrm>
                <a:off x="385011" y="3733548"/>
                <a:ext cx="6096000" cy="2614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highlight>
                      <a:srgbClr val="FFFF00"/>
                    </a:highlight>
                  </a:rPr>
                  <a:t>Step 1 — DHCP Discover</a:t>
                </a:r>
              </a:p>
              <a:p>
                <a:pPr>
                  <a:buNone/>
                </a:pPr>
                <a:r>
                  <a:rPr lang="en-IN" dirty="0"/>
                  <a:t>Imagine a brand-new PC.</a:t>
                </a:r>
              </a:p>
              <a:p>
                <a:pPr>
                  <a:buNone/>
                </a:pPr>
                <a:r>
                  <a:rPr lang="en-IN" dirty="0"/>
                  <a:t>It does not yet have its normal assigned IPv4 configuration.</a:t>
                </a:r>
              </a:p>
              <a:p>
                <a:pPr>
                  <a:buNone/>
                </a:pPr>
                <a:r>
                  <a:rPr lang="en-IN" dirty="0"/>
                  <a:t>It also may not know where the DHCP server is.</a:t>
                </a:r>
              </a:p>
              <a:p>
                <a:pPr>
                  <a:buNone/>
                </a:pPr>
                <a:r>
                  <a:rPr lang="en-IN" dirty="0"/>
                  <a:t>So it sends: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DHCPDISCOVER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Simple meaning:</a:t>
                </a:r>
              </a:p>
              <a:p>
                <a:pPr>
                  <a:buNone/>
                </a:pPr>
                <a:r>
                  <a:rPr lang="en-IN" b="1" dirty="0"/>
                  <a:t>“Is there any DHCP server available that can give me an IP configuration?”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F2B9D5-18F4-57C9-3594-20927A2FE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1" y="3733548"/>
                <a:ext cx="6096000" cy="2614947"/>
              </a:xfrm>
              <a:prstGeom prst="rect">
                <a:avLst/>
              </a:prstGeom>
              <a:blipFill>
                <a:blip r:embed="rId2"/>
                <a:stretch>
                  <a:fillRect l="-800" t="-1166" b="-27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550686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3DFFB-6111-0C14-5434-D147CE8AE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FFA40F-3C75-0DBF-D243-B289C85D084D}"/>
                  </a:ext>
                </a:extLst>
              </p:cNvPr>
              <p:cNvSpPr txBox="1"/>
              <p:nvPr/>
            </p:nvSpPr>
            <p:spPr>
              <a:xfrm>
                <a:off x="152399" y="791629"/>
                <a:ext cx="9939867" cy="2891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highlight>
                      <a:srgbClr val="FFFF00"/>
                    </a:highlight>
                  </a:rPr>
                  <a:t>Step 2 — DHCP Offer</a:t>
                </a:r>
              </a:p>
              <a:p>
                <a:pPr>
                  <a:buNone/>
                </a:pPr>
                <a:r>
                  <a:rPr lang="en-IN" dirty="0"/>
                  <a:t>A DHCP server receives the Discover message.</a:t>
                </a:r>
              </a:p>
              <a:p>
                <a:pPr>
                  <a:buNone/>
                </a:pPr>
                <a:r>
                  <a:rPr lang="en-IN" dirty="0"/>
                  <a:t>The server checks its DHCP pool and may find an available address.</a:t>
                </a:r>
              </a:p>
              <a:p>
                <a:pPr>
                  <a:buNone/>
                </a:pPr>
                <a:r>
                  <a:rPr lang="en-IN" dirty="0"/>
                  <a:t>For example: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Available IP:</a:t>
                </a:r>
              </a:p>
              <a:p>
                <a:pPr rtl="0">
                  <a:buNone/>
                </a:pPr>
                <a:r>
                  <a:rPr lang="en-IN" dirty="0">
                    <a:latin typeface="+mn-lt"/>
                  </a:rPr>
                  <a:t>192.168.10.11</a:t>
                </a:r>
              </a:p>
              <a:p>
                <a:pPr>
                  <a:buNone/>
                </a:pPr>
                <a:r>
                  <a:rPr lang="en-IN" dirty="0"/>
                  <a:t>The server sends: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DHCPOFFER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Simple meaning:</a:t>
                </a:r>
              </a:p>
              <a:p>
                <a:pPr>
                  <a:buNone/>
                </a:pPr>
                <a:r>
                  <a:rPr lang="en-IN" b="1" dirty="0"/>
                  <a:t>“I am a DHCP server. I can offer you 192.168.10.11 with these network settings.”</a:t>
                </a:r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FFA40F-3C75-0DBF-D243-B289C85D0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9" y="791629"/>
                <a:ext cx="9939867" cy="2891946"/>
              </a:xfrm>
              <a:prstGeom prst="rect">
                <a:avLst/>
              </a:prstGeom>
              <a:blipFill>
                <a:blip r:embed="rId2"/>
                <a:stretch>
                  <a:fillRect l="-490" t="-1266" b="-25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262659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0A8B9-05C2-765B-7019-A043DE02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5F1EA4-B342-BE7D-A49B-36CFA6388BAD}"/>
                  </a:ext>
                </a:extLst>
              </p:cNvPr>
              <p:cNvSpPr txBox="1"/>
              <p:nvPr/>
            </p:nvSpPr>
            <p:spPr>
              <a:xfrm>
                <a:off x="304800" y="783177"/>
                <a:ext cx="7603067" cy="1803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highlight>
                      <a:srgbClr val="FFFF00"/>
                    </a:highlight>
                  </a:rPr>
                  <a:t>Step 3 — DHCP Request</a:t>
                </a:r>
              </a:p>
              <a:p>
                <a:pPr>
                  <a:buNone/>
                </a:pPr>
                <a:r>
                  <a:rPr lang="en-IN" dirty="0"/>
                  <a:t>The client receives the offer.</a:t>
                </a:r>
              </a:p>
              <a:p>
                <a:pPr>
                  <a:buNone/>
                </a:pPr>
                <a:r>
                  <a:rPr lang="en-IN" dirty="0"/>
                  <a:t>It then sends: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DHCPREQUEST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Simple meaning:</a:t>
                </a:r>
              </a:p>
              <a:p>
                <a:pPr>
                  <a:buNone/>
                </a:pPr>
                <a:r>
                  <a:rPr lang="en-IN" b="1" dirty="0"/>
                  <a:t>“I would like to use the offered IP address.”</a:t>
                </a:r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5F1EA4-B342-BE7D-A49B-36CFA6388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783177"/>
                <a:ext cx="7603067" cy="1803379"/>
              </a:xfrm>
              <a:prstGeom prst="rect">
                <a:avLst/>
              </a:prstGeom>
              <a:blipFill>
                <a:blip r:embed="rId2"/>
                <a:stretch>
                  <a:fillRect l="-642" t="-1689" b="-43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647ED93-6AC3-514D-9998-8B0C3EE53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00" y="2805025"/>
            <a:ext cx="3911267" cy="22919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DB724A-DC89-E888-0FCD-016F807E4BF9}"/>
                  </a:ext>
                </a:extLst>
              </p:cNvPr>
              <p:cNvSpPr txBox="1"/>
              <p:nvPr/>
            </p:nvSpPr>
            <p:spPr>
              <a:xfrm>
                <a:off x="6316134" y="783177"/>
                <a:ext cx="4470400" cy="2691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highlight>
                      <a:srgbClr val="FFFF00"/>
                    </a:highlight>
                  </a:rPr>
                  <a:t>Step 4 — DHCP Acknowledgement</a:t>
                </a:r>
              </a:p>
              <a:p>
                <a:pPr>
                  <a:buNone/>
                </a:pPr>
                <a:r>
                  <a:rPr lang="en-IN" dirty="0"/>
                  <a:t>Finally, the server confirms the allocation using: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DHCPACK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ACK means: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b="0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 i="0"/>
                            <m:t>Acknowledgement</m:t>
                          </m:r>
                        </m:e>
                      </m:borderBox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Simple meaning:</a:t>
                </a:r>
              </a:p>
              <a:p>
                <a:pPr>
                  <a:buNone/>
                </a:pPr>
                <a:r>
                  <a:rPr lang="en-IN" b="1" dirty="0"/>
                  <a:t>“Confirmed. You can use this IP configuration for the lease period.”</a:t>
                </a:r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DB724A-DC89-E888-0FCD-016F807E4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134" y="783177"/>
                <a:ext cx="4470400" cy="2691955"/>
              </a:xfrm>
              <a:prstGeom prst="rect">
                <a:avLst/>
              </a:prstGeom>
              <a:blipFill>
                <a:blip r:embed="rId4"/>
                <a:stretch>
                  <a:fillRect l="-1091" t="-1131" r="-1910" b="-24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0C7E37AC-CD56-380D-669A-C9D83C36D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134" y="3544181"/>
            <a:ext cx="3911267" cy="310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6552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37F12-573C-E11F-DC3A-97F816AD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C93D-8C00-7964-AB4D-944AD20A0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Advantages of DHCP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0AB5DF-409D-07CB-B0B2-4538EF73D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177473"/>
              </p:ext>
            </p:extLst>
          </p:nvPr>
        </p:nvGraphicFramePr>
        <p:xfrm>
          <a:off x="385011" y="1142999"/>
          <a:ext cx="8128000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165586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1248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17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Automatic configuration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Clients receive network settings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123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Easy administration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need to configure every PC manually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665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Reduced mistakes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chance of typing incorrect IP settings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9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Better address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Addresses are allocated from managed pools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715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Lease mechanism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Addresses can be reused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47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Scalable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Useful when many client devices exist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09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Centralized configuration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Gateway, DNS and other options can be managed centrally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39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72678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ED6CE-00CC-3B4E-3B70-BBEB5F45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12DA2-4B6F-0934-E63E-70322F4A9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Disadvantage of DHCP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7E64C0-0AD0-BC21-2780-7334A4B09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62958"/>
              </p:ext>
            </p:extLst>
          </p:nvPr>
        </p:nvGraphicFramePr>
        <p:xfrm>
          <a:off x="385011" y="1142999"/>
          <a:ext cx="8128000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165586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12485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17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Dependency on DHCP service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New clients may fail to obtain configuration if the required DHCP service is unavailable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123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Security concerns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Unauthorized/rogue DHCP servers can provide incorrect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665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Address may change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Dynamically assigned client IPs are not necessarily permanent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89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Requires proper configuration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Wrong pool/gateway/mask settings can affect many clients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715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Different VLANs need proper DHCP design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Broadcast discovery does not normally cross routers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47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721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1BE6-C340-5A56-7175-A3EABB5C2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D24D-4307-8403-F1AF-C39B1721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What is VLAN? [Virtual Local Area Network]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520F8-76E1-FC7D-B038-0358D4BC4A5A}"/>
              </a:ext>
            </a:extLst>
          </p:cNvPr>
          <p:cNvSpPr txBox="1"/>
          <p:nvPr/>
        </p:nvSpPr>
        <p:spPr>
          <a:xfrm>
            <a:off x="169333" y="1087735"/>
            <a:ext cx="11421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VLAN is a logical division of a Layer-2 network that allows devices connected to switch infrastructure to be grouped into separate broadcast domains.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4577D-61A4-7221-6E92-D013F4B63BCD}"/>
              </a:ext>
            </a:extLst>
          </p:cNvPr>
          <p:cNvSpPr txBox="1"/>
          <p:nvPr/>
        </p:nvSpPr>
        <p:spPr>
          <a:xfrm>
            <a:off x="169333" y="19165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Physical Network vs Logical Network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83EC5D-BFF0-866C-2125-275D225B6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2285876"/>
            <a:ext cx="5926667" cy="42673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AF90A1-FA03-5A66-6EC7-2116C78CC24E}"/>
              </a:ext>
            </a:extLst>
          </p:cNvPr>
          <p:cNvSpPr txBox="1"/>
          <p:nvPr/>
        </p:nvSpPr>
        <p:spPr>
          <a:xfrm>
            <a:off x="6265333" y="2817798"/>
            <a:ext cx="48090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Now: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VLAN 10 → PC1, PC2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VLAN 20 → PC3, PC4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So one physical switching infrastructure can contain multiple logical LANs.</a:t>
            </a:r>
          </a:p>
        </p:txBody>
      </p:sp>
    </p:spTree>
    <p:extLst>
      <p:ext uri="{BB962C8B-B14F-4D97-AF65-F5344CB8AC3E}">
        <p14:creationId xmlns:p14="http://schemas.microsoft.com/office/powerpoint/2010/main" val="42583479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0A09D-3050-91F5-B266-8C1EA7C1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6FA4E-1D78-9FD2-6DE6-6A6871EF2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Need for VLAN</a:t>
            </a:r>
            <a:endParaRPr lang="en-IN" sz="32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01DF4D-E4EA-D83B-3450-4089B5BD2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03933"/>
              </p:ext>
            </p:extLst>
          </p:nvPr>
        </p:nvGraphicFramePr>
        <p:xfrm>
          <a:off x="524933" y="1210733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564476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4246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113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Logical separation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Devices can be divided into different groups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193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Smaller broadcast domains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Broadcast traffic stays within the VLAN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63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Better organization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Devices can be grouped according to department or 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111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Improved isolation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Devices in different VLANs are separated at Layer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140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Flexibility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Logical grouping does not require a separate switch for every group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7032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37375B-9E15-2E0C-F05A-086B80BD3DDB}"/>
              </a:ext>
            </a:extLst>
          </p:cNvPr>
          <p:cNvSpPr txBox="1"/>
          <p:nvPr/>
        </p:nvSpPr>
        <p:spPr>
          <a:xfrm>
            <a:off x="1828800" y="49854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Each VLAN is a separate Layer-2 broadcast domain</a:t>
            </a:r>
          </a:p>
        </p:txBody>
      </p:sp>
    </p:spTree>
    <p:extLst>
      <p:ext uri="{BB962C8B-B14F-4D97-AF65-F5344CB8AC3E}">
        <p14:creationId xmlns:p14="http://schemas.microsoft.com/office/powerpoint/2010/main" val="32889800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7ED8B-1BDA-2BE8-CC49-9E295A76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7A35-46CB-13DE-4CFD-F603A341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Access 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6C1AEF-1661-89F4-EBF8-F2FA7A2F7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44" y="1170296"/>
            <a:ext cx="5964989" cy="472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2779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7AB7-3BCC-9F2E-9533-753317A3F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30BB-A0D7-DFEA-DEC2-BBB7E1179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Trunk 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3267B-4808-38A2-54D6-4E3C80723224}"/>
              </a:ext>
            </a:extLst>
          </p:cNvPr>
          <p:cNvSpPr txBox="1"/>
          <p:nvPr/>
        </p:nvSpPr>
        <p:spPr>
          <a:xfrm>
            <a:off x="385011" y="1066800"/>
            <a:ext cx="9017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trunk port is a switch port that can carry traffic for multiple VLANs over a single physical link.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462627-228C-CC50-7ABF-BE02E479A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1752035"/>
            <a:ext cx="3424989" cy="4596459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126C13-6E57-4A4A-0B59-FCA7DB60F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674789"/>
              </p:ext>
            </p:extLst>
          </p:nvPr>
        </p:nvGraphicFramePr>
        <p:xfrm>
          <a:off x="5096932" y="2362200"/>
          <a:ext cx="6079068" cy="385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9534">
                  <a:extLst>
                    <a:ext uri="{9D8B030D-6E8A-4147-A177-3AD203B41FA5}">
                      <a16:colId xmlns:a16="http://schemas.microsoft.com/office/drawing/2014/main" val="178720410"/>
                    </a:ext>
                  </a:extLst>
                </a:gridCol>
                <a:gridCol w="3039534">
                  <a:extLst>
                    <a:ext uri="{9D8B030D-6E8A-4147-A177-3AD203B41FA5}">
                      <a16:colId xmlns:a16="http://schemas.microsoft.com/office/drawing/2014/main" val="1311963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Access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Trunk 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9251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Normally carries traffic for </a:t>
                      </a:r>
                      <a:r>
                        <a:rPr lang="en-IN" b="1"/>
                        <a:t>one VLAN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carry traffic for </a:t>
                      </a:r>
                      <a:r>
                        <a:rPr lang="en-IN" b="1"/>
                        <a:t>multiple VLANs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533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Usually connects an end 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Commonly connects switches or other VLAN-aware network devices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565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PC → Switch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Switch → Switch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069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 device normally receives/sends ordinary untagged Ethernet frames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VLAN identification is normally carried using VLAN tags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123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Fa0/1 assigned to VLAN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Example: G0/1 carries VLAN 10 and VLAN 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227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66942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829BD-53CD-9892-0492-0196A8AF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1CAAC-C9F1-D6C9-0ACF-39DC2340E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Advantages of VLAN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19ECC5-4FF8-CE9C-B791-8B32905C7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939890"/>
              </p:ext>
            </p:extLst>
          </p:nvPr>
        </p:nvGraphicFramePr>
        <p:xfrm>
          <a:off x="385011" y="1312333"/>
          <a:ext cx="812800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73864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6863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425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Logical separation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Different groups can be separated on the same switching infrastructure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077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Smaller broadcast domains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Broadcast traffic is limited to the VLAN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95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Better organization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Devices can be grouped by department or 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185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Improved isolation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Different VLANs are separated at Layer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5419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Flexibility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Logical grouping is not based only on physical switch placement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566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Efficient infrastructure use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Multiple logical LANs can share physical switching equipment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043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90365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96D55-AF4D-CE69-10D1-A2BAF9906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FE06-8E75-FD0A-A25E-02341844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509505"/>
            <a:ext cx="11421978" cy="395751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Disadvantages of VLAN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F8FD50-9CF1-C9B8-F226-E2164A483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455279"/>
              </p:ext>
            </p:extLst>
          </p:nvPr>
        </p:nvGraphicFramePr>
        <p:xfrm>
          <a:off x="385011" y="1312333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73864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6863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425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Configuration is required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VLANs must be created and switch ports assigned correctly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077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More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VLANs require proper planning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95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Different VLANs cannot communicate directly at Layer 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Layer-3 routing is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185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Wrong configuration can cause communication problems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Incorrect VLAN assignment can isolate devices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5419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Troubleshooting can become more complex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Administrator must check both VLAN and IP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5661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583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6610</TotalTime>
  <Words>8689</Words>
  <Application>Microsoft Office PowerPoint</Application>
  <PresentationFormat>Widescreen</PresentationFormat>
  <Paragraphs>2152</Paragraphs>
  <Slides>110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6" baseType="lpstr">
      <vt:lpstr>Arial</vt:lpstr>
      <vt:lpstr>Calibri</vt:lpstr>
      <vt:lpstr>Calibri Light</vt:lpstr>
      <vt:lpstr>Cambria Math</vt:lpstr>
      <vt:lpstr>Courier New</vt:lpstr>
      <vt:lpstr>Office Theme</vt:lpstr>
      <vt:lpstr>Computer Networks</vt:lpstr>
      <vt:lpstr>Contents</vt:lpstr>
      <vt:lpstr>Introduction to Routing</vt:lpstr>
      <vt:lpstr>Why is Routing Required?</vt:lpstr>
      <vt:lpstr>Routing vs Forwarding</vt:lpstr>
      <vt:lpstr>Difference</vt:lpstr>
      <vt:lpstr>What is a Route?</vt:lpstr>
      <vt:lpstr>What is a Routing Table?</vt:lpstr>
      <vt:lpstr>What is a Destination Network?</vt:lpstr>
      <vt:lpstr>What is a Metric?</vt:lpstr>
      <vt:lpstr>Does the Shortest Path Always Mean Physically Shortest?</vt:lpstr>
      <vt:lpstr>How Does a Router Learn Routes?</vt:lpstr>
      <vt:lpstr>What Happens When a Link Fails?</vt:lpstr>
      <vt:lpstr>What is Convergence?</vt:lpstr>
      <vt:lpstr>What is a Routing Algorithm?</vt:lpstr>
      <vt:lpstr>Topic 2: Shortest Path / Least-Cost Path Concept</vt:lpstr>
      <vt:lpstr>What is the Shortest Path?</vt:lpstr>
      <vt:lpstr>What is Cost?</vt:lpstr>
      <vt:lpstr>What Can Be Used as a Routing Metric?</vt:lpstr>
      <vt:lpstr>Representing a Network as a Graph</vt:lpstr>
      <vt:lpstr>Numerical Example</vt:lpstr>
      <vt:lpstr>Bellman-Ford vs Dijkstra — Just the Basic Idea</vt:lpstr>
      <vt:lpstr>What is a Shortest Path Tree?</vt:lpstr>
      <vt:lpstr>What is Distance Vector Routing?</vt:lpstr>
      <vt:lpstr>What is Distance Vector Routing?</vt:lpstr>
      <vt:lpstr>Example:</vt:lpstr>
      <vt:lpstr>What Information Does a Router Maintain?:</vt:lpstr>
      <vt:lpstr>What Does a Router Know Initially?</vt:lpstr>
      <vt:lpstr>Main Rule of Distance Vector Routing</vt:lpstr>
      <vt:lpstr>Bellman-Ford Equation</vt:lpstr>
      <vt:lpstr>Example 1</vt:lpstr>
      <vt:lpstr>Example 1</vt:lpstr>
      <vt:lpstr>Final Least Cost</vt:lpstr>
      <vt:lpstr>Example 2</vt:lpstr>
      <vt:lpstr>Example</vt:lpstr>
      <vt:lpstr>Example</vt:lpstr>
      <vt:lpstr>Example</vt:lpstr>
      <vt:lpstr>Example</vt:lpstr>
      <vt:lpstr>PowerPoint Presentation</vt:lpstr>
      <vt:lpstr>Final Least Costs</vt:lpstr>
      <vt:lpstr>What Happens When Network Conditions Change?</vt:lpstr>
      <vt:lpstr>What Happens When Network Conditions Change?</vt:lpstr>
      <vt:lpstr>What Happens When Network Conditions Change?</vt:lpstr>
      <vt:lpstr>What Happens When Network Conditions Change?</vt:lpstr>
      <vt:lpstr>Count-to-Infinity in RIP</vt:lpstr>
      <vt:lpstr>Advantages of Distance Vector Routing</vt:lpstr>
      <vt:lpstr>Disadvantages of Distance Vector Routing</vt:lpstr>
      <vt:lpstr>Link State Routing</vt:lpstr>
      <vt:lpstr>Main Difference from Distance Vector</vt:lpstr>
      <vt:lpstr>Complete Working of Link State Routing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1</vt:lpstr>
      <vt:lpstr>Example 1</vt:lpstr>
      <vt:lpstr>Example 1</vt:lpstr>
      <vt:lpstr>Example 1</vt:lpstr>
      <vt:lpstr>Example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of Link State Routing</vt:lpstr>
      <vt:lpstr>Disadvantages of Link State Routing</vt:lpstr>
      <vt:lpstr>Distance vector vs Link State</vt:lpstr>
      <vt:lpstr>Unicast Routing</vt:lpstr>
      <vt:lpstr>Unicast Routing</vt:lpstr>
      <vt:lpstr>Unicast Routing: Router Mainly Looks at Destination IP</vt:lpstr>
      <vt:lpstr>Example:</vt:lpstr>
      <vt:lpstr>Example:</vt:lpstr>
      <vt:lpstr>Example:</vt:lpstr>
      <vt:lpstr>What Information is Required for Unicast Routing?</vt:lpstr>
      <vt:lpstr>Characteristics of Unicast Routing</vt:lpstr>
      <vt:lpstr>Advantages of Unicast</vt:lpstr>
      <vt:lpstr>Disadvantages of Unicast</vt:lpstr>
      <vt:lpstr>Hierarchical Routing: Need</vt:lpstr>
      <vt:lpstr>What is Hierarchical Routing?</vt:lpstr>
      <vt:lpstr>Real Life Example</vt:lpstr>
      <vt:lpstr>PowerPoint Presentation</vt:lpstr>
      <vt:lpstr>PowerPoint Presentation</vt:lpstr>
      <vt:lpstr>Advantages of Hierarchical Routing</vt:lpstr>
      <vt:lpstr>Disadvantages of Hierarchical Routing</vt:lpstr>
      <vt:lpstr>Flat vs Hierarchical Routing</vt:lpstr>
      <vt:lpstr>Broadcast Routing</vt:lpstr>
      <vt:lpstr>Need for Broadcast Routing</vt:lpstr>
      <vt:lpstr>Example: ARP (Address Resolution Protocol)</vt:lpstr>
      <vt:lpstr>How Can Broadcast Routing Be Performed?</vt:lpstr>
      <vt:lpstr>Broadcast vs Unicast vs Multicast</vt:lpstr>
      <vt:lpstr>Advantages of Broadcast Routing</vt:lpstr>
      <vt:lpstr>Disadvantages of Broadcast Routing</vt:lpstr>
      <vt:lpstr>DHCP — Dynamic Host Configuration Protocol</vt:lpstr>
      <vt:lpstr>What is DHCP?</vt:lpstr>
      <vt:lpstr>What Does a DHCP Server Provide?</vt:lpstr>
      <vt:lpstr>PowerPoint Presentation</vt:lpstr>
      <vt:lpstr>DORA</vt:lpstr>
      <vt:lpstr>PowerPoint Presentation</vt:lpstr>
      <vt:lpstr>PowerPoint Presentation</vt:lpstr>
      <vt:lpstr>Advantages of DHCP</vt:lpstr>
      <vt:lpstr>Disadvantage of DHCP</vt:lpstr>
      <vt:lpstr>What is VLAN? [Virtual Local Area Network]</vt:lpstr>
      <vt:lpstr>Need for VLAN</vt:lpstr>
      <vt:lpstr>Access Port</vt:lpstr>
      <vt:lpstr>Trunk Port</vt:lpstr>
      <vt:lpstr>Advantages of VLAN</vt:lpstr>
      <vt:lpstr>Disadvantages of VLAN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251</cp:revision>
  <dcterms:created xsi:type="dcterms:W3CDTF">2026-06-17T09:11:57Z</dcterms:created>
  <dcterms:modified xsi:type="dcterms:W3CDTF">2026-09-16T04:56:35Z</dcterms:modified>
</cp:coreProperties>
</file>