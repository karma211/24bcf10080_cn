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336" r:id="rId5"/>
    <p:sldId id="337" r:id="rId6"/>
    <p:sldId id="338" r:id="rId7"/>
    <p:sldId id="259" r:id="rId8"/>
    <p:sldId id="260" r:id="rId9"/>
    <p:sldId id="313" r:id="rId10"/>
    <p:sldId id="346" r:id="rId11"/>
    <p:sldId id="314" r:id="rId12"/>
    <p:sldId id="347" r:id="rId13"/>
    <p:sldId id="315" r:id="rId14"/>
    <p:sldId id="316" r:id="rId15"/>
    <p:sldId id="317" r:id="rId16"/>
    <p:sldId id="318" r:id="rId17"/>
    <p:sldId id="261" r:id="rId18"/>
    <p:sldId id="262" r:id="rId19"/>
    <p:sldId id="348" r:id="rId20"/>
    <p:sldId id="319" r:id="rId21"/>
    <p:sldId id="349" r:id="rId22"/>
    <p:sldId id="320" r:id="rId23"/>
    <p:sldId id="350" r:id="rId24"/>
    <p:sldId id="351" r:id="rId25"/>
    <p:sldId id="354" r:id="rId26"/>
    <p:sldId id="263" r:id="rId27"/>
    <p:sldId id="352" r:id="rId28"/>
    <p:sldId id="321" r:id="rId29"/>
    <p:sldId id="355" r:id="rId30"/>
    <p:sldId id="264" r:id="rId31"/>
    <p:sldId id="322" r:id="rId32"/>
    <p:sldId id="323" r:id="rId33"/>
    <p:sldId id="324" r:id="rId34"/>
    <p:sldId id="339" r:id="rId35"/>
    <p:sldId id="325" r:id="rId36"/>
    <p:sldId id="326" r:id="rId37"/>
    <p:sldId id="340" r:id="rId38"/>
    <p:sldId id="327" r:id="rId39"/>
    <p:sldId id="328" r:id="rId40"/>
    <p:sldId id="341" r:id="rId41"/>
    <p:sldId id="329" r:id="rId42"/>
    <p:sldId id="330" r:id="rId43"/>
    <p:sldId id="342" r:id="rId44"/>
    <p:sldId id="331" r:id="rId45"/>
    <p:sldId id="332" r:id="rId46"/>
    <p:sldId id="343" r:id="rId47"/>
    <p:sldId id="265" r:id="rId48"/>
    <p:sldId id="333" r:id="rId49"/>
    <p:sldId id="334" r:id="rId50"/>
    <p:sldId id="335" r:id="rId51"/>
    <p:sldId id="344" r:id="rId52"/>
    <p:sldId id="35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4660"/>
  </p:normalViewPr>
  <p:slideViewPr>
    <p:cSldViewPr snapToGrid="0">
      <p:cViewPr varScale="1">
        <p:scale>
          <a:sx n="105" d="100"/>
          <a:sy n="105" d="100"/>
        </p:scale>
        <p:origin x="9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37B16-4438-4F01-BC69-55049E47ED5F}" type="datetimeFigureOut">
              <a:rPr lang="en-IN" smtClean="0"/>
              <a:t>09-07-2026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ABE0C6-5214-4C14-874B-CFCA55F62F2F}" type="slidenum">
              <a:rPr lang="en-IN" smtClean="0"/>
              <a:t>‹#›</a:t>
            </a:fld>
            <a:endParaRPr lang="en-IN"/>
          </a:p>
        </p:txBody>
      </p:sp>
    </p:spTree>
    <p:extLst>
      <p:ext uri="{BB962C8B-B14F-4D97-AF65-F5344CB8AC3E}">
        <p14:creationId xmlns:p14="http://schemas.microsoft.com/office/powerpoint/2010/main" val="459081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5ABE0C6-5214-4C14-874B-CFCA55F62F2F}" type="slidenum">
              <a:rPr lang="en-IN" smtClean="0"/>
              <a:t>29</a:t>
            </a:fld>
            <a:endParaRPr lang="en-IN"/>
          </a:p>
        </p:txBody>
      </p:sp>
    </p:spTree>
    <p:extLst>
      <p:ext uri="{BB962C8B-B14F-4D97-AF65-F5344CB8AC3E}">
        <p14:creationId xmlns:p14="http://schemas.microsoft.com/office/powerpoint/2010/main" val="2363316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35B0-2E11-C739-69DB-364B50BC44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87A682-50E1-D718-98BB-0C03CDEB4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E5C3F3-5A4E-2CA7-F0D3-1E368F1325BC}"/>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5" name="Footer Placeholder 4">
            <a:extLst>
              <a:ext uri="{FF2B5EF4-FFF2-40B4-BE49-F238E27FC236}">
                <a16:creationId xmlns:a16="http://schemas.microsoft.com/office/drawing/2014/main" id="{E74371E8-D93E-C2FF-CFBA-894890D4DF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CFCED8-5C15-079E-5683-4F4A63796AA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52823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165B-2DD9-C21D-9E4B-088A359845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2A5AD-2FF5-E1F8-9931-4285120FCE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8FA393-9C5E-1CAD-F178-46E249C77534}"/>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5" name="Footer Placeholder 4">
            <a:extLst>
              <a:ext uri="{FF2B5EF4-FFF2-40B4-BE49-F238E27FC236}">
                <a16:creationId xmlns:a16="http://schemas.microsoft.com/office/drawing/2014/main" id="{FCDED7A9-F787-B9BD-5A26-DB0D5849D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438EA-0CBA-3E52-9115-778AD438944B}"/>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43821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6E5D-98F1-37C7-FC25-CCB699F9B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62DC34-E631-12FA-549C-E52BEBBD99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53A9A-7129-18CF-AAB2-D839585474A6}"/>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5" name="Footer Placeholder 4">
            <a:extLst>
              <a:ext uri="{FF2B5EF4-FFF2-40B4-BE49-F238E27FC236}">
                <a16:creationId xmlns:a16="http://schemas.microsoft.com/office/drawing/2014/main" id="{08DE5574-9C57-B457-E05A-77C66C673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17AD6-B667-E2B4-D2E5-710323E5AEC6}"/>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310582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BC63-7456-D1F9-A162-78594A30AA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9CC7F6-A474-AC27-613F-B48A7AAD8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7829F0-327A-2F26-9F9B-0B312F1A95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F87326-1987-B189-28DE-A090D08D8D14}"/>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6" name="Footer Placeholder 5">
            <a:extLst>
              <a:ext uri="{FF2B5EF4-FFF2-40B4-BE49-F238E27FC236}">
                <a16:creationId xmlns:a16="http://schemas.microsoft.com/office/drawing/2014/main" id="{3DDD356B-9C9E-BDC0-DAEC-E972AE5398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2B52F5-53DD-D223-CE59-66255741BC5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226830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C4C7-14EC-4BB0-E0DC-AB13AD2860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9C2B95-E867-D870-7C7F-CA0903AB74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45D53E-3BA6-8B31-AFF3-D0EDE9D705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D6DBE8-84D2-5E9A-371C-AB768F4E2D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B7287E-4DA7-20FD-B7C1-37509F0F7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CBF527-5D51-4795-2713-056103C2ED9B}"/>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8" name="Footer Placeholder 7">
            <a:extLst>
              <a:ext uri="{FF2B5EF4-FFF2-40B4-BE49-F238E27FC236}">
                <a16:creationId xmlns:a16="http://schemas.microsoft.com/office/drawing/2014/main" id="{E037B607-5F54-9092-0C4D-CCD410446E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3AE7A-0B5F-B4FC-70F0-1E87A92E206A}"/>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814869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4A22-D351-DF7C-00FF-B94A6EFDD7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9F6709-02AC-CA33-E808-586F5E8529EA}"/>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4" name="Footer Placeholder 3">
            <a:extLst>
              <a:ext uri="{FF2B5EF4-FFF2-40B4-BE49-F238E27FC236}">
                <a16:creationId xmlns:a16="http://schemas.microsoft.com/office/drawing/2014/main" id="{A0A60254-780D-7B92-0902-421F461CCF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CDF8FF-41B4-3716-C394-EE0159FDDABC}"/>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06058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47B3BD-D617-3C35-1AB6-6C6A4E44E2EF}"/>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3" name="Footer Placeholder 2">
            <a:extLst>
              <a:ext uri="{FF2B5EF4-FFF2-40B4-BE49-F238E27FC236}">
                <a16:creationId xmlns:a16="http://schemas.microsoft.com/office/drawing/2014/main" id="{8F060D8F-3B0A-6713-FDD1-2537105CB9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59A2E4-0DFD-D51C-6B82-6C14A169EC23}"/>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66208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D0AE-FA26-BFCE-5B03-7D92BD27D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1E4246-2740-AF92-4924-2AC4B2FE1B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60E825-8180-0E22-1F76-6C71A0ED9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1EF12-4D15-0E18-B33E-F1E50CB2D729}"/>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6" name="Footer Placeholder 5">
            <a:extLst>
              <a:ext uri="{FF2B5EF4-FFF2-40B4-BE49-F238E27FC236}">
                <a16:creationId xmlns:a16="http://schemas.microsoft.com/office/drawing/2014/main" id="{00060264-ABCF-9739-E5C5-6FC0E4A1A1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1ADC3-C221-91B1-DF01-C4839B44A944}"/>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79333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A673-9EFF-961A-B81C-4BEB57BE7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A5C82A-3DD1-B7D0-C4FB-6E2E9CBCC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B84FB1-2EE9-7A86-3114-329876C28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A6D42-E88E-3A27-5384-50319FAD310A}"/>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6" name="Footer Placeholder 5">
            <a:extLst>
              <a:ext uri="{FF2B5EF4-FFF2-40B4-BE49-F238E27FC236}">
                <a16:creationId xmlns:a16="http://schemas.microsoft.com/office/drawing/2014/main" id="{5BB7F436-1513-6D61-E222-645EFA478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31E9D6-0990-5804-1808-BD85CFEC903D}"/>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816207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2D2B-210E-8CCD-C1B7-690B8B0787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0AE3B0-5D83-7159-2547-F9770F73D1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2A936-1387-088C-2B2E-6C9C7D3A85F3}"/>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5" name="Footer Placeholder 4">
            <a:extLst>
              <a:ext uri="{FF2B5EF4-FFF2-40B4-BE49-F238E27FC236}">
                <a16:creationId xmlns:a16="http://schemas.microsoft.com/office/drawing/2014/main" id="{D06F6D25-0002-D4B1-11BD-6EB85C6CE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5D986-C532-24B9-4B76-4466D0DD4547}"/>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86055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13FA5-C7CD-0413-1726-170EBEC241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7AB966-7617-A5E8-BE31-2072AB8075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D02B28-064F-861F-B8F9-E8ABDFB9C1E6}"/>
              </a:ext>
            </a:extLst>
          </p:cNvPr>
          <p:cNvSpPr>
            <a:spLocks noGrp="1"/>
          </p:cNvSpPr>
          <p:nvPr>
            <p:ph type="dt" sz="half" idx="10"/>
          </p:nvPr>
        </p:nvSpPr>
        <p:spPr/>
        <p:txBody>
          <a:bodyPr/>
          <a:lstStyle/>
          <a:p>
            <a:fld id="{76D1D44E-AB28-4CBC-A39C-24E65F43CAF0}" type="datetimeFigureOut">
              <a:rPr lang="en-IN" smtClean="0"/>
              <a:t>09-07-2026</a:t>
            </a:fld>
            <a:endParaRPr lang="en-IN"/>
          </a:p>
        </p:txBody>
      </p:sp>
      <p:sp>
        <p:nvSpPr>
          <p:cNvPr id="5" name="Footer Placeholder 4">
            <a:extLst>
              <a:ext uri="{FF2B5EF4-FFF2-40B4-BE49-F238E27FC236}">
                <a16:creationId xmlns:a16="http://schemas.microsoft.com/office/drawing/2014/main" id="{5F301644-CEEF-85C2-108C-FDD7804D3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0FC37-4F38-9433-D755-3B53E82279A1}"/>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7340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E2FEC6-FDE4-5248-150B-C0D1D84B9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1ED9D89-6AD7-5F4F-E83D-1D646A846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C4029-7543-0447-F921-F388371633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D1D44E-AB28-4CBC-A39C-24E65F43CAF0}" type="datetimeFigureOut">
              <a:rPr lang="en-IN" smtClean="0"/>
              <a:t>09-07-2026</a:t>
            </a:fld>
            <a:endParaRPr lang="en-IN"/>
          </a:p>
        </p:txBody>
      </p:sp>
      <p:sp>
        <p:nvSpPr>
          <p:cNvPr id="5" name="Footer Placeholder 4">
            <a:extLst>
              <a:ext uri="{FF2B5EF4-FFF2-40B4-BE49-F238E27FC236}">
                <a16:creationId xmlns:a16="http://schemas.microsoft.com/office/drawing/2014/main" id="{84A3F134-11C7-5AA3-F3BB-52B4D224B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1FDA509-422C-EE10-B291-6D7B469A50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F51036-C248-445B-92C7-3B36FDACE25D}" type="slidenum">
              <a:rPr lang="en-IN" smtClean="0"/>
              <a:t>‹#›</a:t>
            </a:fld>
            <a:endParaRPr lang="en-IN"/>
          </a:p>
        </p:txBody>
      </p:sp>
      <p:pic>
        <p:nvPicPr>
          <p:cNvPr id="8" name="Picture 7">
            <a:extLst>
              <a:ext uri="{FF2B5EF4-FFF2-40B4-BE49-F238E27FC236}">
                <a16:creationId xmlns:a16="http://schemas.microsoft.com/office/drawing/2014/main" id="{BC7FC92D-6EC7-3DCB-B94C-619543D8C54E}"/>
              </a:ext>
            </a:extLst>
          </p:cNvPr>
          <p:cNvPicPr>
            <a:picLocks noChangeAspect="1"/>
          </p:cNvPicPr>
          <p:nvPr userDrawn="1"/>
        </p:nvPicPr>
        <p:blipFill>
          <a:blip r:embed="rId13"/>
          <a:stretch>
            <a:fillRect/>
          </a:stretch>
        </p:blipFill>
        <p:spPr>
          <a:xfrm>
            <a:off x="120770" y="60385"/>
            <a:ext cx="11904453" cy="500332"/>
          </a:xfrm>
          <a:prstGeom prst="rect">
            <a:avLst/>
          </a:prstGeom>
        </p:spPr>
      </p:pic>
    </p:spTree>
    <p:extLst>
      <p:ext uri="{BB962C8B-B14F-4D97-AF65-F5344CB8AC3E}">
        <p14:creationId xmlns:p14="http://schemas.microsoft.com/office/powerpoint/2010/main" val="3051297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8BC5-2CDF-002D-43CC-10F2FB6378A5}"/>
              </a:ext>
            </a:extLst>
          </p:cNvPr>
          <p:cNvSpPr>
            <a:spLocks noGrp="1"/>
          </p:cNvSpPr>
          <p:nvPr>
            <p:ph type="ctrTitle"/>
          </p:nvPr>
        </p:nvSpPr>
        <p:spPr/>
        <p:txBody>
          <a:bodyPr/>
          <a:lstStyle/>
          <a:p>
            <a:r>
              <a:rPr lang="en-US" dirty="0"/>
              <a:t>Computer Networks</a:t>
            </a:r>
            <a:endParaRPr lang="en-IN" dirty="0"/>
          </a:p>
        </p:txBody>
      </p:sp>
      <p:sp>
        <p:nvSpPr>
          <p:cNvPr id="3" name="Subtitle 2">
            <a:extLst>
              <a:ext uri="{FF2B5EF4-FFF2-40B4-BE49-F238E27FC236}">
                <a16:creationId xmlns:a16="http://schemas.microsoft.com/office/drawing/2014/main" id="{39C0DBBC-FF82-56F1-2B4E-AF7B9BF0BFF7}"/>
              </a:ext>
            </a:extLst>
          </p:cNvPr>
          <p:cNvSpPr>
            <a:spLocks noGrp="1"/>
          </p:cNvSpPr>
          <p:nvPr>
            <p:ph type="subTitle" idx="1"/>
          </p:nvPr>
        </p:nvSpPr>
        <p:spPr/>
        <p:txBody>
          <a:bodyPr/>
          <a:lstStyle/>
          <a:p>
            <a:r>
              <a:rPr lang="en-US" dirty="0"/>
              <a:t>CSE-AIT</a:t>
            </a:r>
            <a:br>
              <a:rPr lang="en-US" dirty="0"/>
            </a:br>
            <a:r>
              <a:rPr lang="en-US" dirty="0"/>
              <a:t>CHAPTER 1.1</a:t>
            </a:r>
            <a:endParaRPr lang="en-IN" dirty="0"/>
          </a:p>
        </p:txBody>
      </p:sp>
      <p:sp>
        <p:nvSpPr>
          <p:cNvPr id="4" name="TextBox 3">
            <a:extLst>
              <a:ext uri="{FF2B5EF4-FFF2-40B4-BE49-F238E27FC236}">
                <a16:creationId xmlns:a16="http://schemas.microsoft.com/office/drawing/2014/main" id="{D17E4571-81D3-3F2E-A57B-5EBD74A8A0B7}"/>
              </a:ext>
            </a:extLst>
          </p:cNvPr>
          <p:cNvSpPr txBox="1"/>
          <p:nvPr/>
        </p:nvSpPr>
        <p:spPr>
          <a:xfrm>
            <a:off x="2385883" y="6092518"/>
            <a:ext cx="7735171" cy="646331"/>
          </a:xfrm>
          <a:prstGeom prst="rect">
            <a:avLst/>
          </a:prstGeom>
          <a:noFill/>
        </p:spPr>
        <p:txBody>
          <a:bodyPr wrap="square" rtlCol="0">
            <a:spAutoFit/>
          </a:bodyPr>
          <a:lstStyle/>
          <a:p>
            <a:pPr algn="ctr"/>
            <a:r>
              <a:rPr lang="en-US" dirty="0"/>
              <a:t>ALOK KUMAR – ASSISTANT PROFESSOR &amp; KARGIL TECHINCAL TRAINER (DCPD) </a:t>
            </a:r>
            <a:br>
              <a:rPr lang="en-US" dirty="0"/>
            </a:br>
            <a:r>
              <a:rPr lang="en-US" dirty="0"/>
              <a:t>EMAIL: DCPD.KARGILT1@CUMAIL.IN</a:t>
            </a:r>
            <a:endParaRPr lang="en-IN" dirty="0"/>
          </a:p>
        </p:txBody>
      </p:sp>
    </p:spTree>
    <p:extLst>
      <p:ext uri="{BB962C8B-B14F-4D97-AF65-F5344CB8AC3E}">
        <p14:creationId xmlns:p14="http://schemas.microsoft.com/office/powerpoint/2010/main" val="286648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EA74-A973-F2A5-CD14-1B7EFD8F2811}"/>
              </a:ext>
            </a:extLst>
          </p:cNvPr>
          <p:cNvSpPr>
            <a:spLocks noGrp="1"/>
          </p:cNvSpPr>
          <p:nvPr>
            <p:ph type="title"/>
          </p:nvPr>
        </p:nvSpPr>
        <p:spPr>
          <a:xfrm>
            <a:off x="838200" y="365125"/>
            <a:ext cx="10515600" cy="796163"/>
          </a:xfrm>
        </p:spPr>
        <p:txBody>
          <a:bodyPr>
            <a:normAutofit/>
          </a:bodyPr>
          <a:lstStyle/>
          <a:p>
            <a:r>
              <a:rPr lang="en-US" dirty="0"/>
              <a:t>Contents</a:t>
            </a:r>
            <a:endParaRPr lang="en-IN" dirty="0"/>
          </a:p>
        </p:txBody>
      </p:sp>
      <p:sp>
        <p:nvSpPr>
          <p:cNvPr id="3" name="Content Placeholder 2">
            <a:extLst>
              <a:ext uri="{FF2B5EF4-FFF2-40B4-BE49-F238E27FC236}">
                <a16:creationId xmlns:a16="http://schemas.microsoft.com/office/drawing/2014/main" id="{9529EDEE-0AED-5107-CD8E-199C43709E6A}"/>
              </a:ext>
            </a:extLst>
          </p:cNvPr>
          <p:cNvSpPr>
            <a:spLocks noGrp="1"/>
          </p:cNvSpPr>
          <p:nvPr>
            <p:ph idx="1"/>
          </p:nvPr>
        </p:nvSpPr>
        <p:spPr>
          <a:xfrm>
            <a:off x="838200" y="1316736"/>
            <a:ext cx="10515600" cy="4860227"/>
          </a:xfrm>
        </p:spPr>
        <p:txBody>
          <a:bodyPr/>
          <a:lstStyle/>
          <a:p>
            <a:r>
              <a:rPr lang="en-US" dirty="0"/>
              <a:t>Network &amp; its types, Uses of Computer Network</a:t>
            </a:r>
          </a:p>
          <a:p>
            <a:r>
              <a:rPr lang="en-US" dirty="0"/>
              <a:t>Data Transmission</a:t>
            </a:r>
          </a:p>
          <a:p>
            <a:r>
              <a:rPr lang="en-US" dirty="0"/>
              <a:t>Network Architecture</a:t>
            </a:r>
          </a:p>
          <a:p>
            <a:r>
              <a:rPr lang="en-US" dirty="0"/>
              <a:t>Network Topologies &amp; architecture</a:t>
            </a:r>
          </a:p>
          <a:p>
            <a:r>
              <a:rPr lang="en-US" dirty="0"/>
              <a:t>Networking Devices Introduction: Hub, Switch and Routers.</a:t>
            </a:r>
            <a:endParaRPr lang="en-IN" dirty="0"/>
          </a:p>
        </p:txBody>
      </p:sp>
    </p:spTree>
    <p:extLst>
      <p:ext uri="{BB962C8B-B14F-4D97-AF65-F5344CB8AC3E}">
        <p14:creationId xmlns:p14="http://schemas.microsoft.com/office/powerpoint/2010/main" val="2790243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4FAD-9B90-EFFD-F703-A43CACF92EC6}"/>
              </a:ext>
            </a:extLst>
          </p:cNvPr>
          <p:cNvSpPr>
            <a:spLocks noGrp="1"/>
          </p:cNvSpPr>
          <p:nvPr>
            <p:ph type="title"/>
          </p:nvPr>
        </p:nvSpPr>
        <p:spPr>
          <a:xfrm>
            <a:off x="157655" y="567559"/>
            <a:ext cx="11871435" cy="520262"/>
          </a:xfrm>
        </p:spPr>
        <p:txBody>
          <a:bodyPr>
            <a:normAutofit fontScale="90000"/>
          </a:bodyPr>
          <a:lstStyle/>
          <a:p>
            <a:r>
              <a:rPr lang="en-US" dirty="0"/>
              <a:t>Need of Computer Networks?</a:t>
            </a:r>
            <a:endParaRPr lang="en-IN" dirty="0"/>
          </a:p>
        </p:txBody>
      </p:sp>
      <p:sp>
        <p:nvSpPr>
          <p:cNvPr id="6" name="Content Placeholder 2">
            <a:extLst>
              <a:ext uri="{FF2B5EF4-FFF2-40B4-BE49-F238E27FC236}">
                <a16:creationId xmlns:a16="http://schemas.microsoft.com/office/drawing/2014/main" id="{F997050F-C026-2D5F-A182-0F5B9F893F59}"/>
              </a:ext>
            </a:extLst>
          </p:cNvPr>
          <p:cNvSpPr>
            <a:spLocks noGrp="1"/>
          </p:cNvSpPr>
          <p:nvPr>
            <p:ph idx="1"/>
          </p:nvPr>
        </p:nvSpPr>
        <p:spPr>
          <a:xfrm>
            <a:off x="394138" y="1443790"/>
            <a:ext cx="10959662" cy="5049086"/>
          </a:xfrm>
        </p:spPr>
        <p:txBody>
          <a:bodyPr>
            <a:normAutofit/>
          </a:bodyPr>
          <a:lstStyle/>
          <a:p>
            <a:r>
              <a:rPr lang="en-IN" sz="2000" dirty="0"/>
              <a:t>Imagine a bank in the 1970s with five computers. If Computer A had a file that Computer B needed, an employee had to copy that file onto a magnetic tape or a floppy disk, physically walk across the room, and insert it into Computer B. This manual process is historically called </a:t>
            </a:r>
            <a:r>
              <a:rPr lang="en-IN" sz="2000" b="1" dirty="0"/>
              <a:t>"Sneakernet“.</a:t>
            </a:r>
          </a:p>
          <a:p>
            <a:r>
              <a:rPr lang="en-IN" sz="2000" b="1" dirty="0"/>
              <a:t>The Problem of Resource Costs:</a:t>
            </a:r>
            <a:r>
              <a:rPr lang="en-IN" sz="2000" dirty="0"/>
              <a:t> In the early days, printers and storage drives were incredibly expensive. A company could not afford to buy a dedicated printer for every single computer.</a:t>
            </a:r>
          </a:p>
          <a:p>
            <a:r>
              <a:rPr lang="en-IN" sz="2000" b="1" dirty="0"/>
              <a:t>The Engineering Solution:</a:t>
            </a:r>
            <a:r>
              <a:rPr lang="en-IN" sz="2000" dirty="0"/>
              <a:t> Computer networks were invented to solve these specific problems by creating electronic pathways between machines.</a:t>
            </a:r>
          </a:p>
          <a:p>
            <a:pPr marL="0" indent="0">
              <a:buNone/>
            </a:pPr>
            <a:r>
              <a:rPr lang="en-IN" sz="2000" dirty="0"/>
              <a:t>Needs: </a:t>
            </a:r>
          </a:p>
          <a:p>
            <a:r>
              <a:rPr lang="en-IN" sz="2000" dirty="0"/>
              <a:t>Resource Sharing</a:t>
            </a:r>
          </a:p>
          <a:p>
            <a:r>
              <a:rPr lang="en-IN" sz="2000" dirty="0"/>
              <a:t>High Reliability &amp; Fault Tolerance</a:t>
            </a:r>
          </a:p>
          <a:p>
            <a:r>
              <a:rPr lang="en-IN" sz="2000" dirty="0"/>
              <a:t>Scalability and Cost Reduction</a:t>
            </a:r>
          </a:p>
          <a:p>
            <a:r>
              <a:rPr lang="en-IN" sz="2000" dirty="0"/>
              <a:t>Instantaneous Communication</a:t>
            </a:r>
          </a:p>
        </p:txBody>
      </p:sp>
    </p:spTree>
    <p:extLst>
      <p:ext uri="{BB962C8B-B14F-4D97-AF65-F5344CB8AC3E}">
        <p14:creationId xmlns:p14="http://schemas.microsoft.com/office/powerpoint/2010/main" val="353238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E81C1F-3757-0EA4-8596-313D41435FD7}"/>
              </a:ext>
            </a:extLst>
          </p:cNvPr>
          <p:cNvPicPr>
            <a:picLocks noChangeAspect="1"/>
          </p:cNvPicPr>
          <p:nvPr/>
        </p:nvPicPr>
        <p:blipFill>
          <a:blip r:embed="rId2"/>
          <a:stretch>
            <a:fillRect/>
          </a:stretch>
        </p:blipFill>
        <p:spPr>
          <a:xfrm>
            <a:off x="1682496" y="603504"/>
            <a:ext cx="8631936" cy="6254496"/>
          </a:xfrm>
          <a:prstGeom prst="rect">
            <a:avLst/>
          </a:prstGeom>
        </p:spPr>
      </p:pic>
    </p:spTree>
    <p:extLst>
      <p:ext uri="{BB962C8B-B14F-4D97-AF65-F5344CB8AC3E}">
        <p14:creationId xmlns:p14="http://schemas.microsoft.com/office/powerpoint/2010/main" val="128831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91180-0AF4-732D-073B-E6272650236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DA6FACD-D8C3-99E7-CEAF-0B3282000213}"/>
              </a:ext>
            </a:extLst>
          </p:cNvPr>
          <p:cNvPicPr>
            <a:picLocks noChangeAspect="1"/>
          </p:cNvPicPr>
          <p:nvPr/>
        </p:nvPicPr>
        <p:blipFill>
          <a:blip r:embed="rId2"/>
          <a:stretch>
            <a:fillRect/>
          </a:stretch>
        </p:blipFill>
        <p:spPr>
          <a:xfrm>
            <a:off x="942256" y="594917"/>
            <a:ext cx="10307488" cy="5668166"/>
          </a:xfrm>
          <a:prstGeom prst="rect">
            <a:avLst/>
          </a:prstGeom>
        </p:spPr>
      </p:pic>
    </p:spTree>
    <p:extLst>
      <p:ext uri="{BB962C8B-B14F-4D97-AF65-F5344CB8AC3E}">
        <p14:creationId xmlns:p14="http://schemas.microsoft.com/office/powerpoint/2010/main" val="1991991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A069D-47FF-658C-0099-4B1C1DE95D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25D3B83-CF3A-F33D-AF5E-682F0F46FB70}"/>
              </a:ext>
            </a:extLst>
          </p:cNvPr>
          <p:cNvPicPr>
            <a:picLocks noChangeAspect="1"/>
          </p:cNvPicPr>
          <p:nvPr/>
        </p:nvPicPr>
        <p:blipFill>
          <a:blip r:embed="rId2"/>
          <a:stretch>
            <a:fillRect/>
          </a:stretch>
        </p:blipFill>
        <p:spPr>
          <a:xfrm>
            <a:off x="330484" y="469338"/>
            <a:ext cx="11403016" cy="6230219"/>
          </a:xfrm>
          <a:prstGeom prst="rect">
            <a:avLst/>
          </a:prstGeom>
        </p:spPr>
      </p:pic>
    </p:spTree>
    <p:extLst>
      <p:ext uri="{BB962C8B-B14F-4D97-AF65-F5344CB8AC3E}">
        <p14:creationId xmlns:p14="http://schemas.microsoft.com/office/powerpoint/2010/main" val="2770651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4FFF-CFB7-239E-521F-FE28BC723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F7D9D-48AF-7AA4-89D0-23A2315B4B31}"/>
              </a:ext>
            </a:extLst>
          </p:cNvPr>
          <p:cNvSpPr>
            <a:spLocks noGrp="1"/>
          </p:cNvSpPr>
          <p:nvPr>
            <p:ph type="title"/>
          </p:nvPr>
        </p:nvSpPr>
        <p:spPr>
          <a:xfrm>
            <a:off x="157655" y="567559"/>
            <a:ext cx="11871435" cy="520262"/>
          </a:xfrm>
        </p:spPr>
        <p:txBody>
          <a:bodyPr>
            <a:normAutofit fontScale="90000"/>
          </a:bodyPr>
          <a:lstStyle/>
          <a:p>
            <a:r>
              <a:rPr lang="en-US" dirty="0"/>
              <a:t>Computer Network</a:t>
            </a:r>
            <a:endParaRPr lang="en-IN" dirty="0"/>
          </a:p>
        </p:txBody>
      </p:sp>
      <p:sp>
        <p:nvSpPr>
          <p:cNvPr id="6" name="Content Placeholder 2">
            <a:extLst>
              <a:ext uri="{FF2B5EF4-FFF2-40B4-BE49-F238E27FC236}">
                <a16:creationId xmlns:a16="http://schemas.microsoft.com/office/drawing/2014/main" id="{A1620627-0499-7A22-14C1-B2E077B3F4D1}"/>
              </a:ext>
            </a:extLst>
          </p:cNvPr>
          <p:cNvSpPr>
            <a:spLocks noGrp="1"/>
          </p:cNvSpPr>
          <p:nvPr>
            <p:ph idx="1"/>
          </p:nvPr>
        </p:nvSpPr>
        <p:spPr>
          <a:xfrm>
            <a:off x="317938" y="1289482"/>
            <a:ext cx="10515600" cy="5000959"/>
          </a:xfrm>
        </p:spPr>
        <p:txBody>
          <a:bodyPr>
            <a:normAutofit/>
          </a:bodyPr>
          <a:lstStyle/>
          <a:p>
            <a:r>
              <a:rPr lang="en-IN" sz="2000" dirty="0"/>
              <a:t>A computer network is an interconnected collection of </a:t>
            </a:r>
            <a:r>
              <a:rPr lang="en-IN" sz="2000" b="1" dirty="0"/>
              <a:t>autonomous</a:t>
            </a:r>
            <a:r>
              <a:rPr lang="en-IN" sz="2000" dirty="0"/>
              <a:t> computing devices that use a shared set of rules (</a:t>
            </a:r>
            <a:r>
              <a:rPr lang="en-IN" sz="2000" b="1" dirty="0"/>
              <a:t>protocols</a:t>
            </a:r>
            <a:r>
              <a:rPr lang="en-IN" sz="2000" dirty="0"/>
              <a:t>) to exchange data over a physical or wireless transmission medium.</a:t>
            </a:r>
          </a:p>
          <a:p>
            <a:r>
              <a:rPr lang="en-IN" sz="2000" b="1" dirty="0"/>
              <a:t>What does "Autonomous" mean?</a:t>
            </a:r>
          </a:p>
          <a:p>
            <a:pPr marL="0" indent="0">
              <a:buNone/>
            </a:pPr>
            <a:r>
              <a:rPr lang="en-IN" sz="2000" dirty="0"/>
              <a:t>Autonomous means each computer retains its own independent control. A network is </a:t>
            </a:r>
            <a:r>
              <a:rPr lang="en-IN" sz="2000" i="1" dirty="0"/>
              <a:t>not</a:t>
            </a:r>
            <a:r>
              <a:rPr lang="en-IN" sz="2000" dirty="0"/>
              <a:t> a system where a master computer controls a "dumb" terminal. No computer on a network can forcefully start, stop, or reboot another computer without explicit, programmed permission.</a:t>
            </a:r>
          </a:p>
          <a:p>
            <a:r>
              <a:rPr lang="en-IN" sz="2000" b="1" dirty="0"/>
              <a:t>What is a Node?</a:t>
            </a:r>
            <a:r>
              <a:rPr lang="en-IN" sz="2000" dirty="0"/>
              <a:t> </a:t>
            </a:r>
          </a:p>
          <a:p>
            <a:pPr marL="0" indent="0">
              <a:buNone/>
            </a:pPr>
            <a:r>
              <a:rPr lang="en-IN" sz="2000" dirty="0"/>
              <a:t>A node is any device connected to a network that can send, receive, or forward data. This includes your laptop, a smartphone, a network printer, a smart TV, or a router.</a:t>
            </a:r>
          </a:p>
        </p:txBody>
      </p:sp>
      <p:pic>
        <p:nvPicPr>
          <p:cNvPr id="4" name="Picture 3">
            <a:extLst>
              <a:ext uri="{FF2B5EF4-FFF2-40B4-BE49-F238E27FC236}">
                <a16:creationId xmlns:a16="http://schemas.microsoft.com/office/drawing/2014/main" id="{BF78D38D-E2F8-A441-9BAA-A50B744029BB}"/>
              </a:ext>
            </a:extLst>
          </p:cNvPr>
          <p:cNvPicPr>
            <a:picLocks noChangeAspect="1"/>
          </p:cNvPicPr>
          <p:nvPr/>
        </p:nvPicPr>
        <p:blipFill>
          <a:blip r:embed="rId2"/>
          <a:stretch>
            <a:fillRect/>
          </a:stretch>
        </p:blipFill>
        <p:spPr>
          <a:xfrm>
            <a:off x="1525497" y="4394740"/>
            <a:ext cx="9135750" cy="2347555"/>
          </a:xfrm>
          <a:prstGeom prst="rect">
            <a:avLst/>
          </a:prstGeom>
        </p:spPr>
      </p:pic>
    </p:spTree>
    <p:extLst>
      <p:ext uri="{BB962C8B-B14F-4D97-AF65-F5344CB8AC3E}">
        <p14:creationId xmlns:p14="http://schemas.microsoft.com/office/powerpoint/2010/main" val="814211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4296A-61FC-319E-702A-2A7C7D6F1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930D5-B2FF-A446-3FC5-C20CDC5368E4}"/>
              </a:ext>
            </a:extLst>
          </p:cNvPr>
          <p:cNvSpPr>
            <a:spLocks noGrp="1"/>
          </p:cNvSpPr>
          <p:nvPr>
            <p:ph type="title"/>
          </p:nvPr>
        </p:nvSpPr>
        <p:spPr>
          <a:xfrm>
            <a:off x="157655" y="567559"/>
            <a:ext cx="11871435" cy="520262"/>
          </a:xfrm>
        </p:spPr>
        <p:txBody>
          <a:bodyPr>
            <a:normAutofit fontScale="90000"/>
          </a:bodyPr>
          <a:lstStyle/>
          <a:p>
            <a:r>
              <a:rPr lang="en-US" dirty="0"/>
              <a:t>Core Structural Components</a:t>
            </a:r>
            <a:endParaRPr lang="en-IN" dirty="0"/>
          </a:p>
        </p:txBody>
      </p:sp>
      <p:sp>
        <p:nvSpPr>
          <p:cNvPr id="3" name="Content Placeholder 2">
            <a:extLst>
              <a:ext uri="{FF2B5EF4-FFF2-40B4-BE49-F238E27FC236}">
                <a16:creationId xmlns:a16="http://schemas.microsoft.com/office/drawing/2014/main" id="{15F2233A-552A-84C2-845E-066A2B754340}"/>
              </a:ext>
            </a:extLst>
          </p:cNvPr>
          <p:cNvSpPr>
            <a:spLocks noGrp="1"/>
          </p:cNvSpPr>
          <p:nvPr>
            <p:ph idx="1"/>
          </p:nvPr>
        </p:nvSpPr>
        <p:spPr>
          <a:xfrm>
            <a:off x="157655" y="1324303"/>
            <a:ext cx="11871435" cy="5281449"/>
          </a:xfrm>
        </p:spPr>
        <p:txBody>
          <a:bodyPr/>
          <a:lstStyle/>
          <a:p>
            <a:r>
              <a:rPr lang="en-IN" b="1" dirty="0"/>
              <a:t>Sender &amp; </a:t>
            </a:r>
            <a:r>
              <a:rPr lang="en-IN" b="1" dirty="0" err="1"/>
              <a:t>Reciever</a:t>
            </a:r>
            <a:r>
              <a:rPr lang="en-IN" b="1" dirty="0"/>
              <a:t>:</a:t>
            </a:r>
            <a:r>
              <a:rPr lang="en-IN" dirty="0"/>
              <a:t> The starting and ending points of data (computers, phones, cameras).</a:t>
            </a:r>
          </a:p>
          <a:p>
            <a:r>
              <a:rPr lang="en-IN" b="1" dirty="0"/>
              <a:t>Transmission Media:</a:t>
            </a:r>
            <a:r>
              <a:rPr lang="en-IN" dirty="0"/>
              <a:t> The physical pathways that carry bits (guided media like copper wires and </a:t>
            </a:r>
            <a:r>
              <a:rPr lang="en-IN" dirty="0" err="1"/>
              <a:t>fiber</a:t>
            </a:r>
            <a:r>
              <a:rPr lang="en-IN" dirty="0"/>
              <a:t>-optic cables, or unguided media like radio waves and Wi-Fi).</a:t>
            </a:r>
          </a:p>
          <a:p>
            <a:r>
              <a:rPr lang="en-IN" b="1" dirty="0"/>
              <a:t>Network Devices:</a:t>
            </a:r>
            <a:r>
              <a:rPr lang="en-IN" dirty="0"/>
              <a:t> The intermediate hardware components that direct and shape traffic (hubs, switches, and routers).</a:t>
            </a:r>
          </a:p>
          <a:p>
            <a:r>
              <a:rPr lang="en-IN" b="1" dirty="0"/>
              <a:t>Protocols:</a:t>
            </a:r>
            <a:r>
              <a:rPr lang="en-IN" dirty="0"/>
              <a:t> The strict, standardized rulebooks that govern how data is formatted, timed, and verified across the medium (such as TCP/IP, HTTP, and Ethernet rules).</a:t>
            </a:r>
          </a:p>
          <a:p>
            <a:endParaRPr lang="en-IN" dirty="0"/>
          </a:p>
        </p:txBody>
      </p:sp>
    </p:spTree>
    <p:extLst>
      <p:ext uri="{BB962C8B-B14F-4D97-AF65-F5344CB8AC3E}">
        <p14:creationId xmlns:p14="http://schemas.microsoft.com/office/powerpoint/2010/main" val="617321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0F353-69FD-BA44-74FC-D2B0BC1AF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298A2-C0C1-75F5-FF1C-A44120135F66}"/>
              </a:ext>
            </a:extLst>
          </p:cNvPr>
          <p:cNvSpPr>
            <a:spLocks noGrp="1"/>
          </p:cNvSpPr>
          <p:nvPr>
            <p:ph type="title"/>
          </p:nvPr>
        </p:nvSpPr>
        <p:spPr>
          <a:xfrm>
            <a:off x="838200" y="577516"/>
            <a:ext cx="10515600" cy="737938"/>
          </a:xfrm>
        </p:spPr>
        <p:txBody>
          <a:bodyPr/>
          <a:lstStyle/>
          <a:p>
            <a:r>
              <a:rPr lang="en-US" dirty="0"/>
              <a:t>Components of a Computer Network</a:t>
            </a:r>
            <a:endParaRPr lang="en-IN" dirty="0"/>
          </a:p>
        </p:txBody>
      </p:sp>
      <p:pic>
        <p:nvPicPr>
          <p:cNvPr id="5" name="Picture 4">
            <a:extLst>
              <a:ext uri="{FF2B5EF4-FFF2-40B4-BE49-F238E27FC236}">
                <a16:creationId xmlns:a16="http://schemas.microsoft.com/office/drawing/2014/main" id="{7383490B-EE0F-5237-252D-FE97CC7F6D9B}"/>
              </a:ext>
            </a:extLst>
          </p:cNvPr>
          <p:cNvPicPr>
            <a:picLocks noChangeAspect="1"/>
          </p:cNvPicPr>
          <p:nvPr/>
        </p:nvPicPr>
        <p:blipFill>
          <a:blip r:embed="rId2"/>
          <a:stretch>
            <a:fillRect/>
          </a:stretch>
        </p:blipFill>
        <p:spPr>
          <a:xfrm>
            <a:off x="533401" y="1435768"/>
            <a:ext cx="10166684" cy="4844716"/>
          </a:xfrm>
          <a:prstGeom prst="rect">
            <a:avLst/>
          </a:prstGeom>
        </p:spPr>
      </p:pic>
    </p:spTree>
    <p:extLst>
      <p:ext uri="{BB962C8B-B14F-4D97-AF65-F5344CB8AC3E}">
        <p14:creationId xmlns:p14="http://schemas.microsoft.com/office/powerpoint/2010/main" val="2336022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CF246-1939-49A7-28D5-CF2781619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70F78-440E-F25F-7AC2-03FD1940A320}"/>
              </a:ext>
            </a:extLst>
          </p:cNvPr>
          <p:cNvSpPr>
            <a:spLocks noGrp="1"/>
          </p:cNvSpPr>
          <p:nvPr>
            <p:ph type="title"/>
          </p:nvPr>
        </p:nvSpPr>
        <p:spPr>
          <a:xfrm>
            <a:off x="157655" y="567559"/>
            <a:ext cx="11871435" cy="520262"/>
          </a:xfrm>
        </p:spPr>
        <p:txBody>
          <a:bodyPr>
            <a:normAutofit fontScale="90000"/>
          </a:bodyPr>
          <a:lstStyle/>
          <a:p>
            <a:r>
              <a:rPr lang="en-US" dirty="0"/>
              <a:t>Characteristics of Good Network</a:t>
            </a:r>
            <a:endParaRPr lang="en-IN" dirty="0"/>
          </a:p>
        </p:txBody>
      </p:sp>
      <p:sp>
        <p:nvSpPr>
          <p:cNvPr id="3" name="Content Placeholder 2">
            <a:extLst>
              <a:ext uri="{FF2B5EF4-FFF2-40B4-BE49-F238E27FC236}">
                <a16:creationId xmlns:a16="http://schemas.microsoft.com/office/drawing/2014/main" id="{93A46675-8619-88E3-28EF-F067470EC665}"/>
              </a:ext>
            </a:extLst>
          </p:cNvPr>
          <p:cNvSpPr>
            <a:spLocks noGrp="1"/>
          </p:cNvSpPr>
          <p:nvPr>
            <p:ph idx="1"/>
          </p:nvPr>
        </p:nvSpPr>
        <p:spPr>
          <a:xfrm>
            <a:off x="157655" y="1324303"/>
            <a:ext cx="11871435" cy="5281449"/>
          </a:xfrm>
        </p:spPr>
        <p:txBody>
          <a:bodyPr/>
          <a:lstStyle/>
          <a:p>
            <a:r>
              <a:rPr lang="en-US" dirty="0"/>
              <a:t>Reliability: </a:t>
            </a:r>
            <a:r>
              <a:rPr lang="en-IN" dirty="0"/>
              <a:t>The network should work continuously without frequent failures.</a:t>
            </a:r>
          </a:p>
          <a:p>
            <a:r>
              <a:rPr lang="en-IN" dirty="0"/>
              <a:t>Speed: Data should travel quickly.</a:t>
            </a:r>
          </a:p>
          <a:p>
            <a:r>
              <a:rPr lang="en-IN" dirty="0"/>
              <a:t>Security: Data should be protected from unauthorized users.</a:t>
            </a:r>
          </a:p>
          <a:p>
            <a:r>
              <a:rPr lang="en-IN" dirty="0"/>
              <a:t>Scalability: The network should allow new computers to be added easily.</a:t>
            </a:r>
          </a:p>
          <a:p>
            <a:r>
              <a:rPr lang="en-IN" dirty="0"/>
              <a:t>Performance: The network should perform efficiently even when many users are connected.</a:t>
            </a:r>
          </a:p>
          <a:p>
            <a:endParaRPr lang="en-IN" dirty="0"/>
          </a:p>
        </p:txBody>
      </p:sp>
    </p:spTree>
    <p:extLst>
      <p:ext uri="{BB962C8B-B14F-4D97-AF65-F5344CB8AC3E}">
        <p14:creationId xmlns:p14="http://schemas.microsoft.com/office/powerpoint/2010/main" val="1665489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FBB9B-403A-6BE7-85F3-AF5F39246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E7A1F-7D9B-9585-DD8C-CB966AC3CE23}"/>
              </a:ext>
            </a:extLst>
          </p:cNvPr>
          <p:cNvSpPr>
            <a:spLocks noGrp="1"/>
          </p:cNvSpPr>
          <p:nvPr>
            <p:ph type="title"/>
          </p:nvPr>
        </p:nvSpPr>
        <p:spPr>
          <a:xfrm>
            <a:off x="838200" y="577516"/>
            <a:ext cx="10515600" cy="737938"/>
          </a:xfrm>
        </p:spPr>
        <p:txBody>
          <a:bodyPr>
            <a:normAutofit/>
          </a:bodyPr>
          <a:lstStyle/>
          <a:p>
            <a:r>
              <a:rPr lang="en-US" dirty="0"/>
              <a:t>Network Types: PAN, LAN, CAN, MAN, &amp; WAN</a:t>
            </a:r>
            <a:endParaRPr lang="en-IN" dirty="0"/>
          </a:p>
        </p:txBody>
      </p:sp>
      <p:sp>
        <p:nvSpPr>
          <p:cNvPr id="3" name="Content Placeholder 2">
            <a:extLst>
              <a:ext uri="{FF2B5EF4-FFF2-40B4-BE49-F238E27FC236}">
                <a16:creationId xmlns:a16="http://schemas.microsoft.com/office/drawing/2014/main" id="{5BE3A6E4-A59C-7451-13C3-9E8A17BEF4B7}"/>
              </a:ext>
            </a:extLst>
          </p:cNvPr>
          <p:cNvSpPr>
            <a:spLocks noGrp="1"/>
          </p:cNvSpPr>
          <p:nvPr>
            <p:ph idx="1"/>
          </p:nvPr>
        </p:nvSpPr>
        <p:spPr>
          <a:xfrm>
            <a:off x="368968" y="1315454"/>
            <a:ext cx="11470106" cy="5177421"/>
          </a:xfrm>
        </p:spPr>
        <p:txBody>
          <a:bodyPr>
            <a:normAutofit/>
          </a:bodyPr>
          <a:lstStyle/>
          <a:p>
            <a:pPr marL="457200" indent="-457200">
              <a:buAutoNum type="arabicPeriod"/>
            </a:pPr>
            <a:r>
              <a:rPr lang="en-IN" sz="2400" b="1" dirty="0">
                <a:highlight>
                  <a:srgbClr val="FFFF00"/>
                </a:highlight>
              </a:rPr>
              <a:t>Personal Area Network(PAN)</a:t>
            </a:r>
          </a:p>
          <a:p>
            <a:pPr marL="0" indent="0">
              <a:buNone/>
            </a:pPr>
            <a:r>
              <a:rPr lang="en-IN" sz="2000" dirty="0"/>
              <a:t>A Personal Area Network (PAN) is a computer network that connects the personal devices of a single user within a short distance, usually up to 10 meters, for the purpose of sharing data and resources.</a:t>
            </a:r>
          </a:p>
          <a:p>
            <a:pPr marL="0" indent="0">
              <a:buNone/>
            </a:pPr>
            <a:r>
              <a:rPr lang="en-IN" sz="2000" b="1" dirty="0"/>
              <a:t>Coverage Area: </a:t>
            </a:r>
            <a:r>
              <a:rPr lang="en-IN" sz="2000" dirty="0"/>
              <a:t>1 to 10 meters.</a:t>
            </a:r>
          </a:p>
          <a:p>
            <a:pPr marL="0" indent="0">
              <a:buNone/>
            </a:pPr>
            <a:r>
              <a:rPr lang="en-IN" sz="2000" b="1" dirty="0"/>
              <a:t>Characteristics of PAN</a:t>
            </a:r>
          </a:p>
          <a:p>
            <a:r>
              <a:rPr lang="en-IN" sz="2000" dirty="0"/>
              <a:t>Very small coverage area. </a:t>
            </a:r>
          </a:p>
          <a:p>
            <a:r>
              <a:rPr lang="en-IN" sz="2000" dirty="0"/>
              <a:t>Used by a single person. </a:t>
            </a:r>
          </a:p>
          <a:p>
            <a:r>
              <a:rPr lang="en-IN" sz="2000" dirty="0"/>
              <a:t>Low installation cost. </a:t>
            </a:r>
          </a:p>
          <a:p>
            <a:r>
              <a:rPr lang="en-IN" sz="2000" dirty="0"/>
              <a:t>Easy to create and manage. </a:t>
            </a:r>
          </a:p>
          <a:p>
            <a:r>
              <a:rPr lang="en-IN" sz="2000" dirty="0"/>
              <a:t>Supports both wired and wireless communication. </a:t>
            </a:r>
          </a:p>
          <a:p>
            <a:r>
              <a:rPr lang="en-IN" sz="2000" dirty="0"/>
              <a:t>Connects personal electronic devices. </a:t>
            </a:r>
          </a:p>
          <a:p>
            <a:r>
              <a:rPr lang="en-IN" sz="2000" dirty="0"/>
              <a:t>Usually does not require expensive networking equipment.</a:t>
            </a:r>
          </a:p>
          <a:p>
            <a:pPr marL="0" indent="0">
              <a:buNone/>
            </a:pPr>
            <a:endParaRPr lang="en-IN" sz="2000" b="1" dirty="0"/>
          </a:p>
        </p:txBody>
      </p:sp>
      <p:sp>
        <p:nvSpPr>
          <p:cNvPr id="5" name="TextBox 4">
            <a:extLst>
              <a:ext uri="{FF2B5EF4-FFF2-40B4-BE49-F238E27FC236}">
                <a16:creationId xmlns:a16="http://schemas.microsoft.com/office/drawing/2014/main" id="{CDD5800F-EB93-BA2F-78BC-17808E71B0D2}"/>
              </a:ext>
            </a:extLst>
          </p:cNvPr>
          <p:cNvSpPr txBox="1"/>
          <p:nvPr/>
        </p:nvSpPr>
        <p:spPr>
          <a:xfrm>
            <a:off x="7283116" y="2934668"/>
            <a:ext cx="3930316" cy="1754326"/>
          </a:xfrm>
          <a:prstGeom prst="rect">
            <a:avLst/>
          </a:prstGeom>
          <a:noFill/>
        </p:spPr>
        <p:txBody>
          <a:bodyPr wrap="square">
            <a:spAutoFit/>
          </a:bodyPr>
          <a:lstStyle/>
          <a:p>
            <a:pPr>
              <a:buNone/>
            </a:pPr>
            <a:r>
              <a:rPr lang="en-IN" b="1" dirty="0"/>
              <a:t>Examples</a:t>
            </a:r>
          </a:p>
          <a:p>
            <a:pPr>
              <a:buNone/>
            </a:pPr>
            <a:r>
              <a:rPr lang="en-IN" dirty="0"/>
              <a:t>A student connects Bluetooth headphones to a mobile phone.</a:t>
            </a:r>
          </a:p>
          <a:p>
            <a:pPr>
              <a:buNone/>
            </a:pPr>
            <a:endParaRPr lang="en-IN" dirty="0"/>
          </a:p>
          <a:p>
            <a:pPr>
              <a:buNone/>
            </a:pPr>
            <a:r>
              <a:rPr lang="en-IN" dirty="0"/>
              <a:t>A laptop connects to a wireless mouse and keyboard.</a:t>
            </a:r>
          </a:p>
        </p:txBody>
      </p:sp>
    </p:spTree>
    <p:extLst>
      <p:ext uri="{BB962C8B-B14F-4D97-AF65-F5344CB8AC3E}">
        <p14:creationId xmlns:p14="http://schemas.microsoft.com/office/powerpoint/2010/main" val="406545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A12C2-4918-D61B-859B-F0822C4C1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C590F6-A251-9EBF-F9DB-112C2A21EDF7}"/>
              </a:ext>
            </a:extLst>
          </p:cNvPr>
          <p:cNvSpPr>
            <a:spLocks noGrp="1"/>
          </p:cNvSpPr>
          <p:nvPr>
            <p:ph type="title"/>
          </p:nvPr>
        </p:nvSpPr>
        <p:spPr>
          <a:xfrm>
            <a:off x="838200" y="577516"/>
            <a:ext cx="10515600" cy="737938"/>
          </a:xfrm>
        </p:spPr>
        <p:txBody>
          <a:bodyPr>
            <a:normAutofit/>
          </a:bodyPr>
          <a:lstStyle/>
          <a:p>
            <a:r>
              <a:rPr lang="en-US" dirty="0"/>
              <a:t>Network Types: PAN, LAN, CAN, MAN, &amp; WAN</a:t>
            </a:r>
            <a:endParaRPr lang="en-IN" dirty="0"/>
          </a:p>
        </p:txBody>
      </p:sp>
      <p:sp>
        <p:nvSpPr>
          <p:cNvPr id="3" name="Content Placeholder 2">
            <a:extLst>
              <a:ext uri="{FF2B5EF4-FFF2-40B4-BE49-F238E27FC236}">
                <a16:creationId xmlns:a16="http://schemas.microsoft.com/office/drawing/2014/main" id="{B13CC0D4-59A4-74C5-0DBC-DC112ECBA33F}"/>
              </a:ext>
            </a:extLst>
          </p:cNvPr>
          <p:cNvSpPr>
            <a:spLocks noGrp="1"/>
          </p:cNvSpPr>
          <p:nvPr>
            <p:ph idx="1"/>
          </p:nvPr>
        </p:nvSpPr>
        <p:spPr>
          <a:xfrm>
            <a:off x="368968" y="1315454"/>
            <a:ext cx="11470106" cy="5177421"/>
          </a:xfrm>
        </p:spPr>
        <p:txBody>
          <a:bodyPr>
            <a:normAutofit/>
          </a:bodyPr>
          <a:lstStyle/>
          <a:p>
            <a:pPr marL="0" indent="0">
              <a:buNone/>
            </a:pPr>
            <a:r>
              <a:rPr lang="en-IN" sz="2400" b="1" dirty="0">
                <a:highlight>
                  <a:srgbClr val="FFFF00"/>
                </a:highlight>
              </a:rPr>
              <a:t>2. Local Area Network (LAN)</a:t>
            </a:r>
          </a:p>
          <a:p>
            <a:r>
              <a:rPr lang="en-IN" sz="2000" b="1" dirty="0"/>
              <a:t>Geographical Range:</a:t>
            </a:r>
            <a:r>
              <a:rPr lang="en-IN" sz="2000" dirty="0"/>
              <a:t> Small and highly localized. Typically restricted to a single room, a home, one office building, or a university campus (usually ranging from a few meters up to 1-2 </a:t>
            </a:r>
            <a:r>
              <a:rPr lang="en-IN" sz="2000" dirty="0" err="1"/>
              <a:t>Kilometers</a:t>
            </a:r>
            <a:endParaRPr lang="en-IN" sz="2000" dirty="0"/>
          </a:p>
          <a:p>
            <a:r>
              <a:rPr lang="en-IN" sz="2000" b="1" dirty="0"/>
              <a:t>Ownership:</a:t>
            </a:r>
            <a:r>
              <a:rPr lang="en-IN" sz="2000" dirty="0"/>
              <a:t> A LAN is privately owned by a single individual or organization. For example, your university owns every wire and router on its campus.</a:t>
            </a:r>
          </a:p>
          <a:p>
            <a:r>
              <a:rPr lang="en-IN" sz="2000" b="1" dirty="0"/>
              <a:t>Hardware Used:</a:t>
            </a:r>
            <a:r>
              <a:rPr lang="en-IN" sz="2000" dirty="0"/>
              <a:t> Primarily built using </a:t>
            </a:r>
            <a:r>
              <a:rPr lang="en-IN" sz="2000" b="1" dirty="0"/>
              <a:t>Cat6/Cat7 Twisted Pair cables</a:t>
            </a:r>
            <a:r>
              <a:rPr lang="en-IN" sz="2000" dirty="0"/>
              <a:t> for wired connections (Ethernet under the </a:t>
            </a:r>
            <a:r>
              <a:rPr lang="en-IN" sz="2000" b="1" dirty="0"/>
              <a:t>IEEE 802.3</a:t>
            </a:r>
            <a:r>
              <a:rPr lang="en-IN" sz="2000" dirty="0"/>
              <a:t> standard) and wireless access points (</a:t>
            </a:r>
            <a:r>
              <a:rPr lang="en-IN" sz="2000" b="1" dirty="0"/>
              <a:t>Wi-Fi</a:t>
            </a:r>
            <a:r>
              <a:rPr lang="en-IN" sz="2000" dirty="0"/>
              <a:t> under the </a:t>
            </a:r>
            <a:r>
              <a:rPr lang="en-IN" sz="2000" b="1" dirty="0"/>
              <a:t>IEEE 802.11</a:t>
            </a:r>
            <a:r>
              <a:rPr lang="en-IN" sz="2000" dirty="0"/>
              <a:t> standard).</a:t>
            </a:r>
          </a:p>
          <a:p>
            <a:r>
              <a:rPr lang="en-IN" sz="2000" dirty="0"/>
              <a:t>Because the distances are short and the equipment is privately managed, LANs have </a:t>
            </a:r>
            <a:r>
              <a:rPr lang="en-IN" sz="2000" b="1" dirty="0"/>
              <a:t>extremely high data speeds</a:t>
            </a:r>
            <a:r>
              <a:rPr lang="en-IN" sz="2000" dirty="0"/>
              <a:t> (100 Mbps to 10 Gbps) and </a:t>
            </a:r>
            <a:r>
              <a:rPr lang="en-IN" sz="2000" b="1" dirty="0"/>
              <a:t>incredibly low error rates</a:t>
            </a:r>
            <a:r>
              <a:rPr lang="en-IN" sz="2000" dirty="0"/>
              <a:t> (data rarely gets corrupted because there is no external interference).</a:t>
            </a:r>
          </a:p>
          <a:p>
            <a:r>
              <a:rPr lang="en-IN" sz="2000" b="1" dirty="0"/>
              <a:t>Example 1:</a:t>
            </a:r>
            <a:r>
              <a:rPr lang="en-IN" sz="2000" dirty="0"/>
              <a:t> A computer lab in your engineering department where 50 desktop PCs are plugged into a central switch</a:t>
            </a:r>
          </a:p>
          <a:p>
            <a:r>
              <a:rPr lang="en-IN" sz="2000" b="1" dirty="0"/>
              <a:t>Example 2:</a:t>
            </a:r>
            <a:r>
              <a:rPr lang="en-IN" sz="2000" dirty="0"/>
              <a:t> Your home setup, where your smartphone, laptop, and Smart TV are all connected wirelessly to your home Wi-Fi router.</a:t>
            </a:r>
          </a:p>
          <a:p>
            <a:pPr marL="457200" indent="-457200">
              <a:buAutoNum type="arabicPeriod"/>
            </a:pPr>
            <a:endParaRPr lang="en-IN" sz="2000" b="1" dirty="0"/>
          </a:p>
        </p:txBody>
      </p:sp>
    </p:spTree>
    <p:extLst>
      <p:ext uri="{BB962C8B-B14F-4D97-AF65-F5344CB8AC3E}">
        <p14:creationId xmlns:p14="http://schemas.microsoft.com/office/powerpoint/2010/main" val="1692668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28A6E-EACA-C389-D4F1-F5DEE971B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B9158-52B0-50C8-73D6-5E3A0339C345}"/>
              </a:ext>
            </a:extLst>
          </p:cNvPr>
          <p:cNvSpPr>
            <a:spLocks noGrp="1"/>
          </p:cNvSpPr>
          <p:nvPr>
            <p:ph type="title"/>
          </p:nvPr>
        </p:nvSpPr>
        <p:spPr>
          <a:xfrm>
            <a:off x="838200" y="577516"/>
            <a:ext cx="10515600" cy="577516"/>
          </a:xfrm>
        </p:spPr>
        <p:txBody>
          <a:bodyPr>
            <a:normAutofit fontScale="90000"/>
          </a:bodyPr>
          <a:lstStyle/>
          <a:p>
            <a:r>
              <a:rPr lang="en-US" dirty="0"/>
              <a:t>Network Types: PAN, LAN, CAN, MAN, &amp; WAN</a:t>
            </a:r>
            <a:endParaRPr lang="en-IN" dirty="0"/>
          </a:p>
        </p:txBody>
      </p:sp>
      <p:sp>
        <p:nvSpPr>
          <p:cNvPr id="3" name="Content Placeholder 2">
            <a:extLst>
              <a:ext uri="{FF2B5EF4-FFF2-40B4-BE49-F238E27FC236}">
                <a16:creationId xmlns:a16="http://schemas.microsoft.com/office/drawing/2014/main" id="{E472F294-DC96-3868-178E-D7BF9B8FA46C}"/>
              </a:ext>
            </a:extLst>
          </p:cNvPr>
          <p:cNvSpPr>
            <a:spLocks noGrp="1"/>
          </p:cNvSpPr>
          <p:nvPr>
            <p:ph idx="1"/>
          </p:nvPr>
        </p:nvSpPr>
        <p:spPr>
          <a:xfrm>
            <a:off x="368968" y="1155032"/>
            <a:ext cx="11470106" cy="5337843"/>
          </a:xfrm>
        </p:spPr>
        <p:txBody>
          <a:bodyPr>
            <a:normAutofit fontScale="92500" lnSpcReduction="10000"/>
          </a:bodyPr>
          <a:lstStyle/>
          <a:p>
            <a:pPr marL="0" indent="0">
              <a:buNone/>
            </a:pPr>
            <a:r>
              <a:rPr lang="en-IN" sz="2400" b="1" dirty="0">
                <a:highlight>
                  <a:srgbClr val="FFFF00"/>
                </a:highlight>
              </a:rPr>
              <a:t>2. Metropolitan Area Network (MAN)</a:t>
            </a:r>
          </a:p>
          <a:p>
            <a:pPr marL="0" indent="0">
              <a:buNone/>
            </a:pPr>
            <a:endParaRPr lang="en-IN" sz="2400" b="1" dirty="0">
              <a:highlight>
                <a:srgbClr val="FFFF00"/>
              </a:highlight>
            </a:endParaRPr>
          </a:p>
          <a:p>
            <a:r>
              <a:rPr lang="en-IN" sz="2200" b="1" dirty="0"/>
              <a:t>Geographical Range:</a:t>
            </a:r>
            <a:r>
              <a:rPr lang="en-IN" sz="2200" dirty="0"/>
              <a:t> Larger than a LAN but smaller than a WAN. It covers an entire town, city, or a large municipal region (5 km to 50 km)</a:t>
            </a:r>
          </a:p>
          <a:p>
            <a:r>
              <a:rPr lang="en-IN" sz="2200" b="1" dirty="0"/>
              <a:t>Ownership:</a:t>
            </a:r>
            <a:r>
              <a:rPr lang="en-IN" sz="2200" dirty="0"/>
              <a:t> Often owned by a consortium of businesses, a municipal government, or a single massive service provider (like a telecom company operating inside a city).</a:t>
            </a:r>
          </a:p>
          <a:p>
            <a:r>
              <a:rPr lang="en-IN" sz="2200" b="1" dirty="0"/>
              <a:t>Hardware Used:</a:t>
            </a:r>
            <a:r>
              <a:rPr lang="en-IN" sz="2200" dirty="0"/>
              <a:t> Because it spans an entire city, copper wires are too slow and inefficient. MANs are built using high-speed </a:t>
            </a:r>
            <a:r>
              <a:rPr lang="en-IN" sz="2200" b="1" dirty="0"/>
              <a:t>Optical Fiber Cables (OFC)</a:t>
            </a:r>
            <a:r>
              <a:rPr lang="en-IN" sz="2200" dirty="0"/>
              <a:t> running underground or attached to telephone poles, alongside high-power microwave wireless towers.</a:t>
            </a:r>
          </a:p>
          <a:p>
            <a:r>
              <a:rPr lang="en-IN" sz="2200" dirty="0"/>
              <a:t>A MAN essentially acts as an aggregator. It links multiple distinct LANs spread across a town together so they can share data without passing through the slower public internet.</a:t>
            </a:r>
          </a:p>
          <a:p>
            <a:r>
              <a:rPr lang="en-IN" sz="2200" b="1" dirty="0"/>
              <a:t>Example 1:</a:t>
            </a:r>
            <a:r>
              <a:rPr lang="en-IN" sz="2200" dirty="0"/>
              <a:t> A city's centralized traffic police surveillance system. Hundreds of CCTV cameras installed at different intersections across New Delhi or Mumbai stream video back to a single central police headquarters.</a:t>
            </a:r>
          </a:p>
          <a:p>
            <a:r>
              <a:rPr lang="en-IN" sz="2200" b="1" dirty="0"/>
              <a:t>Example 2:</a:t>
            </a:r>
            <a:r>
              <a:rPr lang="en-IN" sz="2200" dirty="0"/>
              <a:t> A local Cable TV network. A central office receives satellite signals and distributes them via underground cables to thousands of homes across a city.</a:t>
            </a:r>
          </a:p>
          <a:p>
            <a:pPr marL="0" indent="0">
              <a:buNone/>
            </a:pPr>
            <a:endParaRPr lang="en-IN" sz="2000" b="1" dirty="0"/>
          </a:p>
        </p:txBody>
      </p:sp>
    </p:spTree>
    <p:extLst>
      <p:ext uri="{BB962C8B-B14F-4D97-AF65-F5344CB8AC3E}">
        <p14:creationId xmlns:p14="http://schemas.microsoft.com/office/powerpoint/2010/main" val="197786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A7F19-2808-7EB2-39F8-33BF9DE1F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35D01-6CD3-4DB3-E394-19AC21C8DFFC}"/>
              </a:ext>
            </a:extLst>
          </p:cNvPr>
          <p:cNvSpPr>
            <a:spLocks noGrp="1"/>
          </p:cNvSpPr>
          <p:nvPr>
            <p:ph type="title"/>
          </p:nvPr>
        </p:nvSpPr>
        <p:spPr>
          <a:xfrm>
            <a:off x="838200" y="577516"/>
            <a:ext cx="10515600" cy="577516"/>
          </a:xfrm>
        </p:spPr>
        <p:txBody>
          <a:bodyPr>
            <a:normAutofit fontScale="90000"/>
          </a:bodyPr>
          <a:lstStyle/>
          <a:p>
            <a:r>
              <a:rPr lang="en-US" dirty="0"/>
              <a:t>Network Types: PAN, LAN, CAN, MAN, &amp; WAN</a:t>
            </a:r>
            <a:endParaRPr lang="en-IN" dirty="0"/>
          </a:p>
        </p:txBody>
      </p:sp>
      <p:sp>
        <p:nvSpPr>
          <p:cNvPr id="3" name="Content Placeholder 2">
            <a:extLst>
              <a:ext uri="{FF2B5EF4-FFF2-40B4-BE49-F238E27FC236}">
                <a16:creationId xmlns:a16="http://schemas.microsoft.com/office/drawing/2014/main" id="{E0D30B53-B31D-7267-AD2E-99DABE0C45FC}"/>
              </a:ext>
            </a:extLst>
          </p:cNvPr>
          <p:cNvSpPr>
            <a:spLocks noGrp="1"/>
          </p:cNvSpPr>
          <p:nvPr>
            <p:ph idx="1"/>
          </p:nvPr>
        </p:nvSpPr>
        <p:spPr>
          <a:xfrm>
            <a:off x="368968" y="1443789"/>
            <a:ext cx="11470106" cy="5049086"/>
          </a:xfrm>
        </p:spPr>
        <p:txBody>
          <a:bodyPr>
            <a:normAutofit lnSpcReduction="10000"/>
          </a:bodyPr>
          <a:lstStyle/>
          <a:p>
            <a:pPr marL="0" indent="0">
              <a:buNone/>
            </a:pPr>
            <a:r>
              <a:rPr lang="en-IN" sz="2400" b="1" dirty="0">
                <a:highlight>
                  <a:srgbClr val="FFFF00"/>
                </a:highlight>
              </a:rPr>
              <a:t>3. Wide Area Network (WAN)</a:t>
            </a:r>
          </a:p>
          <a:p>
            <a:pPr marL="0" indent="0">
              <a:buNone/>
            </a:pPr>
            <a:endParaRPr lang="en-IN" sz="2400" b="1" dirty="0">
              <a:highlight>
                <a:srgbClr val="FFFF00"/>
              </a:highlight>
            </a:endParaRPr>
          </a:p>
          <a:p>
            <a:r>
              <a:rPr lang="en-IN" sz="2000" b="1" dirty="0"/>
              <a:t>Geographical Range:</a:t>
            </a:r>
            <a:r>
              <a:rPr lang="en-IN" sz="2000" dirty="0"/>
              <a:t> Vast, unbounded geographical scale. It spans across multiple states, entire countries, continents, or the entire planet (extending thousands of </a:t>
            </a:r>
            <a:r>
              <a:rPr lang="en-IN" sz="2000" dirty="0" err="1"/>
              <a:t>kilometers</a:t>
            </a:r>
            <a:r>
              <a:rPr lang="en-IN" sz="2000" dirty="0"/>
              <a:t>).</a:t>
            </a:r>
          </a:p>
          <a:p>
            <a:r>
              <a:rPr lang="en-IN" sz="2000" b="1" dirty="0"/>
              <a:t>Ownership:</a:t>
            </a:r>
            <a:r>
              <a:rPr lang="en-IN" sz="2000" dirty="0"/>
              <a:t> No single entity owns a WAN. Instead, it is a massive, complex cooperative network of leased lines owned by telecom giants, governments, and Internet Service Providers (ISPs like Jio, Airtel, AT&amp;T).</a:t>
            </a:r>
          </a:p>
          <a:p>
            <a:r>
              <a:rPr lang="en-IN" sz="2000" b="1" dirty="0"/>
              <a:t>Hardware Used:</a:t>
            </a:r>
            <a:r>
              <a:rPr lang="en-IN" sz="2000" dirty="0"/>
              <a:t> WANs rely on long-haul transmission infrastructure. This includes </a:t>
            </a:r>
            <a:r>
              <a:rPr lang="en-IN" sz="2000" b="1" dirty="0"/>
              <a:t>undersea transoceanic optical </a:t>
            </a:r>
            <a:r>
              <a:rPr lang="en-IN" sz="2000" b="1" dirty="0" err="1"/>
              <a:t>fiber</a:t>
            </a:r>
            <a:r>
              <a:rPr lang="en-IN" sz="2000" b="1" dirty="0"/>
              <a:t> cables</a:t>
            </a:r>
            <a:r>
              <a:rPr lang="en-IN" sz="2000" dirty="0"/>
              <a:t> dropped directly to the ocean floor to connect continents, and </a:t>
            </a:r>
            <a:r>
              <a:rPr lang="en-IN" sz="2000" b="1" dirty="0"/>
              <a:t>geostationary communication satellites</a:t>
            </a:r>
            <a:r>
              <a:rPr lang="en-IN" sz="2000" dirty="0"/>
              <a:t> orbiting Earth to transmit data to remote regions.</a:t>
            </a:r>
          </a:p>
          <a:p>
            <a:r>
              <a:rPr lang="en-IN" sz="2000" b="1" dirty="0"/>
              <a:t>Technical Insights:</a:t>
            </a:r>
            <a:r>
              <a:rPr lang="en-IN" sz="2000" dirty="0"/>
              <a:t> Because data must travel across thousands of </a:t>
            </a:r>
            <a:r>
              <a:rPr lang="en-IN" sz="2000" dirty="0" err="1"/>
              <a:t>kilometers</a:t>
            </a:r>
            <a:r>
              <a:rPr lang="en-IN" sz="2000" dirty="0"/>
              <a:t> of public infrastructure, WANs suffer from </a:t>
            </a:r>
            <a:r>
              <a:rPr lang="en-IN" sz="2000" b="1" dirty="0"/>
              <a:t>high propagation delay</a:t>
            </a:r>
            <a:r>
              <a:rPr lang="en-IN" sz="2000" dirty="0"/>
              <a:t> (the time it takes for a signal to physically travel from source to destination) and </a:t>
            </a:r>
            <a:r>
              <a:rPr lang="en-IN" sz="2000" b="1" dirty="0"/>
              <a:t>higher error rates</a:t>
            </a:r>
            <a:r>
              <a:rPr lang="en-IN" sz="2000" dirty="0"/>
              <a:t> due to environmental factors, meaning data packets frequently get lost or damaged along the way.</a:t>
            </a:r>
          </a:p>
          <a:p>
            <a:pPr marL="0" indent="0">
              <a:buNone/>
            </a:pPr>
            <a:r>
              <a:rPr lang="en-IN" sz="2000" b="1" dirty="0"/>
              <a:t>Example 1:</a:t>
            </a:r>
            <a:r>
              <a:rPr lang="en-IN" sz="2000" dirty="0"/>
              <a:t> </a:t>
            </a:r>
            <a:r>
              <a:rPr lang="en-IN" sz="2000" b="1" dirty="0"/>
              <a:t>The Internet</a:t>
            </a:r>
            <a:r>
              <a:rPr lang="en-IN" sz="2000" dirty="0"/>
              <a:t>. It is the ultimate, largest wide area network on Earth, connecting billions of smaller LANs and MANs together.</a:t>
            </a:r>
          </a:p>
          <a:p>
            <a:pPr marL="0" indent="0">
              <a:buNone/>
            </a:pPr>
            <a:endParaRPr lang="en-IN" sz="2000" b="1" dirty="0"/>
          </a:p>
        </p:txBody>
      </p:sp>
    </p:spTree>
    <p:extLst>
      <p:ext uri="{BB962C8B-B14F-4D97-AF65-F5344CB8AC3E}">
        <p14:creationId xmlns:p14="http://schemas.microsoft.com/office/powerpoint/2010/main" val="2011575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74BBB-B7E0-F053-DF6B-702DE4AA39A5}"/>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17CCA00-93C7-CBC6-1785-70C894781CFD}"/>
              </a:ext>
            </a:extLst>
          </p:cNvPr>
          <p:cNvGraphicFramePr>
            <a:graphicFrameLocks noGrp="1"/>
          </p:cNvGraphicFramePr>
          <p:nvPr>
            <p:ph idx="1"/>
          </p:nvPr>
        </p:nvGraphicFramePr>
        <p:xfrm>
          <a:off x="709863" y="641686"/>
          <a:ext cx="10515600" cy="545592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722319886"/>
                    </a:ext>
                  </a:extLst>
                </a:gridCol>
                <a:gridCol w="2628900">
                  <a:extLst>
                    <a:ext uri="{9D8B030D-6E8A-4147-A177-3AD203B41FA5}">
                      <a16:colId xmlns:a16="http://schemas.microsoft.com/office/drawing/2014/main" val="1604544225"/>
                    </a:ext>
                  </a:extLst>
                </a:gridCol>
                <a:gridCol w="2628900">
                  <a:extLst>
                    <a:ext uri="{9D8B030D-6E8A-4147-A177-3AD203B41FA5}">
                      <a16:colId xmlns:a16="http://schemas.microsoft.com/office/drawing/2014/main" val="2818892700"/>
                    </a:ext>
                  </a:extLst>
                </a:gridCol>
                <a:gridCol w="2628900">
                  <a:extLst>
                    <a:ext uri="{9D8B030D-6E8A-4147-A177-3AD203B41FA5}">
                      <a16:colId xmlns:a16="http://schemas.microsoft.com/office/drawing/2014/main" val="1330073995"/>
                    </a:ext>
                  </a:extLst>
                </a:gridCol>
              </a:tblGrid>
              <a:tr h="370840">
                <a:tc>
                  <a:txBody>
                    <a:bodyPr/>
                    <a:lstStyle/>
                    <a:p>
                      <a:pPr>
                        <a:buNone/>
                      </a:pPr>
                      <a:r>
                        <a:rPr lang="en-IN" b="1" dirty="0">
                          <a:effectLst/>
                          <a:latin typeface="Google Sans Text"/>
                        </a:rPr>
                        <a:t>Factor / Feature</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Local Area Network (LAN)</a:t>
                      </a:r>
                      <a:endParaRPr lang="en-IN">
                        <a:effectLst/>
                        <a:latin typeface="Google Sans Text"/>
                      </a:endParaRPr>
                    </a:p>
                  </a:txBody>
                  <a:tcPr marL="114300" marR="114300" marT="76200" marB="76200" anchor="ctr"/>
                </a:tc>
                <a:tc>
                  <a:txBody>
                    <a:bodyPr/>
                    <a:lstStyle/>
                    <a:p>
                      <a:pPr>
                        <a:buNone/>
                      </a:pPr>
                      <a:r>
                        <a:rPr lang="en-IN" b="1">
                          <a:effectLst/>
                          <a:latin typeface="Google Sans Text"/>
                        </a:rPr>
                        <a:t>Metropolitan Area Network (MAN)</a:t>
                      </a:r>
                      <a:endParaRPr lang="en-IN">
                        <a:effectLst/>
                        <a:latin typeface="Google Sans Text"/>
                      </a:endParaRPr>
                    </a:p>
                  </a:txBody>
                  <a:tcPr marL="114300" marR="114300" marT="76200" marB="76200" anchor="ctr"/>
                </a:tc>
                <a:tc>
                  <a:txBody>
                    <a:bodyPr/>
                    <a:lstStyle/>
                    <a:p>
                      <a:pPr>
                        <a:buNone/>
                      </a:pPr>
                      <a:r>
                        <a:rPr lang="en-IN" b="1">
                          <a:effectLst/>
                          <a:latin typeface="Google Sans Text"/>
                        </a:rPr>
                        <a:t>Wide Area Network (WAN)</a:t>
                      </a:r>
                      <a:endParaRPr lang="en-IN">
                        <a:effectLst/>
                        <a:latin typeface="Google Sans Text"/>
                      </a:endParaRPr>
                    </a:p>
                  </a:txBody>
                  <a:tcPr marL="114300" marR="114300" marT="76200" marB="76200" anchor="ctr"/>
                </a:tc>
                <a:extLst>
                  <a:ext uri="{0D108BD9-81ED-4DB2-BD59-A6C34878D82A}">
                    <a16:rowId xmlns:a16="http://schemas.microsoft.com/office/drawing/2014/main" val="3928429952"/>
                  </a:ext>
                </a:extLst>
              </a:tr>
              <a:tr h="370840">
                <a:tc>
                  <a:txBody>
                    <a:bodyPr/>
                    <a:lstStyle/>
                    <a:p>
                      <a:pPr>
                        <a:buNone/>
                      </a:pPr>
                      <a:r>
                        <a:rPr lang="en-IN" b="1">
                          <a:effectLst/>
                          <a:latin typeface="Google Sans Text"/>
                        </a:rPr>
                        <a:t>Geographic Span</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Very Small (1 meter to 2km).</a:t>
                      </a:r>
                    </a:p>
                  </a:txBody>
                  <a:tcPr marL="114300" marR="114300" marT="76200" marB="76200" anchor="ctr"/>
                </a:tc>
                <a:tc>
                  <a:txBody>
                    <a:bodyPr/>
                    <a:lstStyle/>
                    <a:p>
                      <a:pPr>
                        <a:buNone/>
                      </a:pPr>
                      <a:r>
                        <a:rPr lang="en-IN" dirty="0">
                          <a:effectLst/>
                          <a:latin typeface="Google Sans Text"/>
                        </a:rPr>
                        <a:t>Medium (5km}$ to 50km).</a:t>
                      </a:r>
                    </a:p>
                  </a:txBody>
                  <a:tcPr marL="114300" marR="114300" marT="76200" marB="76200" anchor="ctr"/>
                </a:tc>
                <a:tc>
                  <a:txBody>
                    <a:bodyPr/>
                    <a:lstStyle/>
                    <a:p>
                      <a:pPr>
                        <a:buNone/>
                      </a:pPr>
                      <a:r>
                        <a:rPr lang="en-IN">
                          <a:effectLst/>
                          <a:latin typeface="Google Sans Text"/>
                        </a:rPr>
                        <a:t>Very Large (Global / Continents).</a:t>
                      </a:r>
                    </a:p>
                  </a:txBody>
                  <a:tcPr marL="114300" marR="114300" marT="76200" marB="76200" anchor="ctr"/>
                </a:tc>
                <a:extLst>
                  <a:ext uri="{0D108BD9-81ED-4DB2-BD59-A6C34878D82A}">
                    <a16:rowId xmlns:a16="http://schemas.microsoft.com/office/drawing/2014/main" val="138478403"/>
                  </a:ext>
                </a:extLst>
              </a:tr>
              <a:tr h="370840">
                <a:tc>
                  <a:txBody>
                    <a:bodyPr/>
                    <a:lstStyle/>
                    <a:p>
                      <a:pPr>
                        <a:buNone/>
                      </a:pPr>
                      <a:r>
                        <a:rPr lang="en-IN" b="1">
                          <a:effectLst/>
                          <a:latin typeface="Google Sans Text"/>
                        </a:rPr>
                        <a:t>Data Speed</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Extremely High (100Mbps to 10 Gbps)</a:t>
                      </a:r>
                    </a:p>
                  </a:txBody>
                  <a:tcPr marL="114300" marR="114300" marT="76200" marB="76200" anchor="ctr"/>
                </a:tc>
                <a:tc>
                  <a:txBody>
                    <a:bodyPr/>
                    <a:lstStyle/>
                    <a:p>
                      <a:pPr>
                        <a:buNone/>
                      </a:pPr>
                      <a:r>
                        <a:rPr lang="en-IN" dirty="0">
                          <a:effectLst/>
                          <a:latin typeface="Google Sans Text"/>
                        </a:rPr>
                        <a:t>Moderate to High (10 Mbps to 1 Gbps)</a:t>
                      </a:r>
                    </a:p>
                  </a:txBody>
                  <a:tcPr marL="114300" marR="114300" marT="76200" marB="76200" anchor="ctr"/>
                </a:tc>
                <a:tc>
                  <a:txBody>
                    <a:bodyPr/>
                    <a:lstStyle/>
                    <a:p>
                      <a:pPr>
                        <a:buNone/>
                      </a:pPr>
                      <a:r>
                        <a:rPr lang="en-IN" dirty="0">
                          <a:effectLst/>
                          <a:latin typeface="Google Sans Text"/>
                        </a:rPr>
                        <a:t>Lower to Moderate (1 Mbps to 100 Mbps dynamically)</a:t>
                      </a:r>
                    </a:p>
                  </a:txBody>
                  <a:tcPr marL="114300" marR="114300" marT="76200" marB="76200" anchor="ctr"/>
                </a:tc>
                <a:extLst>
                  <a:ext uri="{0D108BD9-81ED-4DB2-BD59-A6C34878D82A}">
                    <a16:rowId xmlns:a16="http://schemas.microsoft.com/office/drawing/2014/main" val="1273359609"/>
                  </a:ext>
                </a:extLst>
              </a:tr>
              <a:tr h="370840">
                <a:tc>
                  <a:txBody>
                    <a:bodyPr/>
                    <a:lstStyle/>
                    <a:p>
                      <a:pPr>
                        <a:buNone/>
                      </a:pPr>
                      <a:r>
                        <a:rPr lang="en-IN" b="1">
                          <a:effectLst/>
                          <a:latin typeface="Google Sans Text"/>
                        </a:rPr>
                        <a:t>Propagation Delay</a:t>
                      </a:r>
                      <a:endParaRPr lang="en-IN">
                        <a:effectLst/>
                        <a:latin typeface="Google Sans Text"/>
                      </a:endParaRPr>
                    </a:p>
                  </a:txBody>
                  <a:tcPr marL="114300" marR="114300" marT="76200" marB="76200" anchor="ctr"/>
                </a:tc>
                <a:tc>
                  <a:txBody>
                    <a:bodyPr/>
                    <a:lstStyle/>
                    <a:p>
                      <a:pPr>
                        <a:buNone/>
                      </a:pPr>
                      <a:r>
                        <a:rPr lang="en-IN">
                          <a:effectLst/>
                          <a:latin typeface="Google Sans Text"/>
                        </a:rPr>
                        <a:t>Negligible (Near instantaneous).</a:t>
                      </a:r>
                    </a:p>
                  </a:txBody>
                  <a:tcPr marL="114300" marR="114300" marT="76200" marB="76200" anchor="ctr"/>
                </a:tc>
                <a:tc>
                  <a:txBody>
                    <a:bodyPr/>
                    <a:lstStyle/>
                    <a:p>
                      <a:pPr>
                        <a:buNone/>
                      </a:pPr>
                      <a:r>
                        <a:rPr lang="en-IN">
                          <a:effectLst/>
                          <a:latin typeface="Google Sans Text"/>
                        </a:rPr>
                        <a:t>Moderate.</a:t>
                      </a:r>
                    </a:p>
                  </a:txBody>
                  <a:tcPr marL="114300" marR="114300" marT="76200" marB="76200" anchor="ctr"/>
                </a:tc>
                <a:tc>
                  <a:txBody>
                    <a:bodyPr/>
                    <a:lstStyle/>
                    <a:p>
                      <a:pPr>
                        <a:buNone/>
                      </a:pPr>
                      <a:r>
                        <a:rPr lang="en-IN">
                          <a:effectLst/>
                          <a:latin typeface="Google Sans Text"/>
                        </a:rPr>
                        <a:t>High (Due to massive long-distance travel).</a:t>
                      </a:r>
                    </a:p>
                  </a:txBody>
                  <a:tcPr marL="114300" marR="114300" marT="76200" marB="76200" anchor="ctr"/>
                </a:tc>
                <a:extLst>
                  <a:ext uri="{0D108BD9-81ED-4DB2-BD59-A6C34878D82A}">
                    <a16:rowId xmlns:a16="http://schemas.microsoft.com/office/drawing/2014/main" val="1343605150"/>
                  </a:ext>
                </a:extLst>
              </a:tr>
              <a:tr h="370840">
                <a:tc>
                  <a:txBody>
                    <a:bodyPr/>
                    <a:lstStyle/>
                    <a:p>
                      <a:pPr>
                        <a:buNone/>
                      </a:pPr>
                      <a:r>
                        <a:rPr lang="en-IN" b="1">
                          <a:effectLst/>
                          <a:latin typeface="Google Sans Text"/>
                        </a:rPr>
                        <a:t>Error Rate</a:t>
                      </a:r>
                      <a:endParaRPr lang="en-IN">
                        <a:effectLst/>
                        <a:latin typeface="Google Sans Text"/>
                      </a:endParaRPr>
                    </a:p>
                  </a:txBody>
                  <a:tcPr marL="114300" marR="114300" marT="76200" marB="76200" anchor="ctr"/>
                </a:tc>
                <a:tc>
                  <a:txBody>
                    <a:bodyPr/>
                    <a:lstStyle/>
                    <a:p>
                      <a:pPr>
                        <a:buNone/>
                      </a:pPr>
                      <a:r>
                        <a:rPr lang="en-IN">
                          <a:effectLst/>
                          <a:latin typeface="Google Sans Text"/>
                        </a:rPr>
                        <a:t>Very Low (Very clean, uncorrupted signals).</a:t>
                      </a:r>
                    </a:p>
                  </a:txBody>
                  <a:tcPr marL="114300" marR="114300" marT="76200" marB="76200" anchor="ctr"/>
                </a:tc>
                <a:tc>
                  <a:txBody>
                    <a:bodyPr/>
                    <a:lstStyle/>
                    <a:p>
                      <a:pPr>
                        <a:buNone/>
                      </a:pPr>
                      <a:r>
                        <a:rPr lang="en-IN">
                          <a:effectLst/>
                          <a:latin typeface="Google Sans Text"/>
                        </a:rPr>
                        <a:t>Moderate.</a:t>
                      </a:r>
                    </a:p>
                  </a:txBody>
                  <a:tcPr marL="114300" marR="114300" marT="76200" marB="76200" anchor="ctr"/>
                </a:tc>
                <a:tc>
                  <a:txBody>
                    <a:bodyPr/>
                    <a:lstStyle/>
                    <a:p>
                      <a:pPr>
                        <a:buNone/>
                      </a:pPr>
                      <a:r>
                        <a:rPr lang="en-IN">
                          <a:effectLst/>
                          <a:latin typeface="Google Sans Text"/>
                        </a:rPr>
                        <a:t>High (Requires heavy error checking).</a:t>
                      </a:r>
                    </a:p>
                  </a:txBody>
                  <a:tcPr marL="114300" marR="114300" marT="76200" marB="76200" anchor="ctr"/>
                </a:tc>
                <a:extLst>
                  <a:ext uri="{0D108BD9-81ED-4DB2-BD59-A6C34878D82A}">
                    <a16:rowId xmlns:a16="http://schemas.microsoft.com/office/drawing/2014/main" val="1481787049"/>
                  </a:ext>
                </a:extLst>
              </a:tr>
              <a:tr h="370840">
                <a:tc>
                  <a:txBody>
                    <a:bodyPr/>
                    <a:lstStyle/>
                    <a:p>
                      <a:pPr>
                        <a:buNone/>
                      </a:pPr>
                      <a:r>
                        <a:rPr lang="en-IN" b="1">
                          <a:effectLst/>
                          <a:latin typeface="Google Sans Text"/>
                        </a:rPr>
                        <a:t>Primary Media</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Twisted Pair (Cat6), Wi-Fi (802.11).</a:t>
                      </a:r>
                    </a:p>
                  </a:txBody>
                  <a:tcPr marL="114300" marR="114300" marT="76200" marB="76200" anchor="ctr"/>
                </a:tc>
                <a:tc>
                  <a:txBody>
                    <a:bodyPr/>
                    <a:lstStyle/>
                    <a:p>
                      <a:pPr>
                        <a:buNone/>
                      </a:pPr>
                      <a:r>
                        <a:rPr lang="en-IN" dirty="0">
                          <a:effectLst/>
                          <a:latin typeface="Google Sans Text"/>
                        </a:rPr>
                        <a:t>Optical Fiber (OFC), Microwave links.</a:t>
                      </a:r>
                    </a:p>
                  </a:txBody>
                  <a:tcPr marL="114300" marR="114300" marT="76200" marB="76200" anchor="ctr"/>
                </a:tc>
                <a:tc>
                  <a:txBody>
                    <a:bodyPr/>
                    <a:lstStyle/>
                    <a:p>
                      <a:pPr>
                        <a:buNone/>
                      </a:pPr>
                      <a:r>
                        <a:rPr lang="en-IN">
                          <a:effectLst/>
                          <a:latin typeface="Google Sans Text"/>
                        </a:rPr>
                        <a:t>Undersea Fiber Cables, Satellites.</a:t>
                      </a:r>
                    </a:p>
                  </a:txBody>
                  <a:tcPr marL="114300" marR="114300" marT="76200" marB="76200" anchor="ctr"/>
                </a:tc>
                <a:extLst>
                  <a:ext uri="{0D108BD9-81ED-4DB2-BD59-A6C34878D82A}">
                    <a16:rowId xmlns:a16="http://schemas.microsoft.com/office/drawing/2014/main" val="931579062"/>
                  </a:ext>
                </a:extLst>
              </a:tr>
              <a:tr h="370840">
                <a:tc>
                  <a:txBody>
                    <a:bodyPr/>
                    <a:lstStyle/>
                    <a:p>
                      <a:pPr>
                        <a:buNone/>
                      </a:pPr>
                      <a:r>
                        <a:rPr lang="en-IN" b="1">
                          <a:effectLst/>
                          <a:latin typeface="Google Sans Text"/>
                        </a:rPr>
                        <a:t>Cost to Setup</a:t>
                      </a:r>
                      <a:endParaRPr lang="en-IN">
                        <a:effectLst/>
                        <a:latin typeface="Google Sans Text"/>
                      </a:endParaRPr>
                    </a:p>
                  </a:txBody>
                  <a:tcPr marL="114300" marR="114300" marT="76200" marB="76200" anchor="ctr"/>
                </a:tc>
                <a:tc>
                  <a:txBody>
                    <a:bodyPr/>
                    <a:lstStyle/>
                    <a:p>
                      <a:pPr>
                        <a:buNone/>
                      </a:pPr>
                      <a:r>
                        <a:rPr lang="en-IN">
                          <a:effectLst/>
                          <a:latin typeface="Google Sans Text"/>
                        </a:rPr>
                        <a:t>Low and highly affordable.</a:t>
                      </a:r>
                    </a:p>
                  </a:txBody>
                  <a:tcPr marL="114300" marR="114300" marT="76200" marB="76200" anchor="ctr"/>
                </a:tc>
                <a:tc>
                  <a:txBody>
                    <a:bodyPr/>
                    <a:lstStyle/>
                    <a:p>
                      <a:pPr>
                        <a:buNone/>
                      </a:pPr>
                      <a:r>
                        <a:rPr lang="en-IN">
                          <a:effectLst/>
                          <a:latin typeface="Google Sans Text"/>
                        </a:rPr>
                        <a:t>High (Requires trenching roads for fiber).</a:t>
                      </a:r>
                    </a:p>
                  </a:txBody>
                  <a:tcPr marL="114300" marR="114300" marT="76200" marB="76200" anchor="ctr"/>
                </a:tc>
                <a:tc>
                  <a:txBody>
                    <a:bodyPr/>
                    <a:lstStyle/>
                    <a:p>
                      <a:pPr>
                        <a:buNone/>
                      </a:pPr>
                      <a:r>
                        <a:rPr lang="en-IN" dirty="0">
                          <a:effectLst/>
                          <a:latin typeface="Google Sans Text"/>
                        </a:rPr>
                        <a:t>Extremely High (Requires global telecom infrastructure).</a:t>
                      </a:r>
                    </a:p>
                  </a:txBody>
                  <a:tcPr marL="114300" marR="114300" marT="76200" marB="76200" anchor="ctr"/>
                </a:tc>
                <a:extLst>
                  <a:ext uri="{0D108BD9-81ED-4DB2-BD59-A6C34878D82A}">
                    <a16:rowId xmlns:a16="http://schemas.microsoft.com/office/drawing/2014/main" val="3825289391"/>
                  </a:ext>
                </a:extLst>
              </a:tr>
            </a:tbl>
          </a:graphicData>
        </a:graphic>
      </p:graphicFrame>
    </p:spTree>
    <p:extLst>
      <p:ext uri="{BB962C8B-B14F-4D97-AF65-F5344CB8AC3E}">
        <p14:creationId xmlns:p14="http://schemas.microsoft.com/office/powerpoint/2010/main" val="1265685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557B8-B839-29AC-9949-33AE96A8D30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A0A3053-693E-7ABA-2767-4C69B7695E24}"/>
              </a:ext>
            </a:extLst>
          </p:cNvPr>
          <p:cNvPicPr>
            <a:picLocks noChangeAspect="1"/>
          </p:cNvPicPr>
          <p:nvPr/>
        </p:nvPicPr>
        <p:blipFill>
          <a:blip r:embed="rId2"/>
          <a:stretch>
            <a:fillRect/>
          </a:stretch>
        </p:blipFill>
        <p:spPr>
          <a:xfrm>
            <a:off x="513346" y="1042738"/>
            <a:ext cx="11036969" cy="5358062"/>
          </a:xfrm>
          <a:prstGeom prst="rect">
            <a:avLst/>
          </a:prstGeom>
        </p:spPr>
      </p:pic>
    </p:spTree>
    <p:extLst>
      <p:ext uri="{BB962C8B-B14F-4D97-AF65-F5344CB8AC3E}">
        <p14:creationId xmlns:p14="http://schemas.microsoft.com/office/powerpoint/2010/main" val="3371160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E8911-E75D-9C23-045C-6DE8C8CC6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27BEA-171D-1AAB-9AEC-FD78E155F654}"/>
              </a:ext>
            </a:extLst>
          </p:cNvPr>
          <p:cNvSpPr>
            <a:spLocks noGrp="1"/>
          </p:cNvSpPr>
          <p:nvPr>
            <p:ph type="title"/>
          </p:nvPr>
        </p:nvSpPr>
        <p:spPr>
          <a:xfrm>
            <a:off x="157655" y="567559"/>
            <a:ext cx="11871435" cy="520262"/>
          </a:xfrm>
        </p:spPr>
        <p:txBody>
          <a:bodyPr>
            <a:normAutofit fontScale="90000"/>
          </a:bodyPr>
          <a:lstStyle/>
          <a:p>
            <a:r>
              <a:rPr lang="en-US" dirty="0"/>
              <a:t>Data Transmission</a:t>
            </a:r>
            <a:endParaRPr lang="en-IN" dirty="0"/>
          </a:p>
        </p:txBody>
      </p:sp>
      <p:sp>
        <p:nvSpPr>
          <p:cNvPr id="3" name="Content Placeholder 2">
            <a:extLst>
              <a:ext uri="{FF2B5EF4-FFF2-40B4-BE49-F238E27FC236}">
                <a16:creationId xmlns:a16="http://schemas.microsoft.com/office/drawing/2014/main" id="{EB87D723-F1A4-1199-A6D5-7E4F51748F59}"/>
              </a:ext>
            </a:extLst>
          </p:cNvPr>
          <p:cNvSpPr>
            <a:spLocks noGrp="1"/>
          </p:cNvSpPr>
          <p:nvPr>
            <p:ph idx="1"/>
          </p:nvPr>
        </p:nvSpPr>
        <p:spPr>
          <a:xfrm>
            <a:off x="157655" y="1324303"/>
            <a:ext cx="11871435" cy="5281449"/>
          </a:xfrm>
        </p:spPr>
        <p:txBody>
          <a:bodyPr>
            <a:normAutofit/>
          </a:bodyPr>
          <a:lstStyle/>
          <a:p>
            <a:r>
              <a:rPr lang="en-IN" sz="2200" dirty="0"/>
              <a:t>Once we have connected multiple autonomous computers together into a network (whether it is a LAN, MAN, or WAN), we face a fundamental engineering question: </a:t>
            </a:r>
            <a:r>
              <a:rPr lang="en-IN" sz="2200" b="1" i="1" dirty="0">
                <a:highlight>
                  <a:srgbClr val="FFFF00"/>
                </a:highlight>
              </a:rPr>
              <a:t>How exactly do the electronic bits travel across the path?</a:t>
            </a:r>
            <a:r>
              <a:rPr lang="en-IN" sz="2200" dirty="0">
                <a:highlight>
                  <a:srgbClr val="FFFF00"/>
                </a:highlight>
              </a:rPr>
              <a:t> </a:t>
            </a:r>
            <a:r>
              <a:rPr lang="en-IN" sz="2200" dirty="0"/>
              <a:t>If two computers try to talk over a wire at the exact same millisecond without clear transmission rules, their electrical signals will collide, scramble each other, and turn into useless data noise.</a:t>
            </a:r>
          </a:p>
          <a:p>
            <a:r>
              <a:rPr lang="en-IN" sz="2200" dirty="0"/>
              <a:t>We need highly specific rules to dictate the </a:t>
            </a:r>
            <a:r>
              <a:rPr lang="en-IN" sz="2200" b="1" dirty="0"/>
              <a:t>direction</a:t>
            </a:r>
            <a:r>
              <a:rPr lang="en-IN" sz="2200" dirty="0"/>
              <a:t> of data flow, the </a:t>
            </a:r>
            <a:r>
              <a:rPr lang="en-IN" sz="2200" b="1" dirty="0"/>
              <a:t>timing</a:t>
            </a:r>
            <a:r>
              <a:rPr lang="en-IN" sz="2200" dirty="0"/>
              <a:t> of the bits, and the </a:t>
            </a:r>
            <a:r>
              <a:rPr lang="en-IN" sz="2200" b="1" dirty="0"/>
              <a:t>physical layout</a:t>
            </a:r>
            <a:r>
              <a:rPr lang="en-IN" sz="2200" dirty="0"/>
              <a:t> of the lines. Understanding data transmission concepts gives engineers the blueprints needed to select the right cables, network cards, and protocols for any given business application.</a:t>
            </a:r>
          </a:p>
        </p:txBody>
      </p:sp>
    </p:spTree>
    <p:extLst>
      <p:ext uri="{BB962C8B-B14F-4D97-AF65-F5344CB8AC3E}">
        <p14:creationId xmlns:p14="http://schemas.microsoft.com/office/powerpoint/2010/main" val="3911931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13D3E-7335-932F-F3C3-1061DC307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01647-BF91-9315-863E-5FCAC08D0298}"/>
              </a:ext>
            </a:extLst>
          </p:cNvPr>
          <p:cNvSpPr>
            <a:spLocks noGrp="1"/>
          </p:cNvSpPr>
          <p:nvPr>
            <p:ph type="title"/>
          </p:nvPr>
        </p:nvSpPr>
        <p:spPr>
          <a:xfrm>
            <a:off x="157655" y="567559"/>
            <a:ext cx="11871435" cy="520262"/>
          </a:xfrm>
        </p:spPr>
        <p:txBody>
          <a:bodyPr>
            <a:normAutofit fontScale="90000"/>
          </a:bodyPr>
          <a:lstStyle/>
          <a:p>
            <a:r>
              <a:rPr lang="en-US" dirty="0"/>
              <a:t>Transmission Modes – Based On Direction</a:t>
            </a:r>
            <a:endParaRPr lang="en-IN" dirty="0"/>
          </a:p>
        </p:txBody>
      </p:sp>
      <p:sp>
        <p:nvSpPr>
          <p:cNvPr id="3" name="Content Placeholder 2">
            <a:extLst>
              <a:ext uri="{FF2B5EF4-FFF2-40B4-BE49-F238E27FC236}">
                <a16:creationId xmlns:a16="http://schemas.microsoft.com/office/drawing/2014/main" id="{38451CED-CA08-FA64-F650-593CA6BC254C}"/>
              </a:ext>
            </a:extLst>
          </p:cNvPr>
          <p:cNvSpPr>
            <a:spLocks noGrp="1"/>
          </p:cNvSpPr>
          <p:nvPr>
            <p:ph idx="1"/>
          </p:nvPr>
        </p:nvSpPr>
        <p:spPr>
          <a:xfrm>
            <a:off x="157655" y="1324303"/>
            <a:ext cx="11871435" cy="5281449"/>
          </a:xfrm>
        </p:spPr>
        <p:txBody>
          <a:bodyPr/>
          <a:lstStyle/>
          <a:p>
            <a:pPr marL="0" indent="0">
              <a:buNone/>
            </a:pPr>
            <a:r>
              <a:rPr lang="en-IN" dirty="0"/>
              <a:t>This classification determines how data flows between two connected nodes with respect to time.</a:t>
            </a:r>
          </a:p>
          <a:p>
            <a:pPr marL="0" indent="0">
              <a:buNone/>
            </a:pPr>
            <a:r>
              <a:rPr lang="en-IN" b="1" dirty="0">
                <a:highlight>
                  <a:srgbClr val="FFFF00"/>
                </a:highlight>
              </a:rPr>
              <a:t>1. Simplex Mode:</a:t>
            </a:r>
          </a:p>
          <a:p>
            <a:r>
              <a:rPr lang="en-IN" b="1" dirty="0"/>
              <a:t>Def.:</a:t>
            </a:r>
            <a:r>
              <a:rPr lang="en-IN" dirty="0"/>
              <a:t> Communication is strictly </a:t>
            </a:r>
            <a:r>
              <a:rPr lang="en-IN" b="1" dirty="0"/>
              <a:t>unidirectional</a:t>
            </a:r>
            <a:r>
              <a:rPr lang="en-IN" dirty="0"/>
              <a:t> (a one-way street). One pre-assigned device acts purely as the transmitter, and the other acts purely as the receiver.</a:t>
            </a:r>
          </a:p>
          <a:p>
            <a:r>
              <a:rPr lang="en-IN" b="1" dirty="0"/>
              <a:t>The Mechanism:</a:t>
            </a:r>
            <a:r>
              <a:rPr lang="en-IN" dirty="0"/>
              <a:t> The entire bandwidth of the physical channel is dedicated to moving data in that single direction. The receiver has no hardware capability to reply or send feedback.</a:t>
            </a:r>
          </a:p>
          <a:p>
            <a:r>
              <a:rPr lang="en-IN" b="1" dirty="0"/>
              <a:t>Example:</a:t>
            </a:r>
            <a:r>
              <a:rPr lang="en-IN" dirty="0"/>
              <a:t> A traditional television broadcast station sending signals to your home TV antenna, or a computer sending characters to a basic desktop monitor.</a:t>
            </a:r>
          </a:p>
          <a:p>
            <a:endParaRPr lang="en-IN" dirty="0"/>
          </a:p>
        </p:txBody>
      </p:sp>
    </p:spTree>
    <p:extLst>
      <p:ext uri="{BB962C8B-B14F-4D97-AF65-F5344CB8AC3E}">
        <p14:creationId xmlns:p14="http://schemas.microsoft.com/office/powerpoint/2010/main" val="908560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B8E61-3C46-8245-1515-3F4C4EE52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FAC1B-A7DE-4AEF-DBF2-C33A27B45F58}"/>
              </a:ext>
            </a:extLst>
          </p:cNvPr>
          <p:cNvSpPr>
            <a:spLocks noGrp="1"/>
          </p:cNvSpPr>
          <p:nvPr>
            <p:ph type="title"/>
          </p:nvPr>
        </p:nvSpPr>
        <p:spPr>
          <a:xfrm>
            <a:off x="157655" y="567559"/>
            <a:ext cx="11871435" cy="520262"/>
          </a:xfrm>
        </p:spPr>
        <p:txBody>
          <a:bodyPr>
            <a:normAutofit fontScale="90000"/>
          </a:bodyPr>
          <a:lstStyle/>
          <a:p>
            <a:r>
              <a:rPr lang="en-US" dirty="0"/>
              <a:t>Transmission Modes</a:t>
            </a:r>
            <a:endParaRPr lang="en-IN" dirty="0"/>
          </a:p>
        </p:txBody>
      </p:sp>
      <p:sp>
        <p:nvSpPr>
          <p:cNvPr id="3" name="Content Placeholder 2">
            <a:extLst>
              <a:ext uri="{FF2B5EF4-FFF2-40B4-BE49-F238E27FC236}">
                <a16:creationId xmlns:a16="http://schemas.microsoft.com/office/drawing/2014/main" id="{CAE924D7-FC6C-DFAC-B5A5-166963A3F556}"/>
              </a:ext>
            </a:extLst>
          </p:cNvPr>
          <p:cNvSpPr>
            <a:spLocks noGrp="1"/>
          </p:cNvSpPr>
          <p:nvPr>
            <p:ph idx="1"/>
          </p:nvPr>
        </p:nvSpPr>
        <p:spPr>
          <a:xfrm>
            <a:off x="157655" y="1324303"/>
            <a:ext cx="11871435" cy="5281449"/>
          </a:xfrm>
        </p:spPr>
        <p:txBody>
          <a:bodyPr/>
          <a:lstStyle/>
          <a:p>
            <a:pPr marL="0" indent="0">
              <a:buNone/>
            </a:pPr>
            <a:r>
              <a:rPr lang="en-US" b="1" dirty="0"/>
              <a:t>Advantages</a:t>
            </a:r>
            <a:r>
              <a:rPr lang="en-US" dirty="0"/>
              <a:t>: </a:t>
            </a:r>
          </a:p>
          <a:p>
            <a:pPr marL="0" indent="0">
              <a:buNone/>
            </a:pPr>
            <a:r>
              <a:rPr lang="en-US" dirty="0"/>
              <a:t>Simple Communication</a:t>
            </a:r>
          </a:p>
          <a:p>
            <a:pPr marL="0" indent="0">
              <a:buNone/>
            </a:pPr>
            <a:r>
              <a:rPr lang="en-US" dirty="0"/>
              <a:t>Low Cost</a:t>
            </a:r>
          </a:p>
          <a:p>
            <a:pPr marL="0" indent="0">
              <a:buNone/>
            </a:pPr>
            <a:r>
              <a:rPr lang="en-US" dirty="0"/>
              <a:t>Full Channel Capacity </a:t>
            </a:r>
          </a:p>
          <a:p>
            <a:pPr marL="0" indent="0">
              <a:buNone/>
            </a:pPr>
            <a:r>
              <a:rPr lang="en-US" dirty="0"/>
              <a:t>Suitable for Broadcasting</a:t>
            </a:r>
          </a:p>
          <a:p>
            <a:pPr marL="0" indent="0">
              <a:buNone/>
            </a:pPr>
            <a:endParaRPr lang="en-US" dirty="0"/>
          </a:p>
          <a:p>
            <a:pPr marL="0" indent="0">
              <a:buNone/>
            </a:pPr>
            <a:r>
              <a:rPr lang="en-US" b="1" dirty="0"/>
              <a:t>Disadvantages</a:t>
            </a:r>
            <a:r>
              <a:rPr lang="en-US" dirty="0"/>
              <a:t>:</a:t>
            </a:r>
          </a:p>
          <a:p>
            <a:pPr marL="0" indent="0">
              <a:buNone/>
            </a:pPr>
            <a:r>
              <a:rPr lang="en-US" dirty="0"/>
              <a:t>No feedback</a:t>
            </a:r>
          </a:p>
          <a:p>
            <a:pPr marL="0" indent="0">
              <a:buNone/>
            </a:pPr>
            <a:r>
              <a:rPr lang="en-US" dirty="0"/>
              <a:t>No Error Confirmation</a:t>
            </a:r>
          </a:p>
          <a:p>
            <a:pPr marL="0" indent="0">
              <a:buNone/>
            </a:pPr>
            <a:r>
              <a:rPr lang="en-US" dirty="0"/>
              <a:t>One way communication only</a:t>
            </a:r>
          </a:p>
          <a:p>
            <a:pPr marL="0" indent="0">
              <a:buNone/>
            </a:pPr>
            <a:endParaRPr lang="en-US" dirty="0"/>
          </a:p>
        </p:txBody>
      </p:sp>
    </p:spTree>
    <p:extLst>
      <p:ext uri="{BB962C8B-B14F-4D97-AF65-F5344CB8AC3E}">
        <p14:creationId xmlns:p14="http://schemas.microsoft.com/office/powerpoint/2010/main" val="2058370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59202-6950-1629-B261-8977AFE1DC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991D3-7B4A-AE8A-17DF-77315D1A47B9}"/>
              </a:ext>
            </a:extLst>
          </p:cNvPr>
          <p:cNvSpPr>
            <a:spLocks noGrp="1"/>
          </p:cNvSpPr>
          <p:nvPr>
            <p:ph type="title"/>
          </p:nvPr>
        </p:nvSpPr>
        <p:spPr>
          <a:xfrm>
            <a:off x="157655" y="567559"/>
            <a:ext cx="11871435" cy="520262"/>
          </a:xfrm>
        </p:spPr>
        <p:txBody>
          <a:bodyPr>
            <a:normAutofit fontScale="90000"/>
          </a:bodyPr>
          <a:lstStyle/>
          <a:p>
            <a:r>
              <a:rPr lang="en-US" dirty="0"/>
              <a:t>Transmission Modes</a:t>
            </a:r>
            <a:endParaRPr lang="en-IN" dirty="0"/>
          </a:p>
        </p:txBody>
      </p:sp>
      <p:sp>
        <p:nvSpPr>
          <p:cNvPr id="3" name="Content Placeholder 2">
            <a:extLst>
              <a:ext uri="{FF2B5EF4-FFF2-40B4-BE49-F238E27FC236}">
                <a16:creationId xmlns:a16="http://schemas.microsoft.com/office/drawing/2014/main" id="{2472CE6A-8DC4-DB32-6683-912DB876A7D1}"/>
              </a:ext>
            </a:extLst>
          </p:cNvPr>
          <p:cNvSpPr>
            <a:spLocks noGrp="1"/>
          </p:cNvSpPr>
          <p:nvPr>
            <p:ph idx="1"/>
          </p:nvPr>
        </p:nvSpPr>
        <p:spPr>
          <a:xfrm>
            <a:off x="157655" y="1324303"/>
            <a:ext cx="11871435" cy="5281449"/>
          </a:xfrm>
        </p:spPr>
        <p:txBody>
          <a:bodyPr/>
          <a:lstStyle/>
          <a:p>
            <a:pPr marL="0" indent="0">
              <a:buNone/>
            </a:pPr>
            <a:r>
              <a:rPr lang="en-IN" b="1" dirty="0">
                <a:highlight>
                  <a:srgbClr val="FFFF00"/>
                </a:highlight>
              </a:rPr>
              <a:t>2. Half-Duplex Mode</a:t>
            </a:r>
            <a:endParaRPr lang="en-IN" dirty="0">
              <a:highlight>
                <a:srgbClr val="FFFF00"/>
              </a:highlight>
            </a:endParaRPr>
          </a:p>
          <a:p>
            <a:r>
              <a:rPr lang="en-IN" b="1" dirty="0"/>
              <a:t>Def.:</a:t>
            </a:r>
            <a:r>
              <a:rPr lang="en-IN" dirty="0"/>
              <a:t> Communication is </a:t>
            </a:r>
            <a:r>
              <a:rPr lang="en-IN" b="1" dirty="0"/>
              <a:t>bidirectional, but not at the same time</a:t>
            </a:r>
            <a:r>
              <a:rPr lang="en-IN" dirty="0"/>
              <a:t>. Both devices can transmit and receive, but only one can speak at a any given instant.</a:t>
            </a:r>
          </a:p>
          <a:p>
            <a:r>
              <a:rPr lang="en-IN" b="1" dirty="0"/>
              <a:t>The Mechanism:</a:t>
            </a:r>
            <a:r>
              <a:rPr lang="en-IN" dirty="0"/>
              <a:t> The two devices share a single physical transmission channel. When Device A transmits, Device B must switch its network card to listening mode. If both try to transmit simultaneously, a collision occurs.</a:t>
            </a:r>
          </a:p>
          <a:p>
            <a:r>
              <a:rPr lang="en-IN" b="1" dirty="0"/>
              <a:t>Example:</a:t>
            </a:r>
            <a:r>
              <a:rPr lang="en-IN" dirty="0"/>
              <a:t> A Walkie-Talkie radio system (where you must press a button to talk, say "Over" to clear the line, and release the button to listen), or classic legacy Ethernet hubs.</a:t>
            </a:r>
          </a:p>
          <a:p>
            <a:endParaRPr lang="en-IN" dirty="0"/>
          </a:p>
        </p:txBody>
      </p:sp>
    </p:spTree>
    <p:extLst>
      <p:ext uri="{BB962C8B-B14F-4D97-AF65-F5344CB8AC3E}">
        <p14:creationId xmlns:p14="http://schemas.microsoft.com/office/powerpoint/2010/main" val="1965027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5032B-A168-81D6-FF03-C2C33C5B0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DC315-2ECD-BED6-7313-B9F47ADC99E2}"/>
              </a:ext>
            </a:extLst>
          </p:cNvPr>
          <p:cNvSpPr>
            <a:spLocks noGrp="1"/>
          </p:cNvSpPr>
          <p:nvPr>
            <p:ph type="title"/>
          </p:nvPr>
        </p:nvSpPr>
        <p:spPr>
          <a:xfrm>
            <a:off x="157655" y="567559"/>
            <a:ext cx="11871435" cy="520262"/>
          </a:xfrm>
        </p:spPr>
        <p:txBody>
          <a:bodyPr>
            <a:normAutofit fontScale="90000"/>
          </a:bodyPr>
          <a:lstStyle/>
          <a:p>
            <a:r>
              <a:rPr lang="en-US" dirty="0"/>
              <a:t>Transmission Modes</a:t>
            </a:r>
            <a:endParaRPr lang="en-IN" dirty="0"/>
          </a:p>
        </p:txBody>
      </p:sp>
      <p:sp>
        <p:nvSpPr>
          <p:cNvPr id="3" name="Content Placeholder 2">
            <a:extLst>
              <a:ext uri="{FF2B5EF4-FFF2-40B4-BE49-F238E27FC236}">
                <a16:creationId xmlns:a16="http://schemas.microsoft.com/office/drawing/2014/main" id="{3C474142-3498-AF3E-3691-1EF0021ACAD5}"/>
              </a:ext>
            </a:extLst>
          </p:cNvPr>
          <p:cNvSpPr>
            <a:spLocks noGrp="1"/>
          </p:cNvSpPr>
          <p:nvPr>
            <p:ph idx="1"/>
          </p:nvPr>
        </p:nvSpPr>
        <p:spPr>
          <a:xfrm>
            <a:off x="157655" y="1324303"/>
            <a:ext cx="11871435" cy="5281449"/>
          </a:xfrm>
        </p:spPr>
        <p:txBody>
          <a:bodyPr/>
          <a:lstStyle/>
          <a:p>
            <a:pPr marL="0" indent="0">
              <a:buNone/>
            </a:pPr>
            <a:r>
              <a:rPr lang="en-US" b="1" dirty="0"/>
              <a:t>Advantages</a:t>
            </a:r>
            <a:r>
              <a:rPr lang="en-US" dirty="0"/>
              <a:t>: </a:t>
            </a:r>
          </a:p>
          <a:p>
            <a:pPr marL="0" indent="0">
              <a:buNone/>
            </a:pPr>
            <a:r>
              <a:rPr lang="en-US" dirty="0"/>
              <a:t>Two-Way Communication</a:t>
            </a:r>
          </a:p>
          <a:p>
            <a:pPr marL="0" indent="0">
              <a:buNone/>
            </a:pPr>
            <a:r>
              <a:rPr lang="en-US" dirty="0"/>
              <a:t>Better utilization than Simplex</a:t>
            </a:r>
          </a:p>
          <a:p>
            <a:pPr marL="0" indent="0">
              <a:buNone/>
            </a:pPr>
            <a:r>
              <a:rPr lang="en-US" dirty="0"/>
              <a:t>Lower Cost</a:t>
            </a:r>
          </a:p>
          <a:p>
            <a:pPr marL="0" indent="0">
              <a:buNone/>
            </a:pPr>
            <a:endParaRPr lang="en-US" dirty="0"/>
          </a:p>
          <a:p>
            <a:pPr marL="0" indent="0">
              <a:buNone/>
            </a:pPr>
            <a:r>
              <a:rPr lang="en-US" b="1" dirty="0"/>
              <a:t>Disadvantages</a:t>
            </a:r>
            <a:r>
              <a:rPr lang="en-US" dirty="0"/>
              <a:t>:</a:t>
            </a:r>
          </a:p>
          <a:p>
            <a:pPr marL="0" indent="0">
              <a:buNone/>
            </a:pPr>
            <a:r>
              <a:rPr lang="en-US" dirty="0"/>
              <a:t>Cannot communicate simultaneously.</a:t>
            </a:r>
          </a:p>
          <a:p>
            <a:pPr marL="0" indent="0">
              <a:buNone/>
            </a:pPr>
            <a:r>
              <a:rPr lang="en-US" dirty="0"/>
              <a:t>Delay in communication</a:t>
            </a:r>
          </a:p>
          <a:p>
            <a:pPr marL="0" indent="0">
              <a:buNone/>
            </a:pPr>
            <a:r>
              <a:rPr lang="en-US" dirty="0"/>
              <a:t>Lower </a:t>
            </a:r>
            <a:r>
              <a:rPr lang="en-US" dirty="0" err="1"/>
              <a:t>Peformance</a:t>
            </a:r>
            <a:endParaRPr lang="en-US" dirty="0"/>
          </a:p>
          <a:p>
            <a:pPr marL="0" indent="0">
              <a:buNone/>
            </a:pPr>
            <a:endParaRPr lang="en-US" dirty="0"/>
          </a:p>
        </p:txBody>
      </p:sp>
    </p:spTree>
    <p:extLst>
      <p:ext uri="{BB962C8B-B14F-4D97-AF65-F5344CB8AC3E}">
        <p14:creationId xmlns:p14="http://schemas.microsoft.com/office/powerpoint/2010/main" val="1789686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981DB-73C8-0845-2523-FCFE3035D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F3C8A-2FFC-E256-B472-71331B6D7869}"/>
              </a:ext>
            </a:extLst>
          </p:cNvPr>
          <p:cNvSpPr>
            <a:spLocks noGrp="1"/>
          </p:cNvSpPr>
          <p:nvPr>
            <p:ph type="title"/>
          </p:nvPr>
        </p:nvSpPr>
        <p:spPr>
          <a:xfrm>
            <a:off x="157655" y="567559"/>
            <a:ext cx="11871435" cy="520262"/>
          </a:xfrm>
        </p:spPr>
        <p:txBody>
          <a:bodyPr>
            <a:normAutofit fontScale="90000"/>
          </a:bodyPr>
          <a:lstStyle/>
          <a:p>
            <a:r>
              <a:rPr lang="en-US" dirty="0"/>
              <a:t>Transmission Modes</a:t>
            </a:r>
            <a:endParaRPr lang="en-IN" dirty="0"/>
          </a:p>
        </p:txBody>
      </p:sp>
      <p:sp>
        <p:nvSpPr>
          <p:cNvPr id="3" name="Content Placeholder 2">
            <a:extLst>
              <a:ext uri="{FF2B5EF4-FFF2-40B4-BE49-F238E27FC236}">
                <a16:creationId xmlns:a16="http://schemas.microsoft.com/office/drawing/2014/main" id="{FE34883F-A237-8298-2505-37E2C4E58062}"/>
              </a:ext>
            </a:extLst>
          </p:cNvPr>
          <p:cNvSpPr>
            <a:spLocks noGrp="1"/>
          </p:cNvSpPr>
          <p:nvPr>
            <p:ph idx="1"/>
          </p:nvPr>
        </p:nvSpPr>
        <p:spPr>
          <a:xfrm>
            <a:off x="157655" y="1324303"/>
            <a:ext cx="11871435" cy="5281449"/>
          </a:xfrm>
        </p:spPr>
        <p:txBody>
          <a:bodyPr/>
          <a:lstStyle/>
          <a:p>
            <a:pPr marL="0" indent="0">
              <a:buNone/>
            </a:pPr>
            <a:r>
              <a:rPr lang="en-IN" b="1" dirty="0">
                <a:highlight>
                  <a:srgbClr val="FFFF00"/>
                </a:highlight>
              </a:rPr>
              <a:t>3. Full-Duplex Mode</a:t>
            </a:r>
            <a:endParaRPr lang="en-IN" dirty="0">
              <a:highlight>
                <a:srgbClr val="FFFF00"/>
              </a:highlight>
            </a:endParaRPr>
          </a:p>
          <a:p>
            <a:r>
              <a:rPr lang="en-IN" b="1" dirty="0"/>
              <a:t>The Rule:</a:t>
            </a:r>
            <a:r>
              <a:rPr lang="en-IN" dirty="0"/>
              <a:t> Communication is completely </a:t>
            </a:r>
            <a:r>
              <a:rPr lang="en-IN" b="1" dirty="0"/>
              <a:t>simultaneous and bidirectional</a:t>
            </a:r>
            <a:r>
              <a:rPr lang="en-IN" dirty="0"/>
              <a:t>. Both devices can transmit and receive data at the exact same time.</a:t>
            </a:r>
          </a:p>
          <a:p>
            <a:r>
              <a:rPr lang="en-IN" b="1" dirty="0"/>
              <a:t>The Mechanism:</a:t>
            </a:r>
            <a:r>
              <a:rPr lang="en-IN" dirty="0"/>
              <a:t> The physical transmission medium is split into two separate electrical pathways—one for outbound traffic and one for inbound traffic—or the channel uses advanced frequency division to isolate the two streams.</a:t>
            </a:r>
          </a:p>
          <a:p>
            <a:r>
              <a:rPr lang="en-IN" b="1" dirty="0"/>
              <a:t>Real-World Example:</a:t>
            </a:r>
            <a:r>
              <a:rPr lang="en-IN" dirty="0"/>
              <a:t> A standard mobile phone telephone call where both people can talk and hear each other simultaneously, or modern high-speed switched Ethernet links.</a:t>
            </a:r>
          </a:p>
          <a:p>
            <a:endParaRPr lang="en-IN" dirty="0"/>
          </a:p>
        </p:txBody>
      </p:sp>
    </p:spTree>
    <p:extLst>
      <p:ext uri="{BB962C8B-B14F-4D97-AF65-F5344CB8AC3E}">
        <p14:creationId xmlns:p14="http://schemas.microsoft.com/office/powerpoint/2010/main" val="1641385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96AD8-BCC3-A04C-0410-ED2027293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AF466-4BD2-E2A3-AC74-47908106DD5E}"/>
              </a:ext>
            </a:extLst>
          </p:cNvPr>
          <p:cNvSpPr>
            <a:spLocks noGrp="1"/>
          </p:cNvSpPr>
          <p:nvPr>
            <p:ph type="title"/>
          </p:nvPr>
        </p:nvSpPr>
        <p:spPr>
          <a:xfrm>
            <a:off x="157655" y="567559"/>
            <a:ext cx="11871435" cy="520262"/>
          </a:xfrm>
        </p:spPr>
        <p:txBody>
          <a:bodyPr>
            <a:normAutofit fontScale="90000"/>
          </a:bodyPr>
          <a:lstStyle/>
          <a:p>
            <a:r>
              <a:rPr lang="en-US" dirty="0"/>
              <a:t>Transmission Modes – Based on Transmission Method</a:t>
            </a:r>
            <a:endParaRPr lang="en-IN" dirty="0"/>
          </a:p>
        </p:txBody>
      </p:sp>
      <p:graphicFrame>
        <p:nvGraphicFramePr>
          <p:cNvPr id="4" name="Table 3">
            <a:extLst>
              <a:ext uri="{FF2B5EF4-FFF2-40B4-BE49-F238E27FC236}">
                <a16:creationId xmlns:a16="http://schemas.microsoft.com/office/drawing/2014/main" id="{5A8A4601-950C-8300-5EC8-82C00251C2A3}"/>
              </a:ext>
            </a:extLst>
          </p:cNvPr>
          <p:cNvGraphicFramePr>
            <a:graphicFrameLocks noGrp="1"/>
          </p:cNvGraphicFramePr>
          <p:nvPr>
            <p:extLst>
              <p:ext uri="{D42A27DB-BD31-4B8C-83A1-F6EECF244321}">
                <p14:modId xmlns:p14="http://schemas.microsoft.com/office/powerpoint/2010/main" val="2496286330"/>
              </p:ext>
            </p:extLst>
          </p:nvPr>
        </p:nvGraphicFramePr>
        <p:xfrm>
          <a:off x="1117600" y="1329266"/>
          <a:ext cx="8127999" cy="50596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903476798"/>
                    </a:ext>
                  </a:extLst>
                </a:gridCol>
                <a:gridCol w="2709333">
                  <a:extLst>
                    <a:ext uri="{9D8B030D-6E8A-4147-A177-3AD203B41FA5}">
                      <a16:colId xmlns:a16="http://schemas.microsoft.com/office/drawing/2014/main" val="1476192798"/>
                    </a:ext>
                  </a:extLst>
                </a:gridCol>
                <a:gridCol w="2709333">
                  <a:extLst>
                    <a:ext uri="{9D8B030D-6E8A-4147-A177-3AD203B41FA5}">
                      <a16:colId xmlns:a16="http://schemas.microsoft.com/office/drawing/2014/main" val="2900982728"/>
                    </a:ext>
                  </a:extLst>
                </a:gridCol>
              </a:tblGrid>
              <a:tr h="370840">
                <a:tc>
                  <a:txBody>
                    <a:bodyPr/>
                    <a:lstStyle/>
                    <a:p>
                      <a:pPr>
                        <a:buNone/>
                      </a:pPr>
                      <a:r>
                        <a:rPr lang="en-IN" dirty="0"/>
                        <a:t>Feature</a:t>
                      </a:r>
                    </a:p>
                  </a:txBody>
                  <a:tcPr anchor="ctr"/>
                </a:tc>
                <a:tc>
                  <a:txBody>
                    <a:bodyPr/>
                    <a:lstStyle/>
                    <a:p>
                      <a:pPr>
                        <a:buNone/>
                      </a:pPr>
                      <a:r>
                        <a:rPr lang="en-IN"/>
                        <a:t>Serial Transmission</a:t>
                      </a:r>
                    </a:p>
                  </a:txBody>
                  <a:tcPr anchor="ctr"/>
                </a:tc>
                <a:tc>
                  <a:txBody>
                    <a:bodyPr/>
                    <a:lstStyle/>
                    <a:p>
                      <a:pPr>
                        <a:buNone/>
                      </a:pPr>
                      <a:r>
                        <a:rPr lang="en-IN"/>
                        <a:t>Parallel Transmission</a:t>
                      </a:r>
                    </a:p>
                  </a:txBody>
                  <a:tcPr anchor="ctr"/>
                </a:tc>
                <a:extLst>
                  <a:ext uri="{0D108BD9-81ED-4DB2-BD59-A6C34878D82A}">
                    <a16:rowId xmlns:a16="http://schemas.microsoft.com/office/drawing/2014/main" val="2260582887"/>
                  </a:ext>
                </a:extLst>
              </a:tr>
              <a:tr h="370840">
                <a:tc>
                  <a:txBody>
                    <a:bodyPr/>
                    <a:lstStyle/>
                    <a:p>
                      <a:pPr>
                        <a:buNone/>
                      </a:pPr>
                      <a:r>
                        <a:rPr lang="en-IN"/>
                        <a:t>Number of Bits Sent</a:t>
                      </a:r>
                    </a:p>
                  </a:txBody>
                  <a:tcPr anchor="ctr"/>
                </a:tc>
                <a:tc>
                  <a:txBody>
                    <a:bodyPr/>
                    <a:lstStyle/>
                    <a:p>
                      <a:pPr>
                        <a:buNone/>
                      </a:pPr>
                      <a:r>
                        <a:rPr lang="en-IN"/>
                        <a:t>One bit at a time</a:t>
                      </a:r>
                    </a:p>
                  </a:txBody>
                  <a:tcPr anchor="ctr"/>
                </a:tc>
                <a:tc>
                  <a:txBody>
                    <a:bodyPr/>
                    <a:lstStyle/>
                    <a:p>
                      <a:pPr>
                        <a:buNone/>
                      </a:pPr>
                      <a:r>
                        <a:rPr lang="en-IN"/>
                        <a:t>Multiple bits simultaneously</a:t>
                      </a:r>
                    </a:p>
                  </a:txBody>
                  <a:tcPr anchor="ctr"/>
                </a:tc>
                <a:extLst>
                  <a:ext uri="{0D108BD9-81ED-4DB2-BD59-A6C34878D82A}">
                    <a16:rowId xmlns:a16="http://schemas.microsoft.com/office/drawing/2014/main" val="4123594310"/>
                  </a:ext>
                </a:extLst>
              </a:tr>
              <a:tr h="370840">
                <a:tc>
                  <a:txBody>
                    <a:bodyPr/>
                    <a:lstStyle/>
                    <a:p>
                      <a:pPr>
                        <a:buNone/>
                      </a:pPr>
                      <a:r>
                        <a:rPr lang="en-IN"/>
                        <a:t>Communication Lines</a:t>
                      </a:r>
                    </a:p>
                  </a:txBody>
                  <a:tcPr anchor="ctr"/>
                </a:tc>
                <a:tc>
                  <a:txBody>
                    <a:bodyPr/>
                    <a:lstStyle/>
                    <a:p>
                      <a:pPr>
                        <a:buNone/>
                      </a:pPr>
                      <a:r>
                        <a:rPr lang="en-IN"/>
                        <a:t>One</a:t>
                      </a:r>
                    </a:p>
                  </a:txBody>
                  <a:tcPr anchor="ctr"/>
                </a:tc>
                <a:tc>
                  <a:txBody>
                    <a:bodyPr/>
                    <a:lstStyle/>
                    <a:p>
                      <a:pPr>
                        <a:buNone/>
                      </a:pPr>
                      <a:r>
                        <a:rPr lang="en-IN"/>
                        <a:t>Multiple</a:t>
                      </a:r>
                    </a:p>
                  </a:txBody>
                  <a:tcPr anchor="ctr"/>
                </a:tc>
                <a:extLst>
                  <a:ext uri="{0D108BD9-81ED-4DB2-BD59-A6C34878D82A}">
                    <a16:rowId xmlns:a16="http://schemas.microsoft.com/office/drawing/2014/main" val="2806106635"/>
                  </a:ext>
                </a:extLst>
              </a:tr>
              <a:tr h="370840">
                <a:tc>
                  <a:txBody>
                    <a:bodyPr/>
                    <a:lstStyle/>
                    <a:p>
                      <a:pPr>
                        <a:buNone/>
                      </a:pPr>
                      <a:r>
                        <a:rPr lang="en-IN"/>
                        <a:t>Cost</a:t>
                      </a:r>
                    </a:p>
                  </a:txBody>
                  <a:tcPr anchor="ctr"/>
                </a:tc>
                <a:tc>
                  <a:txBody>
                    <a:bodyPr/>
                    <a:lstStyle/>
                    <a:p>
                      <a:pPr>
                        <a:buNone/>
                      </a:pPr>
                      <a:r>
                        <a:rPr lang="en-IN"/>
                        <a:t>Low</a:t>
                      </a:r>
                    </a:p>
                  </a:txBody>
                  <a:tcPr anchor="ctr"/>
                </a:tc>
                <a:tc>
                  <a:txBody>
                    <a:bodyPr/>
                    <a:lstStyle/>
                    <a:p>
                      <a:pPr>
                        <a:buNone/>
                      </a:pPr>
                      <a:r>
                        <a:rPr lang="en-IN"/>
                        <a:t>High</a:t>
                      </a:r>
                    </a:p>
                  </a:txBody>
                  <a:tcPr anchor="ctr"/>
                </a:tc>
                <a:extLst>
                  <a:ext uri="{0D108BD9-81ED-4DB2-BD59-A6C34878D82A}">
                    <a16:rowId xmlns:a16="http://schemas.microsoft.com/office/drawing/2014/main" val="1488277477"/>
                  </a:ext>
                </a:extLst>
              </a:tr>
              <a:tr h="370840">
                <a:tc>
                  <a:txBody>
                    <a:bodyPr/>
                    <a:lstStyle/>
                    <a:p>
                      <a:pPr>
                        <a:buNone/>
                      </a:pPr>
                      <a:r>
                        <a:rPr lang="en-IN"/>
                        <a:t>Speed (Short Distance)</a:t>
                      </a:r>
                    </a:p>
                  </a:txBody>
                  <a:tcPr anchor="ctr"/>
                </a:tc>
                <a:tc>
                  <a:txBody>
                    <a:bodyPr/>
                    <a:lstStyle/>
                    <a:p>
                      <a:pPr>
                        <a:buNone/>
                      </a:pPr>
                      <a:r>
                        <a:rPr lang="en-IN"/>
                        <a:t>Lower in traditional systems</a:t>
                      </a:r>
                    </a:p>
                  </a:txBody>
                  <a:tcPr anchor="ctr"/>
                </a:tc>
                <a:tc>
                  <a:txBody>
                    <a:bodyPr/>
                    <a:lstStyle/>
                    <a:p>
                      <a:pPr>
                        <a:buNone/>
                      </a:pPr>
                      <a:r>
                        <a:rPr lang="en-IN"/>
                        <a:t>Higher</a:t>
                      </a:r>
                    </a:p>
                  </a:txBody>
                  <a:tcPr anchor="ctr"/>
                </a:tc>
                <a:extLst>
                  <a:ext uri="{0D108BD9-81ED-4DB2-BD59-A6C34878D82A}">
                    <a16:rowId xmlns:a16="http://schemas.microsoft.com/office/drawing/2014/main" val="3125211868"/>
                  </a:ext>
                </a:extLst>
              </a:tr>
              <a:tr h="370840">
                <a:tc>
                  <a:txBody>
                    <a:bodyPr/>
                    <a:lstStyle/>
                    <a:p>
                      <a:pPr>
                        <a:buNone/>
                      </a:pPr>
                      <a:r>
                        <a:rPr lang="en-IN"/>
                        <a:t>Long-Distance Communication</a:t>
                      </a:r>
                    </a:p>
                  </a:txBody>
                  <a:tcPr anchor="ctr"/>
                </a:tc>
                <a:tc>
                  <a:txBody>
                    <a:bodyPr/>
                    <a:lstStyle/>
                    <a:p>
                      <a:pPr>
                        <a:buNone/>
                      </a:pPr>
                      <a:r>
                        <a:rPr lang="en-IN"/>
                        <a:t>Excellent</a:t>
                      </a:r>
                    </a:p>
                  </a:txBody>
                  <a:tcPr anchor="ctr"/>
                </a:tc>
                <a:tc>
                  <a:txBody>
                    <a:bodyPr/>
                    <a:lstStyle/>
                    <a:p>
                      <a:pPr>
                        <a:buNone/>
                      </a:pPr>
                      <a:r>
                        <a:rPr lang="en-IN"/>
                        <a:t>Poor</a:t>
                      </a:r>
                    </a:p>
                  </a:txBody>
                  <a:tcPr anchor="ctr"/>
                </a:tc>
                <a:extLst>
                  <a:ext uri="{0D108BD9-81ED-4DB2-BD59-A6C34878D82A}">
                    <a16:rowId xmlns:a16="http://schemas.microsoft.com/office/drawing/2014/main" val="1067749243"/>
                  </a:ext>
                </a:extLst>
              </a:tr>
              <a:tr h="370840">
                <a:tc>
                  <a:txBody>
                    <a:bodyPr/>
                    <a:lstStyle/>
                    <a:p>
                      <a:pPr>
                        <a:buNone/>
                      </a:pPr>
                      <a:r>
                        <a:rPr lang="en-IN"/>
                        <a:t>Signal Interference</a:t>
                      </a:r>
                    </a:p>
                  </a:txBody>
                  <a:tcPr anchor="ctr"/>
                </a:tc>
                <a:tc>
                  <a:txBody>
                    <a:bodyPr/>
                    <a:lstStyle/>
                    <a:p>
                      <a:pPr>
                        <a:buNone/>
                      </a:pPr>
                      <a:r>
                        <a:rPr lang="en-IN"/>
                        <a:t>Very Low</a:t>
                      </a:r>
                    </a:p>
                  </a:txBody>
                  <a:tcPr anchor="ctr"/>
                </a:tc>
                <a:tc>
                  <a:txBody>
                    <a:bodyPr/>
                    <a:lstStyle/>
                    <a:p>
                      <a:pPr>
                        <a:buNone/>
                      </a:pPr>
                      <a:r>
                        <a:rPr lang="en-IN"/>
                        <a:t>Higher</a:t>
                      </a:r>
                    </a:p>
                  </a:txBody>
                  <a:tcPr anchor="ctr"/>
                </a:tc>
                <a:extLst>
                  <a:ext uri="{0D108BD9-81ED-4DB2-BD59-A6C34878D82A}">
                    <a16:rowId xmlns:a16="http://schemas.microsoft.com/office/drawing/2014/main" val="1267992026"/>
                  </a:ext>
                </a:extLst>
              </a:tr>
              <a:tr h="370840">
                <a:tc>
                  <a:txBody>
                    <a:bodyPr/>
                    <a:lstStyle/>
                    <a:p>
                      <a:pPr>
                        <a:buNone/>
                      </a:pPr>
                      <a:r>
                        <a:rPr lang="en-IN"/>
                        <a:t>Installation</a:t>
                      </a:r>
                    </a:p>
                  </a:txBody>
                  <a:tcPr anchor="ctr"/>
                </a:tc>
                <a:tc>
                  <a:txBody>
                    <a:bodyPr/>
                    <a:lstStyle/>
                    <a:p>
                      <a:pPr>
                        <a:buNone/>
                      </a:pPr>
                      <a:r>
                        <a:rPr lang="en-IN"/>
                        <a:t>Easy</a:t>
                      </a:r>
                    </a:p>
                  </a:txBody>
                  <a:tcPr anchor="ctr"/>
                </a:tc>
                <a:tc>
                  <a:txBody>
                    <a:bodyPr/>
                    <a:lstStyle/>
                    <a:p>
                      <a:pPr>
                        <a:buNone/>
                      </a:pPr>
                      <a:r>
                        <a:rPr lang="en-IN"/>
                        <a:t>Difficult</a:t>
                      </a:r>
                    </a:p>
                  </a:txBody>
                  <a:tcPr anchor="ctr"/>
                </a:tc>
                <a:extLst>
                  <a:ext uri="{0D108BD9-81ED-4DB2-BD59-A6C34878D82A}">
                    <a16:rowId xmlns:a16="http://schemas.microsoft.com/office/drawing/2014/main" val="1917191578"/>
                  </a:ext>
                </a:extLst>
              </a:tr>
              <a:tr h="370840">
                <a:tc>
                  <a:txBody>
                    <a:bodyPr/>
                    <a:lstStyle/>
                    <a:p>
                      <a:pPr>
                        <a:buNone/>
                      </a:pPr>
                      <a:r>
                        <a:rPr lang="en-IN"/>
                        <a:t>Reliability</a:t>
                      </a:r>
                    </a:p>
                  </a:txBody>
                  <a:tcPr anchor="ctr"/>
                </a:tc>
                <a:tc>
                  <a:txBody>
                    <a:bodyPr/>
                    <a:lstStyle/>
                    <a:p>
                      <a:pPr>
                        <a:buNone/>
                      </a:pPr>
                      <a:r>
                        <a:rPr lang="en-IN"/>
                        <a:t>High</a:t>
                      </a:r>
                    </a:p>
                  </a:txBody>
                  <a:tcPr anchor="ctr"/>
                </a:tc>
                <a:tc>
                  <a:txBody>
                    <a:bodyPr/>
                    <a:lstStyle/>
                    <a:p>
                      <a:pPr>
                        <a:buNone/>
                      </a:pPr>
                      <a:r>
                        <a:rPr lang="en-IN"/>
                        <a:t>Lower over long distances</a:t>
                      </a:r>
                    </a:p>
                  </a:txBody>
                  <a:tcPr anchor="ctr"/>
                </a:tc>
                <a:extLst>
                  <a:ext uri="{0D108BD9-81ED-4DB2-BD59-A6C34878D82A}">
                    <a16:rowId xmlns:a16="http://schemas.microsoft.com/office/drawing/2014/main" val="2084648480"/>
                  </a:ext>
                </a:extLst>
              </a:tr>
              <a:tr h="370840">
                <a:tc>
                  <a:txBody>
                    <a:bodyPr/>
                    <a:lstStyle/>
                    <a:p>
                      <a:pPr>
                        <a:buNone/>
                      </a:pPr>
                      <a:r>
                        <a:rPr lang="en-IN"/>
                        <a:t>Modern Usage</a:t>
                      </a:r>
                    </a:p>
                  </a:txBody>
                  <a:tcPr anchor="ctr"/>
                </a:tc>
                <a:tc>
                  <a:txBody>
                    <a:bodyPr/>
                    <a:lstStyle/>
                    <a:p>
                      <a:pPr>
                        <a:buNone/>
                      </a:pPr>
                      <a:r>
                        <a:rPr lang="en-IN"/>
                        <a:t>Internet, USB, Ethernet, Fiber</a:t>
                      </a:r>
                    </a:p>
                  </a:txBody>
                  <a:tcPr anchor="ctr"/>
                </a:tc>
                <a:tc>
                  <a:txBody>
                    <a:bodyPr/>
                    <a:lstStyle/>
                    <a:p>
                      <a:pPr>
                        <a:buNone/>
                      </a:pPr>
                      <a:r>
                        <a:rPr lang="en-IN" dirty="0"/>
                        <a:t>Short-distance internal communication, legacy interfaces</a:t>
                      </a:r>
                    </a:p>
                  </a:txBody>
                  <a:tcPr anchor="ctr"/>
                </a:tc>
                <a:extLst>
                  <a:ext uri="{0D108BD9-81ED-4DB2-BD59-A6C34878D82A}">
                    <a16:rowId xmlns:a16="http://schemas.microsoft.com/office/drawing/2014/main" val="2830561701"/>
                  </a:ext>
                </a:extLst>
              </a:tr>
            </a:tbl>
          </a:graphicData>
        </a:graphic>
      </p:graphicFrame>
    </p:spTree>
    <p:extLst>
      <p:ext uri="{BB962C8B-B14F-4D97-AF65-F5344CB8AC3E}">
        <p14:creationId xmlns:p14="http://schemas.microsoft.com/office/powerpoint/2010/main" val="2983477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9DB8F-7B24-FA44-D924-A70FF6A90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A37B1-9AE4-9147-0975-4BBE5870CCD7}"/>
              </a:ext>
            </a:extLst>
          </p:cNvPr>
          <p:cNvSpPr>
            <a:spLocks noGrp="1"/>
          </p:cNvSpPr>
          <p:nvPr>
            <p:ph type="title"/>
          </p:nvPr>
        </p:nvSpPr>
        <p:spPr>
          <a:xfrm>
            <a:off x="157655" y="567559"/>
            <a:ext cx="11871435" cy="520262"/>
          </a:xfrm>
        </p:spPr>
        <p:txBody>
          <a:bodyPr>
            <a:normAutofit fontScale="90000"/>
          </a:bodyPr>
          <a:lstStyle/>
          <a:p>
            <a:r>
              <a:rPr lang="en-US" dirty="0"/>
              <a:t>Transmission Modes – Based on Data Synchronization</a:t>
            </a:r>
            <a:endParaRPr lang="en-IN" dirty="0"/>
          </a:p>
        </p:txBody>
      </p:sp>
      <p:sp>
        <p:nvSpPr>
          <p:cNvPr id="5" name="TextBox 4">
            <a:extLst>
              <a:ext uri="{FF2B5EF4-FFF2-40B4-BE49-F238E27FC236}">
                <a16:creationId xmlns:a16="http://schemas.microsoft.com/office/drawing/2014/main" id="{C906C828-E38F-1A15-51A8-13E36180755A}"/>
              </a:ext>
            </a:extLst>
          </p:cNvPr>
          <p:cNvSpPr txBox="1"/>
          <p:nvPr/>
        </p:nvSpPr>
        <p:spPr>
          <a:xfrm>
            <a:off x="336884" y="1259123"/>
            <a:ext cx="6128084" cy="461665"/>
          </a:xfrm>
          <a:prstGeom prst="rect">
            <a:avLst/>
          </a:prstGeom>
          <a:noFill/>
        </p:spPr>
        <p:txBody>
          <a:bodyPr wrap="square">
            <a:spAutoFit/>
          </a:bodyPr>
          <a:lstStyle/>
          <a:p>
            <a:r>
              <a:rPr lang="en-IN" sz="2400" b="1" dirty="0"/>
              <a:t>1. Asynchronous Transmission</a:t>
            </a:r>
          </a:p>
        </p:txBody>
      </p:sp>
      <p:sp>
        <p:nvSpPr>
          <p:cNvPr id="7" name="TextBox 6">
            <a:extLst>
              <a:ext uri="{FF2B5EF4-FFF2-40B4-BE49-F238E27FC236}">
                <a16:creationId xmlns:a16="http://schemas.microsoft.com/office/drawing/2014/main" id="{8B10D823-1E1E-45E8-FCDE-F0F09C1E0742}"/>
              </a:ext>
            </a:extLst>
          </p:cNvPr>
          <p:cNvSpPr txBox="1"/>
          <p:nvPr/>
        </p:nvSpPr>
        <p:spPr>
          <a:xfrm>
            <a:off x="336884" y="1799757"/>
            <a:ext cx="5518484" cy="1754326"/>
          </a:xfrm>
          <a:prstGeom prst="rect">
            <a:avLst/>
          </a:prstGeom>
          <a:noFill/>
        </p:spPr>
        <p:txBody>
          <a:bodyPr wrap="square">
            <a:spAutoFit/>
          </a:bodyPr>
          <a:lstStyle/>
          <a:p>
            <a:pPr>
              <a:buNone/>
            </a:pPr>
            <a:r>
              <a:rPr lang="en-IN" dirty="0"/>
              <a:t>In asynchronous transmission, the sender and receiver do </a:t>
            </a:r>
            <a:r>
              <a:rPr lang="en-IN" b="1" dirty="0"/>
              <a:t>not share a common clock signal</a:t>
            </a:r>
            <a:r>
              <a:rPr lang="en-IN" dirty="0"/>
              <a:t>.</a:t>
            </a:r>
          </a:p>
          <a:p>
            <a:pPr>
              <a:buNone/>
            </a:pPr>
            <a:r>
              <a:rPr lang="en-IN" dirty="0"/>
              <a:t>Instead, </a:t>
            </a:r>
            <a:r>
              <a:rPr lang="en-IN" b="1" dirty="0"/>
              <a:t>each character is sent independently</a:t>
            </a:r>
            <a:r>
              <a:rPr lang="en-IN" dirty="0"/>
              <a:t>.</a:t>
            </a:r>
          </a:p>
          <a:p>
            <a:pPr>
              <a:buNone/>
            </a:pPr>
            <a:r>
              <a:rPr lang="en-IN" dirty="0"/>
              <a:t>To help the receiver identify the beginning and end of each character, </a:t>
            </a:r>
            <a:r>
              <a:rPr lang="en-IN" b="1" dirty="0"/>
              <a:t>Start</a:t>
            </a:r>
            <a:r>
              <a:rPr lang="en-IN" dirty="0"/>
              <a:t> and </a:t>
            </a:r>
            <a:r>
              <a:rPr lang="en-IN" b="1" dirty="0"/>
              <a:t>Stop</a:t>
            </a:r>
            <a:r>
              <a:rPr lang="en-IN" dirty="0"/>
              <a:t> bits are added.</a:t>
            </a:r>
          </a:p>
          <a:p>
            <a:pPr>
              <a:buNone/>
            </a:pPr>
            <a:r>
              <a:rPr lang="en-IN" dirty="0"/>
              <a:t>[half-duplex]</a:t>
            </a:r>
          </a:p>
        </p:txBody>
      </p:sp>
      <p:sp>
        <p:nvSpPr>
          <p:cNvPr id="9" name="TextBox 8">
            <a:extLst>
              <a:ext uri="{FF2B5EF4-FFF2-40B4-BE49-F238E27FC236}">
                <a16:creationId xmlns:a16="http://schemas.microsoft.com/office/drawing/2014/main" id="{19C460D1-B1F0-5682-9FC1-6CD59F6DB314}"/>
              </a:ext>
            </a:extLst>
          </p:cNvPr>
          <p:cNvSpPr txBox="1"/>
          <p:nvPr/>
        </p:nvSpPr>
        <p:spPr>
          <a:xfrm>
            <a:off x="336884" y="3989474"/>
            <a:ext cx="6128084" cy="2031325"/>
          </a:xfrm>
          <a:prstGeom prst="rect">
            <a:avLst/>
          </a:prstGeom>
          <a:noFill/>
        </p:spPr>
        <p:txBody>
          <a:bodyPr wrap="square">
            <a:spAutoFit/>
          </a:bodyPr>
          <a:lstStyle/>
          <a:p>
            <a:pPr>
              <a:buNone/>
            </a:pPr>
            <a:r>
              <a:rPr lang="en-IN" b="1" dirty="0"/>
              <a:t>Characteristics of Asynchronous Transmission</a:t>
            </a:r>
          </a:p>
          <a:p>
            <a:pPr>
              <a:buFont typeface="Arial" panose="020B0604020202020204" pitchFamily="34" charset="0"/>
              <a:buChar char="•"/>
            </a:pPr>
            <a:r>
              <a:rPr lang="en-IN" dirty="0"/>
              <a:t>Data is sent </a:t>
            </a:r>
            <a:r>
              <a:rPr lang="en-IN" b="1" dirty="0"/>
              <a:t>one character at a time</a:t>
            </a:r>
            <a:r>
              <a:rPr lang="en-IN" dirty="0"/>
              <a:t>. </a:t>
            </a:r>
          </a:p>
          <a:p>
            <a:pPr>
              <a:buFont typeface="Arial" panose="020B0604020202020204" pitchFamily="34" charset="0"/>
              <a:buChar char="•"/>
            </a:pPr>
            <a:r>
              <a:rPr lang="en-IN" dirty="0"/>
              <a:t>Each character has its own Start and Stop bits. </a:t>
            </a:r>
          </a:p>
          <a:p>
            <a:pPr>
              <a:buFont typeface="Arial" panose="020B0604020202020204" pitchFamily="34" charset="0"/>
              <a:buChar char="•"/>
            </a:pPr>
            <a:r>
              <a:rPr lang="en-IN" dirty="0"/>
              <a:t>No common clock is required. </a:t>
            </a:r>
          </a:p>
          <a:p>
            <a:pPr>
              <a:buFont typeface="Arial" panose="020B0604020202020204" pitchFamily="34" charset="0"/>
              <a:buChar char="•"/>
            </a:pPr>
            <a:r>
              <a:rPr lang="en-IN" dirty="0"/>
              <a:t>Gaps may exist between characters. </a:t>
            </a:r>
          </a:p>
          <a:p>
            <a:pPr>
              <a:buFont typeface="Arial" panose="020B0604020202020204" pitchFamily="34" charset="0"/>
              <a:buChar char="•"/>
            </a:pPr>
            <a:r>
              <a:rPr lang="en-IN" dirty="0"/>
              <a:t>Simple to implement. </a:t>
            </a:r>
          </a:p>
          <a:p>
            <a:pPr>
              <a:buFont typeface="Arial" panose="020B0604020202020204" pitchFamily="34" charset="0"/>
              <a:buChar char="•"/>
            </a:pPr>
            <a:r>
              <a:rPr lang="en-IN" dirty="0"/>
              <a:t>Suitable for low-speed communication.</a:t>
            </a:r>
          </a:p>
        </p:txBody>
      </p:sp>
      <p:sp>
        <p:nvSpPr>
          <p:cNvPr id="10" name="TextBox 9">
            <a:extLst>
              <a:ext uri="{FF2B5EF4-FFF2-40B4-BE49-F238E27FC236}">
                <a16:creationId xmlns:a16="http://schemas.microsoft.com/office/drawing/2014/main" id="{1066AAD2-B97A-B747-B693-ECA1DCF0C32F}"/>
              </a:ext>
            </a:extLst>
          </p:cNvPr>
          <p:cNvSpPr txBox="1"/>
          <p:nvPr/>
        </p:nvSpPr>
        <p:spPr>
          <a:xfrm>
            <a:off x="6464968" y="1212956"/>
            <a:ext cx="5277852" cy="461665"/>
          </a:xfrm>
          <a:prstGeom prst="rect">
            <a:avLst/>
          </a:prstGeom>
          <a:noFill/>
        </p:spPr>
        <p:txBody>
          <a:bodyPr wrap="square">
            <a:spAutoFit/>
          </a:bodyPr>
          <a:lstStyle/>
          <a:p>
            <a:r>
              <a:rPr lang="en-IN" sz="2400" b="1" dirty="0"/>
              <a:t>2. Synchronous Transmission</a:t>
            </a:r>
          </a:p>
        </p:txBody>
      </p:sp>
      <p:sp>
        <p:nvSpPr>
          <p:cNvPr id="12" name="TextBox 11">
            <a:extLst>
              <a:ext uri="{FF2B5EF4-FFF2-40B4-BE49-F238E27FC236}">
                <a16:creationId xmlns:a16="http://schemas.microsoft.com/office/drawing/2014/main" id="{12D306CD-5471-DD24-5700-354726F171FD}"/>
              </a:ext>
            </a:extLst>
          </p:cNvPr>
          <p:cNvSpPr txBox="1"/>
          <p:nvPr/>
        </p:nvSpPr>
        <p:spPr>
          <a:xfrm>
            <a:off x="6093372" y="1799756"/>
            <a:ext cx="5133473" cy="1754326"/>
          </a:xfrm>
          <a:prstGeom prst="rect">
            <a:avLst/>
          </a:prstGeom>
          <a:noFill/>
        </p:spPr>
        <p:txBody>
          <a:bodyPr wrap="square">
            <a:spAutoFit/>
          </a:bodyPr>
          <a:lstStyle/>
          <a:p>
            <a:pPr>
              <a:buNone/>
            </a:pPr>
            <a:r>
              <a:rPr lang="en-IN" dirty="0"/>
              <a:t>In synchronous transmission, the sender and receiver </a:t>
            </a:r>
            <a:r>
              <a:rPr lang="en-IN" b="1" dirty="0"/>
              <a:t>share a common timing reference</a:t>
            </a:r>
            <a:r>
              <a:rPr lang="en-IN" dirty="0"/>
              <a:t>. [</a:t>
            </a:r>
          </a:p>
          <a:p>
            <a:pPr>
              <a:buNone/>
            </a:pPr>
            <a:r>
              <a:rPr lang="en-IN" dirty="0"/>
              <a:t>Instead of sending one character at a time, data is transmitted as a </a:t>
            </a:r>
            <a:r>
              <a:rPr lang="en-IN" b="1" dirty="0"/>
              <a:t>continuous stream of bits</a:t>
            </a:r>
            <a:r>
              <a:rPr lang="en-IN" dirty="0"/>
              <a:t>.</a:t>
            </a:r>
          </a:p>
          <a:p>
            <a:pPr>
              <a:buNone/>
            </a:pPr>
            <a:r>
              <a:rPr lang="en-IN" dirty="0"/>
              <a:t>No Start or Stop bits are added to every character.</a:t>
            </a:r>
            <a:br>
              <a:rPr lang="en-IN" dirty="0"/>
            </a:br>
            <a:r>
              <a:rPr lang="en-IN" dirty="0"/>
              <a:t>[Full Duplex]</a:t>
            </a:r>
          </a:p>
        </p:txBody>
      </p:sp>
      <p:sp>
        <p:nvSpPr>
          <p:cNvPr id="14" name="TextBox 13">
            <a:extLst>
              <a:ext uri="{FF2B5EF4-FFF2-40B4-BE49-F238E27FC236}">
                <a16:creationId xmlns:a16="http://schemas.microsoft.com/office/drawing/2014/main" id="{79B199C0-DE2E-9693-294D-C67BB5A7269F}"/>
              </a:ext>
            </a:extLst>
          </p:cNvPr>
          <p:cNvSpPr txBox="1"/>
          <p:nvPr/>
        </p:nvSpPr>
        <p:spPr>
          <a:xfrm>
            <a:off x="6285876" y="3989474"/>
            <a:ext cx="4748463" cy="2031325"/>
          </a:xfrm>
          <a:prstGeom prst="rect">
            <a:avLst/>
          </a:prstGeom>
          <a:noFill/>
        </p:spPr>
        <p:txBody>
          <a:bodyPr wrap="square">
            <a:spAutoFit/>
          </a:bodyPr>
          <a:lstStyle/>
          <a:p>
            <a:pPr>
              <a:buNone/>
            </a:pPr>
            <a:r>
              <a:rPr lang="en-IN" b="1" dirty="0"/>
              <a:t>Characteristics of Synchronous Transmission</a:t>
            </a:r>
          </a:p>
          <a:p>
            <a:pPr>
              <a:buFont typeface="Arial" panose="020B0604020202020204" pitchFamily="34" charset="0"/>
              <a:buChar char="•"/>
            </a:pPr>
            <a:r>
              <a:rPr lang="en-IN" dirty="0"/>
              <a:t>Data is sent continuously. </a:t>
            </a:r>
          </a:p>
          <a:p>
            <a:pPr>
              <a:buFont typeface="Arial" panose="020B0604020202020204" pitchFamily="34" charset="0"/>
              <a:buChar char="•"/>
            </a:pPr>
            <a:r>
              <a:rPr lang="en-IN" dirty="0"/>
              <a:t>Characters are grouped into frames. </a:t>
            </a:r>
          </a:p>
          <a:p>
            <a:pPr>
              <a:buFont typeface="Arial" panose="020B0604020202020204" pitchFamily="34" charset="0"/>
              <a:buChar char="•"/>
            </a:pPr>
            <a:r>
              <a:rPr lang="en-IN" dirty="0"/>
              <a:t>Sender and receiver remain synchronized. </a:t>
            </a:r>
          </a:p>
          <a:p>
            <a:pPr>
              <a:buFont typeface="Arial" panose="020B0604020202020204" pitchFamily="34" charset="0"/>
              <a:buChar char="•"/>
            </a:pPr>
            <a:r>
              <a:rPr lang="en-IN" dirty="0"/>
              <a:t>Higher transmission speed. </a:t>
            </a:r>
          </a:p>
          <a:p>
            <a:pPr>
              <a:buFont typeface="Arial" panose="020B0604020202020204" pitchFamily="34" charset="0"/>
              <a:buChar char="•"/>
            </a:pPr>
            <a:r>
              <a:rPr lang="en-IN" dirty="0"/>
              <a:t>More efficient than asynchronous transmission. </a:t>
            </a:r>
          </a:p>
          <a:p>
            <a:pPr>
              <a:buFont typeface="Arial" panose="020B0604020202020204" pitchFamily="34" charset="0"/>
              <a:buChar char="•"/>
            </a:pPr>
            <a:r>
              <a:rPr lang="en-IN" dirty="0"/>
              <a:t>Suitable for large amounts of data.</a:t>
            </a:r>
          </a:p>
        </p:txBody>
      </p:sp>
    </p:spTree>
    <p:extLst>
      <p:ext uri="{BB962C8B-B14F-4D97-AF65-F5344CB8AC3E}">
        <p14:creationId xmlns:p14="http://schemas.microsoft.com/office/powerpoint/2010/main" val="2712877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B6B7-0B5C-1A3D-D82C-B6F4A0F0DD15}"/>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7736C861-E0E0-A2A4-2B42-47293352C1D4}"/>
              </a:ext>
            </a:extLst>
          </p:cNvPr>
          <p:cNvSpPr>
            <a:spLocks noGrp="1"/>
          </p:cNvSpPr>
          <p:nvPr>
            <p:ph type="title"/>
          </p:nvPr>
        </p:nvSpPr>
        <p:spPr/>
        <p:txBody>
          <a:bodyPr/>
          <a:lstStyle/>
          <a:p>
            <a:endParaRPr lang="en-IN"/>
          </a:p>
        </p:txBody>
      </p:sp>
      <p:pic>
        <p:nvPicPr>
          <p:cNvPr id="18" name="Picture 17">
            <a:extLst>
              <a:ext uri="{FF2B5EF4-FFF2-40B4-BE49-F238E27FC236}">
                <a16:creationId xmlns:a16="http://schemas.microsoft.com/office/drawing/2014/main" id="{3648A9AA-E98A-E629-3945-77F474E6A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24944" cy="6858000"/>
          </a:xfrm>
          <a:prstGeom prst="rect">
            <a:avLst/>
          </a:prstGeom>
        </p:spPr>
      </p:pic>
    </p:spTree>
    <p:extLst>
      <p:ext uri="{BB962C8B-B14F-4D97-AF65-F5344CB8AC3E}">
        <p14:creationId xmlns:p14="http://schemas.microsoft.com/office/powerpoint/2010/main" val="698593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E8511-0B72-B61C-C802-65880219C0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13397-E354-DC31-57EB-12A51258FBCD}"/>
              </a:ext>
            </a:extLst>
          </p:cNvPr>
          <p:cNvSpPr>
            <a:spLocks noGrp="1"/>
          </p:cNvSpPr>
          <p:nvPr>
            <p:ph type="title"/>
          </p:nvPr>
        </p:nvSpPr>
        <p:spPr>
          <a:xfrm>
            <a:off x="157655" y="567559"/>
            <a:ext cx="11871435" cy="520262"/>
          </a:xfrm>
        </p:spPr>
        <p:txBody>
          <a:bodyPr>
            <a:normAutofit fontScale="90000"/>
          </a:bodyPr>
          <a:lstStyle/>
          <a:p>
            <a:r>
              <a:rPr lang="en-US" dirty="0"/>
              <a:t>Network Architecture: Client-Server</a:t>
            </a:r>
            <a:endParaRPr lang="en-IN" dirty="0"/>
          </a:p>
        </p:txBody>
      </p:sp>
      <p:sp>
        <p:nvSpPr>
          <p:cNvPr id="3" name="Content Placeholder 2">
            <a:extLst>
              <a:ext uri="{FF2B5EF4-FFF2-40B4-BE49-F238E27FC236}">
                <a16:creationId xmlns:a16="http://schemas.microsoft.com/office/drawing/2014/main" id="{44D77C6D-5021-B163-32C9-0A525AA0E427}"/>
              </a:ext>
            </a:extLst>
          </p:cNvPr>
          <p:cNvSpPr>
            <a:spLocks noGrp="1"/>
          </p:cNvSpPr>
          <p:nvPr>
            <p:ph idx="1"/>
          </p:nvPr>
        </p:nvSpPr>
        <p:spPr>
          <a:xfrm>
            <a:off x="157655" y="1324303"/>
            <a:ext cx="11871435" cy="5281449"/>
          </a:xfrm>
        </p:spPr>
        <p:txBody>
          <a:bodyPr>
            <a:normAutofit fontScale="85000" lnSpcReduction="20000"/>
          </a:bodyPr>
          <a:lstStyle/>
          <a:p>
            <a:r>
              <a:rPr lang="en-IN" dirty="0"/>
              <a:t>In computer networking, architecture refers to the logical design of the network applications and how tasks are distributed among the connected hosts. There are two primary models;</a:t>
            </a:r>
          </a:p>
          <a:p>
            <a:pPr marL="0" indent="0">
              <a:buNone/>
            </a:pPr>
            <a:r>
              <a:rPr lang="en-IN" b="1" dirty="0">
                <a:highlight>
                  <a:srgbClr val="FFFF00"/>
                </a:highlight>
              </a:rPr>
              <a:t>A. Client-Server Architecture</a:t>
            </a:r>
          </a:p>
          <a:p>
            <a:r>
              <a:rPr lang="en-IN" b="1" dirty="0"/>
              <a:t>The Core Mechanism:</a:t>
            </a:r>
            <a:r>
              <a:rPr lang="en-IN" dirty="0"/>
              <a:t> This model establishes a strict hierarchical relationship. The network is sharply divided into two distinct roles:</a:t>
            </a:r>
          </a:p>
          <a:p>
            <a:pPr lvl="1"/>
            <a:r>
              <a:rPr lang="en-IN" b="1" dirty="0"/>
              <a:t>The Server:</a:t>
            </a:r>
            <a:r>
              <a:rPr lang="en-IN" dirty="0"/>
              <a:t> A high-performance, dedicated machine equipped with massive processing power, large memory arrays, and a specialized Network Operating System (NOS). It sits in a centralized location, constantly listening for incoming requests over the network. It manages data storage, security, authentication, and application processing.</a:t>
            </a:r>
          </a:p>
          <a:p>
            <a:pPr lvl="1"/>
            <a:r>
              <a:rPr lang="en-IN" b="1" dirty="0"/>
              <a:t>The Client:</a:t>
            </a:r>
            <a:r>
              <a:rPr lang="en-IN" dirty="0"/>
              <a:t> A standard personal computer, laptop, or mobile device used by an individual end-user. Clients do not share their resources with anyone else. Instead, they contact the central server to request web pages, pull database records, check emails, or validate login credentials.</a:t>
            </a:r>
          </a:p>
          <a:p>
            <a:r>
              <a:rPr lang="en-IN" b="1" dirty="0"/>
              <a:t>Administrative Control:</a:t>
            </a:r>
            <a:r>
              <a:rPr lang="en-IN" dirty="0"/>
              <a:t> Completely centralized. The server administrator controls who has access to the network resources. All security patches, software updates, and file backups happen directly on the central server.</a:t>
            </a:r>
          </a:p>
          <a:p>
            <a:r>
              <a:rPr lang="en-IN" b="1" dirty="0"/>
              <a:t>Real-World Examples:</a:t>
            </a:r>
            <a:r>
              <a:rPr lang="en-IN" dirty="0"/>
              <a:t> Accessing web pages via an HTTP Web Server, pulling corporate employee records from an SQL Database Server, or accessing files from an enterprise Cloud Storage Server.</a:t>
            </a:r>
          </a:p>
        </p:txBody>
      </p:sp>
    </p:spTree>
    <p:extLst>
      <p:ext uri="{BB962C8B-B14F-4D97-AF65-F5344CB8AC3E}">
        <p14:creationId xmlns:p14="http://schemas.microsoft.com/office/powerpoint/2010/main" val="1559717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D8600-7C9C-3D33-A80C-5DFDFB0C6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848EC-CAF2-B685-96AC-E28851157904}"/>
              </a:ext>
            </a:extLst>
          </p:cNvPr>
          <p:cNvSpPr>
            <a:spLocks noGrp="1"/>
          </p:cNvSpPr>
          <p:nvPr>
            <p:ph type="title"/>
          </p:nvPr>
        </p:nvSpPr>
        <p:spPr>
          <a:xfrm>
            <a:off x="157655" y="567559"/>
            <a:ext cx="11871435" cy="520262"/>
          </a:xfrm>
        </p:spPr>
        <p:txBody>
          <a:bodyPr>
            <a:normAutofit fontScale="90000"/>
          </a:bodyPr>
          <a:lstStyle/>
          <a:p>
            <a:r>
              <a:rPr lang="en-US" dirty="0"/>
              <a:t>Network Architecture: Client-Server</a:t>
            </a:r>
            <a:endParaRPr lang="en-IN" dirty="0"/>
          </a:p>
        </p:txBody>
      </p:sp>
      <p:pic>
        <p:nvPicPr>
          <p:cNvPr id="7" name="Picture 6">
            <a:extLst>
              <a:ext uri="{FF2B5EF4-FFF2-40B4-BE49-F238E27FC236}">
                <a16:creationId xmlns:a16="http://schemas.microsoft.com/office/drawing/2014/main" id="{D0B61BAD-EB93-DAD9-A821-D1EE6D12CFA5}"/>
              </a:ext>
            </a:extLst>
          </p:cNvPr>
          <p:cNvPicPr>
            <a:picLocks noChangeAspect="1"/>
          </p:cNvPicPr>
          <p:nvPr/>
        </p:nvPicPr>
        <p:blipFill>
          <a:blip r:embed="rId2"/>
          <a:stretch>
            <a:fillRect/>
          </a:stretch>
        </p:blipFill>
        <p:spPr>
          <a:xfrm>
            <a:off x="720042" y="1400509"/>
            <a:ext cx="7942696" cy="4056982"/>
          </a:xfrm>
          <a:prstGeom prst="rect">
            <a:avLst/>
          </a:prstGeom>
        </p:spPr>
      </p:pic>
      <p:pic>
        <p:nvPicPr>
          <p:cNvPr id="9" name="Picture 8">
            <a:extLst>
              <a:ext uri="{FF2B5EF4-FFF2-40B4-BE49-F238E27FC236}">
                <a16:creationId xmlns:a16="http://schemas.microsoft.com/office/drawing/2014/main" id="{182E50D8-9BDB-C5F6-9AE3-8AEE95054294}"/>
              </a:ext>
            </a:extLst>
          </p:cNvPr>
          <p:cNvPicPr>
            <a:picLocks noChangeAspect="1"/>
          </p:cNvPicPr>
          <p:nvPr/>
        </p:nvPicPr>
        <p:blipFill>
          <a:blip r:embed="rId3"/>
          <a:stretch>
            <a:fillRect/>
          </a:stretch>
        </p:blipFill>
        <p:spPr>
          <a:xfrm>
            <a:off x="8357938" y="4251158"/>
            <a:ext cx="3521206" cy="2181725"/>
          </a:xfrm>
          <a:prstGeom prst="rect">
            <a:avLst/>
          </a:prstGeom>
        </p:spPr>
      </p:pic>
    </p:spTree>
    <p:extLst>
      <p:ext uri="{BB962C8B-B14F-4D97-AF65-F5344CB8AC3E}">
        <p14:creationId xmlns:p14="http://schemas.microsoft.com/office/powerpoint/2010/main" val="1965220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A039-A6B7-A900-00DD-4F0697F13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2F094-62AD-3FD9-6DAE-A749F4C7C6E0}"/>
              </a:ext>
            </a:extLst>
          </p:cNvPr>
          <p:cNvSpPr>
            <a:spLocks noGrp="1"/>
          </p:cNvSpPr>
          <p:nvPr>
            <p:ph type="title"/>
          </p:nvPr>
        </p:nvSpPr>
        <p:spPr>
          <a:xfrm>
            <a:off x="157655" y="567559"/>
            <a:ext cx="11871435" cy="520262"/>
          </a:xfrm>
        </p:spPr>
        <p:txBody>
          <a:bodyPr>
            <a:normAutofit fontScale="90000"/>
          </a:bodyPr>
          <a:lstStyle/>
          <a:p>
            <a:r>
              <a:rPr lang="en-US" dirty="0"/>
              <a:t>Network Architecture: Peer-to-Peer(P2P)</a:t>
            </a:r>
            <a:endParaRPr lang="en-IN" dirty="0"/>
          </a:p>
        </p:txBody>
      </p:sp>
      <p:sp>
        <p:nvSpPr>
          <p:cNvPr id="3" name="Content Placeholder 2">
            <a:extLst>
              <a:ext uri="{FF2B5EF4-FFF2-40B4-BE49-F238E27FC236}">
                <a16:creationId xmlns:a16="http://schemas.microsoft.com/office/drawing/2014/main" id="{A2D76DAA-0C28-0EB7-1E10-FC1034F181E1}"/>
              </a:ext>
            </a:extLst>
          </p:cNvPr>
          <p:cNvSpPr>
            <a:spLocks noGrp="1"/>
          </p:cNvSpPr>
          <p:nvPr>
            <p:ph idx="1"/>
          </p:nvPr>
        </p:nvSpPr>
        <p:spPr>
          <a:xfrm>
            <a:off x="157655" y="1324303"/>
            <a:ext cx="11871435" cy="5281449"/>
          </a:xfrm>
        </p:spPr>
        <p:txBody>
          <a:bodyPr>
            <a:normAutofit fontScale="92500" lnSpcReduction="20000"/>
          </a:bodyPr>
          <a:lstStyle/>
          <a:p>
            <a:pPr marL="0" indent="0">
              <a:buNone/>
            </a:pPr>
            <a:r>
              <a:rPr lang="en-IN" b="1" dirty="0">
                <a:highlight>
                  <a:srgbClr val="FFFF00"/>
                </a:highlight>
              </a:rPr>
              <a:t>B. Peer-to-Peer (P2P) Architecture</a:t>
            </a:r>
          </a:p>
          <a:p>
            <a:r>
              <a:rPr lang="en-IN" b="1" dirty="0"/>
              <a:t>The Core Mechanism:</a:t>
            </a:r>
            <a:r>
              <a:rPr lang="en-IN" dirty="0"/>
              <a:t> This model is completely democratic and non-hierarchical. There is no specialized, central master server. Instead, every single computer plugged into the network acts as a </a:t>
            </a:r>
            <a:r>
              <a:rPr lang="en-IN" b="1" dirty="0"/>
              <a:t>Peer</a:t>
            </a:r>
            <a:r>
              <a:rPr lang="en-IN" dirty="0"/>
              <a:t> (also referred to as a </a:t>
            </a:r>
            <a:r>
              <a:rPr lang="en-IN" b="1" dirty="0" err="1"/>
              <a:t>Servent</a:t>
            </a:r>
            <a:r>
              <a:rPr lang="en-IN" dirty="0"/>
              <a:t>, a combination of Server and Client).</a:t>
            </a:r>
          </a:p>
          <a:p>
            <a:r>
              <a:rPr lang="en-IN" b="1" dirty="0"/>
              <a:t>The Dual Role:</a:t>
            </a:r>
            <a:r>
              <a:rPr lang="en-IN" dirty="0"/>
              <a:t> At any given second, a peer computer can act as a client by downloading a file chunk from another machine, while simultaneously acting as a server by uploading a different file chunk to a third machine on the network. Every computer contributes its own local hard drive space, processing power, and bandwidth to the collective pool.</a:t>
            </a:r>
          </a:p>
          <a:p>
            <a:r>
              <a:rPr lang="en-IN" b="1" dirty="0"/>
              <a:t>Administrative Control:</a:t>
            </a:r>
            <a:r>
              <a:rPr lang="en-IN" dirty="0"/>
              <a:t> Completely decentralized. Every individual peer is responsible for its own local security setup, user permissions, and file backups. There is no central point of failure.</a:t>
            </a:r>
          </a:p>
          <a:p>
            <a:r>
              <a:rPr lang="en-IN" b="1" dirty="0"/>
              <a:t>Real-World Examples:</a:t>
            </a:r>
            <a:r>
              <a:rPr lang="en-IN" dirty="0"/>
              <a:t> BitTorrent file-sharing systems, blockchain networks, and small office workgroups linking a handful of computers together to share a local office printer.</a:t>
            </a:r>
          </a:p>
          <a:p>
            <a:endParaRPr lang="en-IN" dirty="0"/>
          </a:p>
        </p:txBody>
      </p:sp>
    </p:spTree>
    <p:extLst>
      <p:ext uri="{BB962C8B-B14F-4D97-AF65-F5344CB8AC3E}">
        <p14:creationId xmlns:p14="http://schemas.microsoft.com/office/powerpoint/2010/main" val="2737844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6175-C811-C3AF-84F7-13FB367940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DE3401-0016-C273-7898-EAE0D0672EF6}"/>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FA346E0C-59A9-4214-A6B5-1CD9C5CF6B6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365124"/>
            <a:ext cx="12115800" cy="6236843"/>
          </a:xfrm>
          <a:prstGeom prst="rect">
            <a:avLst/>
          </a:prstGeom>
        </p:spPr>
      </p:pic>
    </p:spTree>
    <p:extLst>
      <p:ext uri="{BB962C8B-B14F-4D97-AF65-F5344CB8AC3E}">
        <p14:creationId xmlns:p14="http://schemas.microsoft.com/office/powerpoint/2010/main" val="2145323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D19B8-1906-D820-BA9C-2DDF48B1C77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21B95DB-6E91-2193-219B-5F7585051262}"/>
              </a:ext>
            </a:extLst>
          </p:cNvPr>
          <p:cNvGraphicFramePr>
            <a:graphicFrameLocks noGrp="1"/>
          </p:cNvGraphicFramePr>
          <p:nvPr>
            <p:extLst>
              <p:ext uri="{D42A27DB-BD31-4B8C-83A1-F6EECF244321}">
                <p14:modId xmlns:p14="http://schemas.microsoft.com/office/powerpoint/2010/main" val="3494042272"/>
              </p:ext>
            </p:extLst>
          </p:nvPr>
        </p:nvGraphicFramePr>
        <p:xfrm>
          <a:off x="467710" y="640080"/>
          <a:ext cx="11256579" cy="6217920"/>
        </p:xfrm>
        <a:graphic>
          <a:graphicData uri="http://schemas.openxmlformats.org/drawingml/2006/table">
            <a:tbl>
              <a:tblPr firstRow="1" bandRow="1">
                <a:tableStyleId>{5C22544A-7EE6-4342-B048-85BDC9FD1C3A}</a:tableStyleId>
              </a:tblPr>
              <a:tblGrid>
                <a:gridCol w="3752193">
                  <a:extLst>
                    <a:ext uri="{9D8B030D-6E8A-4147-A177-3AD203B41FA5}">
                      <a16:colId xmlns:a16="http://schemas.microsoft.com/office/drawing/2014/main" val="2793241530"/>
                    </a:ext>
                  </a:extLst>
                </a:gridCol>
                <a:gridCol w="3752193">
                  <a:extLst>
                    <a:ext uri="{9D8B030D-6E8A-4147-A177-3AD203B41FA5}">
                      <a16:colId xmlns:a16="http://schemas.microsoft.com/office/drawing/2014/main" val="488170142"/>
                    </a:ext>
                  </a:extLst>
                </a:gridCol>
                <a:gridCol w="3752193">
                  <a:extLst>
                    <a:ext uri="{9D8B030D-6E8A-4147-A177-3AD203B41FA5}">
                      <a16:colId xmlns:a16="http://schemas.microsoft.com/office/drawing/2014/main" val="722088416"/>
                    </a:ext>
                  </a:extLst>
                </a:gridCol>
              </a:tblGrid>
              <a:tr h="370840">
                <a:tc>
                  <a:txBody>
                    <a:bodyPr/>
                    <a:lstStyle/>
                    <a:p>
                      <a:pPr>
                        <a:buNone/>
                      </a:pPr>
                      <a:r>
                        <a:rPr lang="en-IN" b="1" dirty="0">
                          <a:effectLst/>
                          <a:latin typeface="Google Sans Text"/>
                        </a:rPr>
                        <a:t>Model Type</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Why it is Good (Advantages)</a:t>
                      </a:r>
                      <a:endParaRPr lang="en-IN">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918742428"/>
                  </a:ext>
                </a:extLst>
              </a:tr>
              <a:tr h="370840">
                <a:tc>
                  <a:txBody>
                    <a:bodyPr/>
                    <a:lstStyle/>
                    <a:p>
                      <a:pPr>
                        <a:buNone/>
                      </a:pPr>
                      <a:r>
                        <a:rPr lang="en-IN" b="1">
                          <a:effectLst/>
                          <a:latin typeface="Google Sans Text"/>
                        </a:rPr>
                        <a:t>Client-Server</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 Centralized backup systems ensure no data loss.</a:t>
                      </a:r>
                    </a:p>
                    <a:p>
                      <a:pPr>
                        <a:buNone/>
                      </a:pPr>
                      <a:endParaRPr lang="en-IN" dirty="0">
                        <a:effectLst/>
                        <a:latin typeface="Google Sans Text"/>
                      </a:endParaRPr>
                    </a:p>
                    <a:p>
                      <a:pPr>
                        <a:buNone/>
                      </a:pPr>
                      <a:r>
                        <a:rPr lang="en-IN" dirty="0">
                          <a:effectLst/>
                          <a:latin typeface="Google Sans Text"/>
                        </a:rPr>
                        <a:t>- Highly secure; access permissions are tightly controlled.</a:t>
                      </a:r>
                    </a:p>
                    <a:p>
                      <a:pPr>
                        <a:buNone/>
                      </a:pPr>
                      <a:endParaRPr lang="en-IN" dirty="0">
                        <a:effectLst/>
                        <a:latin typeface="Google Sans Text"/>
                      </a:endParaRPr>
                    </a:p>
                    <a:p>
                      <a:pPr>
                        <a:buNone/>
                      </a:pPr>
                      <a:r>
                        <a:rPr lang="en-IN" dirty="0">
                          <a:effectLst/>
                          <a:latin typeface="Google Sans Text"/>
                        </a:rPr>
                        <a:t>- Scales up smoothly to support thousands of concurrent users across great distances.</a:t>
                      </a:r>
                    </a:p>
                  </a:txBody>
                  <a:tcPr marL="114300" marR="114300" marT="76200" marB="76200" anchor="ctr"/>
                </a:tc>
                <a:tc>
                  <a:txBody>
                    <a:bodyPr/>
                    <a:lstStyle/>
                    <a:p>
                      <a:pPr>
                        <a:buNone/>
                      </a:pPr>
                      <a:r>
                        <a:rPr lang="en-IN" dirty="0">
                          <a:effectLst/>
                          <a:latin typeface="Google Sans Text"/>
                        </a:rPr>
                        <a:t>- Single Point of Failure: If the central server crashes, the entire network goes down instantly.</a:t>
                      </a:r>
                      <a:br>
                        <a:rPr lang="en-IN" dirty="0">
                          <a:effectLst/>
                          <a:latin typeface="Google Sans Text"/>
                        </a:rPr>
                      </a:br>
                      <a:endParaRPr lang="en-IN" dirty="0">
                        <a:effectLst/>
                        <a:latin typeface="Google Sans Text"/>
                      </a:endParaRPr>
                    </a:p>
                    <a:p>
                      <a:pPr>
                        <a:buNone/>
                      </a:pPr>
                      <a:r>
                        <a:rPr lang="en-IN" dirty="0">
                          <a:effectLst/>
                          <a:latin typeface="Google Sans Text"/>
                        </a:rPr>
                        <a:t>- High implementation and maintenance costs.</a:t>
                      </a:r>
                      <a:br>
                        <a:rPr lang="en-IN" dirty="0">
                          <a:effectLst/>
                          <a:latin typeface="Google Sans Text"/>
                        </a:rPr>
                      </a:br>
                      <a:endParaRPr lang="en-IN" dirty="0">
                        <a:effectLst/>
                        <a:latin typeface="Google Sans Text"/>
                      </a:endParaRPr>
                    </a:p>
                    <a:p>
                      <a:pPr>
                        <a:buNone/>
                      </a:pPr>
                      <a:r>
                        <a:rPr lang="en-IN" dirty="0">
                          <a:effectLst/>
                          <a:latin typeface="Google Sans Text"/>
                        </a:rPr>
                        <a:t>- Requires dedicated network administrators to configure.</a:t>
                      </a:r>
                    </a:p>
                  </a:txBody>
                  <a:tcPr marL="114300" marR="114300" marT="76200" marB="76200" anchor="ctr"/>
                </a:tc>
                <a:extLst>
                  <a:ext uri="{0D108BD9-81ED-4DB2-BD59-A6C34878D82A}">
                    <a16:rowId xmlns:a16="http://schemas.microsoft.com/office/drawing/2014/main" val="1484961253"/>
                  </a:ext>
                </a:extLst>
              </a:tr>
              <a:tr h="370840">
                <a:tc>
                  <a:txBody>
                    <a:bodyPr/>
                    <a:lstStyle/>
                    <a:p>
                      <a:pPr>
                        <a:buNone/>
                      </a:pPr>
                      <a:r>
                        <a:rPr lang="en-IN" b="1">
                          <a:effectLst/>
                          <a:latin typeface="Google Sans Text"/>
                        </a:rPr>
                        <a:t>Peer-to-Peer</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 Incredibly cost-effective; no expensive server hardware or software licenses needed.</a:t>
                      </a:r>
                    </a:p>
                    <a:p>
                      <a:pPr>
                        <a:buNone/>
                      </a:pPr>
                      <a:endParaRPr lang="en-IN" dirty="0">
                        <a:effectLst/>
                        <a:latin typeface="Google Sans Text"/>
                      </a:endParaRPr>
                    </a:p>
                    <a:p>
                      <a:pPr>
                        <a:buNone/>
                      </a:pPr>
                      <a:r>
                        <a:rPr lang="en-IN" dirty="0">
                          <a:effectLst/>
                          <a:latin typeface="Google Sans Text"/>
                        </a:rPr>
                        <a:t>- Highly robust and resilient; if one peer drops offline, the rest of the network keeps running perfectly.</a:t>
                      </a:r>
                    </a:p>
                    <a:p>
                      <a:pPr>
                        <a:buNone/>
                      </a:pPr>
                      <a:endParaRPr lang="en-IN" dirty="0">
                        <a:effectLst/>
                        <a:latin typeface="Google Sans Text"/>
                      </a:endParaRPr>
                    </a:p>
                    <a:p>
                      <a:pPr>
                        <a:buNone/>
                      </a:pPr>
                      <a:r>
                        <a:rPr lang="en-IN" dirty="0">
                          <a:effectLst/>
                          <a:latin typeface="Google Sans Text"/>
                        </a:rPr>
                        <a:t>- Simple to set up and manage without professional IT expertise.</a:t>
                      </a:r>
                    </a:p>
                  </a:txBody>
                  <a:tcPr marL="114300" marR="114300" marT="76200" marB="76200" anchor="ctr"/>
                </a:tc>
                <a:tc>
                  <a:txBody>
                    <a:bodyPr/>
                    <a:lstStyle/>
                    <a:p>
                      <a:pPr>
                        <a:buNone/>
                      </a:pPr>
                      <a:r>
                        <a:rPr lang="en-IN" dirty="0">
                          <a:effectLst/>
                          <a:latin typeface="Google Sans Text"/>
                        </a:rPr>
                        <a:t>- Decentralized security makes it highly vulnerable to data breaches or virus infections across nodes.</a:t>
                      </a:r>
                    </a:p>
                    <a:p>
                      <a:pPr>
                        <a:buNone/>
                      </a:pPr>
                      <a:endParaRPr lang="en-IN" dirty="0">
                        <a:effectLst/>
                        <a:latin typeface="Google Sans Text"/>
                      </a:endParaRPr>
                    </a:p>
                    <a:p>
                      <a:pPr>
                        <a:buNone/>
                      </a:pPr>
                      <a:r>
                        <a:rPr lang="en-IN" dirty="0">
                          <a:effectLst/>
                          <a:latin typeface="Google Sans Text"/>
                        </a:rPr>
                        <a:t>- No centralized backup; if a user deletes a file on their local machine, it is gone permanently.</a:t>
                      </a:r>
                    </a:p>
                    <a:p>
                      <a:pPr>
                        <a:buNone/>
                      </a:pPr>
                      <a:endParaRPr lang="en-IN" dirty="0">
                        <a:effectLst/>
                        <a:latin typeface="Google Sans Text"/>
                      </a:endParaRPr>
                    </a:p>
                    <a:p>
                      <a:pPr>
                        <a:buNone/>
                      </a:pPr>
                      <a:r>
                        <a:rPr lang="en-IN" dirty="0">
                          <a:effectLst/>
                          <a:latin typeface="Google Sans Text"/>
                        </a:rPr>
                        <a:t>- Performance drops drastically as more nodes join, creating data tracking chaos.</a:t>
                      </a:r>
                    </a:p>
                  </a:txBody>
                  <a:tcPr marL="114300" marR="114300" marT="76200" marB="76200" anchor="ctr"/>
                </a:tc>
                <a:extLst>
                  <a:ext uri="{0D108BD9-81ED-4DB2-BD59-A6C34878D82A}">
                    <a16:rowId xmlns:a16="http://schemas.microsoft.com/office/drawing/2014/main" val="736345228"/>
                  </a:ext>
                </a:extLst>
              </a:tr>
            </a:tbl>
          </a:graphicData>
        </a:graphic>
      </p:graphicFrame>
    </p:spTree>
    <p:extLst>
      <p:ext uri="{BB962C8B-B14F-4D97-AF65-F5344CB8AC3E}">
        <p14:creationId xmlns:p14="http://schemas.microsoft.com/office/powerpoint/2010/main" val="210957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F68C2-C90B-5D74-D64B-46945C991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50107-8A54-644B-56C6-C10EB2581610}"/>
              </a:ext>
            </a:extLst>
          </p:cNvPr>
          <p:cNvSpPr>
            <a:spLocks noGrp="1"/>
          </p:cNvSpPr>
          <p:nvPr>
            <p:ph type="title"/>
          </p:nvPr>
        </p:nvSpPr>
        <p:spPr>
          <a:xfrm>
            <a:off x="838200" y="577516"/>
            <a:ext cx="10515600" cy="737938"/>
          </a:xfrm>
        </p:spPr>
        <p:txBody>
          <a:bodyPr/>
          <a:lstStyle/>
          <a:p>
            <a:r>
              <a:rPr lang="en-US" dirty="0"/>
              <a:t>Concept of Topologies &amp; its Types</a:t>
            </a:r>
            <a:endParaRPr lang="en-IN" dirty="0"/>
          </a:p>
        </p:txBody>
      </p:sp>
      <p:sp>
        <p:nvSpPr>
          <p:cNvPr id="3" name="Content Placeholder 2">
            <a:extLst>
              <a:ext uri="{FF2B5EF4-FFF2-40B4-BE49-F238E27FC236}">
                <a16:creationId xmlns:a16="http://schemas.microsoft.com/office/drawing/2014/main" id="{8D6E1EA9-6834-746F-B34D-C3BE01FD832A}"/>
              </a:ext>
            </a:extLst>
          </p:cNvPr>
          <p:cNvSpPr>
            <a:spLocks noGrp="1"/>
          </p:cNvSpPr>
          <p:nvPr>
            <p:ph idx="1"/>
          </p:nvPr>
        </p:nvSpPr>
        <p:spPr>
          <a:xfrm>
            <a:off x="256674" y="1491916"/>
            <a:ext cx="11598442" cy="5000959"/>
          </a:xfrm>
        </p:spPr>
        <p:txBody>
          <a:bodyPr>
            <a:normAutofit/>
          </a:bodyPr>
          <a:lstStyle/>
          <a:p>
            <a:pPr marL="0" indent="0">
              <a:buNone/>
            </a:pPr>
            <a:r>
              <a:rPr lang="en-IN" sz="2000" dirty="0"/>
              <a:t>Before laying down wires or setting up wireless transmitters, network engineers must strategically plan the structural layout of the network. Without a definitive blueprint, connecting devices would lead to a chaotic web of cables. This causes major issues:</a:t>
            </a:r>
            <a:br>
              <a:rPr lang="en-IN" sz="2000" dirty="0"/>
            </a:br>
            <a:endParaRPr lang="en-IN" sz="2000" dirty="0"/>
          </a:p>
          <a:p>
            <a:r>
              <a:rPr lang="en-IN" sz="2000" b="1" dirty="0"/>
              <a:t>High Costs:</a:t>
            </a:r>
            <a:r>
              <a:rPr lang="en-IN" sz="2000" dirty="0"/>
              <a:t> Using more cabling than necessary wastes money.</a:t>
            </a:r>
          </a:p>
          <a:p>
            <a:r>
              <a:rPr lang="en-IN" sz="2000" b="1" dirty="0"/>
              <a:t>Signal Collisions:</a:t>
            </a:r>
            <a:r>
              <a:rPr lang="en-IN" sz="2000" dirty="0"/>
              <a:t> If multiple devices dump data onto a single unmanaged wire at the same exact time, the electrical signals collide and destroy each other.</a:t>
            </a:r>
          </a:p>
          <a:p>
            <a:r>
              <a:rPr lang="en-IN" sz="2000" b="1" dirty="0"/>
              <a:t>Troubleshooting Nightmares:</a:t>
            </a:r>
            <a:r>
              <a:rPr lang="en-IN" sz="2000" dirty="0"/>
              <a:t> If a wire breaks somewhere in a giant building, finding the exact point of failure without a known geometric plan is nearly impossible.</a:t>
            </a:r>
          </a:p>
          <a:p>
            <a:endParaRPr lang="en-IN" sz="2000" dirty="0"/>
          </a:p>
        </p:txBody>
      </p:sp>
    </p:spTree>
    <p:extLst>
      <p:ext uri="{BB962C8B-B14F-4D97-AF65-F5344CB8AC3E}">
        <p14:creationId xmlns:p14="http://schemas.microsoft.com/office/powerpoint/2010/main" val="2622177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5ADE2-ED69-6DED-393B-FD6795B5B9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31E2C7-7304-BB6D-3E8D-10B3EC3D7EC9}"/>
              </a:ext>
            </a:extLst>
          </p:cNvPr>
          <p:cNvSpPr>
            <a:spLocks noGrp="1"/>
          </p:cNvSpPr>
          <p:nvPr>
            <p:ph idx="1"/>
          </p:nvPr>
        </p:nvSpPr>
        <p:spPr>
          <a:xfrm>
            <a:off x="838200" y="511425"/>
            <a:ext cx="10515600" cy="5835149"/>
          </a:xfrm>
        </p:spPr>
        <p:txBody>
          <a:bodyPr>
            <a:normAutofit/>
          </a:bodyPr>
          <a:lstStyle/>
          <a:p>
            <a:r>
              <a:rPr lang="en-IN" sz="2000" dirty="0"/>
              <a:t>Network topology is the structural arrangement, layout, or geometric configuration of a computer network, defining how nodes (devices) and links (communication channels) are organized and interconnected.</a:t>
            </a:r>
          </a:p>
          <a:p>
            <a:pPr marL="0" indent="0">
              <a:buNone/>
            </a:pPr>
            <a:r>
              <a:rPr lang="en-IN" sz="2000" b="1" dirty="0"/>
              <a:t>The Two Types of Topology:</a:t>
            </a:r>
            <a:r>
              <a:rPr lang="en-IN" sz="2000" dirty="0"/>
              <a:t> </a:t>
            </a:r>
          </a:p>
          <a:p>
            <a:r>
              <a:rPr lang="en-IN" sz="2000" b="1" dirty="0"/>
              <a:t>Physical Topology:</a:t>
            </a:r>
            <a:r>
              <a:rPr lang="en-IN" sz="2000" dirty="0"/>
              <a:t> The actual, physical layout of the cables, wires, and hardware devices. It is what you can physically see and touch.</a:t>
            </a:r>
          </a:p>
          <a:p>
            <a:r>
              <a:rPr lang="en-IN" sz="2000" b="1" dirty="0"/>
              <a:t>Logical Topology:</a:t>
            </a:r>
            <a:r>
              <a:rPr lang="en-IN" sz="2000" dirty="0"/>
              <a:t> The path that data signals actually travel through those wires. For example, a network might </a:t>
            </a:r>
            <a:r>
              <a:rPr lang="en-IN" sz="2000" i="1" dirty="0"/>
              <a:t>look</a:t>
            </a:r>
            <a:r>
              <a:rPr lang="en-IN" sz="2000" dirty="0"/>
              <a:t> like a Star physically, but behave like a Ring logically.</a:t>
            </a:r>
          </a:p>
          <a:p>
            <a:pPr marL="0" indent="0">
              <a:buNone/>
            </a:pPr>
            <a:endParaRPr lang="en-IN" sz="2000" dirty="0"/>
          </a:p>
        </p:txBody>
      </p:sp>
    </p:spTree>
    <p:extLst>
      <p:ext uri="{BB962C8B-B14F-4D97-AF65-F5344CB8AC3E}">
        <p14:creationId xmlns:p14="http://schemas.microsoft.com/office/powerpoint/2010/main" val="1973000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900AA-BB71-D2DC-D27D-FFCB022D6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7BF9F-AF1C-11D3-5EF4-9DE18D240661}"/>
              </a:ext>
            </a:extLst>
          </p:cNvPr>
          <p:cNvSpPr>
            <a:spLocks noGrp="1"/>
          </p:cNvSpPr>
          <p:nvPr>
            <p:ph type="title"/>
          </p:nvPr>
        </p:nvSpPr>
        <p:spPr>
          <a:xfrm>
            <a:off x="838200" y="577516"/>
            <a:ext cx="10515600" cy="609600"/>
          </a:xfrm>
        </p:spPr>
        <p:txBody>
          <a:bodyPr>
            <a:normAutofit fontScale="90000"/>
          </a:bodyPr>
          <a:lstStyle/>
          <a:p>
            <a:r>
              <a:rPr lang="en-IN" dirty="0"/>
              <a:t>Mesh Topology</a:t>
            </a:r>
          </a:p>
        </p:txBody>
      </p:sp>
      <p:sp>
        <p:nvSpPr>
          <p:cNvPr id="3" name="Content Placeholder 2">
            <a:extLst>
              <a:ext uri="{FF2B5EF4-FFF2-40B4-BE49-F238E27FC236}">
                <a16:creationId xmlns:a16="http://schemas.microsoft.com/office/drawing/2014/main" id="{FAF82B9B-77A3-404C-3D26-D771C751FFE5}"/>
              </a:ext>
            </a:extLst>
          </p:cNvPr>
          <p:cNvSpPr>
            <a:spLocks noGrp="1"/>
          </p:cNvSpPr>
          <p:nvPr>
            <p:ph idx="1"/>
          </p:nvPr>
        </p:nvSpPr>
        <p:spPr>
          <a:xfrm>
            <a:off x="838200" y="1187116"/>
            <a:ext cx="10515600" cy="5305759"/>
          </a:xfrm>
        </p:spPr>
        <p:txBody>
          <a:bodyPr>
            <a:normAutofit/>
          </a:bodyPr>
          <a:lstStyle/>
          <a:p>
            <a:r>
              <a:rPr lang="en-IN" sz="2000" dirty="0"/>
              <a:t>In a fully connected Mesh topology, every individual node has a dedicated, point-to-point link to every other node in the network. A dedicated link means that the communication channel carries traffic exclusively between those two specific devices.</a:t>
            </a:r>
          </a:p>
          <a:p>
            <a:r>
              <a:rPr lang="en-IN" sz="2000" b="1" dirty="0"/>
              <a:t>Equations for Mesh Topology:</a:t>
            </a:r>
            <a:r>
              <a:rPr lang="en-IN" sz="2000" dirty="0"/>
              <a:t> For a network containing n nodes:</a:t>
            </a:r>
          </a:p>
          <a:p>
            <a:pPr lvl="1"/>
            <a:r>
              <a:rPr lang="en-IN" sz="2000" b="1" dirty="0"/>
              <a:t>Physical Input/Output (I/O) Ports Needed Per Device:</a:t>
            </a:r>
            <a:r>
              <a:rPr lang="en-IN" sz="2000" dirty="0"/>
              <a:t> Ports = n - 1</a:t>
            </a:r>
          </a:p>
          <a:p>
            <a:pPr lvl="1"/>
            <a:r>
              <a:rPr lang="en-IN" sz="2000" b="1" dirty="0"/>
              <a:t>Total Number of Physical Duplex Links(Cables) Required:</a:t>
            </a:r>
            <a:r>
              <a:rPr lang="en-IN" sz="2000" dirty="0"/>
              <a:t> Links = (n * (n - 1)) / 2</a:t>
            </a:r>
          </a:p>
          <a:p>
            <a:pPr lvl="1"/>
            <a:endParaRPr lang="en-IN" sz="2000" dirty="0"/>
          </a:p>
          <a:p>
            <a:pPr marL="0" indent="0">
              <a:buNone/>
            </a:pPr>
            <a:r>
              <a:rPr lang="en-IN" sz="2000" b="1" dirty="0"/>
              <a:t>Example:</a:t>
            </a:r>
            <a:r>
              <a:rPr lang="en-IN" sz="2000" dirty="0"/>
              <a:t> If a network consists of 5 nodes arranged in a fully connected Mesh topology:</a:t>
            </a:r>
          </a:p>
          <a:p>
            <a:r>
              <a:rPr lang="en-IN" sz="2000" dirty="0"/>
              <a:t>Each node requires 5 - 1 = 4 physical ports.</a:t>
            </a:r>
          </a:p>
          <a:p>
            <a:r>
              <a:rPr lang="en-IN" sz="2000" dirty="0"/>
              <a:t>The total number of cables required is (5 * (5 - 1)) / 2 = 20 / 2 = 10 cables.</a:t>
            </a:r>
          </a:p>
          <a:p>
            <a:r>
              <a:rPr lang="en-IN" sz="2000" dirty="0"/>
              <a:t>If the network scales to 100 nodes, each node requires 99 ports, and the total number of cables scales to (100 * 99) / 2 = 4,950 cables.</a:t>
            </a:r>
          </a:p>
          <a:p>
            <a:pPr lvl="1"/>
            <a:endParaRPr lang="en-IN" sz="2000" dirty="0"/>
          </a:p>
        </p:txBody>
      </p:sp>
    </p:spTree>
    <p:extLst>
      <p:ext uri="{BB962C8B-B14F-4D97-AF65-F5344CB8AC3E}">
        <p14:creationId xmlns:p14="http://schemas.microsoft.com/office/powerpoint/2010/main" val="4069240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647A44-AC4C-1DCB-A37B-107FB4A0FB38}"/>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5862" y="1462595"/>
            <a:ext cx="4872609" cy="3548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0A074E0-1AF4-C61D-7EAA-F5DA4D27AB4B}"/>
              </a:ext>
            </a:extLst>
          </p:cNvPr>
          <p:cNvSpPr>
            <a:spLocks noChangeArrowheads="1"/>
          </p:cNvSpPr>
          <p:nvPr/>
        </p:nvSpPr>
        <p:spPr bwMode="auto">
          <a:xfrm>
            <a:off x="4146804" y="5395405"/>
            <a:ext cx="3733800" cy="707886"/>
          </a:xfrm>
          <a:prstGeom prst="rect">
            <a:avLst/>
          </a:prstGeom>
          <a:solidFill>
            <a:srgbClr val="F0FE6A"/>
          </a:solidFill>
          <a:ln w="9525">
            <a:solidFill>
              <a:schemeClr val="tx1"/>
            </a:solidFill>
            <a:miter lim="800000"/>
            <a:headEnd/>
            <a:tailEnd/>
          </a:ln>
        </p:spPr>
        <p:txBody>
          <a:bodyPr>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Mesh Topology</a:t>
            </a:r>
            <a:br>
              <a:rPr lang="en-US" altLang="ar-SA" sz="2000" dirty="0">
                <a:latin typeface="Arial" panose="020B0604020202020204" pitchFamily="34" charset="0"/>
              </a:rPr>
            </a:br>
            <a:r>
              <a:rPr lang="en-US" altLang="ar-SA" sz="2000" dirty="0">
                <a:latin typeface="Arial" panose="020B0604020202020204" pitchFamily="34" charset="0"/>
              </a:rPr>
              <a:t>n(n-1)/2 physical duplex links </a:t>
            </a:r>
          </a:p>
        </p:txBody>
      </p:sp>
    </p:spTree>
    <p:extLst>
      <p:ext uri="{BB962C8B-B14F-4D97-AF65-F5344CB8AC3E}">
        <p14:creationId xmlns:p14="http://schemas.microsoft.com/office/powerpoint/2010/main" val="2823217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529FA-7B3A-869E-5BE5-ABAB70281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2952B-E261-6872-6B17-A5330E8D773C}"/>
              </a:ext>
            </a:extLst>
          </p:cNvPr>
          <p:cNvSpPr>
            <a:spLocks noGrp="1"/>
          </p:cNvSpPr>
          <p:nvPr>
            <p:ph type="title"/>
          </p:nvPr>
        </p:nvSpPr>
        <p:spPr>
          <a:xfrm>
            <a:off x="838200" y="577516"/>
            <a:ext cx="10515600" cy="609600"/>
          </a:xfrm>
        </p:spPr>
        <p:txBody>
          <a:bodyPr>
            <a:normAutofit fontScale="90000"/>
          </a:bodyPr>
          <a:lstStyle/>
          <a:p>
            <a:r>
              <a:rPr lang="en-IN" dirty="0"/>
              <a:t>Mesh Topology</a:t>
            </a:r>
          </a:p>
        </p:txBody>
      </p:sp>
      <p:graphicFrame>
        <p:nvGraphicFramePr>
          <p:cNvPr id="6" name="Table 5">
            <a:extLst>
              <a:ext uri="{FF2B5EF4-FFF2-40B4-BE49-F238E27FC236}">
                <a16:creationId xmlns:a16="http://schemas.microsoft.com/office/drawing/2014/main" id="{FE30B3B7-6B1E-EB53-3B6D-A46D755891EC}"/>
              </a:ext>
            </a:extLst>
          </p:cNvPr>
          <p:cNvGraphicFramePr>
            <a:graphicFrameLocks noGrp="1"/>
          </p:cNvGraphicFramePr>
          <p:nvPr/>
        </p:nvGraphicFramePr>
        <p:xfrm>
          <a:off x="184484" y="1320266"/>
          <a:ext cx="11598442" cy="3596640"/>
        </p:xfrm>
        <a:graphic>
          <a:graphicData uri="http://schemas.openxmlformats.org/drawingml/2006/table">
            <a:tbl>
              <a:tblPr firstRow="1" bandRow="1">
                <a:tableStyleId>{5C22544A-7EE6-4342-B048-85BDC9FD1C3A}</a:tableStyleId>
              </a:tblPr>
              <a:tblGrid>
                <a:gridCol w="5799221">
                  <a:extLst>
                    <a:ext uri="{9D8B030D-6E8A-4147-A177-3AD203B41FA5}">
                      <a16:colId xmlns:a16="http://schemas.microsoft.com/office/drawing/2014/main" val="405952796"/>
                    </a:ext>
                  </a:extLst>
                </a:gridCol>
                <a:gridCol w="5799221">
                  <a:extLst>
                    <a:ext uri="{9D8B030D-6E8A-4147-A177-3AD203B41FA5}">
                      <a16:colId xmlns:a16="http://schemas.microsoft.com/office/drawing/2014/main" val="3821580551"/>
                    </a:ext>
                  </a:extLst>
                </a:gridCol>
              </a:tblGrid>
              <a:tr h="318758">
                <a:tc>
                  <a:txBody>
                    <a:bodyPr/>
                    <a:lstStyle/>
                    <a:p>
                      <a:pPr>
                        <a:buNone/>
                      </a:pPr>
                      <a:r>
                        <a:rPr lang="en-IN" b="1" dirty="0">
                          <a:effectLst/>
                          <a:latin typeface="Google Sans Text"/>
                        </a:rPr>
                        <a:t>Advantages</a:t>
                      </a:r>
                      <a:endParaRPr lang="en-IN" dirty="0">
                        <a:effectLst/>
                        <a:latin typeface="Google Sans Text"/>
                      </a:endParaRPr>
                    </a:p>
                  </a:txBody>
                  <a:tcPr marL="114300" marR="114300" marT="76200" marB="76200" anchor="ctr"/>
                </a:tc>
                <a:tc>
                  <a:txBody>
                    <a:bodyPr/>
                    <a:lstStyle/>
                    <a:p>
                      <a:pPr>
                        <a:buNone/>
                      </a:pPr>
                      <a:r>
                        <a:rPr lang="en-IN" b="1" dirty="0">
                          <a:effectLst/>
                          <a:latin typeface="Google Sans Text"/>
                        </a:rPr>
                        <a:t>Disadvantages</a:t>
                      </a:r>
                      <a:endParaRPr lang="en-IN" dirty="0">
                        <a:effectLst/>
                        <a:latin typeface="Google Sans Text"/>
                      </a:endParaRPr>
                    </a:p>
                  </a:txBody>
                  <a:tcPr marL="114300" marR="114300" marT="76200" marB="76200" anchor="ctr"/>
                </a:tc>
                <a:extLst>
                  <a:ext uri="{0D108BD9-81ED-4DB2-BD59-A6C34878D82A}">
                    <a16:rowId xmlns:a16="http://schemas.microsoft.com/office/drawing/2014/main" val="2143156042"/>
                  </a:ext>
                </a:extLst>
              </a:tr>
              <a:tr h="2572831">
                <a:tc>
                  <a:txBody>
                    <a:bodyPr/>
                    <a:lstStyle/>
                    <a:p>
                      <a:pPr>
                        <a:buNone/>
                      </a:pPr>
                      <a:r>
                        <a:rPr lang="en-IN">
                          <a:effectLst/>
                          <a:latin typeface="Google Sans Text"/>
                        </a:rPr>
                        <a:t>- </a:t>
                      </a:r>
                      <a:r>
                        <a:rPr lang="en-IN" b="1">
                          <a:effectLst/>
                          <a:latin typeface="Google Sans Text"/>
                        </a:rPr>
                        <a:t>Maximum Fault Tolerance:</a:t>
                      </a:r>
                      <a:r>
                        <a:rPr lang="en-IN">
                          <a:effectLst/>
                          <a:latin typeface="Google Sans Text"/>
                        </a:rPr>
                        <a:t> If an individual link snaps, it only interrupts communication between those two specific nodes. The rest of the network remains operational.</a:t>
                      </a:r>
                    </a:p>
                    <a:p>
                      <a:pPr>
                        <a:buNone/>
                      </a:pPr>
                      <a:br>
                        <a:rPr lang="en-IN">
                          <a:effectLst/>
                          <a:latin typeface="Google Sans Text"/>
                        </a:rPr>
                      </a:br>
                      <a:endParaRPr lang="en-IN">
                        <a:effectLst/>
                        <a:latin typeface="Google Sans Text"/>
                      </a:endParaRPr>
                    </a:p>
                    <a:p>
                      <a:pPr>
                        <a:buNone/>
                      </a:pPr>
                      <a:r>
                        <a:rPr lang="en-IN">
                          <a:effectLst/>
                          <a:latin typeface="Google Sans Text"/>
                        </a:rPr>
                        <a:t>- </a:t>
                      </a:r>
                      <a:r>
                        <a:rPr lang="en-IN" b="1">
                          <a:effectLst/>
                          <a:latin typeface="Google Sans Text"/>
                        </a:rPr>
                        <a:t>Privacy and Security:</a:t>
                      </a:r>
                      <a:r>
                        <a:rPr lang="en-IN">
                          <a:effectLst/>
                          <a:latin typeface="Google Sans Text"/>
                        </a:rPr>
                        <a:t> Dedicated lines prevent unauthorized node interception.</a:t>
                      </a:r>
                    </a:p>
                    <a:p>
                      <a:pPr>
                        <a:buNone/>
                      </a:pPr>
                      <a:br>
                        <a:rPr lang="en-IN">
                          <a:effectLst/>
                          <a:latin typeface="Google Sans Text"/>
                        </a:rPr>
                      </a:br>
                      <a:endParaRPr lang="en-IN">
                        <a:effectLst/>
                        <a:latin typeface="Google Sans Text"/>
                      </a:endParaRPr>
                    </a:p>
                    <a:p>
                      <a:pPr>
                        <a:buNone/>
                      </a:pPr>
                      <a:r>
                        <a:rPr lang="en-IN">
                          <a:effectLst/>
                          <a:latin typeface="Google Sans Text"/>
                        </a:rPr>
                        <a:t>- </a:t>
                      </a:r>
                      <a:r>
                        <a:rPr lang="en-IN" b="1">
                          <a:effectLst/>
                          <a:latin typeface="Google Sans Text"/>
                        </a:rPr>
                        <a:t>Zero Traffic Congestion:</a:t>
                      </a:r>
                      <a:r>
                        <a:rPr lang="en-IN">
                          <a:effectLst/>
                          <a:latin typeface="Google Sans Text"/>
                        </a:rPr>
                        <a:t> Dedicated lines eliminate data traffic contention or sharing delays.</a:t>
                      </a:r>
                    </a:p>
                  </a:txBody>
                  <a:tcPr marL="114300" marR="114300" marT="76200" marB="76200" anchor="ctr"/>
                </a:tc>
                <a:tc>
                  <a:txBody>
                    <a:bodyPr/>
                    <a:lstStyle/>
                    <a:p>
                      <a:pPr>
                        <a:buNone/>
                      </a:pPr>
                      <a:r>
                        <a:rPr lang="en-IN" dirty="0">
                          <a:effectLst/>
                          <a:latin typeface="Google Sans Text"/>
                        </a:rPr>
                        <a:t>- </a:t>
                      </a:r>
                      <a:r>
                        <a:rPr lang="en-IN" b="1" dirty="0">
                          <a:effectLst/>
                          <a:latin typeface="Google Sans Text"/>
                        </a:rPr>
                        <a:t>High Cable Volume:</a:t>
                      </a:r>
                      <a:r>
                        <a:rPr lang="en-IN" dirty="0">
                          <a:effectLst/>
                          <a:latin typeface="Google Sans Text"/>
                        </a:rPr>
                        <a:t> Requires substantial physical wiring, leading to a complex installation layout.</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Hardware Port Constraints:</a:t>
                      </a:r>
                      <a:r>
                        <a:rPr lang="en-IN" dirty="0">
                          <a:effectLst/>
                          <a:latin typeface="Google Sans Text"/>
                        </a:rPr>
                        <a:t> Nodes are physically limited by the number of hardware I/O ports they can support.</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High Capital Expenditure:</a:t>
                      </a:r>
                      <a:r>
                        <a:rPr lang="en-IN" dirty="0">
                          <a:effectLst/>
                          <a:latin typeface="Google Sans Text"/>
                        </a:rPr>
                        <a:t> Massive deployment and material costs.</a:t>
                      </a:r>
                    </a:p>
                  </a:txBody>
                  <a:tcPr marL="114300" marR="114300" marT="76200" marB="76200" anchor="ctr"/>
                </a:tc>
                <a:extLst>
                  <a:ext uri="{0D108BD9-81ED-4DB2-BD59-A6C34878D82A}">
                    <a16:rowId xmlns:a16="http://schemas.microsoft.com/office/drawing/2014/main" val="1912552760"/>
                  </a:ext>
                </a:extLst>
              </a:tr>
            </a:tbl>
          </a:graphicData>
        </a:graphic>
      </p:graphicFrame>
    </p:spTree>
    <p:extLst>
      <p:ext uri="{BB962C8B-B14F-4D97-AF65-F5344CB8AC3E}">
        <p14:creationId xmlns:p14="http://schemas.microsoft.com/office/powerpoint/2010/main" val="5986270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6C7A5-65E3-35ED-F468-9DE07227F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2BA05-2436-03D5-AA15-6526FD1D8C71}"/>
              </a:ext>
            </a:extLst>
          </p:cNvPr>
          <p:cNvSpPr>
            <a:spLocks noGrp="1"/>
          </p:cNvSpPr>
          <p:nvPr>
            <p:ph type="title"/>
          </p:nvPr>
        </p:nvSpPr>
        <p:spPr>
          <a:xfrm>
            <a:off x="838200" y="577516"/>
            <a:ext cx="10515600" cy="609600"/>
          </a:xfrm>
        </p:spPr>
        <p:txBody>
          <a:bodyPr>
            <a:normAutofit fontScale="90000"/>
          </a:bodyPr>
          <a:lstStyle/>
          <a:p>
            <a:r>
              <a:rPr lang="en-IN" dirty="0"/>
              <a:t>Star Topology</a:t>
            </a:r>
          </a:p>
        </p:txBody>
      </p:sp>
      <p:sp>
        <p:nvSpPr>
          <p:cNvPr id="3" name="Content Placeholder 2">
            <a:extLst>
              <a:ext uri="{FF2B5EF4-FFF2-40B4-BE49-F238E27FC236}">
                <a16:creationId xmlns:a16="http://schemas.microsoft.com/office/drawing/2014/main" id="{97FBF1E8-7A0C-FAB7-C9BA-A5846293C968}"/>
              </a:ext>
            </a:extLst>
          </p:cNvPr>
          <p:cNvSpPr>
            <a:spLocks noGrp="1"/>
          </p:cNvSpPr>
          <p:nvPr>
            <p:ph idx="1"/>
          </p:nvPr>
        </p:nvSpPr>
        <p:spPr>
          <a:xfrm>
            <a:off x="838200" y="1187116"/>
            <a:ext cx="10515600" cy="5305759"/>
          </a:xfrm>
        </p:spPr>
        <p:txBody>
          <a:bodyPr>
            <a:normAutofit/>
          </a:bodyPr>
          <a:lstStyle/>
          <a:p>
            <a:r>
              <a:rPr lang="en-IN" sz="2000" dirty="0"/>
              <a:t>In a Star topology, each node connects directly to a central controller via a dedicated point-to-point link. This central controller is typically a Hub or a Switch. Nodes do not maintain direct physical connections with one another.</a:t>
            </a:r>
          </a:p>
          <a:p>
            <a:r>
              <a:rPr lang="en-IN" sz="2000" b="1" dirty="0"/>
              <a:t>Traffic Flow Mechanism:</a:t>
            </a:r>
            <a:r>
              <a:rPr lang="en-IN" sz="2000" dirty="0"/>
              <a:t> When Node A transmits data to Node B, the signal travels along Node A's dedicated cable to the central switch. The switch processes the destination address and forwards the signal along Node B's dedicated cable.</a:t>
            </a:r>
          </a:p>
        </p:txBody>
      </p:sp>
      <p:sp>
        <p:nvSpPr>
          <p:cNvPr id="5" name="TextBox 4">
            <a:extLst>
              <a:ext uri="{FF2B5EF4-FFF2-40B4-BE49-F238E27FC236}">
                <a16:creationId xmlns:a16="http://schemas.microsoft.com/office/drawing/2014/main" id="{62524850-F5C8-073A-463F-108F68EA9DF7}"/>
              </a:ext>
            </a:extLst>
          </p:cNvPr>
          <p:cNvSpPr txBox="1"/>
          <p:nvPr/>
        </p:nvSpPr>
        <p:spPr>
          <a:xfrm>
            <a:off x="838199" y="3429000"/>
            <a:ext cx="10515599" cy="1477328"/>
          </a:xfrm>
          <a:prstGeom prst="rect">
            <a:avLst/>
          </a:prstGeom>
          <a:noFill/>
        </p:spPr>
        <p:txBody>
          <a:bodyPr wrap="square">
            <a:spAutoFit/>
          </a:bodyPr>
          <a:lstStyle/>
          <a:p>
            <a:pPr>
              <a:buNone/>
            </a:pPr>
            <a:r>
              <a:rPr lang="en-IN" b="1" dirty="0"/>
              <a:t>Real-World Examples:</a:t>
            </a:r>
            <a:endParaRPr lang="en-IN" dirty="0"/>
          </a:p>
          <a:p>
            <a:pPr>
              <a:buFont typeface="Arial" panose="020B0604020202020204" pitchFamily="34" charset="0"/>
              <a:buChar char="•"/>
            </a:pPr>
            <a:r>
              <a:rPr lang="en-IN" b="1" dirty="0"/>
              <a:t>Example 1:</a:t>
            </a:r>
            <a:r>
              <a:rPr lang="en-IN" dirty="0"/>
              <a:t> Standard modern university computer labs or enterprise office floors where every desktop PC connects via a Cat6 Ethernet cable to a central switch rack.</a:t>
            </a:r>
          </a:p>
          <a:p>
            <a:pPr>
              <a:buFont typeface="Arial" panose="020B0604020202020204" pitchFamily="34" charset="0"/>
              <a:buChar char="•"/>
            </a:pPr>
            <a:r>
              <a:rPr lang="en-IN" b="1" dirty="0"/>
              <a:t>Example 2:</a:t>
            </a:r>
            <a:r>
              <a:rPr lang="en-IN" dirty="0"/>
              <a:t> Home Wi-Fi setups where smartphones, laptops, and smart TVs communicate through a central wireless home router.</a:t>
            </a:r>
          </a:p>
        </p:txBody>
      </p:sp>
    </p:spTree>
    <p:extLst>
      <p:ext uri="{BB962C8B-B14F-4D97-AF65-F5344CB8AC3E}">
        <p14:creationId xmlns:p14="http://schemas.microsoft.com/office/powerpoint/2010/main" val="3881518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2CB49-8A59-2FD1-A614-00BF1A7A201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52D109A-D97D-FD73-9B45-E09ECCD3791D}"/>
              </a:ext>
            </a:extLst>
          </p:cNvPr>
          <p:cNvSpPr>
            <a:spLocks noChangeArrowheads="1"/>
          </p:cNvSpPr>
          <p:nvPr/>
        </p:nvSpPr>
        <p:spPr bwMode="auto">
          <a:xfrm>
            <a:off x="4149851" y="5413693"/>
            <a:ext cx="2415541" cy="707886"/>
          </a:xfrm>
          <a:prstGeom prst="rect">
            <a:avLst/>
          </a:prstGeom>
          <a:solidFill>
            <a:srgbClr val="F0FE6A"/>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Star Topology</a:t>
            </a:r>
            <a:br>
              <a:rPr lang="en-US" altLang="ar-SA" sz="2000" dirty="0">
                <a:latin typeface="Arial" panose="020B0604020202020204" pitchFamily="34" charset="0"/>
              </a:rPr>
            </a:br>
            <a:endParaRPr lang="en-US" altLang="ar-SA" sz="2000" dirty="0">
              <a:latin typeface="Arial" panose="020B0604020202020204" pitchFamily="34" charset="0"/>
            </a:endParaRPr>
          </a:p>
        </p:txBody>
      </p:sp>
      <p:pic>
        <p:nvPicPr>
          <p:cNvPr id="2" name="Picture 1">
            <a:extLst>
              <a:ext uri="{FF2B5EF4-FFF2-40B4-BE49-F238E27FC236}">
                <a16:creationId xmlns:a16="http://schemas.microsoft.com/office/drawing/2014/main" id="{C7277E51-D3E9-E5B8-A187-70E54ECAF7FA}"/>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2928" y="1783080"/>
            <a:ext cx="6327647" cy="3072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10737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33895-A811-97D0-D6FC-30F1AE7E0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C4817-ACEC-5515-0A13-4AFC89A38CBA}"/>
              </a:ext>
            </a:extLst>
          </p:cNvPr>
          <p:cNvSpPr>
            <a:spLocks noGrp="1"/>
          </p:cNvSpPr>
          <p:nvPr>
            <p:ph type="title"/>
          </p:nvPr>
        </p:nvSpPr>
        <p:spPr>
          <a:xfrm>
            <a:off x="838200" y="577516"/>
            <a:ext cx="10515600" cy="609600"/>
          </a:xfrm>
        </p:spPr>
        <p:txBody>
          <a:bodyPr>
            <a:normAutofit fontScale="90000"/>
          </a:bodyPr>
          <a:lstStyle/>
          <a:p>
            <a:r>
              <a:rPr lang="en-IN" dirty="0"/>
              <a:t>Star Topology</a:t>
            </a:r>
          </a:p>
        </p:txBody>
      </p:sp>
      <p:graphicFrame>
        <p:nvGraphicFramePr>
          <p:cNvPr id="11" name="Table 10">
            <a:extLst>
              <a:ext uri="{FF2B5EF4-FFF2-40B4-BE49-F238E27FC236}">
                <a16:creationId xmlns:a16="http://schemas.microsoft.com/office/drawing/2014/main" id="{11786AF5-E0C9-D0A1-E5AC-B57FEC078642}"/>
              </a:ext>
            </a:extLst>
          </p:cNvPr>
          <p:cNvGraphicFramePr>
            <a:graphicFrameLocks noGrp="1"/>
          </p:cNvGraphicFramePr>
          <p:nvPr/>
        </p:nvGraphicFramePr>
        <p:xfrm>
          <a:off x="693820" y="1429084"/>
          <a:ext cx="9974180" cy="4028440"/>
        </p:xfrm>
        <a:graphic>
          <a:graphicData uri="http://schemas.openxmlformats.org/drawingml/2006/table">
            <a:tbl>
              <a:tblPr firstRow="1" bandRow="1">
                <a:tableStyleId>{5C22544A-7EE6-4342-B048-85BDC9FD1C3A}</a:tableStyleId>
              </a:tblPr>
              <a:tblGrid>
                <a:gridCol w="4987090">
                  <a:extLst>
                    <a:ext uri="{9D8B030D-6E8A-4147-A177-3AD203B41FA5}">
                      <a16:colId xmlns:a16="http://schemas.microsoft.com/office/drawing/2014/main" val="2228829118"/>
                    </a:ext>
                  </a:extLst>
                </a:gridCol>
                <a:gridCol w="4987090">
                  <a:extLst>
                    <a:ext uri="{9D8B030D-6E8A-4147-A177-3AD203B41FA5}">
                      <a16:colId xmlns:a16="http://schemas.microsoft.com/office/drawing/2014/main" val="1799554295"/>
                    </a:ext>
                  </a:extLst>
                </a:gridCol>
              </a:tblGrid>
              <a:tr h="370840">
                <a:tc>
                  <a:txBody>
                    <a:bodyPr/>
                    <a:lstStyle/>
                    <a:p>
                      <a:pPr>
                        <a:buNone/>
                      </a:pPr>
                      <a:r>
                        <a:rPr lang="en-IN" dirty="0"/>
                        <a:t>Star Topology Advantages</a:t>
                      </a:r>
                    </a:p>
                  </a:txBody>
                  <a:tcPr anchor="ctr"/>
                </a:tc>
                <a:tc>
                  <a:txBody>
                    <a:bodyPr/>
                    <a:lstStyle/>
                    <a:p>
                      <a:pPr>
                        <a:buNone/>
                      </a:pPr>
                      <a:r>
                        <a:rPr lang="en-IN"/>
                        <a:t>Star Topology Disadvantages</a:t>
                      </a:r>
                    </a:p>
                  </a:txBody>
                  <a:tcPr anchor="ctr"/>
                </a:tc>
                <a:extLst>
                  <a:ext uri="{0D108BD9-81ED-4DB2-BD59-A6C34878D82A}">
                    <a16:rowId xmlns:a16="http://schemas.microsoft.com/office/drawing/2014/main" val="1706799967"/>
                  </a:ext>
                </a:extLst>
              </a:tr>
              <a:tr h="370840">
                <a:tc>
                  <a:txBody>
                    <a:bodyPr/>
                    <a:lstStyle/>
                    <a:p>
                      <a:pPr>
                        <a:buNone/>
                      </a:pPr>
                      <a:r>
                        <a:rPr lang="en-IN"/>
                        <a:t>- </a:t>
                      </a:r>
                      <a:r>
                        <a:rPr lang="en-IN" b="1"/>
                        <a:t>High Scalability:</a:t>
                      </a:r>
                      <a:r>
                        <a:rPr lang="en-IN"/>
                        <a:t> New nodes can be added or existing nodes removed easily without disrupting active network operations.</a:t>
                      </a:r>
                    </a:p>
                    <a:p>
                      <a:pPr>
                        <a:buNone/>
                      </a:pPr>
                      <a:br>
                        <a:rPr lang="en-IN"/>
                      </a:br>
                      <a:endParaRPr lang="en-IN"/>
                    </a:p>
                    <a:p>
                      <a:pPr>
                        <a:buNone/>
                      </a:pPr>
                      <a:r>
                        <a:rPr lang="en-IN"/>
                        <a:t>- </a:t>
                      </a:r>
                      <a:r>
                        <a:rPr lang="en-IN" b="1"/>
                        <a:t>Isolated Faults:</a:t>
                      </a:r>
                      <a:r>
                        <a:rPr lang="en-IN"/>
                        <a:t> A broken cable only disconnects the attached node; the rest of the network continues to function normally.</a:t>
                      </a:r>
                    </a:p>
                    <a:p>
                      <a:pPr>
                        <a:buNone/>
                      </a:pPr>
                      <a:br>
                        <a:rPr lang="en-IN"/>
                      </a:br>
                      <a:endParaRPr lang="en-IN"/>
                    </a:p>
                    <a:p>
                      <a:pPr>
                        <a:buNone/>
                      </a:pPr>
                      <a:r>
                        <a:rPr lang="en-IN"/>
                        <a:t>- </a:t>
                      </a:r>
                      <a:r>
                        <a:rPr lang="en-IN" b="1"/>
                        <a:t>Centralized Management:</a:t>
                      </a:r>
                      <a:r>
                        <a:rPr lang="en-IN"/>
                        <a:t> Network traffic can be easily monitored and controlled directly from the central switch.</a:t>
                      </a:r>
                    </a:p>
                  </a:txBody>
                  <a:tcPr anchor="ctr"/>
                </a:tc>
                <a:tc>
                  <a:txBody>
                    <a:bodyPr/>
                    <a:lstStyle/>
                    <a:p>
                      <a:pPr>
                        <a:buNone/>
                      </a:pPr>
                      <a:r>
                        <a:rPr lang="en-IN" dirty="0"/>
                        <a:t>- </a:t>
                      </a:r>
                      <a:r>
                        <a:rPr lang="en-IN" b="1" dirty="0"/>
                        <a:t>Single Point of Failure:</a:t>
                      </a:r>
                      <a:r>
                        <a:rPr lang="en-IN" dirty="0"/>
                        <a:t> If the central Switch experiences a hardware crash or power loss, the entire network fails completely.</a:t>
                      </a:r>
                    </a:p>
                    <a:p>
                      <a:pPr>
                        <a:buNone/>
                      </a:pPr>
                      <a:br>
                        <a:rPr lang="en-IN" dirty="0"/>
                      </a:br>
                      <a:endParaRPr lang="en-IN" dirty="0"/>
                    </a:p>
                    <a:p>
                      <a:pPr>
                        <a:buNone/>
                      </a:pPr>
                      <a:r>
                        <a:rPr lang="en-IN" dirty="0"/>
                        <a:t>- </a:t>
                      </a:r>
                      <a:r>
                        <a:rPr lang="en-IN" b="1" dirty="0"/>
                        <a:t>Cabling Expenses:</a:t>
                      </a:r>
                      <a:r>
                        <a:rPr lang="en-IN" dirty="0"/>
                        <a:t> Requires a unique cable run from every single device to the </a:t>
                      </a:r>
                      <a:r>
                        <a:rPr lang="en-IN" dirty="0" err="1"/>
                        <a:t>center</a:t>
                      </a:r>
                      <a:r>
                        <a:rPr lang="en-IN" dirty="0"/>
                        <a:t> room, consuming more wire length than a Bus topology.</a:t>
                      </a:r>
                    </a:p>
                  </a:txBody>
                  <a:tcPr anchor="ctr"/>
                </a:tc>
                <a:extLst>
                  <a:ext uri="{0D108BD9-81ED-4DB2-BD59-A6C34878D82A}">
                    <a16:rowId xmlns:a16="http://schemas.microsoft.com/office/drawing/2014/main" val="525889663"/>
                  </a:ext>
                </a:extLst>
              </a:tr>
            </a:tbl>
          </a:graphicData>
        </a:graphic>
      </p:graphicFrame>
    </p:spTree>
    <p:extLst>
      <p:ext uri="{BB962C8B-B14F-4D97-AF65-F5344CB8AC3E}">
        <p14:creationId xmlns:p14="http://schemas.microsoft.com/office/powerpoint/2010/main" val="3563168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47BD-15A8-D82A-05DC-63F268735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7EA80-B58B-0994-D371-13D9F07DD357}"/>
              </a:ext>
            </a:extLst>
          </p:cNvPr>
          <p:cNvSpPr>
            <a:spLocks noGrp="1"/>
          </p:cNvSpPr>
          <p:nvPr>
            <p:ph type="title"/>
          </p:nvPr>
        </p:nvSpPr>
        <p:spPr>
          <a:xfrm>
            <a:off x="838200" y="577516"/>
            <a:ext cx="10515600" cy="609600"/>
          </a:xfrm>
        </p:spPr>
        <p:txBody>
          <a:bodyPr>
            <a:normAutofit fontScale="90000"/>
          </a:bodyPr>
          <a:lstStyle/>
          <a:p>
            <a:r>
              <a:rPr lang="en-IN" dirty="0"/>
              <a:t>Bus Topology</a:t>
            </a:r>
          </a:p>
        </p:txBody>
      </p:sp>
      <p:sp>
        <p:nvSpPr>
          <p:cNvPr id="3" name="Content Placeholder 2">
            <a:extLst>
              <a:ext uri="{FF2B5EF4-FFF2-40B4-BE49-F238E27FC236}">
                <a16:creationId xmlns:a16="http://schemas.microsoft.com/office/drawing/2014/main" id="{58D464BD-CA48-3090-01D6-039A8AEC5854}"/>
              </a:ext>
            </a:extLst>
          </p:cNvPr>
          <p:cNvSpPr>
            <a:spLocks noGrp="1"/>
          </p:cNvSpPr>
          <p:nvPr>
            <p:ph idx="1"/>
          </p:nvPr>
        </p:nvSpPr>
        <p:spPr>
          <a:xfrm>
            <a:off x="838200" y="1187116"/>
            <a:ext cx="10515600" cy="5305759"/>
          </a:xfrm>
        </p:spPr>
        <p:txBody>
          <a:bodyPr>
            <a:normAutofit/>
          </a:bodyPr>
          <a:lstStyle/>
          <a:p>
            <a:r>
              <a:rPr lang="en-IN" sz="2000" dirty="0"/>
              <a:t>Bus topology is a multipoint configuration. It utilizes one continuous central cable, known as the backbone, which serves as a shared communication medium for all connected devices.</a:t>
            </a:r>
          </a:p>
          <a:p>
            <a:r>
              <a:rPr lang="en-IN" sz="2000" b="1" dirty="0"/>
              <a:t>Drop Lines and Taps:</a:t>
            </a:r>
            <a:r>
              <a:rPr lang="en-IN" sz="2000" dirty="0"/>
              <a:t> Nodes connect to the main backbone cable via drop lines (secondary cables) and taps (connectors that interface directly with the metallic core of the backbone).</a:t>
            </a:r>
          </a:p>
          <a:p>
            <a:r>
              <a:rPr lang="en-IN" sz="2000" b="1" dirty="0"/>
              <a:t>Signal Absorption via Terminators:</a:t>
            </a:r>
            <a:r>
              <a:rPr lang="en-IN" sz="2000" dirty="0"/>
              <a:t> Hardware components called terminators must be placed at both open ends of the backbone cable. Electrical data signals travel down the wire as waves. When a wave reaches the open end of a wire, it creates a reflection (Signal Reflection) that travels backward, causing data corruption. Terminators contain resistors that match the characteristic impedance of the cable, absorbing the electrical energy and preventing signal reflection.</a:t>
            </a:r>
          </a:p>
          <a:p>
            <a:endParaRPr lang="en-IN" sz="2000" dirty="0"/>
          </a:p>
        </p:txBody>
      </p:sp>
      <p:sp>
        <p:nvSpPr>
          <p:cNvPr id="5" name="TextBox 4">
            <a:extLst>
              <a:ext uri="{FF2B5EF4-FFF2-40B4-BE49-F238E27FC236}">
                <a16:creationId xmlns:a16="http://schemas.microsoft.com/office/drawing/2014/main" id="{35895720-FC9B-0114-C65A-6637DDE9D295}"/>
              </a:ext>
            </a:extLst>
          </p:cNvPr>
          <p:cNvSpPr txBox="1"/>
          <p:nvPr/>
        </p:nvSpPr>
        <p:spPr>
          <a:xfrm>
            <a:off x="838201" y="4249159"/>
            <a:ext cx="10214810" cy="1200329"/>
          </a:xfrm>
          <a:prstGeom prst="rect">
            <a:avLst/>
          </a:prstGeom>
          <a:noFill/>
        </p:spPr>
        <p:txBody>
          <a:bodyPr wrap="square">
            <a:spAutoFit/>
          </a:bodyPr>
          <a:lstStyle/>
          <a:p>
            <a:pPr>
              <a:buNone/>
            </a:pPr>
            <a:r>
              <a:rPr lang="en-IN" b="1" dirty="0"/>
              <a:t>Real-World Examples:</a:t>
            </a:r>
            <a:endParaRPr lang="en-IN" dirty="0"/>
          </a:p>
          <a:p>
            <a:pPr>
              <a:buFont typeface="Arial" panose="020B0604020202020204" pitchFamily="34" charset="0"/>
              <a:buChar char="•"/>
            </a:pPr>
            <a:r>
              <a:rPr lang="en-IN" b="1" dirty="0"/>
              <a:t>Example 1:</a:t>
            </a:r>
            <a:r>
              <a:rPr lang="en-IN" dirty="0"/>
              <a:t> Early legacy Ethernet installations (10Base2 and 10Base5 co-axial systems) used in the 1980s.</a:t>
            </a:r>
          </a:p>
          <a:p>
            <a:pPr>
              <a:buFont typeface="Arial" panose="020B0604020202020204" pitchFamily="34" charset="0"/>
              <a:buChar char="•"/>
            </a:pPr>
            <a:r>
              <a:rPr lang="en-IN" b="1" dirty="0"/>
              <a:t>Example 2:</a:t>
            </a:r>
            <a:r>
              <a:rPr lang="en-IN" dirty="0"/>
              <a:t> Automotive internal wiring setups, such as the Controller Area Network (CAN bus) standard that links a vehicle's engine control unit, dashboard sensors, and anti-lock brakes over a single wire pair.</a:t>
            </a:r>
          </a:p>
        </p:txBody>
      </p:sp>
    </p:spTree>
    <p:extLst>
      <p:ext uri="{BB962C8B-B14F-4D97-AF65-F5344CB8AC3E}">
        <p14:creationId xmlns:p14="http://schemas.microsoft.com/office/powerpoint/2010/main" val="35797579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CB7D3-BA16-04C6-F106-42EF4E9B000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5836523-5119-BD79-A1FF-D7FF0DF8032D}"/>
              </a:ext>
            </a:extLst>
          </p:cNvPr>
          <p:cNvSpPr>
            <a:spLocks noChangeArrowheads="1"/>
          </p:cNvSpPr>
          <p:nvPr/>
        </p:nvSpPr>
        <p:spPr bwMode="auto">
          <a:xfrm>
            <a:off x="4149851" y="5413693"/>
            <a:ext cx="2415541" cy="707886"/>
          </a:xfrm>
          <a:prstGeom prst="rect">
            <a:avLst/>
          </a:prstGeom>
          <a:solidFill>
            <a:srgbClr val="F0FE6A"/>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Bus Topology</a:t>
            </a:r>
            <a:br>
              <a:rPr lang="en-US" altLang="ar-SA" sz="2000" dirty="0">
                <a:latin typeface="Arial" panose="020B0604020202020204" pitchFamily="34" charset="0"/>
              </a:rPr>
            </a:br>
            <a:endParaRPr lang="en-US" altLang="ar-SA" sz="2000" dirty="0">
              <a:latin typeface="Arial" panose="020B0604020202020204" pitchFamily="34" charset="0"/>
            </a:endParaRPr>
          </a:p>
        </p:txBody>
      </p:sp>
      <p:pic>
        <p:nvPicPr>
          <p:cNvPr id="3" name="Picture 2">
            <a:extLst>
              <a:ext uri="{FF2B5EF4-FFF2-40B4-BE49-F238E27FC236}">
                <a16:creationId xmlns:a16="http://schemas.microsoft.com/office/drawing/2014/main" id="{89B6325E-85CD-4798-8DFF-DFDA7CFA95BB}"/>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9344" y="2549652"/>
            <a:ext cx="8778240" cy="1758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17035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1C846-B648-4EE1-2B06-A159C1159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2C399-B71E-05A9-CEBF-1DC9B6E281A7}"/>
              </a:ext>
            </a:extLst>
          </p:cNvPr>
          <p:cNvSpPr>
            <a:spLocks noGrp="1"/>
          </p:cNvSpPr>
          <p:nvPr>
            <p:ph type="title"/>
          </p:nvPr>
        </p:nvSpPr>
        <p:spPr>
          <a:xfrm>
            <a:off x="838200" y="577516"/>
            <a:ext cx="10515600" cy="609600"/>
          </a:xfrm>
        </p:spPr>
        <p:txBody>
          <a:bodyPr>
            <a:normAutofit fontScale="90000"/>
          </a:bodyPr>
          <a:lstStyle/>
          <a:p>
            <a:r>
              <a:rPr lang="en-IN" dirty="0"/>
              <a:t>Bus Topology</a:t>
            </a:r>
          </a:p>
        </p:txBody>
      </p:sp>
      <p:graphicFrame>
        <p:nvGraphicFramePr>
          <p:cNvPr id="8" name="Table 7">
            <a:extLst>
              <a:ext uri="{FF2B5EF4-FFF2-40B4-BE49-F238E27FC236}">
                <a16:creationId xmlns:a16="http://schemas.microsoft.com/office/drawing/2014/main" id="{C5A277DA-0F77-7249-6B27-5B84795A95FB}"/>
              </a:ext>
            </a:extLst>
          </p:cNvPr>
          <p:cNvGraphicFramePr>
            <a:graphicFrameLocks noGrp="1"/>
          </p:cNvGraphicFramePr>
          <p:nvPr/>
        </p:nvGraphicFramePr>
        <p:xfrm>
          <a:off x="684463" y="1312244"/>
          <a:ext cx="10384590" cy="4145280"/>
        </p:xfrm>
        <a:graphic>
          <a:graphicData uri="http://schemas.openxmlformats.org/drawingml/2006/table">
            <a:tbl>
              <a:tblPr firstRow="1" bandRow="1">
                <a:tableStyleId>{5C22544A-7EE6-4342-B048-85BDC9FD1C3A}</a:tableStyleId>
              </a:tblPr>
              <a:tblGrid>
                <a:gridCol w="5192295">
                  <a:extLst>
                    <a:ext uri="{9D8B030D-6E8A-4147-A177-3AD203B41FA5}">
                      <a16:colId xmlns:a16="http://schemas.microsoft.com/office/drawing/2014/main" val="1010772357"/>
                    </a:ext>
                  </a:extLst>
                </a:gridCol>
                <a:gridCol w="5192295">
                  <a:extLst>
                    <a:ext uri="{9D8B030D-6E8A-4147-A177-3AD203B41FA5}">
                      <a16:colId xmlns:a16="http://schemas.microsoft.com/office/drawing/2014/main" val="3030948238"/>
                    </a:ext>
                  </a:extLst>
                </a:gridCol>
              </a:tblGrid>
              <a:tr h="370840">
                <a:tc>
                  <a:txBody>
                    <a:bodyPr/>
                    <a:lstStyle/>
                    <a:p>
                      <a:pPr>
                        <a:buNone/>
                      </a:pPr>
                      <a:r>
                        <a:rPr lang="en-IN" b="1" dirty="0">
                          <a:effectLst/>
                          <a:latin typeface="Google Sans Text"/>
                        </a:rPr>
                        <a:t>Bus Topology Advantages</a:t>
                      </a:r>
                      <a:endParaRPr lang="en-IN" dirty="0">
                        <a:effectLst/>
                        <a:latin typeface="Google Sans Text"/>
                      </a:endParaRPr>
                    </a:p>
                  </a:txBody>
                  <a:tcPr marL="114300" marR="114300" marT="76200" marB="76200" anchor="ctr"/>
                </a:tc>
                <a:tc>
                  <a:txBody>
                    <a:bodyPr/>
                    <a:lstStyle/>
                    <a:p>
                      <a:pPr>
                        <a:buNone/>
                      </a:pPr>
                      <a:r>
                        <a:rPr lang="en-IN" b="1" dirty="0">
                          <a:effectLst/>
                          <a:latin typeface="Google Sans Text"/>
                        </a:rPr>
                        <a:t>Bus Topology Disadvantages</a:t>
                      </a:r>
                      <a:endParaRPr lang="en-IN" dirty="0">
                        <a:effectLst/>
                        <a:latin typeface="Google Sans Text"/>
                      </a:endParaRPr>
                    </a:p>
                  </a:txBody>
                  <a:tcPr marL="114300" marR="114300" marT="76200" marB="76200" anchor="ctr"/>
                </a:tc>
                <a:extLst>
                  <a:ext uri="{0D108BD9-81ED-4DB2-BD59-A6C34878D82A}">
                    <a16:rowId xmlns:a16="http://schemas.microsoft.com/office/drawing/2014/main" val="147992236"/>
                  </a:ext>
                </a:extLst>
              </a:tr>
              <a:tr h="370840">
                <a:tc>
                  <a:txBody>
                    <a:bodyPr/>
                    <a:lstStyle/>
                    <a:p>
                      <a:pPr>
                        <a:buNone/>
                      </a:pPr>
                      <a:r>
                        <a:rPr lang="en-IN" dirty="0">
                          <a:effectLst/>
                          <a:latin typeface="Google Sans Text"/>
                        </a:rPr>
                        <a:t>- </a:t>
                      </a:r>
                      <a:r>
                        <a:rPr lang="en-IN" b="1" dirty="0">
                          <a:effectLst/>
                          <a:latin typeface="Google Sans Text"/>
                        </a:rPr>
                        <a:t>Low Installation Cost:</a:t>
                      </a:r>
                      <a:r>
                        <a:rPr lang="en-IN" dirty="0">
                          <a:effectLst/>
                          <a:latin typeface="Google Sans Text"/>
                        </a:rPr>
                        <a:t> Requires the minimum total cable length compared to other layouts.</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Simple Architecture:</a:t>
                      </a:r>
                      <a:r>
                        <a:rPr lang="en-IN" dirty="0">
                          <a:effectLst/>
                          <a:latin typeface="Google Sans Text"/>
                        </a:rPr>
                        <a:t> Easy to deploy and extend for small-scale environments.</a:t>
                      </a:r>
                    </a:p>
                  </a:txBody>
                  <a:tcPr marL="114300" marR="114300" marT="76200" marB="76200" anchor="ctr"/>
                </a:tc>
                <a:tc>
                  <a:txBody>
                    <a:bodyPr/>
                    <a:lstStyle/>
                    <a:p>
                      <a:pPr>
                        <a:buNone/>
                      </a:pPr>
                      <a:r>
                        <a:rPr lang="en-IN" dirty="0">
                          <a:effectLst/>
                          <a:latin typeface="Google Sans Text"/>
                        </a:rPr>
                        <a:t>- </a:t>
                      </a:r>
                      <a:r>
                        <a:rPr lang="en-IN" b="1" dirty="0">
                          <a:effectLst/>
                          <a:latin typeface="Google Sans Text"/>
                        </a:rPr>
                        <a:t>Throughput Degradation:</a:t>
                      </a:r>
                      <a:r>
                        <a:rPr lang="en-IN" dirty="0">
                          <a:effectLst/>
                          <a:latin typeface="Google Sans Text"/>
                        </a:rPr>
                        <a:t> High traffic volumes increase signal collisions, lowering network throughput significantly.</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Difficult Troubleshooting:</a:t>
                      </a:r>
                      <a:r>
                        <a:rPr lang="en-IN" dirty="0">
                          <a:effectLst/>
                          <a:latin typeface="Google Sans Text"/>
                        </a:rPr>
                        <a:t> Pinpointing a faulty tap or line break along a shared cable requires specialized diagnostic tools.</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Backbone Vulnerability:</a:t>
                      </a:r>
                      <a:r>
                        <a:rPr lang="en-IN" dirty="0">
                          <a:effectLst/>
                          <a:latin typeface="Google Sans Text"/>
                        </a:rPr>
                        <a:t> A break anywhere along the main backbone splits the network, causing total operational failure.</a:t>
                      </a:r>
                    </a:p>
                  </a:txBody>
                  <a:tcPr marL="114300" marR="114300" marT="76200" marB="76200" anchor="ctr"/>
                </a:tc>
                <a:extLst>
                  <a:ext uri="{0D108BD9-81ED-4DB2-BD59-A6C34878D82A}">
                    <a16:rowId xmlns:a16="http://schemas.microsoft.com/office/drawing/2014/main" val="1832216196"/>
                  </a:ext>
                </a:extLst>
              </a:tr>
            </a:tbl>
          </a:graphicData>
        </a:graphic>
      </p:graphicFrame>
    </p:spTree>
    <p:extLst>
      <p:ext uri="{BB962C8B-B14F-4D97-AF65-F5344CB8AC3E}">
        <p14:creationId xmlns:p14="http://schemas.microsoft.com/office/powerpoint/2010/main" val="193836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FB8C4-7E65-68E4-566F-1E97AAE99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AF17F-0816-088C-384D-1A1A810F144A}"/>
              </a:ext>
            </a:extLst>
          </p:cNvPr>
          <p:cNvSpPr>
            <a:spLocks noGrp="1"/>
          </p:cNvSpPr>
          <p:nvPr>
            <p:ph type="title"/>
          </p:nvPr>
        </p:nvSpPr>
        <p:spPr>
          <a:xfrm>
            <a:off x="838200" y="577516"/>
            <a:ext cx="10515600" cy="609600"/>
          </a:xfrm>
        </p:spPr>
        <p:txBody>
          <a:bodyPr>
            <a:normAutofit fontScale="90000"/>
          </a:bodyPr>
          <a:lstStyle/>
          <a:p>
            <a:r>
              <a:rPr lang="en-IN" dirty="0"/>
              <a:t>Ring Topology</a:t>
            </a:r>
          </a:p>
        </p:txBody>
      </p:sp>
      <p:sp>
        <p:nvSpPr>
          <p:cNvPr id="3" name="Content Placeholder 2">
            <a:extLst>
              <a:ext uri="{FF2B5EF4-FFF2-40B4-BE49-F238E27FC236}">
                <a16:creationId xmlns:a16="http://schemas.microsoft.com/office/drawing/2014/main" id="{769E64C4-4C22-DF18-2C3C-DB43A3B016E6}"/>
              </a:ext>
            </a:extLst>
          </p:cNvPr>
          <p:cNvSpPr>
            <a:spLocks noGrp="1"/>
          </p:cNvSpPr>
          <p:nvPr>
            <p:ph idx="1"/>
          </p:nvPr>
        </p:nvSpPr>
        <p:spPr>
          <a:xfrm>
            <a:off x="838200" y="1187116"/>
            <a:ext cx="10515600" cy="5305759"/>
          </a:xfrm>
        </p:spPr>
        <p:txBody>
          <a:bodyPr>
            <a:normAutofit/>
          </a:bodyPr>
          <a:lstStyle/>
          <a:p>
            <a:r>
              <a:rPr lang="en-IN" sz="2000" dirty="0"/>
              <a:t>In a Ring topology, each node connects to exactly two </a:t>
            </a:r>
            <a:r>
              <a:rPr lang="en-IN" sz="2000" dirty="0" err="1"/>
              <a:t>neighboring</a:t>
            </a:r>
            <a:r>
              <a:rPr lang="en-IN" sz="2000" dirty="0"/>
              <a:t> nodes, establishing a closed, continuous physical loop.</a:t>
            </a:r>
          </a:p>
          <a:p>
            <a:r>
              <a:rPr lang="en-IN" sz="2000" b="1" dirty="0"/>
              <a:t>Signal Regeneration:</a:t>
            </a:r>
            <a:r>
              <a:rPr lang="en-IN" sz="2000" dirty="0"/>
              <a:t> Data packets travel around the ring in a single direction (Unidirectional). Every node features an electronic repeater. When a node receives a data packet, it reads the destination address. If the packet is intended for a different node, the local node regenerates the electrical signal to maximum strength before passing it to the next adjacent node.</a:t>
            </a:r>
          </a:p>
          <a:p>
            <a:endParaRPr lang="en-IN" sz="2000" dirty="0"/>
          </a:p>
        </p:txBody>
      </p:sp>
      <p:sp>
        <p:nvSpPr>
          <p:cNvPr id="5" name="TextBox 4">
            <a:extLst>
              <a:ext uri="{FF2B5EF4-FFF2-40B4-BE49-F238E27FC236}">
                <a16:creationId xmlns:a16="http://schemas.microsoft.com/office/drawing/2014/main" id="{F03B00F1-77ED-905C-1566-95F3B6BAC8BD}"/>
              </a:ext>
            </a:extLst>
          </p:cNvPr>
          <p:cNvSpPr txBox="1"/>
          <p:nvPr/>
        </p:nvSpPr>
        <p:spPr>
          <a:xfrm>
            <a:off x="838200" y="3429000"/>
            <a:ext cx="11032958" cy="2031325"/>
          </a:xfrm>
          <a:prstGeom prst="rect">
            <a:avLst/>
          </a:prstGeom>
          <a:noFill/>
        </p:spPr>
        <p:txBody>
          <a:bodyPr wrap="square">
            <a:spAutoFit/>
          </a:bodyPr>
          <a:lstStyle/>
          <a:p>
            <a:r>
              <a:rPr lang="en-IN" b="1" dirty="0"/>
              <a:t>Actual Working &amp; Data Transmission:</a:t>
            </a:r>
            <a:r>
              <a:rPr lang="en-IN" dirty="0"/>
              <a:t> Data packets travel around the ring in a single direction (Unidirectional). To prevent collisions, many ring networks use a Token Passing mechanism. A small control frame called a "token" circulates the ring constantly. A node can only transmit data when it captures the free token. It attaches its data packet and the destination address to the token and sends it out. Each node acts as an electronic repeater—it receives the signal, amplifies it back to maximum strength, checks the destination, and if it's not the target, passes it to the next adjacent node. When the destination node receives it, it copies the data and sends the token back around to the source to acknowledge receipt.</a:t>
            </a:r>
          </a:p>
        </p:txBody>
      </p:sp>
    </p:spTree>
    <p:extLst>
      <p:ext uri="{BB962C8B-B14F-4D97-AF65-F5344CB8AC3E}">
        <p14:creationId xmlns:p14="http://schemas.microsoft.com/office/powerpoint/2010/main" val="27755435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960D6-FB09-D00E-2BFF-AE6DCC9E108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D63F4D4-053E-CAD4-F041-95080AC8A8F5}"/>
              </a:ext>
            </a:extLst>
          </p:cNvPr>
          <p:cNvSpPr>
            <a:spLocks noChangeArrowheads="1"/>
          </p:cNvSpPr>
          <p:nvPr/>
        </p:nvSpPr>
        <p:spPr bwMode="auto">
          <a:xfrm>
            <a:off x="4149851" y="5413693"/>
            <a:ext cx="2415541" cy="707886"/>
          </a:xfrm>
          <a:prstGeom prst="rect">
            <a:avLst/>
          </a:prstGeom>
          <a:solidFill>
            <a:srgbClr val="F0FE6A"/>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Ring Topology</a:t>
            </a:r>
            <a:br>
              <a:rPr lang="en-US" altLang="ar-SA" sz="2000" dirty="0">
                <a:latin typeface="Arial" panose="020B0604020202020204" pitchFamily="34" charset="0"/>
              </a:rPr>
            </a:br>
            <a:endParaRPr lang="en-US" altLang="ar-SA" sz="2000" dirty="0">
              <a:latin typeface="Arial" panose="020B0604020202020204" pitchFamily="34" charset="0"/>
            </a:endParaRPr>
          </a:p>
        </p:txBody>
      </p:sp>
      <p:pic>
        <p:nvPicPr>
          <p:cNvPr id="2" name="Picture 1">
            <a:extLst>
              <a:ext uri="{FF2B5EF4-FFF2-40B4-BE49-F238E27FC236}">
                <a16:creationId xmlns:a16="http://schemas.microsoft.com/office/drawing/2014/main" id="{280BA70F-7220-79CA-979A-4B8B482FBE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129536"/>
            <a:ext cx="8156448" cy="2598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15545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7097-15FE-D4E1-ABC4-E1E5D87D2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5BE09-F51C-C599-9DD7-2EBDF5D9C65F}"/>
              </a:ext>
            </a:extLst>
          </p:cNvPr>
          <p:cNvSpPr>
            <a:spLocks noGrp="1"/>
          </p:cNvSpPr>
          <p:nvPr>
            <p:ph type="title"/>
          </p:nvPr>
        </p:nvSpPr>
        <p:spPr>
          <a:xfrm>
            <a:off x="838200" y="577516"/>
            <a:ext cx="10515600" cy="609600"/>
          </a:xfrm>
        </p:spPr>
        <p:txBody>
          <a:bodyPr>
            <a:normAutofit fontScale="90000"/>
          </a:bodyPr>
          <a:lstStyle/>
          <a:p>
            <a:r>
              <a:rPr lang="en-IN" dirty="0"/>
              <a:t>Ring Topology</a:t>
            </a:r>
          </a:p>
        </p:txBody>
      </p:sp>
      <p:graphicFrame>
        <p:nvGraphicFramePr>
          <p:cNvPr id="7" name="Table 6">
            <a:extLst>
              <a:ext uri="{FF2B5EF4-FFF2-40B4-BE49-F238E27FC236}">
                <a16:creationId xmlns:a16="http://schemas.microsoft.com/office/drawing/2014/main" id="{2276AE68-C9A0-3EEE-FF16-152E97067FC0}"/>
              </a:ext>
            </a:extLst>
          </p:cNvPr>
          <p:cNvGraphicFramePr>
            <a:graphicFrameLocks noGrp="1"/>
          </p:cNvGraphicFramePr>
          <p:nvPr/>
        </p:nvGraphicFramePr>
        <p:xfrm>
          <a:off x="838200" y="1473645"/>
          <a:ext cx="8128000" cy="2773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232241513"/>
                    </a:ext>
                  </a:extLst>
                </a:gridCol>
                <a:gridCol w="4064000">
                  <a:extLst>
                    <a:ext uri="{9D8B030D-6E8A-4147-A177-3AD203B41FA5}">
                      <a16:colId xmlns:a16="http://schemas.microsoft.com/office/drawing/2014/main" val="128894036"/>
                    </a:ext>
                  </a:extLst>
                </a:gridCol>
              </a:tblGrid>
              <a:tr h="370840">
                <a:tc>
                  <a:txBody>
                    <a:bodyPr/>
                    <a:lstStyle/>
                    <a:p>
                      <a:pPr>
                        <a:buNone/>
                      </a:pPr>
                      <a:r>
                        <a:rPr lang="en-IN" b="1" dirty="0">
                          <a:effectLst/>
                          <a:latin typeface="Google Sans Text"/>
                        </a:rPr>
                        <a:t>Ring Topology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Ring Topology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3105747251"/>
                  </a:ext>
                </a:extLst>
              </a:tr>
              <a:tr h="370840">
                <a:tc>
                  <a:txBody>
                    <a:bodyPr/>
                    <a:lstStyle/>
                    <a:p>
                      <a:pPr>
                        <a:buNone/>
                      </a:pPr>
                      <a:r>
                        <a:rPr lang="en-IN">
                          <a:effectLst/>
                          <a:latin typeface="Google Sans Text"/>
                        </a:rPr>
                        <a:t>- </a:t>
                      </a:r>
                      <a:r>
                        <a:rPr lang="en-IN" b="1">
                          <a:effectLst/>
                          <a:latin typeface="Google Sans Text"/>
                        </a:rPr>
                        <a:t>Deterministic Traffic Management:</a:t>
                      </a:r>
                      <a:r>
                        <a:rPr lang="en-IN">
                          <a:effectLst/>
                          <a:latin typeface="Google Sans Text"/>
                        </a:rPr>
                        <a:t> Unidirectional data flow and token passing eliminate signal collisions.</a:t>
                      </a:r>
                    </a:p>
                    <a:p>
                      <a:pPr>
                        <a:buNone/>
                      </a:pPr>
                      <a:br>
                        <a:rPr lang="en-IN">
                          <a:effectLst/>
                          <a:latin typeface="Google Sans Text"/>
                        </a:rPr>
                      </a:br>
                      <a:endParaRPr lang="en-IN">
                        <a:effectLst/>
                        <a:latin typeface="Google Sans Text"/>
                      </a:endParaRPr>
                    </a:p>
                    <a:p>
                      <a:pPr>
                        <a:buNone/>
                      </a:pPr>
                      <a:r>
                        <a:rPr lang="en-IN">
                          <a:effectLst/>
                          <a:latin typeface="Google Sans Text"/>
                        </a:rPr>
                        <a:t>- </a:t>
                      </a:r>
                      <a:r>
                        <a:rPr lang="en-IN" b="1">
                          <a:effectLst/>
                          <a:latin typeface="Google Sans Text"/>
                        </a:rPr>
                        <a:t>High Performance Under Load:</a:t>
                      </a:r>
                      <a:r>
                        <a:rPr lang="en-IN">
                          <a:effectLst/>
                          <a:latin typeface="Google Sans Text"/>
                        </a:rPr>
                        <a:t> Performs better than Bus topology under high traffic congestion.</a:t>
                      </a:r>
                    </a:p>
                  </a:txBody>
                  <a:tcPr marL="114300" marR="114300" marT="76200" marB="76200" anchor="ctr"/>
                </a:tc>
                <a:tc>
                  <a:txBody>
                    <a:bodyPr/>
                    <a:lstStyle/>
                    <a:p>
                      <a:pPr>
                        <a:buNone/>
                      </a:pPr>
                      <a:r>
                        <a:rPr lang="en-IN" dirty="0">
                          <a:effectLst/>
                          <a:latin typeface="Google Sans Text"/>
                        </a:rPr>
                        <a:t>- </a:t>
                      </a:r>
                      <a:r>
                        <a:rPr lang="en-IN" b="1" dirty="0">
                          <a:effectLst/>
                          <a:latin typeface="Google Sans Text"/>
                        </a:rPr>
                        <a:t>High Propagation Delay:</a:t>
                      </a:r>
                      <a:r>
                        <a:rPr lang="en-IN" dirty="0">
                          <a:effectLst/>
                          <a:latin typeface="Google Sans Text"/>
                        </a:rPr>
                        <a:t> Data must pass through multiple intermediate nodes to reach a distant destination.</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High Vulnerability:</a:t>
                      </a:r>
                      <a:r>
                        <a:rPr lang="en-IN" dirty="0">
                          <a:effectLst/>
                          <a:latin typeface="Google Sans Text"/>
                        </a:rPr>
                        <a:t> A single broken wire or an unpowered node opens the circuit, halting all network communication.</a:t>
                      </a:r>
                    </a:p>
                  </a:txBody>
                  <a:tcPr marL="114300" marR="114300" marT="76200" marB="76200" anchor="ctr"/>
                </a:tc>
                <a:extLst>
                  <a:ext uri="{0D108BD9-81ED-4DB2-BD59-A6C34878D82A}">
                    <a16:rowId xmlns:a16="http://schemas.microsoft.com/office/drawing/2014/main" val="3864501644"/>
                  </a:ext>
                </a:extLst>
              </a:tr>
            </a:tbl>
          </a:graphicData>
        </a:graphic>
      </p:graphicFrame>
      <p:sp>
        <p:nvSpPr>
          <p:cNvPr id="9" name="TextBox 8">
            <a:extLst>
              <a:ext uri="{FF2B5EF4-FFF2-40B4-BE49-F238E27FC236}">
                <a16:creationId xmlns:a16="http://schemas.microsoft.com/office/drawing/2014/main" id="{191883F8-FBDA-FAF9-35CA-BA61A456253B}"/>
              </a:ext>
            </a:extLst>
          </p:cNvPr>
          <p:cNvSpPr txBox="1"/>
          <p:nvPr/>
        </p:nvSpPr>
        <p:spPr>
          <a:xfrm>
            <a:off x="673768" y="4507192"/>
            <a:ext cx="10860506" cy="1477328"/>
          </a:xfrm>
          <a:prstGeom prst="rect">
            <a:avLst/>
          </a:prstGeom>
          <a:noFill/>
        </p:spPr>
        <p:txBody>
          <a:bodyPr wrap="square">
            <a:spAutoFit/>
          </a:bodyPr>
          <a:lstStyle/>
          <a:p>
            <a:pPr>
              <a:buNone/>
            </a:pPr>
            <a:r>
              <a:rPr lang="en-IN" b="1" dirty="0"/>
              <a:t>Real-World Examples:</a:t>
            </a:r>
            <a:endParaRPr lang="en-IN" dirty="0"/>
          </a:p>
          <a:p>
            <a:pPr>
              <a:buFont typeface="Arial" panose="020B0604020202020204" pitchFamily="34" charset="0"/>
              <a:buChar char="•"/>
            </a:pPr>
            <a:r>
              <a:rPr lang="en-IN" b="1" dirty="0"/>
              <a:t>Example 1:</a:t>
            </a:r>
            <a:r>
              <a:rPr lang="en-IN" dirty="0"/>
              <a:t> Fiber Distributed Data Interface (FDDI) token ring networks used historically for high-speed campus backbones.</a:t>
            </a:r>
          </a:p>
          <a:p>
            <a:pPr>
              <a:buFont typeface="Arial" panose="020B0604020202020204" pitchFamily="34" charset="0"/>
              <a:buChar char="•"/>
            </a:pPr>
            <a:r>
              <a:rPr lang="en-IN" b="1" dirty="0"/>
              <a:t>Example 2:</a:t>
            </a:r>
            <a:r>
              <a:rPr lang="en-IN" dirty="0"/>
              <a:t> Synchronous Optical Network (SONET) ring systems utilized by metropolitan telecommunication providers across cities.</a:t>
            </a:r>
          </a:p>
        </p:txBody>
      </p:sp>
    </p:spTree>
    <p:extLst>
      <p:ext uri="{BB962C8B-B14F-4D97-AF65-F5344CB8AC3E}">
        <p14:creationId xmlns:p14="http://schemas.microsoft.com/office/powerpoint/2010/main" val="1679598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E3F59-2312-4708-5627-54FECD886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43B11-06B6-CAAB-032F-5CAE6FAFC76C}"/>
              </a:ext>
            </a:extLst>
          </p:cNvPr>
          <p:cNvSpPr>
            <a:spLocks noGrp="1"/>
          </p:cNvSpPr>
          <p:nvPr>
            <p:ph type="title"/>
          </p:nvPr>
        </p:nvSpPr>
        <p:spPr>
          <a:xfrm>
            <a:off x="838200" y="577516"/>
            <a:ext cx="10515600" cy="609600"/>
          </a:xfrm>
        </p:spPr>
        <p:txBody>
          <a:bodyPr>
            <a:normAutofit fontScale="90000"/>
          </a:bodyPr>
          <a:lstStyle/>
          <a:p>
            <a:r>
              <a:rPr lang="en-IN" dirty="0"/>
              <a:t>Hybrid Topology</a:t>
            </a:r>
          </a:p>
        </p:txBody>
      </p:sp>
      <p:sp>
        <p:nvSpPr>
          <p:cNvPr id="3" name="Content Placeholder 2">
            <a:extLst>
              <a:ext uri="{FF2B5EF4-FFF2-40B4-BE49-F238E27FC236}">
                <a16:creationId xmlns:a16="http://schemas.microsoft.com/office/drawing/2014/main" id="{EF8A789B-0DA5-1169-931E-392CD5CA0126}"/>
              </a:ext>
            </a:extLst>
          </p:cNvPr>
          <p:cNvSpPr>
            <a:spLocks noGrp="1"/>
          </p:cNvSpPr>
          <p:nvPr>
            <p:ph idx="1"/>
          </p:nvPr>
        </p:nvSpPr>
        <p:spPr>
          <a:xfrm>
            <a:off x="838200" y="1187116"/>
            <a:ext cx="10515600" cy="5305759"/>
          </a:xfrm>
        </p:spPr>
        <p:txBody>
          <a:bodyPr>
            <a:normAutofit/>
          </a:bodyPr>
          <a:lstStyle/>
          <a:p>
            <a:r>
              <a:rPr lang="en-IN" sz="2000" dirty="0"/>
              <a:t>A Hybrid topology is the integration of two or more distinct topologies into a single network infrastructure. It is deployed when a network must expand beyond the physical limits of a single geometric configuration.</a:t>
            </a:r>
          </a:p>
          <a:p>
            <a:r>
              <a:rPr lang="en-IN" sz="2000" b="1" dirty="0"/>
              <a:t>Example (Star-Bus):</a:t>
            </a:r>
            <a:r>
              <a:rPr lang="en-IN" sz="2000" dirty="0"/>
              <a:t> Multiple individual departments may deploy a Star topology connecting to local switches. These separate central switches are then interconnected along a single primary Bus backbone that links the different floors of a building.</a:t>
            </a:r>
          </a:p>
          <a:p>
            <a:pPr marL="0" indent="0">
              <a:buNone/>
            </a:pPr>
            <a:endParaRPr lang="en-IN" sz="2000" dirty="0"/>
          </a:p>
        </p:txBody>
      </p:sp>
      <p:graphicFrame>
        <p:nvGraphicFramePr>
          <p:cNvPr id="4" name="Table 3">
            <a:extLst>
              <a:ext uri="{FF2B5EF4-FFF2-40B4-BE49-F238E27FC236}">
                <a16:creationId xmlns:a16="http://schemas.microsoft.com/office/drawing/2014/main" id="{0BE7982A-5DA5-2E65-1DC0-ECB3338F0EDF}"/>
              </a:ext>
            </a:extLst>
          </p:cNvPr>
          <p:cNvGraphicFramePr>
            <a:graphicFrameLocks noGrp="1"/>
          </p:cNvGraphicFramePr>
          <p:nvPr/>
        </p:nvGraphicFramePr>
        <p:xfrm>
          <a:off x="664410" y="3429000"/>
          <a:ext cx="10689390" cy="2773680"/>
        </p:xfrm>
        <a:graphic>
          <a:graphicData uri="http://schemas.openxmlformats.org/drawingml/2006/table">
            <a:tbl>
              <a:tblPr firstRow="1" bandRow="1">
                <a:tableStyleId>{5C22544A-7EE6-4342-B048-85BDC9FD1C3A}</a:tableStyleId>
              </a:tblPr>
              <a:tblGrid>
                <a:gridCol w="5344695">
                  <a:extLst>
                    <a:ext uri="{9D8B030D-6E8A-4147-A177-3AD203B41FA5}">
                      <a16:colId xmlns:a16="http://schemas.microsoft.com/office/drawing/2014/main" val="999702320"/>
                    </a:ext>
                  </a:extLst>
                </a:gridCol>
                <a:gridCol w="5344695">
                  <a:extLst>
                    <a:ext uri="{9D8B030D-6E8A-4147-A177-3AD203B41FA5}">
                      <a16:colId xmlns:a16="http://schemas.microsoft.com/office/drawing/2014/main" val="2687836898"/>
                    </a:ext>
                  </a:extLst>
                </a:gridCol>
              </a:tblGrid>
              <a:tr h="370840">
                <a:tc>
                  <a:txBody>
                    <a:bodyPr/>
                    <a:lstStyle/>
                    <a:p>
                      <a:pPr>
                        <a:buNone/>
                      </a:pPr>
                      <a:r>
                        <a:rPr lang="en-IN" b="1" dirty="0">
                          <a:effectLst/>
                          <a:latin typeface="Google Sans Text"/>
                        </a:rPr>
                        <a:t>Hybrid Topology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Hybrid Topology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924288954"/>
                  </a:ext>
                </a:extLst>
              </a:tr>
              <a:tr h="370840">
                <a:tc>
                  <a:txBody>
                    <a:bodyPr/>
                    <a:lstStyle/>
                    <a:p>
                      <a:pPr>
                        <a:buNone/>
                      </a:pPr>
                      <a:r>
                        <a:rPr lang="en-IN">
                          <a:effectLst/>
                          <a:latin typeface="Google Sans Text"/>
                        </a:rPr>
                        <a:t>- </a:t>
                      </a:r>
                      <a:r>
                        <a:rPr lang="en-IN" b="1">
                          <a:effectLst/>
                          <a:latin typeface="Google Sans Text"/>
                        </a:rPr>
                        <a:t>Maximum Flexibility:</a:t>
                      </a:r>
                      <a:r>
                        <a:rPr lang="en-IN">
                          <a:effectLst/>
                          <a:latin typeface="Google Sans Text"/>
                        </a:rPr>
                        <a:t> Can be custom-designed to match the exact structural layout of any building or campus.</a:t>
                      </a:r>
                    </a:p>
                    <a:p>
                      <a:pPr>
                        <a:buNone/>
                      </a:pPr>
                      <a:br>
                        <a:rPr lang="en-IN">
                          <a:effectLst/>
                          <a:latin typeface="Google Sans Text"/>
                        </a:rPr>
                      </a:br>
                      <a:endParaRPr lang="en-IN">
                        <a:effectLst/>
                        <a:latin typeface="Google Sans Text"/>
                      </a:endParaRPr>
                    </a:p>
                    <a:p>
                      <a:pPr>
                        <a:buNone/>
                      </a:pPr>
                      <a:r>
                        <a:rPr lang="en-IN">
                          <a:effectLst/>
                          <a:latin typeface="Google Sans Text"/>
                        </a:rPr>
                        <a:t>- </a:t>
                      </a:r>
                      <a:r>
                        <a:rPr lang="en-IN" b="1">
                          <a:effectLst/>
                          <a:latin typeface="Google Sans Text"/>
                        </a:rPr>
                        <a:t>High Scalability:</a:t>
                      </a:r>
                      <a:r>
                        <a:rPr lang="en-IN">
                          <a:effectLst/>
                          <a:latin typeface="Google Sans Text"/>
                        </a:rPr>
                        <a:t> Allows easy expansion by appending new topological segments without altering existing network zones.</a:t>
                      </a:r>
                    </a:p>
                  </a:txBody>
                  <a:tcPr marL="114300" marR="114300" marT="76200" marB="76200" anchor="ctr"/>
                </a:tc>
                <a:tc>
                  <a:txBody>
                    <a:bodyPr/>
                    <a:lstStyle/>
                    <a:p>
                      <a:pPr>
                        <a:buNone/>
                      </a:pPr>
                      <a:r>
                        <a:rPr lang="en-IN" dirty="0">
                          <a:effectLst/>
                          <a:latin typeface="Google Sans Text"/>
                        </a:rPr>
                        <a:t>- </a:t>
                      </a:r>
                      <a:r>
                        <a:rPr lang="en-IN" b="1" dirty="0">
                          <a:effectLst/>
                          <a:latin typeface="Google Sans Text"/>
                        </a:rPr>
                        <a:t>Architectural Complexity:</a:t>
                      </a:r>
                      <a:r>
                        <a:rPr lang="en-IN" dirty="0">
                          <a:effectLst/>
                          <a:latin typeface="Google Sans Text"/>
                        </a:rPr>
                        <a:t> Designing the interfaces, hubs, and routers to bridge different topologies requires highly complex configuration.</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High Maintenance Cost:</a:t>
                      </a:r>
                      <a:r>
                        <a:rPr lang="en-IN" dirty="0">
                          <a:effectLst/>
                          <a:latin typeface="Google Sans Text"/>
                        </a:rPr>
                        <a:t> Requires specialized network administrators capable of managing multiple different standard systems simultaneously.</a:t>
                      </a:r>
                    </a:p>
                  </a:txBody>
                  <a:tcPr marL="114300" marR="114300" marT="76200" marB="76200" anchor="ctr"/>
                </a:tc>
                <a:extLst>
                  <a:ext uri="{0D108BD9-81ED-4DB2-BD59-A6C34878D82A}">
                    <a16:rowId xmlns:a16="http://schemas.microsoft.com/office/drawing/2014/main" val="869660389"/>
                  </a:ext>
                </a:extLst>
              </a:tr>
            </a:tbl>
          </a:graphicData>
        </a:graphic>
      </p:graphicFrame>
    </p:spTree>
    <p:extLst>
      <p:ext uri="{BB962C8B-B14F-4D97-AF65-F5344CB8AC3E}">
        <p14:creationId xmlns:p14="http://schemas.microsoft.com/office/powerpoint/2010/main" val="4042894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0AF5D-38A9-F7C9-4AD2-A9E2B4BAF26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14CFB52-CFE4-A0F3-45F1-21E2337ACDF1}"/>
              </a:ext>
            </a:extLst>
          </p:cNvPr>
          <p:cNvSpPr>
            <a:spLocks noChangeArrowheads="1"/>
          </p:cNvSpPr>
          <p:nvPr/>
        </p:nvSpPr>
        <p:spPr bwMode="auto">
          <a:xfrm>
            <a:off x="4149851" y="5413693"/>
            <a:ext cx="3768853" cy="707886"/>
          </a:xfrm>
          <a:prstGeom prst="rect">
            <a:avLst/>
          </a:prstGeom>
          <a:solidFill>
            <a:srgbClr val="F0FE6A"/>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Hybrid / Tree Topology</a:t>
            </a:r>
            <a:br>
              <a:rPr lang="en-US" altLang="ar-SA" sz="2000" dirty="0">
                <a:latin typeface="Arial" panose="020B0604020202020204" pitchFamily="34" charset="0"/>
              </a:rPr>
            </a:br>
            <a:endParaRPr lang="en-US" altLang="ar-SA" sz="2000" dirty="0">
              <a:latin typeface="Arial" panose="020B0604020202020204" pitchFamily="34" charset="0"/>
            </a:endParaRPr>
          </a:p>
        </p:txBody>
      </p:sp>
      <p:pic>
        <p:nvPicPr>
          <p:cNvPr id="3" name="Picture 2">
            <a:extLst>
              <a:ext uri="{FF2B5EF4-FFF2-40B4-BE49-F238E27FC236}">
                <a16:creationId xmlns:a16="http://schemas.microsoft.com/office/drawing/2014/main" id="{30D7FAB3-F14A-B24E-5F6B-8A90504BB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384" y="1591056"/>
            <a:ext cx="7690104" cy="3273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1761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4382E-FC16-D722-DF70-D117691F50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333AF-B299-A644-A768-5EF8E2E7EDF9}"/>
              </a:ext>
            </a:extLst>
          </p:cNvPr>
          <p:cNvSpPr>
            <a:spLocks noGrp="1"/>
          </p:cNvSpPr>
          <p:nvPr>
            <p:ph type="title"/>
          </p:nvPr>
        </p:nvSpPr>
        <p:spPr>
          <a:xfrm>
            <a:off x="157655" y="567559"/>
            <a:ext cx="11871435" cy="520262"/>
          </a:xfrm>
        </p:spPr>
        <p:txBody>
          <a:bodyPr>
            <a:normAutofit fontScale="90000"/>
          </a:bodyPr>
          <a:lstStyle/>
          <a:p>
            <a:r>
              <a:rPr lang="en-IN" dirty="0"/>
              <a:t>Networking Devices Introduction: HUB</a:t>
            </a:r>
          </a:p>
        </p:txBody>
      </p:sp>
      <p:sp>
        <p:nvSpPr>
          <p:cNvPr id="3" name="Content Placeholder 2">
            <a:extLst>
              <a:ext uri="{FF2B5EF4-FFF2-40B4-BE49-F238E27FC236}">
                <a16:creationId xmlns:a16="http://schemas.microsoft.com/office/drawing/2014/main" id="{511BC6C7-742A-E89A-EF2C-B5D82A55D807}"/>
              </a:ext>
            </a:extLst>
          </p:cNvPr>
          <p:cNvSpPr>
            <a:spLocks noGrp="1"/>
          </p:cNvSpPr>
          <p:nvPr>
            <p:ph idx="1"/>
          </p:nvPr>
        </p:nvSpPr>
        <p:spPr>
          <a:xfrm>
            <a:off x="157655" y="1245477"/>
            <a:ext cx="11871435" cy="5360276"/>
          </a:xfrm>
        </p:spPr>
        <p:txBody>
          <a:bodyPr>
            <a:normAutofit fontScale="92500" lnSpcReduction="10000"/>
          </a:bodyPr>
          <a:lstStyle/>
          <a:p>
            <a:pPr marL="0" indent="0">
              <a:buNone/>
            </a:pPr>
            <a:r>
              <a:rPr lang="en-IN" b="1" dirty="0">
                <a:highlight>
                  <a:srgbClr val="FFFF00"/>
                </a:highlight>
              </a:rPr>
              <a:t>A. Hub (Legacy Multi-port Broadcast Device)</a:t>
            </a:r>
          </a:p>
          <a:p>
            <a:r>
              <a:rPr lang="en-IN" b="1" dirty="0"/>
              <a:t>Operating Layer:</a:t>
            </a:r>
            <a:r>
              <a:rPr lang="en-IN" dirty="0"/>
              <a:t> Layer 1 (Physical Layer). It has zero software intelligence and cannot read addresses.</a:t>
            </a:r>
          </a:p>
          <a:p>
            <a:r>
              <a:rPr lang="en-IN" b="1" dirty="0"/>
              <a:t>Core Functionality:</a:t>
            </a:r>
            <a:r>
              <a:rPr lang="en-IN" dirty="0"/>
              <a:t> It acts as a passive packet-replicator. When a data packet enters one port, the hub blindly duplicates it and broadcasts it out of every other active port on the device.</a:t>
            </a:r>
          </a:p>
          <a:p>
            <a:r>
              <a:rPr lang="en-IN" b="1" dirty="0"/>
              <a:t>Transmission Mode:</a:t>
            </a:r>
            <a:r>
              <a:rPr lang="en-IN" dirty="0"/>
              <a:t> Strictly </a:t>
            </a:r>
            <a:r>
              <a:rPr lang="en-IN" b="1" dirty="0"/>
              <a:t>Half-Duplex</a:t>
            </a:r>
            <a:r>
              <a:rPr lang="en-IN" dirty="0"/>
              <a:t>. Only one machine can send a packet at any given instant. If two machines send packets simultaneously, they collide and get destroyed.</a:t>
            </a:r>
          </a:p>
          <a:p>
            <a:r>
              <a:rPr lang="en-IN" b="1" dirty="0"/>
              <a:t>Logical Working Mechanism:</a:t>
            </a:r>
            <a:r>
              <a:rPr lang="en-IN" dirty="0"/>
              <a:t> 1. Node A sends a data packet intended strictly for Node B into Port 1. 2. The hub receives the packet on Port 1. Because it cannot read the destination address, it blindly broadcasts the packet out of Port 2, Port 3, and Port 4. 3. Node B reads the destination address in the header and processes it. Node C and Node D realize the address does not match theirs and drop the packet.</a:t>
            </a:r>
          </a:p>
          <a:p>
            <a:endParaRPr lang="en-IN" dirty="0"/>
          </a:p>
        </p:txBody>
      </p:sp>
    </p:spTree>
    <p:extLst>
      <p:ext uri="{BB962C8B-B14F-4D97-AF65-F5344CB8AC3E}">
        <p14:creationId xmlns:p14="http://schemas.microsoft.com/office/powerpoint/2010/main" val="24009513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33384-7822-0D3A-1979-0CCD314226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A6D706-40AB-233A-48FC-5655F3F763E8}"/>
              </a:ext>
            </a:extLst>
          </p:cNvPr>
          <p:cNvSpPr>
            <a:spLocks noGrp="1"/>
          </p:cNvSpPr>
          <p:nvPr>
            <p:ph idx="1"/>
          </p:nvPr>
        </p:nvSpPr>
        <p:spPr>
          <a:xfrm>
            <a:off x="157655" y="599090"/>
            <a:ext cx="11871435" cy="6006663"/>
          </a:xfrm>
        </p:spPr>
        <p:txBody>
          <a:bodyPr>
            <a:normAutofit fontScale="85000" lnSpcReduction="20000"/>
          </a:bodyPr>
          <a:lstStyle/>
          <a:p>
            <a:pPr marL="0" indent="0">
              <a:buNone/>
            </a:pPr>
            <a:r>
              <a:rPr lang="en-IN" b="1" dirty="0">
                <a:highlight>
                  <a:srgbClr val="FFFF00"/>
                </a:highlight>
              </a:rPr>
              <a:t>B. Switch (Intelligent Local Network Device)</a:t>
            </a:r>
          </a:p>
          <a:p>
            <a:r>
              <a:rPr lang="en-IN" b="1" dirty="0"/>
              <a:t>Operating Layer:</a:t>
            </a:r>
            <a:r>
              <a:rPr lang="en-IN" dirty="0"/>
              <a:t> Layer 2 (Data Link Layer). It is an address-aware, packet-filtering device.</a:t>
            </a:r>
          </a:p>
          <a:p>
            <a:r>
              <a:rPr lang="en-IN" b="1" dirty="0"/>
              <a:t>Core Functionality:</a:t>
            </a:r>
            <a:r>
              <a:rPr lang="en-IN" dirty="0"/>
              <a:t> It performs selective packet forwarding and filtering to optimize local network traffic.</a:t>
            </a:r>
          </a:p>
          <a:p>
            <a:r>
              <a:rPr lang="en-IN" b="1" dirty="0"/>
              <a:t>The MAC Address Table (CAM Table):</a:t>
            </a:r>
            <a:r>
              <a:rPr lang="en-IN" dirty="0"/>
              <a:t> The switch maintains a dynamic lookup table in memory. This table maps specific physical ports to the unique </a:t>
            </a:r>
            <a:r>
              <a:rPr lang="en-IN" b="1" dirty="0"/>
              <a:t>MAC Addresses (Hardware Addresses)</a:t>
            </a:r>
            <a:r>
              <a:rPr lang="en-IN" dirty="0"/>
              <a:t> of the connected hosts.</a:t>
            </a:r>
          </a:p>
          <a:p>
            <a:r>
              <a:rPr lang="en-IN" b="1" dirty="0"/>
              <a:t>Domain Classifications:</a:t>
            </a:r>
            <a:r>
              <a:rPr lang="en-IN" dirty="0"/>
              <a:t> </a:t>
            </a:r>
            <a:r>
              <a:rPr lang="en-IN" b="1" dirty="0"/>
              <a:t>Every individual port represents its own separate Collision Domain</a:t>
            </a:r>
            <a:r>
              <a:rPr lang="en-IN" dirty="0"/>
              <a:t>. However, all ports still default to a </a:t>
            </a:r>
            <a:r>
              <a:rPr lang="en-IN" b="1" dirty="0"/>
              <a:t>Single Broadcast Domain</a:t>
            </a:r>
            <a:r>
              <a:rPr lang="en-IN" dirty="0"/>
              <a:t>.</a:t>
            </a:r>
          </a:p>
          <a:p>
            <a:r>
              <a:rPr lang="en-IN" b="1" dirty="0"/>
              <a:t>Transmission Mode:</a:t>
            </a:r>
            <a:r>
              <a:rPr lang="en-IN" dirty="0"/>
              <a:t> </a:t>
            </a:r>
            <a:r>
              <a:rPr lang="en-IN" b="1" dirty="0"/>
              <a:t>Full-Duplex</a:t>
            </a:r>
            <a:r>
              <a:rPr lang="en-IN" dirty="0"/>
              <a:t>. Because ports are isolated, hosts can send and receive data packets simultaneously without any collisions.</a:t>
            </a:r>
          </a:p>
          <a:p>
            <a:r>
              <a:rPr lang="en-IN" b="1" dirty="0"/>
              <a:t>Logical Working Mechanism:</a:t>
            </a:r>
            <a:endParaRPr lang="en-IN" dirty="0"/>
          </a:p>
          <a:p>
            <a:pPr lvl="1"/>
            <a:r>
              <a:rPr lang="en-IN" b="1" dirty="0"/>
              <a:t>Learning:</a:t>
            </a:r>
            <a:r>
              <a:rPr lang="en-IN" dirty="0"/>
              <a:t> When Node A sends a packet into Port 1, the switch reads the </a:t>
            </a:r>
            <a:r>
              <a:rPr lang="en-IN" i="1" dirty="0"/>
              <a:t>Source Address</a:t>
            </a:r>
            <a:r>
              <a:rPr lang="en-IN" dirty="0"/>
              <a:t> and logs that Node A is on Port 1.</a:t>
            </a:r>
          </a:p>
          <a:p>
            <a:pPr lvl="1"/>
            <a:r>
              <a:rPr lang="en-IN" b="1" dirty="0"/>
              <a:t>Lookup:</a:t>
            </a:r>
            <a:r>
              <a:rPr lang="en-IN" dirty="0"/>
              <a:t> The switch inspects the </a:t>
            </a:r>
            <a:r>
              <a:rPr lang="en-IN" i="1" dirty="0"/>
              <a:t>Destination Address</a:t>
            </a:r>
            <a:r>
              <a:rPr lang="en-IN" dirty="0"/>
              <a:t> of the packet and checks its internal table.</a:t>
            </a:r>
          </a:p>
          <a:p>
            <a:pPr lvl="1"/>
            <a:r>
              <a:rPr lang="en-IN" b="1" dirty="0"/>
              <a:t>Unicast Forwarding:</a:t>
            </a:r>
            <a:r>
              <a:rPr lang="en-IN" dirty="0"/>
              <a:t> If the destination address is found (e.g., mapped to Port 3), the switch forwards the packet </a:t>
            </a:r>
            <a:r>
              <a:rPr lang="en-IN" b="1" dirty="0"/>
              <a:t>strictly out of Port 3</a:t>
            </a:r>
            <a:r>
              <a:rPr lang="en-IN" dirty="0"/>
              <a:t>.</a:t>
            </a:r>
          </a:p>
          <a:p>
            <a:pPr lvl="1"/>
            <a:r>
              <a:rPr lang="en-IN" b="1" dirty="0"/>
              <a:t>Flooding:</a:t>
            </a:r>
            <a:r>
              <a:rPr lang="en-IN" dirty="0"/>
              <a:t> If the destination address is missing from the table, the switch sends the packet to every port except the one it arrived on until it learns where that device lives.</a:t>
            </a:r>
          </a:p>
        </p:txBody>
      </p:sp>
    </p:spTree>
    <p:extLst>
      <p:ext uri="{BB962C8B-B14F-4D97-AF65-F5344CB8AC3E}">
        <p14:creationId xmlns:p14="http://schemas.microsoft.com/office/powerpoint/2010/main" val="21325320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AE3E9-AB75-CB6E-84E3-485837B4C3C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26CD84-D8C9-0C58-ED0C-A861C3E61B79}"/>
              </a:ext>
            </a:extLst>
          </p:cNvPr>
          <p:cNvSpPr>
            <a:spLocks noGrp="1"/>
          </p:cNvSpPr>
          <p:nvPr>
            <p:ph idx="1"/>
          </p:nvPr>
        </p:nvSpPr>
        <p:spPr>
          <a:xfrm>
            <a:off x="157655" y="599090"/>
            <a:ext cx="11871435" cy="6006663"/>
          </a:xfrm>
        </p:spPr>
        <p:txBody>
          <a:bodyPr>
            <a:normAutofit fontScale="92500" lnSpcReduction="20000"/>
          </a:bodyPr>
          <a:lstStyle/>
          <a:p>
            <a:pPr marL="0" indent="0">
              <a:buNone/>
            </a:pPr>
            <a:r>
              <a:rPr lang="en-IN" b="1" dirty="0">
                <a:highlight>
                  <a:srgbClr val="FFFF00"/>
                </a:highlight>
              </a:rPr>
              <a:t>C. Router </a:t>
            </a:r>
          </a:p>
          <a:p>
            <a:r>
              <a:rPr lang="en-IN" b="1" dirty="0"/>
              <a:t>Operating Layer:</a:t>
            </a:r>
            <a:r>
              <a:rPr lang="en-IN" dirty="0"/>
              <a:t> Layer 3 (Network Layer).</a:t>
            </a:r>
          </a:p>
          <a:p>
            <a:r>
              <a:rPr lang="en-IN" b="1" dirty="0"/>
              <a:t>Core Functionality:</a:t>
            </a:r>
            <a:r>
              <a:rPr lang="en-IN" dirty="0"/>
              <a:t> It acts as an inter-networking gateway responsible for connecting entirely </a:t>
            </a:r>
            <a:r>
              <a:rPr lang="en-IN" b="1" dirty="0"/>
              <a:t>different networks together</a:t>
            </a:r>
            <a:r>
              <a:rPr lang="en-IN" dirty="0"/>
              <a:t> (such as routing traffic between a private home network and the public global Internet).</a:t>
            </a:r>
          </a:p>
          <a:p>
            <a:r>
              <a:rPr lang="en-IN" b="1" dirty="0"/>
              <a:t>The Routing Table:</a:t>
            </a:r>
            <a:r>
              <a:rPr lang="en-IN" dirty="0"/>
              <a:t> Routers maintain a software </a:t>
            </a:r>
            <a:r>
              <a:rPr lang="en-IN" b="1" dirty="0"/>
              <a:t>Routing Table</a:t>
            </a:r>
            <a:r>
              <a:rPr lang="en-IN" dirty="0"/>
              <a:t> containing destination network paths. It executes routing algorithms to compute the mathematically shortest, most optimal path across the internet.</a:t>
            </a:r>
          </a:p>
          <a:p>
            <a:r>
              <a:rPr lang="en-IN" b="1" dirty="0"/>
              <a:t>Domain Classifications:</a:t>
            </a:r>
            <a:r>
              <a:rPr lang="en-IN" dirty="0"/>
              <a:t> </a:t>
            </a:r>
            <a:r>
              <a:rPr lang="en-IN" b="1" dirty="0"/>
              <a:t>Every single port on a router forms a separate Collision Domain AND a separate Broadcast Domain</a:t>
            </a:r>
            <a:r>
              <a:rPr lang="en-IN" dirty="0"/>
              <a:t>. Routers act as strict logical barriers that block local broadcast packets from passing through to other global networks.</a:t>
            </a:r>
          </a:p>
          <a:p>
            <a:r>
              <a:rPr lang="en-IN" b="1" dirty="0"/>
              <a:t>Logical Working Mechanism:</a:t>
            </a:r>
            <a:endParaRPr lang="en-IN" dirty="0"/>
          </a:p>
          <a:p>
            <a:pPr lvl="1"/>
            <a:r>
              <a:rPr lang="en-IN" dirty="0"/>
              <a:t>A data packet lands on the router's interface port.</a:t>
            </a:r>
          </a:p>
          <a:p>
            <a:pPr lvl="1"/>
            <a:r>
              <a:rPr lang="en-IN" dirty="0"/>
              <a:t>The router's processor parses the </a:t>
            </a:r>
            <a:r>
              <a:rPr lang="en-IN" b="1" dirty="0"/>
              <a:t>Destination IP Address</a:t>
            </a:r>
            <a:r>
              <a:rPr lang="en-IN" dirty="0"/>
              <a:t> from the packet header.</a:t>
            </a:r>
          </a:p>
          <a:p>
            <a:pPr lvl="1"/>
            <a:r>
              <a:rPr lang="en-IN" dirty="0"/>
              <a:t>It performs a lookup against its </a:t>
            </a:r>
            <a:r>
              <a:rPr lang="en-IN" b="1" dirty="0"/>
              <a:t>Routing Table</a:t>
            </a:r>
            <a:r>
              <a:rPr lang="en-IN" dirty="0"/>
              <a:t> to find the next-hop destination network path.</a:t>
            </a:r>
          </a:p>
          <a:p>
            <a:pPr lvl="1"/>
            <a:r>
              <a:rPr lang="en-IN" dirty="0"/>
              <a:t>The router updates the packet header tracking fields and forwards it out of the assigned physical interface toward the target network.</a:t>
            </a:r>
          </a:p>
          <a:p>
            <a:pPr marL="0" indent="0">
              <a:buNone/>
            </a:pPr>
            <a:endParaRPr lang="en-IN" dirty="0"/>
          </a:p>
        </p:txBody>
      </p:sp>
    </p:spTree>
    <p:extLst>
      <p:ext uri="{BB962C8B-B14F-4D97-AF65-F5344CB8AC3E}">
        <p14:creationId xmlns:p14="http://schemas.microsoft.com/office/powerpoint/2010/main" val="18986488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CBC13-F606-3F0E-C093-FFDF960B03A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3E2D1DF-A890-DC82-B543-5637D959046C}"/>
              </a:ext>
            </a:extLst>
          </p:cNvPr>
          <p:cNvGraphicFramePr>
            <a:graphicFrameLocks noGrp="1"/>
          </p:cNvGraphicFramePr>
          <p:nvPr>
            <p:extLst>
              <p:ext uri="{D42A27DB-BD31-4B8C-83A1-F6EECF244321}">
                <p14:modId xmlns:p14="http://schemas.microsoft.com/office/powerpoint/2010/main" val="1306607020"/>
              </p:ext>
            </p:extLst>
          </p:nvPr>
        </p:nvGraphicFramePr>
        <p:xfrm>
          <a:off x="725214" y="1129569"/>
          <a:ext cx="9727324" cy="5059680"/>
        </p:xfrm>
        <a:graphic>
          <a:graphicData uri="http://schemas.openxmlformats.org/drawingml/2006/table">
            <a:tbl>
              <a:tblPr firstRow="1" bandRow="1">
                <a:tableStyleId>{5C22544A-7EE6-4342-B048-85BDC9FD1C3A}</a:tableStyleId>
              </a:tblPr>
              <a:tblGrid>
                <a:gridCol w="2431831">
                  <a:extLst>
                    <a:ext uri="{9D8B030D-6E8A-4147-A177-3AD203B41FA5}">
                      <a16:colId xmlns:a16="http://schemas.microsoft.com/office/drawing/2014/main" val="3536614919"/>
                    </a:ext>
                  </a:extLst>
                </a:gridCol>
                <a:gridCol w="2431831">
                  <a:extLst>
                    <a:ext uri="{9D8B030D-6E8A-4147-A177-3AD203B41FA5}">
                      <a16:colId xmlns:a16="http://schemas.microsoft.com/office/drawing/2014/main" val="2923440415"/>
                    </a:ext>
                  </a:extLst>
                </a:gridCol>
                <a:gridCol w="2431831">
                  <a:extLst>
                    <a:ext uri="{9D8B030D-6E8A-4147-A177-3AD203B41FA5}">
                      <a16:colId xmlns:a16="http://schemas.microsoft.com/office/drawing/2014/main" val="1149510394"/>
                    </a:ext>
                  </a:extLst>
                </a:gridCol>
                <a:gridCol w="2431831">
                  <a:extLst>
                    <a:ext uri="{9D8B030D-6E8A-4147-A177-3AD203B41FA5}">
                      <a16:colId xmlns:a16="http://schemas.microsoft.com/office/drawing/2014/main" val="1607117798"/>
                    </a:ext>
                  </a:extLst>
                </a:gridCol>
              </a:tblGrid>
              <a:tr h="370840">
                <a:tc>
                  <a:txBody>
                    <a:bodyPr/>
                    <a:lstStyle/>
                    <a:p>
                      <a:pPr>
                        <a:buNone/>
                      </a:pPr>
                      <a:r>
                        <a:rPr lang="en-IN" b="1" dirty="0">
                          <a:effectLst/>
                          <a:latin typeface="Google Sans Text"/>
                        </a:rPr>
                        <a:t>Evaluation Metric</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Hub</a:t>
                      </a:r>
                      <a:endParaRPr lang="en-IN">
                        <a:effectLst/>
                        <a:latin typeface="Google Sans Text"/>
                      </a:endParaRPr>
                    </a:p>
                  </a:txBody>
                  <a:tcPr marL="114300" marR="114300" marT="76200" marB="76200" anchor="ctr"/>
                </a:tc>
                <a:tc>
                  <a:txBody>
                    <a:bodyPr/>
                    <a:lstStyle/>
                    <a:p>
                      <a:pPr>
                        <a:buNone/>
                      </a:pPr>
                      <a:r>
                        <a:rPr lang="en-IN" b="1">
                          <a:effectLst/>
                          <a:latin typeface="Google Sans Text"/>
                        </a:rPr>
                        <a:t>Switch</a:t>
                      </a:r>
                      <a:endParaRPr lang="en-IN">
                        <a:effectLst/>
                        <a:latin typeface="Google Sans Text"/>
                      </a:endParaRPr>
                    </a:p>
                  </a:txBody>
                  <a:tcPr marL="114300" marR="114300" marT="76200" marB="76200" anchor="ctr"/>
                </a:tc>
                <a:tc>
                  <a:txBody>
                    <a:bodyPr/>
                    <a:lstStyle/>
                    <a:p>
                      <a:pPr>
                        <a:buNone/>
                      </a:pPr>
                      <a:r>
                        <a:rPr lang="en-IN" b="1">
                          <a:effectLst/>
                          <a:latin typeface="Google Sans Text"/>
                        </a:rPr>
                        <a:t>Router</a:t>
                      </a:r>
                      <a:endParaRPr lang="en-IN">
                        <a:effectLst/>
                        <a:latin typeface="Google Sans Text"/>
                      </a:endParaRPr>
                    </a:p>
                  </a:txBody>
                  <a:tcPr marL="114300" marR="114300" marT="76200" marB="76200" anchor="ctr"/>
                </a:tc>
                <a:extLst>
                  <a:ext uri="{0D108BD9-81ED-4DB2-BD59-A6C34878D82A}">
                    <a16:rowId xmlns:a16="http://schemas.microsoft.com/office/drawing/2014/main" val="3100544613"/>
                  </a:ext>
                </a:extLst>
              </a:tr>
              <a:tr h="370840">
                <a:tc>
                  <a:txBody>
                    <a:bodyPr/>
                    <a:lstStyle/>
                    <a:p>
                      <a:pPr>
                        <a:buNone/>
                      </a:pPr>
                      <a:r>
                        <a:rPr lang="en-IN" b="1">
                          <a:effectLst/>
                          <a:latin typeface="Google Sans Text"/>
                        </a:rPr>
                        <a:t>OSI Layer</a:t>
                      </a:r>
                      <a:endParaRPr lang="en-IN">
                        <a:effectLst/>
                        <a:latin typeface="Google Sans Text"/>
                      </a:endParaRPr>
                    </a:p>
                  </a:txBody>
                  <a:tcPr marL="114300" marR="114300" marT="76200" marB="76200" anchor="ctr"/>
                </a:tc>
                <a:tc>
                  <a:txBody>
                    <a:bodyPr/>
                    <a:lstStyle/>
                    <a:p>
                      <a:pPr>
                        <a:buNone/>
                      </a:pPr>
                      <a:r>
                        <a:rPr lang="en-IN">
                          <a:effectLst/>
                          <a:latin typeface="Google Sans Text"/>
                        </a:rPr>
                        <a:t>Layer 1</a:t>
                      </a:r>
                    </a:p>
                  </a:txBody>
                  <a:tcPr marL="114300" marR="114300" marT="76200" marB="76200" anchor="ctr"/>
                </a:tc>
                <a:tc>
                  <a:txBody>
                    <a:bodyPr/>
                    <a:lstStyle/>
                    <a:p>
                      <a:pPr>
                        <a:buNone/>
                      </a:pPr>
                      <a:r>
                        <a:rPr lang="en-IN">
                          <a:effectLst/>
                          <a:latin typeface="Google Sans Text"/>
                        </a:rPr>
                        <a:t>Layer 2</a:t>
                      </a:r>
                    </a:p>
                  </a:txBody>
                  <a:tcPr marL="114300" marR="114300" marT="76200" marB="76200" anchor="ctr"/>
                </a:tc>
                <a:tc>
                  <a:txBody>
                    <a:bodyPr/>
                    <a:lstStyle/>
                    <a:p>
                      <a:pPr>
                        <a:buNone/>
                      </a:pPr>
                      <a:r>
                        <a:rPr lang="en-IN">
                          <a:effectLst/>
                          <a:latin typeface="Google Sans Text"/>
                        </a:rPr>
                        <a:t>Layer 3</a:t>
                      </a:r>
                    </a:p>
                  </a:txBody>
                  <a:tcPr marL="114300" marR="114300" marT="76200" marB="76200" anchor="ctr"/>
                </a:tc>
                <a:extLst>
                  <a:ext uri="{0D108BD9-81ED-4DB2-BD59-A6C34878D82A}">
                    <a16:rowId xmlns:a16="http://schemas.microsoft.com/office/drawing/2014/main" val="91039261"/>
                  </a:ext>
                </a:extLst>
              </a:tr>
              <a:tr h="370840">
                <a:tc>
                  <a:txBody>
                    <a:bodyPr/>
                    <a:lstStyle/>
                    <a:p>
                      <a:pPr>
                        <a:buNone/>
                      </a:pPr>
                      <a:r>
                        <a:rPr lang="en-IN" b="1">
                          <a:effectLst/>
                          <a:latin typeface="Google Sans Text"/>
                        </a:rPr>
                        <a:t>Data Unit Type</a:t>
                      </a:r>
                      <a:endParaRPr lang="en-IN">
                        <a:effectLst/>
                        <a:latin typeface="Google Sans Text"/>
                      </a:endParaRPr>
                    </a:p>
                  </a:txBody>
                  <a:tcPr marL="114300" marR="114300" marT="76200" marB="76200" anchor="ctr"/>
                </a:tc>
                <a:tc>
                  <a:txBody>
                    <a:bodyPr/>
                    <a:lstStyle/>
                    <a:p>
                      <a:pPr>
                        <a:buNone/>
                      </a:pPr>
                      <a:r>
                        <a:rPr lang="en-IN">
                          <a:effectLst/>
                          <a:latin typeface="Google Sans Text"/>
                        </a:rPr>
                        <a:t>Data Packets (Bits)</a:t>
                      </a:r>
                    </a:p>
                  </a:txBody>
                  <a:tcPr marL="114300" marR="114300" marT="76200" marB="76200" anchor="ctr"/>
                </a:tc>
                <a:tc>
                  <a:txBody>
                    <a:bodyPr/>
                    <a:lstStyle/>
                    <a:p>
                      <a:pPr>
                        <a:buNone/>
                      </a:pPr>
                      <a:r>
                        <a:rPr lang="en-IN">
                          <a:effectLst/>
                          <a:latin typeface="Google Sans Text"/>
                        </a:rPr>
                        <a:t>Data Packets (Frames)</a:t>
                      </a:r>
                    </a:p>
                  </a:txBody>
                  <a:tcPr marL="114300" marR="114300" marT="76200" marB="76200" anchor="ctr"/>
                </a:tc>
                <a:tc>
                  <a:txBody>
                    <a:bodyPr/>
                    <a:lstStyle/>
                    <a:p>
                      <a:pPr>
                        <a:buNone/>
                      </a:pPr>
                      <a:r>
                        <a:rPr lang="en-IN">
                          <a:effectLst/>
                          <a:latin typeface="Google Sans Text"/>
                        </a:rPr>
                        <a:t>Data Packets (Datagrams)</a:t>
                      </a:r>
                    </a:p>
                  </a:txBody>
                  <a:tcPr marL="114300" marR="114300" marT="76200" marB="76200" anchor="ctr"/>
                </a:tc>
                <a:extLst>
                  <a:ext uri="{0D108BD9-81ED-4DB2-BD59-A6C34878D82A}">
                    <a16:rowId xmlns:a16="http://schemas.microsoft.com/office/drawing/2014/main" val="3630225743"/>
                  </a:ext>
                </a:extLst>
              </a:tr>
              <a:tr h="370840">
                <a:tc>
                  <a:txBody>
                    <a:bodyPr/>
                    <a:lstStyle/>
                    <a:p>
                      <a:pPr>
                        <a:buNone/>
                      </a:pPr>
                      <a:r>
                        <a:rPr lang="en-IN" b="1">
                          <a:effectLst/>
                          <a:latin typeface="Google Sans Text"/>
                        </a:rPr>
                        <a:t>Addressing Read</a:t>
                      </a:r>
                      <a:endParaRPr lang="en-IN">
                        <a:effectLst/>
                        <a:latin typeface="Google Sans Text"/>
                      </a:endParaRPr>
                    </a:p>
                  </a:txBody>
                  <a:tcPr marL="114300" marR="114300" marT="76200" marB="76200" anchor="ctr"/>
                </a:tc>
                <a:tc>
                  <a:txBody>
                    <a:bodyPr/>
                    <a:lstStyle/>
                    <a:p>
                      <a:pPr>
                        <a:buNone/>
                      </a:pPr>
                      <a:r>
                        <a:rPr lang="en-IN">
                          <a:effectLst/>
                          <a:latin typeface="Google Sans Text"/>
                        </a:rPr>
                        <a:t>None (Blind)</a:t>
                      </a:r>
                    </a:p>
                  </a:txBody>
                  <a:tcPr marL="114300" marR="114300" marT="76200" marB="76200" anchor="ctr"/>
                </a:tc>
                <a:tc>
                  <a:txBody>
                    <a:bodyPr/>
                    <a:lstStyle/>
                    <a:p>
                      <a:pPr>
                        <a:buNone/>
                      </a:pPr>
                      <a:r>
                        <a:rPr lang="en-IN">
                          <a:effectLst/>
                          <a:latin typeface="Google Sans Text"/>
                        </a:rPr>
                        <a:t>MAC Addresses (Physical)</a:t>
                      </a:r>
                    </a:p>
                  </a:txBody>
                  <a:tcPr marL="114300" marR="114300" marT="76200" marB="76200" anchor="ctr"/>
                </a:tc>
                <a:tc>
                  <a:txBody>
                    <a:bodyPr/>
                    <a:lstStyle/>
                    <a:p>
                      <a:pPr>
                        <a:buNone/>
                      </a:pPr>
                      <a:r>
                        <a:rPr lang="en-IN">
                          <a:effectLst/>
                          <a:latin typeface="Google Sans Text"/>
                        </a:rPr>
                        <a:t>IP Addresses (Logical)</a:t>
                      </a:r>
                    </a:p>
                  </a:txBody>
                  <a:tcPr marL="114300" marR="114300" marT="76200" marB="76200" anchor="ctr"/>
                </a:tc>
                <a:extLst>
                  <a:ext uri="{0D108BD9-81ED-4DB2-BD59-A6C34878D82A}">
                    <a16:rowId xmlns:a16="http://schemas.microsoft.com/office/drawing/2014/main" val="952558572"/>
                  </a:ext>
                </a:extLst>
              </a:tr>
              <a:tr h="370840">
                <a:tc>
                  <a:txBody>
                    <a:bodyPr/>
                    <a:lstStyle/>
                    <a:p>
                      <a:pPr>
                        <a:buNone/>
                      </a:pPr>
                      <a:r>
                        <a:rPr lang="en-IN" b="1">
                          <a:effectLst/>
                          <a:latin typeface="Google Sans Text"/>
                        </a:rPr>
                        <a:t>Collision Domains</a:t>
                      </a:r>
                      <a:endParaRPr lang="en-IN">
                        <a:effectLst/>
                        <a:latin typeface="Google Sans Text"/>
                      </a:endParaRPr>
                    </a:p>
                  </a:txBody>
                  <a:tcPr marL="114300" marR="114300" marT="76200" marB="76200" anchor="ctr"/>
                </a:tc>
                <a:tc>
                  <a:txBody>
                    <a:bodyPr/>
                    <a:lstStyle/>
                    <a:p>
                      <a:pPr>
                        <a:buNone/>
                      </a:pPr>
                      <a:r>
                        <a:rPr lang="en-IN">
                          <a:effectLst/>
                          <a:latin typeface="Google Sans Text"/>
                        </a:rPr>
                        <a:t>Single domain across all ports</a:t>
                      </a:r>
                    </a:p>
                  </a:txBody>
                  <a:tcPr marL="114300" marR="114300" marT="76200" marB="76200" anchor="ctr"/>
                </a:tc>
                <a:tc>
                  <a:txBody>
                    <a:bodyPr/>
                    <a:lstStyle/>
                    <a:p>
                      <a:pPr>
                        <a:buNone/>
                      </a:pPr>
                      <a:r>
                        <a:rPr lang="en-IN">
                          <a:effectLst/>
                          <a:latin typeface="Google Sans Text"/>
                        </a:rPr>
                        <a:t>Every port is its own domain</a:t>
                      </a:r>
                    </a:p>
                  </a:txBody>
                  <a:tcPr marL="114300" marR="114300" marT="76200" marB="76200" anchor="ctr"/>
                </a:tc>
                <a:tc>
                  <a:txBody>
                    <a:bodyPr/>
                    <a:lstStyle/>
                    <a:p>
                      <a:pPr>
                        <a:buNone/>
                      </a:pPr>
                      <a:r>
                        <a:rPr lang="en-IN">
                          <a:effectLst/>
                          <a:latin typeface="Google Sans Text"/>
                        </a:rPr>
                        <a:t>Every port is its own domain</a:t>
                      </a:r>
                    </a:p>
                  </a:txBody>
                  <a:tcPr marL="114300" marR="114300" marT="76200" marB="76200" anchor="ctr"/>
                </a:tc>
                <a:extLst>
                  <a:ext uri="{0D108BD9-81ED-4DB2-BD59-A6C34878D82A}">
                    <a16:rowId xmlns:a16="http://schemas.microsoft.com/office/drawing/2014/main" val="563165667"/>
                  </a:ext>
                </a:extLst>
              </a:tr>
              <a:tr h="370840">
                <a:tc>
                  <a:txBody>
                    <a:bodyPr/>
                    <a:lstStyle/>
                    <a:p>
                      <a:pPr>
                        <a:buNone/>
                      </a:pPr>
                      <a:r>
                        <a:rPr lang="en-IN" b="1">
                          <a:effectLst/>
                          <a:latin typeface="Google Sans Text"/>
                        </a:rPr>
                        <a:t>Broadcast Domains</a:t>
                      </a:r>
                      <a:endParaRPr lang="en-IN">
                        <a:effectLst/>
                        <a:latin typeface="Google Sans Text"/>
                      </a:endParaRPr>
                    </a:p>
                  </a:txBody>
                  <a:tcPr marL="114300" marR="114300" marT="76200" marB="76200" anchor="ctr"/>
                </a:tc>
                <a:tc>
                  <a:txBody>
                    <a:bodyPr/>
                    <a:lstStyle/>
                    <a:p>
                      <a:pPr>
                        <a:buNone/>
                      </a:pPr>
                      <a:r>
                        <a:rPr lang="en-IN">
                          <a:effectLst/>
                          <a:latin typeface="Google Sans Text"/>
                        </a:rPr>
                        <a:t>Single domain across all ports</a:t>
                      </a:r>
                    </a:p>
                  </a:txBody>
                  <a:tcPr marL="114300" marR="114300" marT="76200" marB="76200" anchor="ctr"/>
                </a:tc>
                <a:tc>
                  <a:txBody>
                    <a:bodyPr/>
                    <a:lstStyle/>
                    <a:p>
                      <a:pPr>
                        <a:buNone/>
                      </a:pPr>
                      <a:r>
                        <a:rPr lang="en-IN">
                          <a:effectLst/>
                          <a:latin typeface="Google Sans Text"/>
                        </a:rPr>
                        <a:t>Single domain across all ports</a:t>
                      </a:r>
                    </a:p>
                  </a:txBody>
                  <a:tcPr marL="114300" marR="114300" marT="76200" marB="76200" anchor="ctr"/>
                </a:tc>
                <a:tc>
                  <a:txBody>
                    <a:bodyPr/>
                    <a:lstStyle/>
                    <a:p>
                      <a:pPr>
                        <a:buNone/>
                      </a:pPr>
                      <a:r>
                        <a:rPr lang="en-IN">
                          <a:effectLst/>
                          <a:latin typeface="Google Sans Text"/>
                        </a:rPr>
                        <a:t>Every port isolates broadcasts</a:t>
                      </a:r>
                    </a:p>
                  </a:txBody>
                  <a:tcPr marL="114300" marR="114300" marT="76200" marB="76200" anchor="ctr"/>
                </a:tc>
                <a:extLst>
                  <a:ext uri="{0D108BD9-81ED-4DB2-BD59-A6C34878D82A}">
                    <a16:rowId xmlns:a16="http://schemas.microsoft.com/office/drawing/2014/main" val="2408131128"/>
                  </a:ext>
                </a:extLst>
              </a:tr>
              <a:tr h="370840">
                <a:tc>
                  <a:txBody>
                    <a:bodyPr/>
                    <a:lstStyle/>
                    <a:p>
                      <a:pPr>
                        <a:buNone/>
                      </a:pPr>
                      <a:r>
                        <a:rPr lang="en-IN" b="1">
                          <a:effectLst/>
                          <a:latin typeface="Google Sans Text"/>
                        </a:rPr>
                        <a:t>Internal Data Table</a:t>
                      </a:r>
                      <a:endParaRPr lang="en-IN">
                        <a:effectLst/>
                        <a:latin typeface="Google Sans Text"/>
                      </a:endParaRPr>
                    </a:p>
                  </a:txBody>
                  <a:tcPr marL="114300" marR="114300" marT="76200" marB="76200" anchor="ctr"/>
                </a:tc>
                <a:tc>
                  <a:txBody>
                    <a:bodyPr/>
                    <a:lstStyle/>
                    <a:p>
                      <a:pPr>
                        <a:buNone/>
                      </a:pPr>
                      <a:r>
                        <a:rPr lang="en-IN">
                          <a:effectLst/>
                          <a:latin typeface="Google Sans Text"/>
                        </a:rPr>
                        <a:t>None</a:t>
                      </a:r>
                    </a:p>
                  </a:txBody>
                  <a:tcPr marL="114300" marR="114300" marT="76200" marB="76200" anchor="ctr"/>
                </a:tc>
                <a:tc>
                  <a:txBody>
                    <a:bodyPr/>
                    <a:lstStyle/>
                    <a:p>
                      <a:pPr>
                        <a:buNone/>
                      </a:pPr>
                      <a:r>
                        <a:rPr lang="en-IN">
                          <a:effectLst/>
                          <a:latin typeface="Google Sans Text"/>
                        </a:rPr>
                        <a:t>MAC / CAM Address Table</a:t>
                      </a:r>
                    </a:p>
                  </a:txBody>
                  <a:tcPr marL="114300" marR="114300" marT="76200" marB="76200" anchor="ctr"/>
                </a:tc>
                <a:tc>
                  <a:txBody>
                    <a:bodyPr/>
                    <a:lstStyle/>
                    <a:p>
                      <a:pPr>
                        <a:buNone/>
                      </a:pPr>
                      <a:r>
                        <a:rPr lang="en-IN">
                          <a:effectLst/>
                          <a:latin typeface="Google Sans Text"/>
                        </a:rPr>
                        <a:t>Routing Table</a:t>
                      </a:r>
                    </a:p>
                  </a:txBody>
                  <a:tcPr marL="114300" marR="114300" marT="76200" marB="76200" anchor="ctr"/>
                </a:tc>
                <a:extLst>
                  <a:ext uri="{0D108BD9-81ED-4DB2-BD59-A6C34878D82A}">
                    <a16:rowId xmlns:a16="http://schemas.microsoft.com/office/drawing/2014/main" val="3500522461"/>
                  </a:ext>
                </a:extLst>
              </a:tr>
              <a:tr h="370840">
                <a:tc>
                  <a:txBody>
                    <a:bodyPr/>
                    <a:lstStyle/>
                    <a:p>
                      <a:pPr>
                        <a:buNone/>
                      </a:pPr>
                      <a:r>
                        <a:rPr lang="en-IN" b="1">
                          <a:effectLst/>
                          <a:latin typeface="Google Sans Text"/>
                        </a:rPr>
                        <a:t>Traffic Direction</a:t>
                      </a:r>
                      <a:endParaRPr lang="en-IN">
                        <a:effectLst/>
                        <a:latin typeface="Google Sans Text"/>
                      </a:endParaRPr>
                    </a:p>
                  </a:txBody>
                  <a:tcPr marL="114300" marR="114300" marT="76200" marB="76200" anchor="ctr"/>
                </a:tc>
                <a:tc>
                  <a:txBody>
                    <a:bodyPr/>
                    <a:lstStyle/>
                    <a:p>
                      <a:pPr>
                        <a:buNone/>
                      </a:pPr>
                      <a:r>
                        <a:rPr lang="en-IN">
                          <a:effectLst/>
                          <a:latin typeface="Google Sans Text"/>
                        </a:rPr>
                        <a:t>Blind Broadcast</a:t>
                      </a:r>
                    </a:p>
                  </a:txBody>
                  <a:tcPr marL="114300" marR="114300" marT="76200" marB="76200" anchor="ctr"/>
                </a:tc>
                <a:tc>
                  <a:txBody>
                    <a:bodyPr/>
                    <a:lstStyle/>
                    <a:p>
                      <a:pPr>
                        <a:buNone/>
                      </a:pPr>
                      <a:r>
                        <a:rPr lang="en-IN">
                          <a:effectLst/>
                          <a:latin typeface="Google Sans Text"/>
                        </a:rPr>
                        <a:t>Intelligent Unicast</a:t>
                      </a:r>
                    </a:p>
                  </a:txBody>
                  <a:tcPr marL="114300" marR="114300" marT="76200" marB="76200" anchor="ctr"/>
                </a:tc>
                <a:tc>
                  <a:txBody>
                    <a:bodyPr/>
                    <a:lstStyle/>
                    <a:p>
                      <a:pPr>
                        <a:buNone/>
                      </a:pPr>
                      <a:r>
                        <a:rPr lang="en-IN" dirty="0">
                          <a:effectLst/>
                          <a:latin typeface="Google Sans Text"/>
                        </a:rPr>
                        <a:t>Algorithmic Path Selection</a:t>
                      </a:r>
                    </a:p>
                  </a:txBody>
                  <a:tcPr marL="114300" marR="114300" marT="76200" marB="76200" anchor="ctr"/>
                </a:tc>
                <a:extLst>
                  <a:ext uri="{0D108BD9-81ED-4DB2-BD59-A6C34878D82A}">
                    <a16:rowId xmlns:a16="http://schemas.microsoft.com/office/drawing/2014/main" val="301846277"/>
                  </a:ext>
                </a:extLst>
              </a:tr>
            </a:tbl>
          </a:graphicData>
        </a:graphic>
      </p:graphicFrame>
    </p:spTree>
    <p:extLst>
      <p:ext uri="{BB962C8B-B14F-4D97-AF65-F5344CB8AC3E}">
        <p14:creationId xmlns:p14="http://schemas.microsoft.com/office/powerpoint/2010/main" val="2639580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780E1-83A7-7342-0095-01C143C889E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BB4F622-AEF2-3DD3-459C-B812D94C8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708963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1C527-CBF2-5D0B-C9B5-27453A545AEF}"/>
            </a:ext>
          </a:extLst>
        </p:cNvPr>
        <p:cNvGrpSpPr/>
        <p:nvPr/>
      </p:nvGrpSpPr>
      <p:grpSpPr>
        <a:xfrm>
          <a:off x="0" y="0"/>
          <a:ext cx="0" cy="0"/>
          <a:chOff x="0" y="0"/>
          <a:chExt cx="0" cy="0"/>
        </a:xfrm>
      </p:grpSpPr>
    </p:spTree>
    <p:extLst>
      <p:ext uri="{BB962C8B-B14F-4D97-AF65-F5344CB8AC3E}">
        <p14:creationId xmlns:p14="http://schemas.microsoft.com/office/powerpoint/2010/main" val="4177520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3317</TotalTime>
  <Words>5154</Words>
  <Application>Microsoft Office PowerPoint</Application>
  <PresentationFormat>Widescreen</PresentationFormat>
  <Paragraphs>397</Paragraphs>
  <Slides>52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Light</vt:lpstr>
      <vt:lpstr>Google Sans Text</vt:lpstr>
      <vt:lpstr>Office Theme</vt:lpstr>
      <vt:lpstr>Computer Networks</vt:lpstr>
      <vt:lpstr>Contents</vt:lpstr>
      <vt:lpstr>Need of Computer Networks?</vt:lpstr>
      <vt:lpstr>PowerPoint Presentation</vt:lpstr>
      <vt:lpstr>PowerPoint Presentation</vt:lpstr>
      <vt:lpstr>PowerPoint Presentation</vt:lpstr>
      <vt:lpstr>Computer Network</vt:lpstr>
      <vt:lpstr>Core Structural Components</vt:lpstr>
      <vt:lpstr>Components of a Computer Network</vt:lpstr>
      <vt:lpstr>Characteristics of Good Network</vt:lpstr>
      <vt:lpstr>Network Types: PAN, LAN, CAN, MAN, &amp; WAN</vt:lpstr>
      <vt:lpstr>Network Types: PAN, LAN, CAN, MAN, &amp; WAN</vt:lpstr>
      <vt:lpstr>Network Types: PAN, LAN, CAN, MAN, &amp; WAN</vt:lpstr>
      <vt:lpstr>Network Types: PAN, LAN, CAN, MAN, &amp; WAN</vt:lpstr>
      <vt:lpstr>PowerPoint Presentation</vt:lpstr>
      <vt:lpstr>PowerPoint Presentation</vt:lpstr>
      <vt:lpstr>Data Transmission</vt:lpstr>
      <vt:lpstr>Transmission Modes – Based On Direction</vt:lpstr>
      <vt:lpstr>Transmission Modes</vt:lpstr>
      <vt:lpstr>Transmission Modes</vt:lpstr>
      <vt:lpstr>Transmission Modes</vt:lpstr>
      <vt:lpstr>Transmission Modes</vt:lpstr>
      <vt:lpstr>Transmission Modes – Based on Transmission Method</vt:lpstr>
      <vt:lpstr>Transmission Modes – Based on Data Synchronization</vt:lpstr>
      <vt:lpstr>PowerPoint Presentation</vt:lpstr>
      <vt:lpstr>Network Architecture: Client-Server</vt:lpstr>
      <vt:lpstr>Network Architecture: Client-Server</vt:lpstr>
      <vt:lpstr>Network Architecture: Peer-to-Peer(P2P)</vt:lpstr>
      <vt:lpstr>PowerPoint Presentation</vt:lpstr>
      <vt:lpstr>PowerPoint Presentation</vt:lpstr>
      <vt:lpstr>Concept of Topologies &amp; its Types</vt:lpstr>
      <vt:lpstr>PowerPoint Presentation</vt:lpstr>
      <vt:lpstr>Mesh Topology</vt:lpstr>
      <vt:lpstr>PowerPoint Presentation</vt:lpstr>
      <vt:lpstr>Mesh Topology</vt:lpstr>
      <vt:lpstr>Star Topology</vt:lpstr>
      <vt:lpstr>PowerPoint Presentation</vt:lpstr>
      <vt:lpstr>Star Topology</vt:lpstr>
      <vt:lpstr>Bus Topology</vt:lpstr>
      <vt:lpstr>PowerPoint Presentation</vt:lpstr>
      <vt:lpstr>Bus Topology</vt:lpstr>
      <vt:lpstr>Ring Topology</vt:lpstr>
      <vt:lpstr>PowerPoint Presentation</vt:lpstr>
      <vt:lpstr>Ring Topology</vt:lpstr>
      <vt:lpstr>Hybrid Topology</vt:lpstr>
      <vt:lpstr>PowerPoint Presentation</vt:lpstr>
      <vt:lpstr>Networking Devices Introduction: HUB</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51</cp:revision>
  <dcterms:created xsi:type="dcterms:W3CDTF">2026-06-17T09:11:57Z</dcterms:created>
  <dcterms:modified xsi:type="dcterms:W3CDTF">2026-07-09T05:18:28Z</dcterms:modified>
</cp:coreProperties>
</file>