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93" r:id="rId6"/>
    <p:sldId id="260" r:id="rId7"/>
    <p:sldId id="294" r:id="rId8"/>
    <p:sldId id="295" r:id="rId9"/>
    <p:sldId id="296" r:id="rId10"/>
    <p:sldId id="297" r:id="rId11"/>
    <p:sldId id="298" r:id="rId12"/>
    <p:sldId id="311" r:id="rId13"/>
    <p:sldId id="299" r:id="rId14"/>
    <p:sldId id="312" r:id="rId15"/>
    <p:sldId id="300" r:id="rId16"/>
    <p:sldId id="301" r:id="rId17"/>
    <p:sldId id="313" r:id="rId18"/>
    <p:sldId id="303" r:id="rId19"/>
    <p:sldId id="333" r:id="rId20"/>
    <p:sldId id="334" r:id="rId21"/>
    <p:sldId id="335" r:id="rId22"/>
    <p:sldId id="336" r:id="rId23"/>
    <p:sldId id="304" r:id="rId24"/>
    <p:sldId id="305" r:id="rId25"/>
    <p:sldId id="337" r:id="rId26"/>
    <p:sldId id="306" r:id="rId27"/>
    <p:sldId id="307" r:id="rId28"/>
    <p:sldId id="308" r:id="rId29"/>
    <p:sldId id="309" r:id="rId30"/>
    <p:sldId id="338" r:id="rId31"/>
    <p:sldId id="343" r:id="rId32"/>
    <p:sldId id="344" r:id="rId33"/>
    <p:sldId id="345" r:id="rId34"/>
    <p:sldId id="346" r:id="rId35"/>
    <p:sldId id="339" r:id="rId36"/>
    <p:sldId id="347" r:id="rId37"/>
    <p:sldId id="348" r:id="rId38"/>
    <p:sldId id="349" r:id="rId39"/>
    <p:sldId id="350" r:id="rId40"/>
    <p:sldId id="340" r:id="rId41"/>
    <p:sldId id="351" r:id="rId42"/>
    <p:sldId id="352" r:id="rId43"/>
    <p:sldId id="353" r:id="rId44"/>
    <p:sldId id="354" r:id="rId45"/>
    <p:sldId id="341" r:id="rId46"/>
    <p:sldId id="342" r:id="rId47"/>
    <p:sldId id="310" r:id="rId48"/>
    <p:sldId id="314" r:id="rId49"/>
    <p:sldId id="315" r:id="rId50"/>
    <p:sldId id="316" r:id="rId51"/>
    <p:sldId id="355" r:id="rId52"/>
    <p:sldId id="356" r:id="rId53"/>
    <p:sldId id="357" r:id="rId54"/>
    <p:sldId id="317" r:id="rId55"/>
    <p:sldId id="318" r:id="rId56"/>
    <p:sldId id="319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F35B0-2E11-C739-69DB-364B50BC4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7A682-50E1-D718-98BB-0C03CDEB4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5C3F3-5A4E-2CA7-F0D3-1E368F13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371E8-D93E-C2FF-CFBA-894890D4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FCED8-5C15-079E-5683-4F4A6379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3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165B-2DD9-C21D-9E4B-088A3598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2A5AD-2FF5-E1F8-9931-4285120FC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FA393-9C5E-1CAD-F178-46E249C7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ED7A9-F787-B9BD-5A26-DB0D5849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438EA-0CBA-3E52-9115-778AD4389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82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D6E5D-98F1-37C7-FC25-CCB699F9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2DC34-E631-12FA-549C-E52BEBBD9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53A9A-7129-18CF-AAB2-D8395854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E5574-9C57-B457-E05A-77C66C67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17AD6-B667-E2B4-D2E5-710323E5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582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BC63-7456-D1F9-A162-78594A30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C7F6-A474-AC27-613F-B48A7AAD8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829F0-327A-2F26-9F9B-0B312F1A9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87326-1987-B189-28DE-A090D08D8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D356B-9C9E-BDC0-DAEC-E972AE53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B52F5-53DD-D223-CE59-66255741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830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C4C7-14EC-4BB0-E0DC-AB13AD286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C2B95-E867-D870-7C7F-CA0903AB7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5D53E-3BA6-8B31-AFF3-D0EDE9D70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D6DBE8-84D2-5E9A-371C-AB768F4E2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7287E-4DA7-20FD-B7C1-37509F0F7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CBF527-5D51-4795-2713-056103C2E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7B607-5F54-9092-0C4D-CCD41044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3AE7A-0B5F-B4FC-70F0-1E87A92E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86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4A22-D351-DF7C-00FF-B94A6EFD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F6709-02AC-CA33-E808-586F5E85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60254-780D-7B92-0902-421F461C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DF8FF-41B4-3716-C394-EE0159FDD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589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7B3BD-D617-3C35-1AB6-6C6A4E44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060D8F-3B0A-6713-FDD1-2537105CB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9A2E4-0DFD-D51C-6B82-6C14A169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08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0D0AE-FA26-BFCE-5B03-7D92BD27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E4246-2740-AF92-4924-2AC4B2FE1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0E825-8180-0E22-1F76-6C71A0ED9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1EF12-4D15-0E18-B33E-F1E50CB2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60264-ABCF-9739-E5C5-6FC0E4A1A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1ADC3-C221-91B1-DF01-C4839B44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33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A673-9EFF-961A-B81C-4BEB57BE7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5C82A-3DD1-B7D0-C4FB-6E2E9CBCC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84FB1-2EE9-7A86-3114-329876C28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A6D42-E88E-3A27-5384-50319FAD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7F436-1513-6D61-E222-645EFA47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1E9D6-0990-5804-1808-BD85CFEC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20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2D2B-210E-8CCD-C1B7-690B8B07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AE3B0-5D83-7159-2547-F9770F73D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2A936-1387-088C-2B2E-6C9C7D3A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F6D25-0002-D4B1-11BD-6EB85C6C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5D986-C532-24B9-4B76-4466D0DD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5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013FA5-C7CD-0413-1726-170EBEC24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AB966-7617-A5E8-BE31-2072AB807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02B28-064F-861F-B8F9-E8ABDFB9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01644-CEEF-85C2-108C-FDD7804D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0FC37-4F38-9433-D755-3B53E8227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40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2FEC6-FDE4-5248-150B-C0D1D84B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D9D89-6AD7-5F4F-E83D-1D646A846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C4029-7543-0447-F921-F38837163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1D44E-AB28-4CBC-A39C-24E65F43CAF0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3F134-11C7-5AA3-F3BB-52B4D224B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DA509-422C-EE10-B291-6D7B469A5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51036-C248-445B-92C7-3B36FDACE25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7FC92D-6EC7-3DCB-B94C-619543D8C54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0770" y="60385"/>
            <a:ext cx="11904453" cy="50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9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18BC5-2CDF-002D-43CC-10F2FB6378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Networks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0DBBC-FF82-56F1-2B4E-AF7B9BF0BF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CSE-AIT</a:t>
            </a:r>
            <a:br>
              <a:rPr lang="en-US" dirty="0"/>
            </a:br>
            <a:r>
              <a:rPr lang="en-US" dirty="0"/>
              <a:t>Unit-02</a:t>
            </a:r>
            <a:br>
              <a:rPr lang="en-US" dirty="0"/>
            </a:br>
            <a:r>
              <a:rPr lang="en-US" dirty="0"/>
              <a:t>Chapter 2.1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E4571-81D3-3F2E-A57B-5EBD74A8A0B7}"/>
              </a:ext>
            </a:extLst>
          </p:cNvPr>
          <p:cNvSpPr txBox="1"/>
          <p:nvPr/>
        </p:nvSpPr>
        <p:spPr>
          <a:xfrm>
            <a:off x="2385883" y="6092518"/>
            <a:ext cx="7735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ALOK KUMAR – ASSISTANT PROFESSOR &amp; KARGIL TECHINCAL TRAINER (DCPD) </a:t>
            </a:r>
            <a:br>
              <a:rPr lang="en-US" dirty="0"/>
            </a:br>
            <a:r>
              <a:rPr lang="en-US" dirty="0"/>
              <a:t>EMAIL: DCPD.KARGILT1@CUMAIL.IN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4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EA74-A973-F2A5-CD14-1B7EFD8F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163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9EDEE-0AED-5107-CD8E-199C43709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736"/>
            <a:ext cx="10515600" cy="4860227"/>
          </a:xfrm>
        </p:spPr>
        <p:txBody>
          <a:bodyPr/>
          <a:lstStyle/>
          <a:p>
            <a:r>
              <a:rPr lang="en-US" dirty="0"/>
              <a:t>Network Layer Design Issues &amp; IP Addressing both Classful and Classless.</a:t>
            </a:r>
          </a:p>
          <a:p>
            <a:r>
              <a:rPr lang="en-US" dirty="0"/>
              <a:t>Subnetting and Supernetting.</a:t>
            </a:r>
          </a:p>
          <a:p>
            <a:r>
              <a:rPr lang="en-US" dirty="0"/>
              <a:t>Examples for Subnetting.</a:t>
            </a:r>
          </a:p>
          <a:p>
            <a:r>
              <a:rPr lang="en-US" dirty="0"/>
              <a:t>Forwarding of IP Packets.</a:t>
            </a:r>
          </a:p>
          <a:p>
            <a:r>
              <a:rPr lang="en-US" dirty="0"/>
              <a:t>IP Header and IPV4 and IPV6 Addressing.</a:t>
            </a:r>
          </a:p>
          <a:p>
            <a:r>
              <a:rPr lang="en-US" dirty="0"/>
              <a:t>Network Layer Protocols.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24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ADF57-E88A-764A-8151-18A866FE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IN" dirty="0"/>
              <a:t>Where does the Network Layer come 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01885-3AE7-001E-CEAC-FAB8E907F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088136"/>
            <a:ext cx="11365992" cy="5404740"/>
          </a:xfrm>
        </p:spPr>
        <p:txBody>
          <a:bodyPr>
            <a:normAutofit/>
          </a:bodyPr>
          <a:lstStyle/>
          <a:p>
            <a:r>
              <a:rPr lang="en-IN" sz="2000" dirty="0"/>
              <a:t>The </a:t>
            </a:r>
            <a:r>
              <a:rPr lang="en-IN" sz="2000" b="1" dirty="0"/>
              <a:t>Network Layer is Layer 3</a:t>
            </a:r>
            <a:r>
              <a:rPr lang="en-IN" sz="2000" dirty="0"/>
              <a:t> of the OSI model.</a:t>
            </a:r>
          </a:p>
          <a:p>
            <a:r>
              <a:rPr lang="en-IN" sz="2000" dirty="0"/>
              <a:t>Its major responsibility is: </a:t>
            </a:r>
            <a:r>
              <a:rPr lang="en-IN" sz="2000" b="1" dirty="0"/>
              <a:t>To deliver packets from the source device to the destination device across one or more interconnected networks.</a:t>
            </a:r>
          </a:p>
          <a:p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061777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97EA5-5124-5541-00D8-A78AB7CBB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F8DA-DC58-FAC6-E010-2791F830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Layer Desing Issues / Responsibilities.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D2B7AC-932D-6CCF-E897-FE3F4F06E2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048205"/>
              </p:ext>
            </p:extLst>
          </p:nvPr>
        </p:nvGraphicFramePr>
        <p:xfrm>
          <a:off x="411480" y="1188720"/>
          <a:ext cx="1136599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194">
                  <a:extLst>
                    <a:ext uri="{9D8B030D-6E8A-4147-A177-3AD203B41FA5}">
                      <a16:colId xmlns:a16="http://schemas.microsoft.com/office/drawing/2014/main" val="3572368765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476005490"/>
                    </a:ext>
                  </a:extLst>
                </a:gridCol>
                <a:gridCol w="6034398">
                  <a:extLst>
                    <a:ext uri="{9D8B030D-6E8A-4147-A177-3AD203B41FA5}">
                      <a16:colId xmlns:a16="http://schemas.microsoft.com/office/drawing/2014/main" val="2352011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Network Layer Responsibility / Design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One-line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828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Logical Addressing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Provides IP addresses to identify source and destination hosts/networks.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990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Routing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Determines the best path through the network from source to destination.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417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Forwarding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Sends a received packet through the correct outgoing interface toward its destination.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0347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Internetworking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Allows different networks to communicate and work together as one interconnected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66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Packet Switching / Store-and-Forward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Routers receive, temporarily store, examine, and then forward packets.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507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Connectionless / Datagram Service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Allows IP packets to be sent independently without establishing a connection first.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515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59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2693-1330-4C9F-A95B-E6887D2DA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1D09-999A-A9E2-7C15-D16F50D8B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Layer Desing Issues / Responsibilities.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63B1FD-1009-2B11-F94D-67DD181AD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10039"/>
              </p:ext>
            </p:extLst>
          </p:nvPr>
        </p:nvGraphicFramePr>
        <p:xfrm>
          <a:off x="292769" y="2034941"/>
          <a:ext cx="1136599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936">
                  <a:extLst>
                    <a:ext uri="{9D8B030D-6E8A-4147-A177-3AD203B41FA5}">
                      <a16:colId xmlns:a16="http://schemas.microsoft.com/office/drawing/2014/main" val="3427927031"/>
                    </a:ext>
                  </a:extLst>
                </a:gridCol>
                <a:gridCol w="4203032">
                  <a:extLst>
                    <a:ext uri="{9D8B030D-6E8A-4147-A177-3AD203B41FA5}">
                      <a16:colId xmlns:a16="http://schemas.microsoft.com/office/drawing/2014/main" val="2914062389"/>
                    </a:ext>
                  </a:extLst>
                </a:gridCol>
                <a:gridCol w="6044024">
                  <a:extLst>
                    <a:ext uri="{9D8B030D-6E8A-4147-A177-3AD203B41FA5}">
                      <a16:colId xmlns:a16="http://schemas.microsoft.com/office/drawing/2014/main" val="3037791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Connection-Oriented Service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Provides a logical path/connection before packets are transferred, as in virtual-circuit networks.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32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Fragmentation and Reassembly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Handles packets that are larger than the MTU supported by a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845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Congestion Control / Traffic Management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Helps prevent excessive traffic from overwhelming network resources.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66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Quality of Service (QoS)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Helps provide suitable treatment to traffic with different requirements such as delay or bandwidth.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677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36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F13D3-A302-13EC-C1A5-6C0893C1B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5891-B47F-BFA3-4A1D-B6AF51D91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1. Logical Addressing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C096B-4953-2390-CA0C-0EE9B0B46F07}"/>
              </a:ext>
            </a:extLst>
          </p:cNvPr>
          <p:cNvSpPr txBox="1"/>
          <p:nvPr/>
        </p:nvSpPr>
        <p:spPr>
          <a:xfrm>
            <a:off x="411480" y="1200835"/>
            <a:ext cx="87294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Network Layer uses </a:t>
            </a:r>
            <a:r>
              <a:rPr lang="en-IN" b="1" dirty="0"/>
              <a:t>IP addresses</a:t>
            </a:r>
            <a:r>
              <a:rPr lang="en-IN" dirty="0"/>
              <a:t> to identify the source and destination of packets.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C02F3D-0405-CF4A-BFAC-E17A249A09F6}"/>
              </a:ext>
            </a:extLst>
          </p:cNvPr>
          <p:cNvSpPr txBox="1"/>
          <p:nvPr/>
        </p:nvSpPr>
        <p:spPr>
          <a:xfrm>
            <a:off x="411480" y="1794118"/>
            <a:ext cx="1556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BA0B09-3FA0-9EF0-7E05-4D959B3B6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30" y="2387401"/>
            <a:ext cx="4197986" cy="10295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B8C60A-99FF-296C-BA75-EA2BFC6A2B2C}"/>
              </a:ext>
            </a:extLst>
          </p:cNvPr>
          <p:cNvSpPr txBox="1"/>
          <p:nvPr/>
        </p:nvSpPr>
        <p:spPr>
          <a:xfrm>
            <a:off x="493330" y="3640919"/>
            <a:ext cx="436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 PC1 wants to send a packet to PC2.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E2432-3A72-FAE0-BA6C-923E12704AAF}"/>
              </a:ext>
            </a:extLst>
          </p:cNvPr>
          <p:cNvSpPr txBox="1"/>
          <p:nvPr/>
        </p:nvSpPr>
        <p:spPr>
          <a:xfrm>
            <a:off x="493330" y="4234202"/>
            <a:ext cx="4197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packet contains information such as: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A1E7DF9-452B-7E8A-17A8-48543353C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57" y="4827485"/>
            <a:ext cx="2154490" cy="15445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D4BDAE7-7A97-63B4-39FC-50128AFBE33A}"/>
              </a:ext>
            </a:extLst>
          </p:cNvPr>
          <p:cNvSpPr txBox="1"/>
          <p:nvPr/>
        </p:nvSpPr>
        <p:spPr>
          <a:xfrm>
            <a:off x="2871536" y="4894437"/>
            <a:ext cx="25667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routers in between use the </a:t>
            </a:r>
            <a:r>
              <a:rPr lang="en-IN" b="1" dirty="0"/>
              <a:t>destination IP address</a:t>
            </a:r>
            <a:r>
              <a:rPr lang="en-IN" dirty="0"/>
              <a:t> to determine where the packet should go.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3E7004-5EF5-78C2-F2DD-76003A077273}"/>
              </a:ext>
            </a:extLst>
          </p:cNvPr>
          <p:cNvSpPr txBox="1"/>
          <p:nvPr/>
        </p:nvSpPr>
        <p:spPr>
          <a:xfrm>
            <a:off x="8390021" y="1642928"/>
            <a:ext cx="2566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is this required?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6EDFED-CF42-6BBA-73B9-D8B3843CC652}"/>
              </a:ext>
            </a:extLst>
          </p:cNvPr>
          <p:cNvSpPr txBox="1"/>
          <p:nvPr/>
        </p:nvSpPr>
        <p:spPr>
          <a:xfrm>
            <a:off x="5967664" y="201226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network may contain thousands or millions of devices.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 Network Layer needs a structured addressing system that tells routers: "Which network does this destination belong to?"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A95F8D-99D8-9014-E8A1-51EEB1E1C3FD}"/>
              </a:ext>
            </a:extLst>
          </p:cNvPr>
          <p:cNvSpPr txBox="1"/>
          <p:nvPr/>
        </p:nvSpPr>
        <p:spPr>
          <a:xfrm>
            <a:off x="5967664" y="3356968"/>
            <a:ext cx="5566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why IP addresses are divided conceptually into: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85A2120-A33D-2B39-3815-C9FE8A7CE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4055205"/>
            <a:ext cx="3085833" cy="154455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DC02AA3-9FA3-626B-4B13-50AB576EF9D3}"/>
              </a:ext>
            </a:extLst>
          </p:cNvPr>
          <p:cNvSpPr txBox="1"/>
          <p:nvPr/>
        </p:nvSpPr>
        <p:spPr>
          <a:xfrm>
            <a:off x="6094476" y="5657165"/>
            <a:ext cx="51831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 192.168.1.10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Network: 192.168.1.0</a:t>
            </a:r>
          </a:p>
          <a:p>
            <a:r>
              <a:rPr lang="en-IN" dirty="0"/>
              <a:t>Host: 10</a:t>
            </a:r>
          </a:p>
        </p:txBody>
      </p:sp>
    </p:spTree>
    <p:extLst>
      <p:ext uri="{BB962C8B-B14F-4D97-AF65-F5344CB8AC3E}">
        <p14:creationId xmlns:p14="http://schemas.microsoft.com/office/powerpoint/2010/main" val="3711345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F8CD-EAC5-C91E-6FB8-FA6FF7EF4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070F-BED9-3D7F-946E-70316D4A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2. Routing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30B5B-EE7E-7BDF-86D2-B7E4961FCE42}"/>
              </a:ext>
            </a:extLst>
          </p:cNvPr>
          <p:cNvSpPr txBox="1"/>
          <p:nvPr/>
        </p:nvSpPr>
        <p:spPr>
          <a:xfrm>
            <a:off x="411479" y="1222755"/>
            <a:ext cx="107859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Routing is one of the most important responsibilities of the Network Layer.</a:t>
            </a:r>
          </a:p>
          <a:p>
            <a:pPr>
              <a:buNone/>
            </a:pPr>
            <a:br>
              <a:rPr lang="en-IN" dirty="0"/>
            </a:br>
            <a:r>
              <a:rPr lang="en-IN" dirty="0"/>
              <a:t>Suppose we have: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2A7D1-B441-FA4A-9705-617FE6841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" y="2279044"/>
            <a:ext cx="2668605" cy="1972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275C5B-8A8D-F246-2FC7-9E242EC4447B}"/>
              </a:ext>
            </a:extLst>
          </p:cNvPr>
          <p:cNvSpPr txBox="1"/>
          <p:nvPr/>
        </p:nvSpPr>
        <p:spPr>
          <a:xfrm>
            <a:off x="283142" y="4384117"/>
            <a:ext cx="3946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wants to send a packet to PC2.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E8B04-6CE2-69F7-E964-8BCE84E62F9A}"/>
              </a:ext>
            </a:extLst>
          </p:cNvPr>
          <p:cNvSpPr txBox="1"/>
          <p:nvPr/>
        </p:nvSpPr>
        <p:spPr>
          <a:xfrm>
            <a:off x="283142" y="4753449"/>
            <a:ext cx="3946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 are potentially multiple paths: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0F1D06-4567-A6FB-86AC-8CD7468564E0}"/>
              </a:ext>
            </a:extLst>
          </p:cNvPr>
          <p:cNvSpPr txBox="1"/>
          <p:nvPr/>
        </p:nvSpPr>
        <p:spPr>
          <a:xfrm>
            <a:off x="283142" y="5312079"/>
            <a:ext cx="3818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Path 1:PC1 → R1 → R2 → R4 → PC2</a:t>
            </a:r>
            <a:br>
              <a:rPr lang="en-IN" dirty="0"/>
            </a:br>
            <a:r>
              <a:rPr lang="en-IN" dirty="0"/>
              <a:t>Path 2:PC1 → R1 → R3 → R4 → PC2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597B71-6D75-D0CD-8F42-6F2B81E65C6A}"/>
              </a:ext>
            </a:extLst>
          </p:cNvPr>
          <p:cNvSpPr txBox="1"/>
          <p:nvPr/>
        </p:nvSpPr>
        <p:spPr>
          <a:xfrm>
            <a:off x="283141" y="6176538"/>
            <a:ext cx="11764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router needs to determine: Which path should the packet take? This Process is called ROUTING </a:t>
            </a:r>
          </a:p>
        </p:txBody>
      </p:sp>
    </p:spTree>
    <p:extLst>
      <p:ext uri="{BB962C8B-B14F-4D97-AF65-F5344CB8AC3E}">
        <p14:creationId xmlns:p14="http://schemas.microsoft.com/office/powerpoint/2010/main" val="339333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B4A48-5325-4905-7CB4-F178EDF64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F205-6327-7F1B-52A2-E85B9D187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2. Routing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D7DC9-2DF9-5B4D-63D5-A43EBAA9D6C5}"/>
              </a:ext>
            </a:extLst>
          </p:cNvPr>
          <p:cNvSpPr txBox="1"/>
          <p:nvPr/>
        </p:nvSpPr>
        <p:spPr>
          <a:xfrm>
            <a:off x="411480" y="11468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Routers use </a:t>
            </a:r>
            <a:r>
              <a:rPr lang="en-IN" b="1" dirty="0"/>
              <a:t>routing tables</a:t>
            </a:r>
            <a:r>
              <a:rPr lang="en-IN" dirty="0"/>
              <a:t> to make forwarding decisions.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51C5FB-15E4-66F9-84BD-3AF6E650DFEE}"/>
              </a:ext>
            </a:extLst>
          </p:cNvPr>
          <p:cNvSpPr txBox="1"/>
          <p:nvPr/>
        </p:nvSpPr>
        <p:spPr>
          <a:xfrm>
            <a:off x="411480" y="15161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C8E00-B42F-DFDF-3F06-15D6F7578498}"/>
              </a:ext>
            </a:extLst>
          </p:cNvPr>
          <p:cNvSpPr txBox="1"/>
          <p:nvPr/>
        </p:nvSpPr>
        <p:spPr>
          <a:xfrm>
            <a:off x="411480" y="18854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Destination Network</a:t>
            </a:r>
            <a:r>
              <a:rPr lang="en-IN" dirty="0"/>
              <a:t>            </a:t>
            </a:r>
            <a:r>
              <a:rPr lang="en-IN" b="1" dirty="0"/>
              <a:t>Next Hop</a:t>
            </a:r>
          </a:p>
          <a:p>
            <a:r>
              <a:rPr lang="en-IN" dirty="0"/>
              <a:t>192.168.20.0/24                        R2</a:t>
            </a:r>
          </a:p>
          <a:p>
            <a:r>
              <a:rPr lang="en-IN" dirty="0"/>
              <a:t>192.168.30.0/24                        R3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C11676-8BCA-8A93-3EA0-7B1C2AE2AC44}"/>
              </a:ext>
            </a:extLst>
          </p:cNvPr>
          <p:cNvSpPr txBox="1"/>
          <p:nvPr/>
        </p:nvSpPr>
        <p:spPr>
          <a:xfrm>
            <a:off x="411480" y="2988983"/>
            <a:ext cx="34225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Routing protocols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OSPF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EIGRP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BGP </a:t>
            </a:r>
          </a:p>
          <a:p>
            <a:pPr>
              <a:buNone/>
            </a:pPr>
            <a:r>
              <a:rPr lang="en-IN" dirty="0"/>
              <a:t>can help routers learn routes</a:t>
            </a:r>
          </a:p>
        </p:txBody>
      </p:sp>
    </p:spTree>
    <p:extLst>
      <p:ext uri="{BB962C8B-B14F-4D97-AF65-F5344CB8AC3E}">
        <p14:creationId xmlns:p14="http://schemas.microsoft.com/office/powerpoint/2010/main" val="122047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5161-9030-C1DA-3150-0855A8F0F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CC3C-20C8-579F-FD80-49B7C927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3. Forwarding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3A534-60F1-770A-C22C-CE816A3B7A2B}"/>
              </a:ext>
            </a:extLst>
          </p:cNvPr>
          <p:cNvSpPr txBox="1"/>
          <p:nvPr/>
        </p:nvSpPr>
        <p:spPr>
          <a:xfrm>
            <a:off x="411480" y="1200835"/>
            <a:ext cx="10753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Routing and forwarding are related, but they are </a:t>
            </a:r>
            <a:r>
              <a:rPr lang="en-IN" b="1"/>
              <a:t>not the same thing</a:t>
            </a:r>
            <a:r>
              <a:rPr lang="en-IN"/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ADE865-57A8-1DD4-12E5-759E557D8CB5}"/>
              </a:ext>
            </a:extLst>
          </p:cNvPr>
          <p:cNvSpPr txBox="1"/>
          <p:nvPr/>
        </p:nvSpPr>
        <p:spPr>
          <a:xfrm>
            <a:off x="411480" y="17941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Routing asks: "Which path should be used?"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C376F-ADF8-A86C-8797-45CD6752D509}"/>
              </a:ext>
            </a:extLst>
          </p:cNvPr>
          <p:cNvSpPr txBox="1"/>
          <p:nvPr/>
        </p:nvSpPr>
        <p:spPr>
          <a:xfrm>
            <a:off x="411480" y="23874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Forwarding asks: "Where should I send this packet next?"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FD918-C357-2543-A851-FD44EE5B6009}"/>
              </a:ext>
            </a:extLst>
          </p:cNvPr>
          <p:cNvSpPr txBox="1"/>
          <p:nvPr/>
        </p:nvSpPr>
        <p:spPr>
          <a:xfrm>
            <a:off x="411480" y="29806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 Router R1 receives:</a:t>
            </a:r>
            <a:br>
              <a:rPr lang="en-IN" dirty="0"/>
            </a:br>
            <a:r>
              <a:rPr lang="en-IN" dirty="0"/>
              <a:t>Destination IP: 192.168.20.10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2B3032-C5FA-A471-6B23-8A31FD55B6AF}"/>
              </a:ext>
            </a:extLst>
          </p:cNvPr>
          <p:cNvSpPr txBox="1"/>
          <p:nvPr/>
        </p:nvSpPr>
        <p:spPr>
          <a:xfrm>
            <a:off x="411480" y="38113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Its routing table says: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1A96E1-0FFD-7BE9-8192-03A42D844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342014"/>
            <a:ext cx="4243539" cy="78455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688B76B-4233-9E8F-8E55-A5ED0FD0214D}"/>
              </a:ext>
            </a:extLst>
          </p:cNvPr>
          <p:cNvSpPr txBox="1"/>
          <p:nvPr/>
        </p:nvSpPr>
        <p:spPr>
          <a:xfrm>
            <a:off x="411480" y="53672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R1 therefore forwards the packet through: G0/1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50852A-1F18-3252-61AE-4CE438DE3A85}"/>
              </a:ext>
            </a:extLst>
          </p:cNvPr>
          <p:cNvSpPr txBox="1"/>
          <p:nvPr/>
        </p:nvSpPr>
        <p:spPr>
          <a:xfrm>
            <a:off x="8293768" y="1570167"/>
            <a:ext cx="1925053" cy="378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Conceptually: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5194B73-F80D-2427-9E49-96DFA73D6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442" y="2174957"/>
            <a:ext cx="4459704" cy="210438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DFFF86-94AD-65F7-01B6-E61A18EC9187}"/>
              </a:ext>
            </a:extLst>
          </p:cNvPr>
          <p:cNvSpPr txBox="1"/>
          <p:nvPr/>
        </p:nvSpPr>
        <p:spPr>
          <a:xfrm>
            <a:off x="7026442" y="4560969"/>
            <a:ext cx="3160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the destination is in Network B:</a:t>
            </a:r>
            <a:br>
              <a:rPr lang="en-IN" dirty="0"/>
            </a:br>
            <a:r>
              <a:rPr lang="en-IN" dirty="0"/>
              <a:t>Packet - &gt; G0/1.</a:t>
            </a:r>
          </a:p>
        </p:txBody>
      </p:sp>
    </p:spTree>
    <p:extLst>
      <p:ext uri="{BB962C8B-B14F-4D97-AF65-F5344CB8AC3E}">
        <p14:creationId xmlns:p14="http://schemas.microsoft.com/office/powerpoint/2010/main" val="3483435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D6AF-97D8-6648-F55D-7D444AF9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30CE-A136-1DFE-D847-9934CB00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4. Internetworking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E5ECB-6E4D-AEDE-5FF8-AF539165EE9E}"/>
              </a:ext>
            </a:extLst>
          </p:cNvPr>
          <p:cNvSpPr txBox="1"/>
          <p:nvPr/>
        </p:nvSpPr>
        <p:spPr>
          <a:xfrm>
            <a:off x="411480" y="1143117"/>
            <a:ext cx="1178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word </a:t>
            </a:r>
            <a:r>
              <a:rPr lang="en-IN" b="1" dirty="0"/>
              <a:t>internetworking</a:t>
            </a:r>
            <a:r>
              <a:rPr lang="en-IN" dirty="0"/>
              <a:t> means connecting multiple independent networks so that devices on those networks can communicate.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E4963-C91E-A2F0-ECB6-A3812FD9D478}"/>
              </a:ext>
            </a:extLst>
          </p:cNvPr>
          <p:cNvSpPr txBox="1"/>
          <p:nvPr/>
        </p:nvSpPr>
        <p:spPr>
          <a:xfrm>
            <a:off x="411480" y="1955681"/>
            <a:ext cx="1401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440A4F-604E-3371-4FA7-7CCEA3A3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25013"/>
            <a:ext cx="2465806" cy="24814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60F205-F5E5-B8CA-19BA-F61664E99081}"/>
              </a:ext>
            </a:extLst>
          </p:cNvPr>
          <p:cNvSpPr txBox="1"/>
          <p:nvPr/>
        </p:nvSpPr>
        <p:spPr>
          <a:xfrm>
            <a:off x="3046476" y="21403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These are two different IP networks.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87239-A349-4624-7AFC-EF56A61253E8}"/>
              </a:ext>
            </a:extLst>
          </p:cNvPr>
          <p:cNvSpPr txBox="1"/>
          <p:nvPr/>
        </p:nvSpPr>
        <p:spPr>
          <a:xfrm>
            <a:off x="3046476" y="2537412"/>
            <a:ext cx="914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Without Layer 3 routing, devices in Network A cannot directly communicate with devices in Network B.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44D257-503A-3A8D-DF8B-51E47C222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695" y="3065138"/>
            <a:ext cx="2173543" cy="23815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A94A76-5542-396C-F6A1-0BC9F06CE912}"/>
              </a:ext>
            </a:extLst>
          </p:cNvPr>
          <p:cNvSpPr txBox="1"/>
          <p:nvPr/>
        </p:nvSpPr>
        <p:spPr>
          <a:xfrm>
            <a:off x="2877286" y="5554466"/>
            <a:ext cx="938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Network Layer provides the mechanisms that allow these different networks to communicate.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2024D-0584-BA04-9411-EE5FF0E09632}"/>
              </a:ext>
            </a:extLst>
          </p:cNvPr>
          <p:cNvSpPr txBox="1"/>
          <p:nvPr/>
        </p:nvSpPr>
        <p:spPr>
          <a:xfrm>
            <a:off x="2877286" y="6090031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the basic idea behind an </a:t>
            </a:r>
            <a:r>
              <a:rPr lang="en-IN" b="1" dirty="0"/>
              <a:t>internetwork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22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62B2-17D9-AA76-0ED0-07006245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85FD-F23D-3028-4C5A-6056909CA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5. Packet Switching / Store-and-forward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936534-06A7-59E0-6969-E62E33B786BA}"/>
              </a:ext>
            </a:extLst>
          </p:cNvPr>
          <p:cNvSpPr txBox="1"/>
          <p:nvPr/>
        </p:nvSpPr>
        <p:spPr>
          <a:xfrm>
            <a:off x="411480" y="11949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At the Network Layer, data is carried in </a:t>
            </a:r>
            <a:r>
              <a:rPr lang="en-IN" b="1" dirty="0"/>
              <a:t>packets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7CBF3-072E-8AC6-BD61-4A5A194EC8DE}"/>
              </a:ext>
            </a:extLst>
          </p:cNvPr>
          <p:cNvSpPr txBox="1"/>
          <p:nvPr/>
        </p:nvSpPr>
        <p:spPr>
          <a:xfrm>
            <a:off x="411480" y="1782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Consider: </a:t>
            </a:r>
            <a:r>
              <a:rPr lang="pt-BR" dirty="0"/>
              <a:t>PC1 → R1 → R2 → R3 → PC2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EA8F5-35FB-84A6-3FEB-04186A6EBA33}"/>
              </a:ext>
            </a:extLst>
          </p:cNvPr>
          <p:cNvSpPr txBox="1"/>
          <p:nvPr/>
        </p:nvSpPr>
        <p:spPr>
          <a:xfrm>
            <a:off x="411480" y="2151688"/>
            <a:ext cx="4064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When R1 receives a packet, it generally: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BBFFF-0A03-B445-E1F2-4F8432E0CBDD}"/>
              </a:ext>
            </a:extLst>
          </p:cNvPr>
          <p:cNvSpPr txBox="1"/>
          <p:nvPr/>
        </p:nvSpPr>
        <p:spPr>
          <a:xfrm>
            <a:off x="411480" y="2705686"/>
            <a:ext cx="3240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1 — Receives the packet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312116-B573-7929-2299-502C70572527}"/>
              </a:ext>
            </a:extLst>
          </p:cNvPr>
          <p:cNvSpPr txBox="1"/>
          <p:nvPr/>
        </p:nvSpPr>
        <p:spPr>
          <a:xfrm>
            <a:off x="411480" y="3259684"/>
            <a:ext cx="2261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───────→ R1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4BBA5B-B975-6695-55BA-3CDD86DBE10A}"/>
              </a:ext>
            </a:extLst>
          </p:cNvPr>
          <p:cNvSpPr txBox="1"/>
          <p:nvPr/>
        </p:nvSpPr>
        <p:spPr>
          <a:xfrm>
            <a:off x="411480" y="3813682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2 — Stores/buffers 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B556EB-C143-2069-F381-BA9B13325996}"/>
              </a:ext>
            </a:extLst>
          </p:cNvPr>
          <p:cNvSpPr txBox="1"/>
          <p:nvPr/>
        </p:nvSpPr>
        <p:spPr>
          <a:xfrm>
            <a:off x="411479" y="4354775"/>
            <a:ext cx="4064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router temporarily holds the packet.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18D133-ECF5-0E9B-A9BB-D293C39E1605}"/>
              </a:ext>
            </a:extLst>
          </p:cNvPr>
          <p:cNvSpPr txBox="1"/>
          <p:nvPr/>
        </p:nvSpPr>
        <p:spPr>
          <a:xfrm>
            <a:off x="6192255" y="1817442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3 — Examines the packet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A36896-A914-C7B5-CB9F-8275BDBCBA0C}"/>
              </a:ext>
            </a:extLst>
          </p:cNvPr>
          <p:cNvSpPr txBox="1"/>
          <p:nvPr/>
        </p:nvSpPr>
        <p:spPr>
          <a:xfrm>
            <a:off x="6192255" y="2151688"/>
            <a:ext cx="5807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It examines the IP header, particularly information such as: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B64A32-FE09-311F-F6CE-50DABEBB4449}"/>
              </a:ext>
            </a:extLst>
          </p:cNvPr>
          <p:cNvSpPr txBox="1"/>
          <p:nvPr/>
        </p:nvSpPr>
        <p:spPr>
          <a:xfrm>
            <a:off x="6206769" y="2613353"/>
            <a:ext cx="17967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 IP</a:t>
            </a:r>
          </a:p>
          <a:p>
            <a:r>
              <a:rPr lang="en-IN" dirty="0"/>
              <a:t>Destination IP</a:t>
            </a:r>
          </a:p>
          <a:p>
            <a:r>
              <a:rPr lang="en-IN" dirty="0"/>
              <a:t>TTL</a:t>
            </a:r>
          </a:p>
          <a:p>
            <a:r>
              <a:rPr lang="en-IN" dirty="0"/>
              <a:t>Protocol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DE701B-1D6C-08FB-B67E-EECA2951D3CB}"/>
              </a:ext>
            </a:extLst>
          </p:cNvPr>
          <p:cNvSpPr txBox="1"/>
          <p:nvPr/>
        </p:nvSpPr>
        <p:spPr>
          <a:xfrm>
            <a:off x="6192255" y="4152315"/>
            <a:ext cx="3943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4 — Makes a forwarding decision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AFBD28-B36D-E6DD-1E94-C3E1DF47E084}"/>
              </a:ext>
            </a:extLst>
          </p:cNvPr>
          <p:cNvSpPr txBox="1"/>
          <p:nvPr/>
        </p:nvSpPr>
        <p:spPr>
          <a:xfrm>
            <a:off x="6206769" y="4493063"/>
            <a:ext cx="5570703" cy="367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router checks its routing/forwarding information.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5531E0-14F2-C1C0-666D-60B2A9343D5B}"/>
              </a:ext>
            </a:extLst>
          </p:cNvPr>
          <p:cNvSpPr txBox="1"/>
          <p:nvPr/>
        </p:nvSpPr>
        <p:spPr>
          <a:xfrm>
            <a:off x="6206769" y="5077760"/>
            <a:ext cx="3943791" cy="367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Step 5 — c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469CE3-586F-966A-E0D0-990CF8231D80}"/>
              </a:ext>
            </a:extLst>
          </p:cNvPr>
          <p:cNvSpPr txBox="1"/>
          <p:nvPr/>
        </p:nvSpPr>
        <p:spPr>
          <a:xfrm>
            <a:off x="6192255" y="5416393"/>
            <a:ext cx="2372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→ R1 → R2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AF96A4-62BA-E6AB-0931-054E1EEDB712}"/>
              </a:ext>
            </a:extLst>
          </p:cNvPr>
          <p:cNvSpPr txBox="1"/>
          <p:nvPr/>
        </p:nvSpPr>
        <p:spPr>
          <a:xfrm>
            <a:off x="6192255" y="5755026"/>
            <a:ext cx="3144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R2 performs a similar process.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5C9846-5846-0CDB-0D4B-B9F08E190212}"/>
              </a:ext>
            </a:extLst>
          </p:cNvPr>
          <p:cNvSpPr txBox="1"/>
          <p:nvPr/>
        </p:nvSpPr>
        <p:spPr>
          <a:xfrm>
            <a:off x="6206769" y="6343223"/>
            <a:ext cx="5359589" cy="367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called: </a:t>
            </a:r>
            <a:r>
              <a:rPr lang="en-IN" b="1" dirty="0"/>
              <a:t>Store-and-forward packet switching.</a:t>
            </a:r>
          </a:p>
        </p:txBody>
      </p:sp>
    </p:spTree>
    <p:extLst>
      <p:ext uri="{BB962C8B-B14F-4D97-AF65-F5344CB8AC3E}">
        <p14:creationId xmlns:p14="http://schemas.microsoft.com/office/powerpoint/2010/main" val="315001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2BBEC-CEA9-1F30-AD70-4549C16C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1898-63B6-C780-1477-BE92FA92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5. Packet Switching / Store-and-forward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D7DE33-CCDD-B219-042D-A49C06C389E5}"/>
              </a:ext>
            </a:extLst>
          </p:cNvPr>
          <p:cNvSpPr txBox="1"/>
          <p:nvPr/>
        </p:nvSpPr>
        <p:spPr>
          <a:xfrm>
            <a:off x="411480" y="11789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Networking 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185005-7C90-B097-E108-31074AC61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48244"/>
            <a:ext cx="3592840" cy="30142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6B99E9-A4FF-8129-A3AF-5433FDEA5329}"/>
              </a:ext>
            </a:extLst>
          </p:cNvPr>
          <p:cNvSpPr txBox="1"/>
          <p:nvPr/>
        </p:nvSpPr>
        <p:spPr>
          <a:xfrm>
            <a:off x="411480" y="47471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R1 doesn't simply send the packet blindly.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39C5D0-24E2-57D5-A115-5CC8E6D0BF9C}"/>
              </a:ext>
            </a:extLst>
          </p:cNvPr>
          <p:cNvSpPr txBox="1"/>
          <p:nvPr/>
        </p:nvSpPr>
        <p:spPr>
          <a:xfrm>
            <a:off x="411480" y="5301141"/>
            <a:ext cx="9662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It receives the IP packet, determines the next hop, and forwards it.</a:t>
            </a:r>
          </a:p>
        </p:txBody>
      </p:sp>
    </p:spTree>
    <p:extLst>
      <p:ext uri="{BB962C8B-B14F-4D97-AF65-F5344CB8AC3E}">
        <p14:creationId xmlns:p14="http://schemas.microsoft.com/office/powerpoint/2010/main" val="340489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9043-1945-84DB-93F5-2070D64D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5A5E4-3FBF-AFD4-9427-9DAA587EF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6. Connectionless / Datagram Service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196B7F-0908-6717-DC75-5C711E4AF6F3}"/>
              </a:ext>
            </a:extLst>
          </p:cNvPr>
          <p:cNvSpPr txBox="1"/>
          <p:nvPr/>
        </p:nvSpPr>
        <p:spPr>
          <a:xfrm>
            <a:off x="411480" y="1120624"/>
            <a:ext cx="8454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Network Layer can conceptually provide </a:t>
            </a:r>
            <a:r>
              <a:rPr lang="en-IN" b="1" dirty="0"/>
              <a:t>connectionless service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9D076-7CCE-AE85-6569-CE1EBB32AAA5}"/>
              </a:ext>
            </a:extLst>
          </p:cNvPr>
          <p:cNvSpPr txBox="1"/>
          <p:nvPr/>
        </p:nvSpPr>
        <p:spPr>
          <a:xfrm>
            <a:off x="411480" y="1633696"/>
            <a:ext cx="1125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a connectionless network: A connection does not have to be established before sending packets.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DA8E9-707F-B09C-219E-D78F5AEBBC70}"/>
              </a:ext>
            </a:extLst>
          </p:cNvPr>
          <p:cNvSpPr txBox="1"/>
          <p:nvPr/>
        </p:nvSpPr>
        <p:spPr>
          <a:xfrm>
            <a:off x="411480" y="21467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IP uses this model.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654239-3D55-A3D3-B70F-6701E1593C37}"/>
              </a:ext>
            </a:extLst>
          </p:cNvPr>
          <p:cNvSpPr txBox="1"/>
          <p:nvPr/>
        </p:nvSpPr>
        <p:spPr>
          <a:xfrm>
            <a:off x="411480" y="2659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Suppose: PC1 → R1 → R2 → PC2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62211-843A-49F2-FAA6-7F633B9770FF}"/>
              </a:ext>
            </a:extLst>
          </p:cNvPr>
          <p:cNvSpPr txBox="1"/>
          <p:nvPr/>
        </p:nvSpPr>
        <p:spPr>
          <a:xfrm>
            <a:off x="411480" y="31729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can create an IP packet: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5EBE12-F968-A51B-4ECC-490E7D469FC9}"/>
              </a:ext>
            </a:extLst>
          </p:cNvPr>
          <p:cNvSpPr txBox="1"/>
          <p:nvPr/>
        </p:nvSpPr>
        <p:spPr>
          <a:xfrm>
            <a:off x="411480" y="3685984"/>
            <a:ext cx="45455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 IP: 192.168.1.10</a:t>
            </a:r>
          </a:p>
          <a:p>
            <a:endParaRPr lang="en-IN" dirty="0"/>
          </a:p>
          <a:p>
            <a:r>
              <a:rPr lang="en-IN" dirty="0"/>
              <a:t>Destination IP: 192.168.5.20 and sends it.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2282C1-3CFA-9F21-1765-3D99536E5271}"/>
              </a:ext>
            </a:extLst>
          </p:cNvPr>
          <p:cNvSpPr txBox="1"/>
          <p:nvPr/>
        </p:nvSpPr>
        <p:spPr>
          <a:xfrm>
            <a:off x="411479" y="4854973"/>
            <a:ext cx="11251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There is no requirement that PC1 first establish a dedicated network-layer connection with PC2.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F58936-3FF0-4FF4-B974-87C0FB6495DC}"/>
              </a:ext>
            </a:extLst>
          </p:cNvPr>
          <p:cNvSpPr txBox="1"/>
          <p:nvPr/>
        </p:nvSpPr>
        <p:spPr>
          <a:xfrm>
            <a:off x="411480" y="53008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Each IP packet is treated independently.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5D792-F87C-7052-BDBC-368C426B8BC3}"/>
              </a:ext>
            </a:extLst>
          </p:cNvPr>
          <p:cNvSpPr txBox="1"/>
          <p:nvPr/>
        </p:nvSpPr>
        <p:spPr>
          <a:xfrm>
            <a:off x="411479" y="59220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called</a:t>
            </a:r>
            <a:r>
              <a:rPr lang="en-IN" b="1" dirty="0"/>
              <a:t>: Datagram Service</a:t>
            </a:r>
          </a:p>
        </p:txBody>
      </p:sp>
    </p:spTree>
    <p:extLst>
      <p:ext uri="{BB962C8B-B14F-4D97-AF65-F5344CB8AC3E}">
        <p14:creationId xmlns:p14="http://schemas.microsoft.com/office/powerpoint/2010/main" val="112483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81D90-4DDD-7237-7C8B-604918B3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7FBD-81BA-2E39-C1C2-3647D771C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6. Connectionless / Datagram Service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92812-44EC-2103-B0E9-C44A30604FDE}"/>
              </a:ext>
            </a:extLst>
          </p:cNvPr>
          <p:cNvSpPr txBox="1"/>
          <p:nvPr/>
        </p:nvSpPr>
        <p:spPr>
          <a:xfrm>
            <a:off x="545432" y="11789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F848C-69AC-3078-3288-E13A8AD4A062}"/>
              </a:ext>
            </a:extLst>
          </p:cNvPr>
          <p:cNvSpPr txBox="1"/>
          <p:nvPr/>
        </p:nvSpPr>
        <p:spPr>
          <a:xfrm>
            <a:off x="545432" y="1548244"/>
            <a:ext cx="34330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Packet 1 → R1 → R2 → PC2</a:t>
            </a:r>
          </a:p>
          <a:p>
            <a:r>
              <a:rPr lang="en-IN" dirty="0"/>
              <a:t>Packet 2 → R1 → R3 → PC2</a:t>
            </a:r>
          </a:p>
          <a:p>
            <a:r>
              <a:rPr lang="en-IN" dirty="0"/>
              <a:t>Packet 3 → R1 → R2 → PC2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B51C4-9193-BB8F-F9EB-96E0FA5A0BB3}"/>
              </a:ext>
            </a:extLst>
          </p:cNvPr>
          <p:cNvSpPr txBox="1"/>
          <p:nvPr/>
        </p:nvSpPr>
        <p:spPr>
          <a:xfrm>
            <a:off x="545432" y="26562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Conceptually, packets can potentially take different paths.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448551-DA93-7801-C1F3-FD3C55EEE1A8}"/>
              </a:ext>
            </a:extLst>
          </p:cNvPr>
          <p:cNvSpPr txBox="1"/>
          <p:nvPr/>
        </p:nvSpPr>
        <p:spPr>
          <a:xfrm>
            <a:off x="545432" y="321023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Important clarification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This does not mean UDP at the transport layer.</a:t>
            </a:r>
          </a:p>
          <a:p>
            <a:endParaRPr lang="en-IN" b="1" dirty="0"/>
          </a:p>
          <a:p>
            <a:r>
              <a:rPr lang="en-IN" b="1" dirty="0"/>
              <a:t>At Transport Layer: UDP -&gt; UDP Datagram.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At Network Layer: IP -&gt; IP Packet / IP Datagram.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They are different PDUs at different layers.</a:t>
            </a:r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0B26BB-AE8D-B070-2262-BB3CC4279038}"/>
              </a:ext>
            </a:extLst>
          </p:cNvPr>
          <p:cNvSpPr txBox="1"/>
          <p:nvPr/>
        </p:nvSpPr>
        <p:spPr>
          <a:xfrm>
            <a:off x="7972926" y="1724229"/>
            <a:ext cx="2342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B7E26EB-11AA-2B29-621E-F4EB6E741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321" y="2093561"/>
            <a:ext cx="4509355" cy="291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55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534D4-6DAC-CB4E-1280-0AE79E174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FA4F-1FE3-B9D5-706A-620FC9B3F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7. Fragmentation and Reassembly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B5A25-C76A-70CF-E3B7-3FC181E64797}"/>
              </a:ext>
            </a:extLst>
          </p:cNvPr>
          <p:cNvSpPr txBox="1"/>
          <p:nvPr/>
        </p:nvSpPr>
        <p:spPr>
          <a:xfrm>
            <a:off x="411480" y="1152708"/>
            <a:ext cx="7988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Different networks can support different maximum packet sizes.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163DC-3A3B-5D47-26E8-63BDFD4AB9B0}"/>
              </a:ext>
            </a:extLst>
          </p:cNvPr>
          <p:cNvSpPr txBox="1"/>
          <p:nvPr/>
        </p:nvSpPr>
        <p:spPr>
          <a:xfrm>
            <a:off x="411480" y="1697864"/>
            <a:ext cx="6326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This maximum size is called: </a:t>
            </a:r>
            <a:r>
              <a:rPr lang="en-IN" b="1"/>
              <a:t>MTU (Maximum Transmission Unit)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8896C-9299-5BAF-74C8-04938E957E6B}"/>
              </a:ext>
            </a:extLst>
          </p:cNvPr>
          <p:cNvSpPr txBox="1"/>
          <p:nvPr/>
        </p:nvSpPr>
        <p:spPr>
          <a:xfrm>
            <a:off x="526582" y="224302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Suppose:</a:t>
            </a:r>
            <a:br>
              <a:rPr lang="en-IN" dirty="0"/>
            </a:br>
            <a:r>
              <a:rPr lang="en-IN" dirty="0"/>
              <a:t>Network A MTU = 1500 bytes</a:t>
            </a:r>
          </a:p>
          <a:p>
            <a:r>
              <a:rPr lang="en-IN" dirty="0"/>
              <a:t>Network B MTU = 500 bytes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 Packet of: 1200 bytes can travel through network A. But it cannot fit into a network whose MTU is only 500 bytes.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Under IPv4, Fragmentation may be required.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0A111-7170-699B-648B-8A5CCF860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58" y="1277987"/>
            <a:ext cx="4090736" cy="21191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E38174-4EEF-1563-C89E-03202080E285}"/>
              </a:ext>
            </a:extLst>
          </p:cNvPr>
          <p:cNvSpPr txBox="1"/>
          <p:nvPr/>
        </p:nvSpPr>
        <p:spPr>
          <a:xfrm>
            <a:off x="7299158" y="3633039"/>
            <a:ext cx="4478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The fragments are eventually reassembled at the destination.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3F56A2-CDAB-C0CE-57E5-8E572FCA5F1B}"/>
              </a:ext>
            </a:extLst>
          </p:cNvPr>
          <p:cNvSpPr txBox="1"/>
          <p:nvPr/>
        </p:nvSpPr>
        <p:spPr>
          <a:xfrm>
            <a:off x="3046476" y="51601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Important IPv4/IPv6 distinction</a:t>
            </a:r>
          </a:p>
          <a:p>
            <a:pPr>
              <a:buNone/>
            </a:pPr>
            <a:r>
              <a:rPr lang="en-IN" b="1" dirty="0"/>
              <a:t>IPv4:</a:t>
            </a:r>
            <a:r>
              <a:rPr lang="en-IN" dirty="0"/>
              <a:t> Routers can fragment packets under the IPv4 rules.</a:t>
            </a:r>
          </a:p>
          <a:p>
            <a:pPr>
              <a:buNone/>
            </a:pPr>
            <a:r>
              <a:rPr lang="en-IN" b="1" dirty="0"/>
              <a:t>IPv6:</a:t>
            </a:r>
            <a:r>
              <a:rPr lang="en-IN" dirty="0"/>
              <a:t> Routers do </a:t>
            </a:r>
            <a:r>
              <a:rPr lang="en-IN" b="1" dirty="0"/>
              <a:t>not</a:t>
            </a:r>
            <a:r>
              <a:rPr lang="en-IN" dirty="0"/>
              <a:t> fragment packets in transit. The source must use the IPv6 fragmentation mechanism if fragmentation is necessary.</a:t>
            </a:r>
          </a:p>
        </p:txBody>
      </p:sp>
    </p:spTree>
    <p:extLst>
      <p:ext uri="{BB962C8B-B14F-4D97-AF65-F5344CB8AC3E}">
        <p14:creationId xmlns:p14="http://schemas.microsoft.com/office/powerpoint/2010/main" val="3569863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DE62-FCE8-E557-75F5-8409E57F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F8E5B-078E-7CAB-B119-59DC91995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9. Congestion Control / Traffic Management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C50E9-099F-7B08-D56A-811249CD6462}"/>
              </a:ext>
            </a:extLst>
          </p:cNvPr>
          <p:cNvSpPr txBox="1"/>
          <p:nvPr/>
        </p:nvSpPr>
        <p:spPr>
          <a:xfrm>
            <a:off x="411480" y="11147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Now consider this situation: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1D040-9C72-3401-D8B0-B46DD3B7E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84076"/>
            <a:ext cx="5585919" cy="1800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D45AD9-375E-35D9-734B-B4C79370C68E}"/>
              </a:ext>
            </a:extLst>
          </p:cNvPr>
          <p:cNvSpPr txBox="1"/>
          <p:nvPr/>
        </p:nvSpPr>
        <p:spPr>
          <a:xfrm>
            <a:off x="411480" y="3389210"/>
            <a:ext cx="5684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 the incoming traffic is: 100 Mbps but the outgoing link can only handle 10 Mbps.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router cannot forward everything immediately.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At this moment, Packets starts accumulating in its buffer.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825B2D-29B6-732C-6B7B-35836A718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772" y="1326988"/>
            <a:ext cx="2700459" cy="27029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3F7A5A-809F-4C23-48D4-1F6ADD6118D8}"/>
              </a:ext>
            </a:extLst>
          </p:cNvPr>
          <p:cNvSpPr txBox="1"/>
          <p:nvPr/>
        </p:nvSpPr>
        <p:spPr>
          <a:xfrm>
            <a:off x="7780421" y="4081707"/>
            <a:ext cx="3459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is congestion.</a:t>
            </a:r>
          </a:p>
        </p:txBody>
      </p:sp>
    </p:spTree>
    <p:extLst>
      <p:ext uri="{BB962C8B-B14F-4D97-AF65-F5344CB8AC3E}">
        <p14:creationId xmlns:p14="http://schemas.microsoft.com/office/powerpoint/2010/main" val="3866782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E5A91-D776-8983-CE05-EE3900851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BF0C3-103C-3614-2A61-768B9160A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9. Congestion Control / Traffic Management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2DD53A-E27E-9AF6-DECD-338C9EC2B34F}"/>
              </a:ext>
            </a:extLst>
          </p:cNvPr>
          <p:cNvSpPr txBox="1"/>
          <p:nvPr/>
        </p:nvSpPr>
        <p:spPr>
          <a:xfrm>
            <a:off x="411480" y="1288520"/>
            <a:ext cx="24440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Congestion can cause: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Increased delay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Packet loss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Buffer overflow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Reduced throughput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Retransmissions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D3FE7C-B5AE-591D-BD70-96F225A1941F}"/>
              </a:ext>
            </a:extLst>
          </p:cNvPr>
          <p:cNvSpPr txBox="1"/>
          <p:nvPr/>
        </p:nvSpPr>
        <p:spPr>
          <a:xfrm>
            <a:off x="4122821" y="158156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Traffic shaping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One way to control the amount/rate of traffic entering the network is </a:t>
            </a:r>
            <a:r>
              <a:rPr lang="en-IN" b="1" dirty="0"/>
              <a:t>traffic shaping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Two important algorithms are:</a:t>
            </a:r>
          </a:p>
          <a:p>
            <a:pPr marL="342900" indent="-342900">
              <a:buAutoNum type="arabicPeriod"/>
            </a:pPr>
            <a:r>
              <a:rPr lang="en-IN" dirty="0"/>
              <a:t>Leaky Bucket</a:t>
            </a:r>
          </a:p>
          <a:p>
            <a:pPr marL="342900" indent="-342900">
              <a:buAutoNum type="arabicPeriod"/>
            </a:pPr>
            <a:r>
              <a:rPr lang="en-IN" dirty="0"/>
              <a:t>Token Bucket</a:t>
            </a:r>
          </a:p>
        </p:txBody>
      </p:sp>
    </p:spTree>
    <p:extLst>
      <p:ext uri="{BB962C8B-B14F-4D97-AF65-F5344CB8AC3E}">
        <p14:creationId xmlns:p14="http://schemas.microsoft.com/office/powerpoint/2010/main" val="4290665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B7DD-D6FB-B8EE-3681-9872BF40C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98BE9-AA84-49FA-CF12-D67AF0330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9F535-843C-39FF-9873-7FC7805A5708}"/>
              </a:ext>
            </a:extLst>
          </p:cNvPr>
          <p:cNvSpPr txBox="1"/>
          <p:nvPr/>
        </p:nvSpPr>
        <p:spPr>
          <a:xfrm>
            <a:off x="411480" y="11468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Let’s recall the unit 1.</a:t>
            </a:r>
            <a:br>
              <a:rPr lang="en-IN" dirty="0"/>
            </a:br>
            <a:r>
              <a:rPr lang="en-IN" dirty="0"/>
              <a:t>Every network interface has a </a:t>
            </a:r>
            <a:r>
              <a:rPr lang="en-IN" b="1" dirty="0"/>
              <a:t>MAC address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34882-B1BE-D6DF-68B0-7FF1243DD9D0}"/>
              </a:ext>
            </a:extLst>
          </p:cNvPr>
          <p:cNvSpPr txBox="1"/>
          <p:nvPr/>
        </p:nvSpPr>
        <p:spPr>
          <a:xfrm>
            <a:off x="411480" y="196310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  <a:br>
              <a:rPr lang="en-IN" dirty="0"/>
            </a:br>
            <a:r>
              <a:rPr lang="en-US" dirty="0"/>
              <a:t>PC1</a:t>
            </a:r>
          </a:p>
          <a:p>
            <a:r>
              <a:rPr lang="en-US" dirty="0"/>
              <a:t>MAC Address = 00:1A:2B:3C:4D:5E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EA10F-28B5-9196-F7C0-033DC581596F}"/>
              </a:ext>
            </a:extLst>
          </p:cNvPr>
          <p:cNvSpPr txBox="1"/>
          <p:nvPr/>
        </p:nvSpPr>
        <p:spPr>
          <a:xfrm>
            <a:off x="411480" y="3056377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Ques: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If every computer already has a MAC address, why do we need an IP address?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This is one of the most important questions in networking.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answer is that </a:t>
            </a:r>
            <a:r>
              <a:rPr lang="en-IN" b="1" dirty="0"/>
              <a:t>MAC addressing and IP addressing solve different problems</a:t>
            </a:r>
            <a:r>
              <a:rPr lang="en-IN" dirty="0"/>
              <a:t>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01111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E121-5610-D567-FDBA-94D3D57E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E6F6-6E5C-A7F1-56AD-11AF4ECAB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EF7A1-BBB7-1A0F-A9CD-39BF547AA746}"/>
              </a:ext>
            </a:extLst>
          </p:cNvPr>
          <p:cNvSpPr txBox="1"/>
          <p:nvPr/>
        </p:nvSpPr>
        <p:spPr>
          <a:xfrm>
            <a:off x="411480" y="12591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MAC Address is a Layer 2 address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10ACF-77A9-8314-3234-3AA34E41BEC5}"/>
              </a:ext>
            </a:extLst>
          </p:cNvPr>
          <p:cNvSpPr txBox="1"/>
          <p:nvPr/>
        </p:nvSpPr>
        <p:spPr>
          <a:xfrm>
            <a:off x="411480" y="17260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MAC addresses belong to the: Data Link Layer — Layer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94DEF-26DC-C027-8183-B614D9450CE2}"/>
              </a:ext>
            </a:extLst>
          </p:cNvPr>
          <p:cNvSpPr txBox="1"/>
          <p:nvPr/>
        </p:nvSpPr>
        <p:spPr>
          <a:xfrm>
            <a:off x="411480" y="2192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 </a:t>
            </a:r>
            <a:r>
              <a:rPr lang="pt-BR" dirty="0"/>
              <a:t>00:1A:2B:3C:4D:5E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73527B-6A92-D121-ABB4-93740B51F1B9}"/>
              </a:ext>
            </a:extLst>
          </p:cNvPr>
          <p:cNvSpPr txBox="1"/>
          <p:nvPr/>
        </p:nvSpPr>
        <p:spPr>
          <a:xfrm>
            <a:off x="411480" y="2659838"/>
            <a:ext cx="5347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switch uses MAC addresses to make forwarding decisions inside a Layer 2 network.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4B6537-498D-EBA9-98E5-037C3C0C0585}"/>
              </a:ext>
            </a:extLst>
          </p:cNvPr>
          <p:cNvSpPr txBox="1"/>
          <p:nvPr/>
        </p:nvSpPr>
        <p:spPr>
          <a:xfrm>
            <a:off x="411480" y="3403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Consider: PC1 ───── Switch ───── PC2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D91BA9-CD51-5742-CF08-CC48699E4888}"/>
              </a:ext>
            </a:extLst>
          </p:cNvPr>
          <p:cNvSpPr txBox="1"/>
          <p:nvPr/>
        </p:nvSpPr>
        <p:spPr>
          <a:xfrm>
            <a:off x="411480" y="387064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PC1 wants to communicate with PC2.</a:t>
            </a:r>
          </a:p>
          <a:p>
            <a:pPr>
              <a:buNone/>
            </a:pPr>
            <a:r>
              <a:rPr lang="en-IN" dirty="0"/>
              <a:t>The switch can learn: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C866A10-5164-E60C-B111-C301E3D8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14551"/>
            <a:ext cx="4469348" cy="10827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F372CE0-295B-ECA0-DB91-FA0A324AF776}"/>
              </a:ext>
            </a:extLst>
          </p:cNvPr>
          <p:cNvSpPr txBox="1"/>
          <p:nvPr/>
        </p:nvSpPr>
        <p:spPr>
          <a:xfrm>
            <a:off x="411480" y="59954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and forward an Ethernet frame toward the appropriate port.</a:t>
            </a:r>
          </a:p>
          <a:p>
            <a:pPr>
              <a:buNone/>
            </a:pPr>
            <a:r>
              <a:rPr lang="en-IN" dirty="0"/>
              <a:t>So MAC addresses are very useful for </a:t>
            </a:r>
            <a:r>
              <a:rPr lang="en-IN" b="1" dirty="0"/>
              <a:t>local network delivery</a:t>
            </a:r>
            <a:r>
              <a:rPr lang="en-IN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F642F-15B7-F28D-D54D-5DAA2EC2865F}"/>
              </a:ext>
            </a:extLst>
          </p:cNvPr>
          <p:cNvSpPr txBox="1"/>
          <p:nvPr/>
        </p:nvSpPr>
        <p:spPr>
          <a:xfrm>
            <a:off x="8101263" y="2716484"/>
            <a:ext cx="17004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But what happens when the destination is on another network?</a:t>
            </a:r>
          </a:p>
        </p:txBody>
      </p:sp>
    </p:spTree>
    <p:extLst>
      <p:ext uri="{BB962C8B-B14F-4D97-AF65-F5344CB8AC3E}">
        <p14:creationId xmlns:p14="http://schemas.microsoft.com/office/powerpoint/2010/main" val="2259522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F5694-374D-5C57-9E5D-9472E7AE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30AE-A707-DF46-4704-986894E08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B17B38-67BA-CFDB-6B27-CBB42155A7AB}"/>
              </a:ext>
            </a:extLst>
          </p:cNvPr>
          <p:cNvSpPr txBox="1"/>
          <p:nvPr/>
        </p:nvSpPr>
        <p:spPr>
          <a:xfrm>
            <a:off x="411480" y="11307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Now consider: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F0160B-0736-9975-45C0-8E6F9C912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0118"/>
            <a:ext cx="5188739" cy="11092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8413EE-C46A-7DC8-82BB-ACBA562CD61A}"/>
              </a:ext>
            </a:extLst>
          </p:cNvPr>
          <p:cNvSpPr txBox="1"/>
          <p:nvPr/>
        </p:nvSpPr>
        <p:spPr>
          <a:xfrm>
            <a:off x="477173" y="2751038"/>
            <a:ext cx="32084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Suppose:</a:t>
            </a:r>
            <a:br>
              <a:rPr lang="en-IN" dirty="0"/>
            </a:br>
            <a:r>
              <a:rPr lang="en-IN" dirty="0"/>
              <a:t>PC1 = 192.168.1.10</a:t>
            </a:r>
          </a:p>
          <a:p>
            <a:r>
              <a:rPr lang="en-IN" dirty="0"/>
              <a:t>PC2 = 192.168.2.10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63C32B-3C66-4AC2-E68A-CC8E6EF16232}"/>
              </a:ext>
            </a:extLst>
          </p:cNvPr>
          <p:cNvSpPr txBox="1"/>
          <p:nvPr/>
        </p:nvSpPr>
        <p:spPr>
          <a:xfrm>
            <a:off x="6507480" y="1469354"/>
            <a:ext cx="470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PC1 and PC2 belong to </a:t>
            </a:r>
            <a:r>
              <a:rPr lang="en-IN" b="1" dirty="0"/>
              <a:t>different IP networks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 packet must travel through a router: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E50CB0-4FD7-FA1B-60C4-EBDA1A613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783" y="2240014"/>
            <a:ext cx="1248316" cy="286870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F94D184-4074-3684-DF3C-8E70FD8E60CF}"/>
              </a:ext>
            </a:extLst>
          </p:cNvPr>
          <p:cNvSpPr txBox="1"/>
          <p:nvPr/>
        </p:nvSpPr>
        <p:spPr>
          <a:xfrm>
            <a:off x="8598569" y="2608155"/>
            <a:ext cx="22779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Now ask:</a:t>
            </a:r>
          </a:p>
          <a:p>
            <a:pPr>
              <a:buNone/>
            </a:pPr>
            <a:r>
              <a:rPr lang="en-IN" dirty="0"/>
              <a:t>Can PC1 simply use PC2's MAC address to send the packet across the entire network?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1582E8-505D-1575-511E-59D113D74D6D}"/>
              </a:ext>
            </a:extLst>
          </p:cNvPr>
          <p:cNvSpPr txBox="1"/>
          <p:nvPr/>
        </p:nvSpPr>
        <p:spPr>
          <a:xfrm>
            <a:off x="566687" y="5408949"/>
            <a:ext cx="110555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 MAC address is primarily used for </a:t>
            </a:r>
            <a:r>
              <a:rPr lang="en-IN" b="1" dirty="0"/>
              <a:t>local Layer 2 delivery</a:t>
            </a:r>
            <a:r>
              <a:rPr lang="en-IN" dirty="0"/>
              <a:t>. Routers operate at Layer 3 and use </a:t>
            </a:r>
            <a:r>
              <a:rPr lang="en-IN" b="1" dirty="0"/>
              <a:t>IP addressing</a:t>
            </a:r>
            <a:r>
              <a:rPr lang="en-IN" dirty="0"/>
              <a:t> to determine where a packet needs to go.</a:t>
            </a:r>
          </a:p>
          <a:p>
            <a:pPr>
              <a:buNone/>
            </a:pPr>
            <a:r>
              <a:rPr lang="en-IN" dirty="0"/>
              <a:t>This is why we need: </a:t>
            </a:r>
            <a:r>
              <a:rPr lang="en-IN" b="1" dirty="0"/>
              <a:t>IP Addressing</a:t>
            </a:r>
          </a:p>
        </p:txBody>
      </p:sp>
    </p:spTree>
    <p:extLst>
      <p:ext uri="{BB962C8B-B14F-4D97-AF65-F5344CB8AC3E}">
        <p14:creationId xmlns:p14="http://schemas.microsoft.com/office/powerpoint/2010/main" val="2213545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8388-9CE7-3554-C179-92D4416E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24CC-7025-4600-A218-A25B8D84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88958-5F3F-7084-1F24-1226B572F72A}"/>
              </a:ext>
            </a:extLst>
          </p:cNvPr>
          <p:cNvSpPr txBox="1"/>
          <p:nvPr/>
        </p:nvSpPr>
        <p:spPr>
          <a:xfrm>
            <a:off x="334077" y="976884"/>
            <a:ext cx="11520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</a:t>
            </a:r>
            <a:r>
              <a:rPr lang="en-IN" b="1" dirty="0"/>
              <a:t>IP address</a:t>
            </a:r>
            <a:r>
              <a:rPr lang="en-IN" dirty="0"/>
              <a:t> is a </a:t>
            </a:r>
            <a:r>
              <a:rPr lang="en-IN" b="1" dirty="0"/>
              <a:t>logical address</a:t>
            </a:r>
            <a:r>
              <a:rPr lang="en-IN" dirty="0"/>
              <a:t> assigned to a network interface so that devices can be identified and reached at the Network Layer.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41A9C-DABD-D212-523D-40ED08C4C421}"/>
              </a:ext>
            </a:extLst>
          </p:cNvPr>
          <p:cNvSpPr txBox="1"/>
          <p:nvPr/>
        </p:nvSpPr>
        <p:spPr>
          <a:xfrm>
            <a:off x="334077" y="16913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 192.168.1.10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F5522C-761E-2757-41F7-513CA2DFC5A1}"/>
              </a:ext>
            </a:extLst>
          </p:cNvPr>
          <p:cNvSpPr txBox="1"/>
          <p:nvPr/>
        </p:nvSpPr>
        <p:spPr>
          <a:xfrm>
            <a:off x="334077" y="2128819"/>
            <a:ext cx="11520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Unlike a MAC address, which is associated with the network interface at Layer 2, an IP address is used to identify a device/interface within an IP network and can change when the device moves between networks.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CF5A78-FC34-02BC-686C-CBDDE214F0F4}"/>
              </a:ext>
            </a:extLst>
          </p:cNvPr>
          <p:cNvSpPr txBox="1"/>
          <p:nvPr/>
        </p:nvSpPr>
        <p:spPr>
          <a:xfrm>
            <a:off x="334076" y="2911422"/>
            <a:ext cx="115207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is it called a logical address?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Eg:</a:t>
            </a:r>
            <a:br>
              <a:rPr lang="en-IN" b="1" dirty="0"/>
            </a:br>
            <a:r>
              <a:rPr lang="en-IN" dirty="0"/>
              <a:t>Today you connect it to: University Network</a:t>
            </a:r>
            <a:br>
              <a:rPr lang="en-IN" dirty="0"/>
            </a:br>
            <a:r>
              <a:rPr lang="en-IN" dirty="0"/>
              <a:t>It might receive: 192.168.10.25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Tomorrow you connect the same laptop to: Home Network</a:t>
            </a:r>
            <a:br>
              <a:rPr lang="en-IN" dirty="0"/>
            </a:br>
            <a:r>
              <a:rPr lang="en-IN" dirty="0"/>
              <a:t>It might receive: 192.168.1.15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27B5FF-5ADC-5135-3840-2BFEE38FA2DC}"/>
              </a:ext>
            </a:extLst>
          </p:cNvPr>
          <p:cNvSpPr txBox="1"/>
          <p:nvPr/>
        </p:nvSpPr>
        <p:spPr>
          <a:xfrm>
            <a:off x="334075" y="5424154"/>
            <a:ext cx="115207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laptop's network interface can retain the same MAC address, but its IP address can change according to the network it is connected to.</a:t>
            </a:r>
          </a:p>
        </p:txBody>
      </p:sp>
    </p:spTree>
    <p:extLst>
      <p:ext uri="{BB962C8B-B14F-4D97-AF65-F5344CB8AC3E}">
        <p14:creationId xmlns:p14="http://schemas.microsoft.com/office/powerpoint/2010/main" val="2301527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94D4B-DAC0-BE21-0C50-14547F5E1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CB7A-1000-E121-FE76-D1FB239C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 Addressing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BD804-F58E-C844-8E2F-307C92C016DB}"/>
              </a:ext>
            </a:extLst>
          </p:cNvPr>
          <p:cNvSpPr txBox="1"/>
          <p:nvPr/>
        </p:nvSpPr>
        <p:spPr>
          <a:xfrm>
            <a:off x="411480" y="124627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MAC Address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Associated with network interface</a:t>
            </a:r>
          </a:p>
          <a:p>
            <a:endParaRPr lang="en-IN" dirty="0"/>
          </a:p>
          <a:p>
            <a:r>
              <a:rPr lang="en-IN" dirty="0"/>
              <a:t>IP Address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Associated with its location within an IP network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This logical structure is extremely important for routing.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DA91B-4D6D-7A84-C9EB-095D3B4E80AD}"/>
              </a:ext>
            </a:extLst>
          </p:cNvPr>
          <p:cNvSpPr txBox="1"/>
          <p:nvPr/>
        </p:nvSpPr>
        <p:spPr>
          <a:xfrm>
            <a:off x="411480" y="465498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IP address is not just "an address of a computer“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This is a subtle but important point.</a:t>
            </a:r>
          </a:p>
          <a:p>
            <a:r>
              <a:rPr lang="en-IN" dirty="0"/>
              <a:t>We often casually say:</a:t>
            </a:r>
          </a:p>
          <a:p>
            <a:r>
              <a:rPr lang="en-IN" dirty="0"/>
              <a:t>"PC1 has IP address 192.168.1.10."</a:t>
            </a:r>
          </a:p>
          <a:p>
            <a:r>
              <a:rPr lang="en-IN" dirty="0"/>
              <a:t>But technically, an IP address is assigned to a </a:t>
            </a:r>
            <a:r>
              <a:rPr lang="en-IN" b="1" dirty="0"/>
              <a:t>network interface</a:t>
            </a:r>
            <a:r>
              <a:rPr lang="en-IN" dirty="0"/>
              <a:t>.</a:t>
            </a:r>
          </a:p>
          <a:p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3BA413-3E96-1999-4E80-0185C2131173}"/>
              </a:ext>
            </a:extLst>
          </p:cNvPr>
          <p:cNvSpPr txBox="1"/>
          <p:nvPr/>
        </p:nvSpPr>
        <p:spPr>
          <a:xfrm>
            <a:off x="7074569" y="1085168"/>
            <a:ext cx="4026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router can have multiple interfaces: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6039B4-7D6A-20E3-5C19-0F14D4F5C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097" y="1557705"/>
            <a:ext cx="3853512" cy="25164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655B2A-C6CD-8B4E-1DDA-0F321456F991}"/>
              </a:ext>
            </a:extLst>
          </p:cNvPr>
          <p:cNvSpPr txBox="1"/>
          <p:nvPr/>
        </p:nvSpPr>
        <p:spPr>
          <a:xfrm>
            <a:off x="7247624" y="4385595"/>
            <a:ext cx="38535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For 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G0/0 → 192.168.1.1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G0/1 → 192.168.2.1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01B6E9-39B1-34F7-988F-161D59408B14}"/>
              </a:ext>
            </a:extLst>
          </p:cNvPr>
          <p:cNvSpPr txBox="1"/>
          <p:nvPr/>
        </p:nvSpPr>
        <p:spPr>
          <a:xfrm>
            <a:off x="7078678" y="5505998"/>
            <a:ext cx="41130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So the router has different IP addresses on different interfaces.</a:t>
            </a:r>
          </a:p>
          <a:p>
            <a:pPr>
              <a:buNone/>
            </a:pPr>
            <a:r>
              <a:rPr lang="en-IN" dirty="0"/>
              <a:t>This makes sense because each interface connects to a different network.</a:t>
            </a:r>
          </a:p>
        </p:txBody>
      </p:sp>
    </p:spTree>
    <p:extLst>
      <p:ext uri="{BB962C8B-B14F-4D97-AF65-F5344CB8AC3E}">
        <p14:creationId xmlns:p14="http://schemas.microsoft.com/office/powerpoint/2010/main" val="339889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134CC-B950-9E4D-06E8-E49D77C6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31F8-7AC2-3225-B57D-02715710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IPv4 and IPV6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BA81A2-BE78-D21B-1B75-BCD3FAC882EF}"/>
              </a:ext>
            </a:extLst>
          </p:cNvPr>
          <p:cNvSpPr txBox="1"/>
          <p:nvPr/>
        </p:nvSpPr>
        <p:spPr>
          <a:xfrm>
            <a:off x="411480" y="1227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 are two major versions of IP: IPV4 and IPV6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C4AC0C-B441-4328-C726-EECB319C30FB}"/>
              </a:ext>
            </a:extLst>
          </p:cNvPr>
          <p:cNvSpPr txBox="1"/>
          <p:nvPr/>
        </p:nvSpPr>
        <p:spPr>
          <a:xfrm>
            <a:off x="411481" y="1846526"/>
            <a:ext cx="27006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IPv4</a:t>
            </a:r>
          </a:p>
          <a:p>
            <a:pPr>
              <a:buNone/>
            </a:pPr>
            <a:r>
              <a:rPr lang="en-IN" dirty="0"/>
              <a:t>Internet Protocol version 4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192.168.1.10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4BDAA4-E8E9-24BC-92EE-71629F146B22}"/>
              </a:ext>
            </a:extLst>
          </p:cNvPr>
          <p:cNvSpPr txBox="1"/>
          <p:nvPr/>
        </p:nvSpPr>
        <p:spPr>
          <a:xfrm>
            <a:off x="3459480" y="1846526"/>
            <a:ext cx="3459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IPv6</a:t>
            </a:r>
          </a:p>
          <a:p>
            <a:pPr>
              <a:buNone/>
            </a:pPr>
            <a:r>
              <a:rPr lang="en-IN" dirty="0"/>
              <a:t>Internet Protocol version 6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2001:db8:abcd:0012::10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952A4-6165-8D16-5A46-0CFDB2111D10}"/>
              </a:ext>
            </a:extLst>
          </p:cNvPr>
          <p:cNvSpPr txBox="1"/>
          <p:nvPr/>
        </p:nvSpPr>
        <p:spPr>
          <a:xfrm>
            <a:off x="411480" y="32970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IPv4 and IPv6 are both Network Layer protocols.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D8F0C-896F-04FF-0A29-BC11A84D3553}"/>
              </a:ext>
            </a:extLst>
          </p:cNvPr>
          <p:cNvSpPr txBox="1"/>
          <p:nvPr/>
        </p:nvSpPr>
        <p:spPr>
          <a:xfrm>
            <a:off x="411480" y="39164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IPv4 Address — Basic 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2CC1B-D204-B74E-6B02-2E8989961BBE}"/>
              </a:ext>
            </a:extLst>
          </p:cNvPr>
          <p:cNvSpPr txBox="1"/>
          <p:nvPr/>
        </p:nvSpPr>
        <p:spPr>
          <a:xfrm>
            <a:off x="411480" y="4378162"/>
            <a:ext cx="6507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IPv4 address is: 32 bits long.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 example: 192.168.1.10</a:t>
            </a:r>
            <a:br>
              <a:rPr lang="en-IN" dirty="0"/>
            </a:br>
            <a:r>
              <a:rPr lang="en-IN" dirty="0"/>
              <a:t>looks like four decimal numbers, but internally the computer sees: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11000000.10101000.00000001.00001010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C01D1-7F08-A054-4E0B-960C4815A321}"/>
              </a:ext>
            </a:extLst>
          </p:cNvPr>
          <p:cNvSpPr txBox="1"/>
          <p:nvPr/>
        </p:nvSpPr>
        <p:spPr>
          <a:xfrm>
            <a:off x="7670693" y="1661860"/>
            <a:ext cx="4106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are there four numbers?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2E8153-83E1-5F08-A7C4-3D728DAA646B}"/>
              </a:ext>
            </a:extLst>
          </p:cNvPr>
          <p:cNvSpPr txBox="1"/>
          <p:nvPr/>
        </p:nvSpPr>
        <p:spPr>
          <a:xfrm>
            <a:off x="7670693" y="2093664"/>
            <a:ext cx="3593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IPv4 address contains: 32 bits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D3F9D2-7839-FAD4-4444-A838AC116A77}"/>
              </a:ext>
            </a:extLst>
          </p:cNvPr>
          <p:cNvSpPr txBox="1"/>
          <p:nvPr/>
        </p:nvSpPr>
        <p:spPr>
          <a:xfrm>
            <a:off x="7660106" y="2585190"/>
            <a:ext cx="41067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These 32 bits are divided into </a:t>
            </a:r>
            <a:r>
              <a:rPr lang="en-IN" b="1" dirty="0"/>
              <a:t>four groups of 8 bits</a:t>
            </a:r>
            <a:r>
              <a:rPr lang="en-IN" dirty="0"/>
              <a:t>.</a:t>
            </a:r>
          </a:p>
          <a:p>
            <a:pPr>
              <a:buNone/>
            </a:pPr>
            <a:br>
              <a:rPr lang="en-IN" dirty="0"/>
            </a:br>
            <a:r>
              <a:rPr lang="en-IN" dirty="0"/>
              <a:t>Each 8-bit group is called an: </a:t>
            </a:r>
            <a:r>
              <a:rPr lang="en-IN" b="1" dirty="0"/>
              <a:t>OCTET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C6879E-CC49-E920-38E0-44A468624E12}"/>
              </a:ext>
            </a:extLst>
          </p:cNvPr>
          <p:cNvSpPr txBox="1"/>
          <p:nvPr/>
        </p:nvSpPr>
        <p:spPr>
          <a:xfrm>
            <a:off x="7660106" y="3874108"/>
            <a:ext cx="2021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3CB063-AA58-86BF-105B-30D2033EB53A}"/>
              </a:ext>
            </a:extLst>
          </p:cNvPr>
          <p:cNvSpPr txBox="1"/>
          <p:nvPr/>
        </p:nvSpPr>
        <p:spPr>
          <a:xfrm>
            <a:off x="9681411" y="4058774"/>
            <a:ext cx="18023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32 bits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8 + 8 + 8 + 8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4 octets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D620A82-9433-3DDD-1B6C-915323A67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238" y="5685172"/>
            <a:ext cx="4617170" cy="107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267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376A4-DE9F-61E2-B22C-DA1BF90D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C29920-7B40-C08D-BD9F-2F80E625DC01}"/>
              </a:ext>
            </a:extLst>
          </p:cNvPr>
          <p:cNvSpPr txBox="1"/>
          <p:nvPr/>
        </p:nvSpPr>
        <p:spPr>
          <a:xfrm>
            <a:off x="320842" y="6976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Each octet contains </a:t>
            </a:r>
            <a:r>
              <a:rPr lang="en-IN" b="1" dirty="0"/>
              <a:t>8 bits</a:t>
            </a:r>
            <a:r>
              <a:rPr lang="en-IN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14E16-C8B8-EF61-AA71-C1A6FA619508}"/>
              </a:ext>
            </a:extLst>
          </p:cNvPr>
          <p:cNvSpPr txBox="1"/>
          <p:nvPr/>
        </p:nvSpPr>
        <p:spPr>
          <a:xfrm>
            <a:off x="320842" y="1194954"/>
            <a:ext cx="11550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largest value that 8 bits can represent is: 11111111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E9F6BF-7E15-36E4-4C7E-799F5EDEBD98}"/>
              </a:ext>
            </a:extLst>
          </p:cNvPr>
          <p:cNvSpPr txBox="1"/>
          <p:nvPr/>
        </p:nvSpPr>
        <p:spPr>
          <a:xfrm>
            <a:off x="320842" y="1692259"/>
            <a:ext cx="5277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decimal: 128 + 64 + 32 + 16 + 8 + 4 + 2 + 1 = 255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BFC274-DD24-D2F5-3554-03F6EB48C8BF}"/>
              </a:ext>
            </a:extLst>
          </p:cNvPr>
          <p:cNvSpPr txBox="1"/>
          <p:nvPr/>
        </p:nvSpPr>
        <p:spPr>
          <a:xfrm>
            <a:off x="320842" y="21895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smallest value is: 00000000 =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7C1D7D-BFD3-4F66-0990-EDB75C466AF3}"/>
              </a:ext>
            </a:extLst>
          </p:cNvPr>
          <p:cNvSpPr txBox="1"/>
          <p:nvPr/>
        </p:nvSpPr>
        <p:spPr>
          <a:xfrm>
            <a:off x="320842" y="28148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Therefore, every IPv4 octet can contain: </a:t>
            </a:r>
            <a:r>
              <a:rPr lang="en-IN" b="1" dirty="0"/>
              <a:t>0 to 255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D47D7C-3177-65C6-AFAA-C8614A866AC5}"/>
              </a:ext>
            </a:extLst>
          </p:cNvPr>
          <p:cNvSpPr txBox="1"/>
          <p:nvPr/>
        </p:nvSpPr>
        <p:spPr>
          <a:xfrm>
            <a:off x="465222" y="329629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So: 192.168.1.10 is a valid IP Address, but 192.168.1.300 is not</a:t>
            </a:r>
            <a:br>
              <a:rPr lang="en-IN" dirty="0"/>
            </a:br>
            <a:r>
              <a:rPr lang="en-IN" dirty="0"/>
              <a:t>because 300 cannot be represented using 8 bits.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Example: 192.168.1.10</a:t>
            </a:r>
            <a:br>
              <a:rPr lang="en-IN" dirty="0"/>
            </a:br>
            <a:r>
              <a:rPr lang="en-IN" dirty="0"/>
              <a:t>Convert each octet into binary: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192 = 11000000</a:t>
            </a:r>
            <a:br>
              <a:rPr lang="en-IN" dirty="0"/>
            </a:br>
            <a:r>
              <a:rPr lang="en-IN" dirty="0"/>
              <a:t>168 = 10101000</a:t>
            </a:r>
            <a:br>
              <a:rPr lang="en-IN" dirty="0"/>
            </a:br>
            <a:r>
              <a:rPr lang="en-IN" dirty="0"/>
              <a:t>1 = 00000001</a:t>
            </a:r>
            <a:br>
              <a:rPr lang="en-IN" dirty="0"/>
            </a:br>
            <a:r>
              <a:rPr lang="en-IN" dirty="0"/>
              <a:t>10 = 00001010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11000000.10101000.00000001.00001010</a:t>
            </a:r>
          </a:p>
        </p:txBody>
      </p:sp>
    </p:spTree>
    <p:extLst>
      <p:ext uri="{BB962C8B-B14F-4D97-AF65-F5344CB8AC3E}">
        <p14:creationId xmlns:p14="http://schemas.microsoft.com/office/powerpoint/2010/main" val="1076831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F80E6-10E1-210A-5C2E-0B2DFC74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13B3D6-972D-69CB-8181-ACDBB10A077B}"/>
              </a:ext>
            </a:extLst>
          </p:cNvPr>
          <p:cNvSpPr txBox="1"/>
          <p:nvPr/>
        </p:nvSpPr>
        <p:spPr>
          <a:xfrm>
            <a:off x="385010" y="7618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The most important concept: Network Part and Host Part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42862-29CE-0D05-086E-FD7969EBA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71" y="1700636"/>
            <a:ext cx="3439697" cy="1475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7F0756-3EF2-F690-A765-88DCE28AFF99}"/>
              </a:ext>
            </a:extLst>
          </p:cNvPr>
          <p:cNvSpPr txBox="1"/>
          <p:nvPr/>
        </p:nvSpPr>
        <p:spPr>
          <a:xfrm>
            <a:off x="586871" y="12312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IP address has two conceptual parts: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D5AB1F-DFC9-4E32-68D6-9D77A7DEA0BB}"/>
              </a:ext>
            </a:extLst>
          </p:cNvPr>
          <p:cNvSpPr txBox="1"/>
          <p:nvPr/>
        </p:nvSpPr>
        <p:spPr>
          <a:xfrm>
            <a:off x="169777" y="34290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The: </a:t>
            </a:r>
            <a:r>
              <a:rPr lang="en-IN" b="1" dirty="0"/>
              <a:t>Network Part </a:t>
            </a:r>
            <a:r>
              <a:rPr lang="en-IN" dirty="0"/>
              <a:t>identifies </a:t>
            </a:r>
            <a:r>
              <a:rPr lang="en-IN" b="1" dirty="0"/>
              <a:t>which network</a:t>
            </a:r>
            <a:r>
              <a:rPr lang="en-IN" dirty="0"/>
              <a:t> the device belongs to.</a:t>
            </a:r>
          </a:p>
          <a:p>
            <a:pPr>
              <a:buNone/>
            </a:pPr>
            <a:r>
              <a:rPr lang="en-IN" dirty="0"/>
              <a:t>The: </a:t>
            </a:r>
            <a:r>
              <a:rPr lang="en-IN" b="1" dirty="0"/>
              <a:t>Host Part </a:t>
            </a:r>
            <a:r>
              <a:rPr lang="en-IN" dirty="0"/>
              <a:t>identifies the </a:t>
            </a:r>
            <a:r>
              <a:rPr lang="en-IN" b="1" dirty="0"/>
              <a:t>particular host/interface within that network</a:t>
            </a:r>
            <a:r>
              <a:rPr lang="en-IN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ABF99C-260D-452F-F507-3374B65486FC}"/>
              </a:ext>
            </a:extLst>
          </p:cNvPr>
          <p:cNvSpPr txBox="1"/>
          <p:nvPr/>
        </p:nvSpPr>
        <p:spPr>
          <a:xfrm>
            <a:off x="8149389" y="838013"/>
            <a:ext cx="1604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C570AD-8748-3BB5-DD94-2D4AFD22D036}"/>
              </a:ext>
            </a:extLst>
          </p:cNvPr>
          <p:cNvSpPr txBox="1"/>
          <p:nvPr/>
        </p:nvSpPr>
        <p:spPr>
          <a:xfrm>
            <a:off x="7732294" y="1231227"/>
            <a:ext cx="3048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Suppose we have: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192.168.1.10</a:t>
            </a:r>
          </a:p>
          <a:p>
            <a:pPr>
              <a:buNone/>
            </a:pPr>
            <a:r>
              <a:rPr lang="en-IN" dirty="0"/>
              <a:t>and assume:</a:t>
            </a:r>
          </a:p>
          <a:p>
            <a:r>
              <a:rPr lang="en-IN" dirty="0">
                <a:latin typeface="Courier New" panose="02070309020205020404" pitchFamily="49" charset="0"/>
              </a:rPr>
              <a:t>Network = 192.168.1.0</a:t>
            </a:r>
            <a:br>
              <a:rPr lang="en-IN" dirty="0">
                <a:latin typeface="Courier New" panose="02070309020205020404" pitchFamily="49" charset="0"/>
              </a:rPr>
            </a:b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/>
              <a:t>Then conceptually:</a:t>
            </a:r>
            <a:endParaRPr lang="en-IN" dirty="0">
              <a:latin typeface="Courier New" panose="02070309020205020404" pitchFamily="49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742755D-FB83-390A-382C-0B51E0FB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403" y="3262552"/>
            <a:ext cx="3646986" cy="120032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569435E-A13B-3E67-87CE-8F4284B29B46}"/>
              </a:ext>
            </a:extLst>
          </p:cNvPr>
          <p:cNvSpPr txBox="1"/>
          <p:nvPr/>
        </p:nvSpPr>
        <p:spPr>
          <a:xfrm>
            <a:off x="7550402" y="4819658"/>
            <a:ext cx="3646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/>
              <a:t>So:</a:t>
            </a:r>
          </a:p>
          <a:p>
            <a:pPr rtl="0">
              <a:buNone/>
            </a:pPr>
            <a:r>
              <a:rPr lang="en-IN">
                <a:latin typeface="Courier New" panose="02070309020205020404" pitchFamily="49" charset="0"/>
              </a:rPr>
              <a:t>192.168.1.10</a:t>
            </a:r>
          </a:p>
          <a:p>
            <a:pPr>
              <a:buNone/>
            </a:pPr>
            <a:r>
              <a:rPr lang="en-IN"/>
              <a:t>means conceptually:</a:t>
            </a:r>
          </a:p>
          <a:p>
            <a:pPr>
              <a:buNone/>
            </a:pPr>
            <a:r>
              <a:rPr lang="en-IN"/>
              <a:t>"Host 10 on the 192.168.1 network."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286E12-C0DA-8AAB-0E7E-A16E9AAD5564}"/>
              </a:ext>
            </a:extLst>
          </p:cNvPr>
          <p:cNvSpPr txBox="1"/>
          <p:nvPr/>
        </p:nvSpPr>
        <p:spPr>
          <a:xfrm>
            <a:off x="385010" y="540637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highlight>
                  <a:srgbClr val="FFFF00"/>
                </a:highlight>
              </a:rPr>
              <a:t>But there is an important problem:</a:t>
            </a:r>
          </a:p>
          <a:p>
            <a:pPr>
              <a:buNone/>
            </a:pPr>
            <a:r>
              <a:rPr lang="en-IN" b="1" dirty="0">
                <a:highlight>
                  <a:srgbClr val="FFFF00"/>
                </a:highlight>
              </a:rPr>
              <a:t>How does the router know which bits belong to the network and which belong to the host?</a:t>
            </a:r>
          </a:p>
          <a:p>
            <a:pPr>
              <a:buNone/>
            </a:pPr>
            <a:r>
              <a:rPr lang="en-IN" dirty="0">
                <a:highlight>
                  <a:srgbClr val="FFFF00"/>
                </a:highlight>
              </a:rPr>
              <a:t>This is where the </a:t>
            </a:r>
            <a:r>
              <a:rPr lang="en-IN" b="1" dirty="0">
                <a:highlight>
                  <a:srgbClr val="FFFF00"/>
                </a:highlight>
              </a:rPr>
              <a:t>subnet mask/prefix</a:t>
            </a:r>
            <a:r>
              <a:rPr lang="en-IN" dirty="0">
                <a:highlight>
                  <a:srgbClr val="FFFF00"/>
                </a:highlight>
              </a:rPr>
              <a:t> becomes important.</a:t>
            </a:r>
          </a:p>
        </p:txBody>
      </p:sp>
    </p:spTree>
    <p:extLst>
      <p:ext uri="{BB962C8B-B14F-4D97-AF65-F5344CB8AC3E}">
        <p14:creationId xmlns:p14="http://schemas.microsoft.com/office/powerpoint/2010/main" val="2028915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3FA5C-13C2-AFDF-9EE1-6FBB0224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213E-CD5D-80D6-1ADD-55EA179EF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Subnet Mask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862F1-458B-1435-ABA5-755BB944DFDB}"/>
              </a:ext>
            </a:extLst>
          </p:cNvPr>
          <p:cNvSpPr txBox="1"/>
          <p:nvPr/>
        </p:nvSpPr>
        <p:spPr>
          <a:xfrm>
            <a:off x="411480" y="1186388"/>
            <a:ext cx="11523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 subnet mask tells us which portion of an IPv4 address represents the: </a:t>
            </a:r>
            <a:r>
              <a:rPr lang="en-IN" b="1" dirty="0"/>
              <a:t>Network portion </a:t>
            </a:r>
            <a:r>
              <a:rPr lang="en-IN" dirty="0"/>
              <a:t>and which portion represents the: </a:t>
            </a:r>
            <a:r>
              <a:rPr lang="en-IN" b="1" dirty="0"/>
              <a:t>Host portion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D1CDC-C2ED-0083-9074-D4357C843960}"/>
              </a:ext>
            </a:extLst>
          </p:cNvPr>
          <p:cNvSpPr txBox="1"/>
          <p:nvPr/>
        </p:nvSpPr>
        <p:spPr>
          <a:xfrm>
            <a:off x="411480" y="1857557"/>
            <a:ext cx="15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For 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4A4006-EDAF-65B3-2F79-F140463FA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1" y="2370576"/>
            <a:ext cx="1994836" cy="15276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01D46B-B643-90B3-0C0F-0F243810851F}"/>
              </a:ext>
            </a:extLst>
          </p:cNvPr>
          <p:cNvSpPr txBox="1"/>
          <p:nvPr/>
        </p:nvSpPr>
        <p:spPr>
          <a:xfrm>
            <a:off x="411480" y="406675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mask can also be written as: /24 </a:t>
            </a:r>
            <a:br>
              <a:rPr lang="en-IN" dirty="0"/>
            </a:br>
            <a:r>
              <a:rPr lang="en-IN" dirty="0"/>
              <a:t>So, 192.168.1.10/24 means, The first 24 bits represents the network portion.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5FB870-8BBA-8A48-8C0D-97606AEA2BCF}"/>
              </a:ext>
            </a:extLst>
          </p:cNvPr>
          <p:cNvSpPr txBox="1"/>
          <p:nvPr/>
        </p:nvSpPr>
        <p:spPr>
          <a:xfrm>
            <a:off x="7475621" y="1832719"/>
            <a:ext cx="21817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Understanding /24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1B44A7-E0EC-EA2C-8754-D54D6FF8B2AA}"/>
              </a:ext>
            </a:extLst>
          </p:cNvPr>
          <p:cNvSpPr txBox="1"/>
          <p:nvPr/>
        </p:nvSpPr>
        <p:spPr>
          <a:xfrm>
            <a:off x="7234989" y="2185910"/>
            <a:ext cx="26629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Remember: IPV4  = 32 bits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we have,  / 24, it means</a:t>
            </a:r>
            <a:br>
              <a:rPr lang="en-IN" dirty="0"/>
            </a:br>
            <a:r>
              <a:rPr lang="en-IN" dirty="0"/>
              <a:t>24 bits -&gt; Network</a:t>
            </a:r>
            <a:br>
              <a:rPr lang="en-IN" dirty="0"/>
            </a:br>
            <a:r>
              <a:rPr lang="en-IN" dirty="0"/>
              <a:t>8 bits -&gt; Host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Because: 32 – 24 = 8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477DCB-6E4E-F21B-B967-8847066F5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608" y="4796590"/>
            <a:ext cx="6458033" cy="8031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1CE4994-84D9-F817-66E5-1F7CEA092F0E}"/>
              </a:ext>
            </a:extLst>
          </p:cNvPr>
          <p:cNvSpPr txBox="1"/>
          <p:nvPr/>
        </p:nvSpPr>
        <p:spPr>
          <a:xfrm>
            <a:off x="4835608" y="5855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subnetting which we will study later, this thing is very imp.</a:t>
            </a:r>
          </a:p>
        </p:txBody>
      </p:sp>
    </p:spTree>
    <p:extLst>
      <p:ext uri="{BB962C8B-B14F-4D97-AF65-F5344CB8AC3E}">
        <p14:creationId xmlns:p14="http://schemas.microsoft.com/office/powerpoint/2010/main" val="2935314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BEF1C-FEFE-0833-C983-A10D3A1F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EDFBD-2C52-8BD4-013D-B654D107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Address VS Host Address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2A5C1-1639-BC21-C503-E2ADE29476D0}"/>
              </a:ext>
            </a:extLst>
          </p:cNvPr>
          <p:cNvSpPr txBox="1"/>
          <p:nvPr/>
        </p:nvSpPr>
        <p:spPr>
          <a:xfrm>
            <a:off x="657726" y="1114744"/>
            <a:ext cx="111197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Let's take: 192.168.10.25/24</a:t>
            </a:r>
          </a:p>
          <a:p>
            <a:endParaRPr lang="en-IN" dirty="0"/>
          </a:p>
          <a:p>
            <a:r>
              <a:rPr lang="en-IN" dirty="0"/>
              <a:t>The Network is: 192.168.10.0 / 24</a:t>
            </a:r>
          </a:p>
          <a:p>
            <a:endParaRPr lang="en-IN" dirty="0"/>
          </a:p>
          <a:p>
            <a:r>
              <a:rPr lang="en-IN" dirty="0"/>
              <a:t>The Host is: 25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But there are special addresses within a network.</a:t>
            </a:r>
            <a:br>
              <a:rPr lang="en-IN" dirty="0"/>
            </a:br>
            <a:r>
              <a:rPr lang="en-IN" dirty="0"/>
              <a:t>For example: 192.168.10.0 is the Network Address</a:t>
            </a:r>
            <a:br>
              <a:rPr lang="en-IN" dirty="0"/>
            </a:br>
            <a:r>
              <a:rPr lang="en-IN" dirty="0"/>
              <a:t>and</a:t>
            </a:r>
          </a:p>
          <a:p>
            <a:r>
              <a:rPr lang="en-IN" dirty="0"/>
              <a:t>192.168.10.255 is the broadcast address for that /24 network.</a:t>
            </a:r>
          </a:p>
          <a:p>
            <a:endParaRPr lang="en-IN" dirty="0"/>
          </a:p>
          <a:p>
            <a:r>
              <a:rPr lang="en-IN" dirty="0"/>
              <a:t>So typically the usable host addresses are: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192.168.10.1   to    192.168.10.254</a:t>
            </a:r>
          </a:p>
        </p:txBody>
      </p:sp>
    </p:spTree>
    <p:extLst>
      <p:ext uri="{BB962C8B-B14F-4D97-AF65-F5344CB8AC3E}">
        <p14:creationId xmlns:p14="http://schemas.microsoft.com/office/powerpoint/2010/main" val="3134126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6A2F9-B804-7B2A-31E5-C69508925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2834-34A3-36C7-EC64-B22B9AFD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Classful Addressing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9FBC1-1AC7-32C8-7FD9-1B93270D4D8B}"/>
              </a:ext>
            </a:extLst>
          </p:cNvPr>
          <p:cNvSpPr txBox="1"/>
          <p:nvPr/>
        </p:nvSpPr>
        <p:spPr>
          <a:xfrm>
            <a:off x="208546" y="1098702"/>
            <a:ext cx="115689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IPv4 addresses were divided into different classes.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Example: </a:t>
            </a:r>
            <a:br>
              <a:rPr lang="en-IN" dirty="0"/>
            </a:br>
            <a:r>
              <a:rPr lang="en-IN" dirty="0"/>
              <a:t>Imagine two organizations.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Organization A needs millions of hosts.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Organization B needs 100 hosts only.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Giving both organizations the same-size network would waste addresses.</a:t>
            </a:r>
            <a:br>
              <a:rPr lang="en-IN" dirty="0"/>
            </a:br>
            <a:r>
              <a:rPr lang="en-IN" dirty="0"/>
              <a:t>So, IPV4 addresses were divided into classes of different sizes.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9C174-B434-2392-633F-2F4CEECC3C8C}"/>
              </a:ext>
            </a:extLst>
          </p:cNvPr>
          <p:cNvSpPr txBox="1"/>
          <p:nvPr/>
        </p:nvSpPr>
        <p:spPr>
          <a:xfrm>
            <a:off x="411480" y="448946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A → Very large networks</a:t>
            </a:r>
          </a:p>
          <a:p>
            <a:r>
              <a:rPr lang="en-IN" dirty="0"/>
              <a:t>Class B → Medium-sized networks</a:t>
            </a:r>
          </a:p>
          <a:p>
            <a:r>
              <a:rPr lang="en-IN" dirty="0"/>
              <a:t>Class C → Smaller networks</a:t>
            </a:r>
            <a:br>
              <a:rPr lang="en-IN" dirty="0"/>
            </a:br>
            <a:r>
              <a:rPr lang="en-US" dirty="0"/>
              <a:t>Class D → Multicast</a:t>
            </a:r>
          </a:p>
          <a:p>
            <a:r>
              <a:rPr lang="en-US" dirty="0"/>
              <a:t>Class E → Experimental/reserved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416E9-8CAA-42CD-0A5C-AF2F9AC43AC7}"/>
              </a:ext>
            </a:extLst>
          </p:cNvPr>
          <p:cNvSpPr txBox="1"/>
          <p:nvPr/>
        </p:nvSpPr>
        <p:spPr>
          <a:xfrm>
            <a:off x="411480" y="61339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was the original classful addressing system.</a:t>
            </a:r>
          </a:p>
        </p:txBody>
      </p:sp>
    </p:spTree>
    <p:extLst>
      <p:ext uri="{BB962C8B-B14F-4D97-AF65-F5344CB8AC3E}">
        <p14:creationId xmlns:p14="http://schemas.microsoft.com/office/powerpoint/2010/main" val="2421502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2C14-056C-072C-8273-66731838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25872-90B2-9F31-4DFE-EE124C89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A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DC7A4-DD76-1D8D-5681-6168BC61A24B}"/>
              </a:ext>
            </a:extLst>
          </p:cNvPr>
          <p:cNvSpPr txBox="1"/>
          <p:nvPr/>
        </p:nvSpPr>
        <p:spPr>
          <a:xfrm>
            <a:off x="411480" y="1100299"/>
            <a:ext cx="1099140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Class A was designed for </a:t>
            </a:r>
            <a:r>
              <a:rPr lang="en-IN" b="1" dirty="0"/>
              <a:t>very large networks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The first octet identifies the class and the remaining address space provides a very large host space.</a:t>
            </a:r>
          </a:p>
          <a:p>
            <a:pPr>
              <a:buNone/>
            </a:pPr>
            <a:br>
              <a:rPr lang="en-IN" dirty="0"/>
            </a:br>
            <a:r>
              <a:rPr lang="en-IN" dirty="0"/>
              <a:t>The traditional range is:</a:t>
            </a:r>
            <a:br>
              <a:rPr lang="en-IN" dirty="0"/>
            </a:br>
            <a:r>
              <a:rPr lang="en-IN" dirty="0"/>
              <a:t>1.0.0.0</a:t>
            </a:r>
          </a:p>
          <a:p>
            <a:pPr>
              <a:buNone/>
            </a:pPr>
            <a:r>
              <a:rPr lang="en-IN" dirty="0"/>
              <a:t>to</a:t>
            </a:r>
          </a:p>
          <a:p>
            <a:pPr>
              <a:buNone/>
            </a:pPr>
            <a:r>
              <a:rPr lang="en-IN" dirty="0"/>
              <a:t>126.255.255.255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first octet is: 1 – 126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default subnet mask is: 255.0.0.0 OR /8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Conceptually: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Therefore Class A had:</a:t>
            </a:r>
            <a:br>
              <a:rPr lang="en-IN" dirty="0"/>
            </a:br>
            <a:r>
              <a:rPr lang="en-IN" dirty="0"/>
              <a:t>8 network bits</a:t>
            </a:r>
          </a:p>
          <a:p>
            <a:pPr>
              <a:buNone/>
            </a:pPr>
            <a:r>
              <a:rPr lang="en-IN" dirty="0"/>
              <a:t>24 host bits</a:t>
            </a:r>
            <a:br>
              <a:rPr lang="en-IN" dirty="0"/>
            </a:br>
            <a:r>
              <a:rPr lang="en-IN" dirty="0"/>
              <a:t>The host portion can theoretically provide: 2^24 addresses per network, though special addresses are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5D11AB-2B39-36CA-1A53-2AFD535F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098" y="4345213"/>
            <a:ext cx="4667208" cy="89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93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BE71F-98F1-B8CC-1DD3-DE9789C22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0FBB-26BE-323A-BCAA-725A9708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A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5301F-98B8-B923-FFCF-522815DD3446}"/>
              </a:ext>
            </a:extLst>
          </p:cNvPr>
          <p:cNvSpPr txBox="1"/>
          <p:nvPr/>
        </p:nvSpPr>
        <p:spPr>
          <a:xfrm>
            <a:off x="411480" y="1178912"/>
            <a:ext cx="113659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doesn't Class A include 127?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The range: 127.0.0.0/8 is reserved for </a:t>
            </a:r>
            <a:r>
              <a:rPr lang="en-IN" b="1" dirty="0"/>
              <a:t>loopback</a:t>
            </a:r>
            <a:r>
              <a:rPr lang="en-IN" dirty="0"/>
              <a:t>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For example: 127.0.0.1 is commonly used as the IPv4 loopback address. It refers back to the local host rather than being used as an ordinary network destination.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Therefore: Class A: 1 – 126 NOT 1 - 127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73239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AE63-1553-3567-ECA7-DE3968CA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2D30-166A-DC20-2E19-8F1E0A847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A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3BAC3F-54D0-CC6C-11D9-09126240AEF2}"/>
              </a:ext>
            </a:extLst>
          </p:cNvPr>
          <p:cNvSpPr txBox="1"/>
          <p:nvPr/>
        </p:nvSpPr>
        <p:spPr>
          <a:xfrm>
            <a:off x="411480" y="1066522"/>
            <a:ext cx="99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Its structure 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84D45-8E3F-0FFC-9458-068911CF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61" y="1054801"/>
            <a:ext cx="3355755" cy="762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EE92E2-E20F-1B10-5FB5-96E6D588B0F6}"/>
              </a:ext>
            </a:extLst>
          </p:cNvPr>
          <p:cNvSpPr txBox="1"/>
          <p:nvPr/>
        </p:nvSpPr>
        <p:spPr>
          <a:xfrm>
            <a:off x="411480" y="1906545"/>
            <a:ext cx="1155593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Therefore: </a:t>
            </a:r>
            <a:br>
              <a:rPr lang="en-IN" dirty="0"/>
            </a:br>
            <a:r>
              <a:rPr lang="en-IN" dirty="0"/>
              <a:t>Network bits = 8</a:t>
            </a:r>
          </a:p>
          <a:p>
            <a:r>
              <a:rPr lang="en-IN" dirty="0"/>
              <a:t>Host bits    = 24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But there's something interesting here.</a:t>
            </a:r>
          </a:p>
          <a:p>
            <a:r>
              <a:rPr lang="en-IN" dirty="0"/>
              <a:t>The first bit of a Class A address is fixed as: 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So the actual structure is: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2E9279-8BFE-58CA-73F9-2E6B44E18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486" y="3668098"/>
            <a:ext cx="5263281" cy="11605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FC702FF-9365-69F3-4D48-628A62A89EF8}"/>
              </a:ext>
            </a:extLst>
          </p:cNvPr>
          <p:cNvSpPr txBox="1"/>
          <p:nvPr/>
        </p:nvSpPr>
        <p:spPr>
          <a:xfrm>
            <a:off x="411480" y="505219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Therefore: </a:t>
            </a:r>
            <a:br>
              <a:rPr lang="en-IN" dirty="0"/>
            </a:br>
            <a:r>
              <a:rPr lang="en-US" dirty="0"/>
              <a:t>1 bit  → Class identification</a:t>
            </a:r>
          </a:p>
          <a:p>
            <a:r>
              <a:rPr lang="en-US" dirty="0"/>
              <a:t>7 bits → Network ID</a:t>
            </a:r>
          </a:p>
          <a:p>
            <a:r>
              <a:rPr lang="en-US" dirty="0"/>
              <a:t>24 bits → Host ID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Total: 1 + 7 + 24 = 32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108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F64F-F6CC-C4E0-D59A-526BCB911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5318-265B-EEE5-B3A8-BBC81D607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– A - </a:t>
            </a:r>
            <a:r>
              <a:rPr lang="en-IN" dirty="0"/>
              <a:t>Why does Class A start with 0?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EB29B-3AAD-AD16-ED44-D2F4225C5C0B}"/>
              </a:ext>
            </a:extLst>
          </p:cNvPr>
          <p:cNvSpPr txBox="1"/>
          <p:nvPr/>
        </p:nvSpPr>
        <p:spPr>
          <a:xfrm>
            <a:off x="235018" y="1203158"/>
            <a:ext cx="113659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is where the Class A range comes from. A Class A address </a:t>
            </a:r>
            <a:r>
              <a:rPr lang="en-IN" b="1" dirty="0"/>
              <a:t>must begin with binary 0</a:t>
            </a:r>
            <a:r>
              <a:rPr lang="en-IN" dirty="0"/>
              <a:t>.</a:t>
            </a:r>
          </a:p>
          <a:p>
            <a:r>
              <a:rPr lang="en-IN" dirty="0"/>
              <a:t>An 8-bit first octet looks like: 0xxxxxxx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remaining 7 bits can be either 0 or 1. Hence,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smallest possible value is: 00000000 Which is 0.</a:t>
            </a:r>
          </a:p>
          <a:p>
            <a:r>
              <a:rPr lang="en-IN" dirty="0"/>
              <a:t>The Largest Possible value is: 01111111 Which is 127.</a:t>
            </a:r>
          </a:p>
          <a:p>
            <a:endParaRPr lang="en-IN" dirty="0"/>
          </a:p>
          <a:p>
            <a:r>
              <a:rPr lang="en-IN" dirty="0"/>
              <a:t>Therefore, the theoretical first-octet range is: 0 – 127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But not all of it is available for ordinary Class A network assignment.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5007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8E70-6F75-B95D-6183-C9A323F1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1515-FA45-B4B2-0D0E-AB9C00F7D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Networks Possible in Class 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EFC8C-7DFB-2BB0-729B-75222DE6B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60" y="1066081"/>
            <a:ext cx="6314019" cy="663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F14DE3-3078-FE00-B0C6-00E90029D57B}"/>
              </a:ext>
            </a:extLst>
          </p:cNvPr>
          <p:cNvSpPr txBox="1"/>
          <p:nvPr/>
        </p:nvSpPr>
        <p:spPr>
          <a:xfrm>
            <a:off x="535960" y="1938100"/>
            <a:ext cx="11241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first bit is fixed as 0. Therefore, only </a:t>
            </a:r>
            <a:r>
              <a:rPr lang="en-IN" b="1" dirty="0"/>
              <a:t>7 bits remain for identifying networks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So, 2^7 = 128 network numbers are possible.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But 0 and 127 are reserved. </a:t>
            </a:r>
            <a:br>
              <a:rPr lang="en-IN" dirty="0"/>
            </a:br>
            <a:r>
              <a:rPr lang="en-IN" dirty="0"/>
              <a:t>Hence, 128 – 2 = 126 </a:t>
            </a:r>
          </a:p>
        </p:txBody>
      </p:sp>
    </p:spTree>
    <p:extLst>
      <p:ext uri="{BB962C8B-B14F-4D97-AF65-F5344CB8AC3E}">
        <p14:creationId xmlns:p14="http://schemas.microsoft.com/office/powerpoint/2010/main" val="3107117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86A9E-BAD4-7FCC-BFC2-231A7B16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62B20-8A17-71E1-B62C-913B28F3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Host Possible in Class A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3E407-4243-CA4C-A5FD-2D39055D9BA1}"/>
              </a:ext>
            </a:extLst>
          </p:cNvPr>
          <p:cNvSpPr txBox="1"/>
          <p:nvPr/>
        </p:nvSpPr>
        <p:spPr>
          <a:xfrm>
            <a:off x="202932" y="1168079"/>
            <a:ext cx="112415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A has: 24 host bits.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Therefore, 2^24 possible host combinations.</a:t>
            </a:r>
            <a:br>
              <a:rPr lang="en-US" dirty="0"/>
            </a:br>
            <a:br>
              <a:rPr lang="en-US" dirty="0"/>
            </a:br>
            <a:r>
              <a:rPr lang="en-IN" dirty="0"/>
              <a:t>But two addresses have special purposes in a conventional subnet:</a:t>
            </a:r>
            <a:br>
              <a:rPr lang="en-IN" dirty="0"/>
            </a:br>
            <a:r>
              <a:rPr lang="en-IN" dirty="0"/>
              <a:t>All Host bits = 0. This represents the: Network Address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All Host bits = 1. This represents the: Broadcast Address.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Therefore, 2^24 – 2 </a:t>
            </a:r>
            <a:br>
              <a:rPr lang="en-IN" dirty="0"/>
            </a:br>
            <a:r>
              <a:rPr lang="en-IN" dirty="0"/>
              <a:t>16,777,216 – 2 = 16,777,214 usable hosts per traditional class A network.</a:t>
            </a:r>
          </a:p>
        </p:txBody>
      </p:sp>
    </p:spTree>
    <p:extLst>
      <p:ext uri="{BB962C8B-B14F-4D97-AF65-F5344CB8AC3E}">
        <p14:creationId xmlns:p14="http://schemas.microsoft.com/office/powerpoint/2010/main" val="27353899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DADCF-E4E6-1CFB-EB88-73C9D275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FC7A-6FA6-27EF-B9FD-92979C40D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B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49717-734C-7B4B-C1FE-280D279FB4B8}"/>
              </a:ext>
            </a:extLst>
          </p:cNvPr>
          <p:cNvSpPr txBox="1"/>
          <p:nvPr/>
        </p:nvSpPr>
        <p:spPr>
          <a:xfrm>
            <a:off x="411480" y="1146828"/>
            <a:ext cx="113659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B was designed for </a:t>
            </a:r>
            <a:r>
              <a:rPr lang="en-IN" b="1" dirty="0"/>
              <a:t>medium-sized networks</a:t>
            </a:r>
            <a:r>
              <a:rPr lang="en-IN" dirty="0"/>
              <a:t>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Traditional range:</a:t>
            </a:r>
            <a:br>
              <a:rPr lang="en-IN" dirty="0"/>
            </a:br>
            <a:r>
              <a:rPr lang="en-IN" dirty="0"/>
              <a:t>128.0.0.0</a:t>
            </a:r>
          </a:p>
          <a:p>
            <a:r>
              <a:rPr lang="en-IN" dirty="0"/>
              <a:t>to</a:t>
            </a:r>
          </a:p>
          <a:p>
            <a:r>
              <a:rPr lang="en-IN" dirty="0"/>
              <a:t>191.255.255.255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First octet: 128 – 191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Default subnet mask: 255.255.0.0 OR /16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Conceptually:</a:t>
            </a:r>
          </a:p>
          <a:p>
            <a:endParaRPr lang="en-IN" dirty="0"/>
          </a:p>
          <a:p>
            <a:r>
              <a:rPr lang="en-IN" dirty="0"/>
              <a:t>Therefore: 16 network bits and 16 host bits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theoretical number of addresses per Class B network is: 2^16=65,536 with two addresses traditionally unavailable for ordinary host assignment in a conventional subnet: Network Address &amp; Broadcast Address.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So a conventional /16 network has: 65,536−2=65,534 usable host addresses.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A6BA2D-09C5-505C-D0F7-91A35056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45" y="3952007"/>
            <a:ext cx="3965581" cy="78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73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40A5D-5571-9E59-D381-9F0A1DCF1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36D5-F9C2-A7B2-AB4D-D24D47003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B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5ADFD-D3D1-DB44-880D-EDB31B952615}"/>
              </a:ext>
            </a:extLst>
          </p:cNvPr>
          <p:cNvSpPr txBox="1"/>
          <p:nvPr/>
        </p:nvSpPr>
        <p:spPr>
          <a:xfrm>
            <a:off x="411480" y="1138989"/>
            <a:ext cx="1575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Its structure is: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9407D6-5D06-4ABF-4411-BEA908E76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783" y="1034857"/>
            <a:ext cx="3632471" cy="9469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5E8A62-9BCC-5C20-8EF8-400F1225B2B0}"/>
              </a:ext>
            </a:extLst>
          </p:cNvPr>
          <p:cNvSpPr txBox="1"/>
          <p:nvPr/>
        </p:nvSpPr>
        <p:spPr>
          <a:xfrm>
            <a:off x="411480" y="2143890"/>
            <a:ext cx="113659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But the first two bits are used to identify the class.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Class B starts with: 10, therefore,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So:</a:t>
            </a:r>
            <a:br>
              <a:rPr lang="en-IN" dirty="0"/>
            </a:br>
            <a:r>
              <a:rPr lang="en-US" dirty="0"/>
              <a:t>2 bits  → Class identification</a:t>
            </a:r>
          </a:p>
          <a:p>
            <a:r>
              <a:rPr lang="en-US" dirty="0"/>
              <a:t>14 bits → Network ID</a:t>
            </a:r>
          </a:p>
          <a:p>
            <a:r>
              <a:rPr lang="en-US" dirty="0"/>
              <a:t>16 bits → Host ID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Total: 2 + 14 + 16 = 32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6CFD96-A44C-EBA9-6DB1-B93D6486E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851" y="2605554"/>
            <a:ext cx="4468412" cy="82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51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DF25-6A2B-C437-7501-105C4C837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5FC9-5375-1394-637B-6CF1B436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– B - </a:t>
            </a:r>
            <a:r>
              <a:rPr lang="en-IN" dirty="0"/>
              <a:t>Why does Class B start with 10?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67F53E-5EDD-47C4-79D9-60406DD93D86}"/>
              </a:ext>
            </a:extLst>
          </p:cNvPr>
          <p:cNvSpPr txBox="1"/>
          <p:nvPr/>
        </p:nvSpPr>
        <p:spPr>
          <a:xfrm>
            <a:off x="411480" y="1229490"/>
            <a:ext cx="113659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first two bits are fixed: 10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remaining six bits of the first octet can vary.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So the first octet ranges from: 10000000 to 10111111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Minimum: 10000000 = 128</a:t>
            </a:r>
            <a:br>
              <a:rPr lang="en-IN" dirty="0"/>
            </a:br>
            <a:r>
              <a:rPr lang="en-IN" dirty="0"/>
              <a:t>Maximum: 10111111 = 191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Therefore, range is: 128 - 191</a:t>
            </a:r>
          </a:p>
        </p:txBody>
      </p:sp>
    </p:spTree>
    <p:extLst>
      <p:ext uri="{BB962C8B-B14F-4D97-AF65-F5344CB8AC3E}">
        <p14:creationId xmlns:p14="http://schemas.microsoft.com/office/powerpoint/2010/main" val="2470423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C90BB-1798-89B2-AD66-BBCEDA6B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64B24-3717-8336-80F1-F8EAC6F7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Networks Possible in Class B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C742B-7EDE-1511-E86E-B427300A6850}"/>
              </a:ext>
            </a:extLst>
          </p:cNvPr>
          <p:cNvSpPr txBox="1"/>
          <p:nvPr/>
        </p:nvSpPr>
        <p:spPr>
          <a:xfrm>
            <a:off x="411480" y="1229490"/>
            <a:ext cx="1136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We have: 14 bits → Network 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36AE81-37D2-88DE-C6A5-4DAE74201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51428"/>
            <a:ext cx="7481236" cy="383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2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48A8-F3BE-1E26-F0A3-3D470C68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6649-82DE-8F9F-2934-70994D0D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Host Possible in Class B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AECDE-78F3-6700-0DC5-76A6B8233E9F}"/>
              </a:ext>
            </a:extLst>
          </p:cNvPr>
          <p:cNvSpPr txBox="1"/>
          <p:nvPr/>
        </p:nvSpPr>
        <p:spPr>
          <a:xfrm>
            <a:off x="411480" y="1229490"/>
            <a:ext cx="1136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 are: 16 Host bits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2C0B7-0EFD-1F8C-A73B-2825C7D9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98822"/>
            <a:ext cx="7679025" cy="1899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8A5333-06D4-026B-11C5-ED9171B6D6B3}"/>
              </a:ext>
            </a:extLst>
          </p:cNvPr>
          <p:cNvSpPr txBox="1"/>
          <p:nvPr/>
        </p:nvSpPr>
        <p:spPr>
          <a:xfrm>
            <a:off x="411480" y="35440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 Network address</a:t>
            </a:r>
          </a:p>
          <a:p>
            <a:r>
              <a:rPr lang="en-IN" dirty="0"/>
              <a:t>1 Broadcast address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C680B-89B0-6F4F-B7CD-0803A2079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236571"/>
            <a:ext cx="7122003" cy="212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413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D180C-D6D0-68DD-A05C-CB042D6B8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B75F-34FA-099C-7B56-52D47878F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C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99C3F-F9ED-3FDD-28D0-C7D8C4A3A289}"/>
              </a:ext>
            </a:extLst>
          </p:cNvPr>
          <p:cNvSpPr txBox="1"/>
          <p:nvPr/>
        </p:nvSpPr>
        <p:spPr>
          <a:xfrm>
            <a:off x="411480" y="1098701"/>
            <a:ext cx="1153988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C was designed for </a:t>
            </a:r>
            <a:r>
              <a:rPr lang="en-IN" b="1" dirty="0"/>
              <a:t>smaller networks</a:t>
            </a:r>
            <a:r>
              <a:rPr lang="en-IN" dirty="0"/>
              <a:t>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Traditional range:</a:t>
            </a:r>
            <a:br>
              <a:rPr lang="en-IN" dirty="0"/>
            </a:br>
            <a:r>
              <a:rPr lang="en-IN" dirty="0"/>
              <a:t>192.0.0.0</a:t>
            </a:r>
          </a:p>
          <a:p>
            <a:r>
              <a:rPr lang="en-IN" dirty="0"/>
              <a:t>to</a:t>
            </a:r>
          </a:p>
          <a:p>
            <a:r>
              <a:rPr lang="en-IN" dirty="0"/>
              <a:t>223.255.255.255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First octet: 192 – 223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Default subnet mask: 255.255.255.0 OR /24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Conceptually:</a:t>
            </a:r>
          </a:p>
          <a:p>
            <a:endParaRPr lang="en-IN" dirty="0"/>
          </a:p>
          <a:p>
            <a:r>
              <a:rPr lang="en-IN" dirty="0"/>
              <a:t>So: 24 network bits 8 host bits.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Theoretical addresses: 2^8=256</a:t>
            </a:r>
            <a:br>
              <a:rPr lang="en-IN" dirty="0"/>
            </a:br>
            <a:br>
              <a:rPr lang="en-IN" dirty="0"/>
            </a:br>
            <a:r>
              <a:rPr lang="en-IN" dirty="0"/>
              <a:t>Usable host addresses: 256−2=254 for a conventional /24 subnet.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E9E62F-1A7A-5978-5A2A-C2CE2481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809" y="3924684"/>
            <a:ext cx="3454212" cy="7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437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5D0B-4B2C-9E19-FC83-C6742BEC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9183-F431-8D1C-52FE-E89C30D1F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C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F553A-F001-3F65-823B-A8704EF0C672}"/>
              </a:ext>
            </a:extLst>
          </p:cNvPr>
          <p:cNvSpPr txBox="1"/>
          <p:nvPr/>
        </p:nvSpPr>
        <p:spPr>
          <a:xfrm>
            <a:off x="411480" y="1203158"/>
            <a:ext cx="113659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C starts with: 110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Its structure is: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Therefore:</a:t>
            </a:r>
            <a:br>
              <a:rPr lang="en-IN" dirty="0"/>
            </a:br>
            <a:r>
              <a:rPr lang="en-US" dirty="0"/>
              <a:t>3 bits  → Class identification</a:t>
            </a:r>
          </a:p>
          <a:p>
            <a:r>
              <a:rPr lang="en-US" dirty="0"/>
              <a:t>21 bits → Network ID</a:t>
            </a:r>
          </a:p>
          <a:p>
            <a:r>
              <a:rPr lang="en-US" dirty="0"/>
              <a:t>8 bits  → Host ID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Total: 3 + 21 + 8 = 32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16EB1-1EB6-D0A0-8E0B-A43C1A5D8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597" y="1664823"/>
            <a:ext cx="4552623" cy="119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159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0329E-73BA-04E9-0819-09E62CC5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0470-E497-58AA-773B-CEAAC83C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– C - </a:t>
            </a:r>
            <a:r>
              <a:rPr lang="en-IN" dirty="0"/>
              <a:t>Why does Class C start with 110?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5E3AD-2EB5-F624-DB46-B892EE42C9CE}"/>
              </a:ext>
            </a:extLst>
          </p:cNvPr>
          <p:cNvSpPr txBox="1"/>
          <p:nvPr/>
        </p:nvSpPr>
        <p:spPr>
          <a:xfrm>
            <a:off x="529390" y="1187116"/>
            <a:ext cx="112480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first three bits are fixed: 110</a:t>
            </a:r>
            <a:br>
              <a:rPr lang="en-IN" dirty="0"/>
            </a:br>
            <a:r>
              <a:rPr lang="en-IN" dirty="0"/>
              <a:t>The remaining five bits can vary.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 the first octet ranges from: 11000000 to 11011111.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Minimum: 11000000 = 192</a:t>
            </a:r>
            <a:br>
              <a:rPr lang="en-IN" dirty="0"/>
            </a:br>
            <a:r>
              <a:rPr lang="en-IN" dirty="0"/>
              <a:t>Maximum: 11011111 = 223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Therefore, range is: 192 - 223</a:t>
            </a:r>
          </a:p>
        </p:txBody>
      </p:sp>
    </p:spTree>
    <p:extLst>
      <p:ext uri="{BB962C8B-B14F-4D97-AF65-F5344CB8AC3E}">
        <p14:creationId xmlns:p14="http://schemas.microsoft.com/office/powerpoint/2010/main" val="4196397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FB70D-097F-7E6E-8558-3995D24C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DC40-BF86-4418-82FF-7B1E3239F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Networks Possible in Class C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02BD4F-049D-D19E-3269-AD49E00D76D5}"/>
              </a:ext>
            </a:extLst>
          </p:cNvPr>
          <p:cNvSpPr txBox="1"/>
          <p:nvPr/>
        </p:nvSpPr>
        <p:spPr>
          <a:xfrm>
            <a:off x="529390" y="1187116"/>
            <a:ext cx="1124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C has: 21 Network bits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D9B187-CE78-A8D0-E736-97FC53165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390" y="1766680"/>
            <a:ext cx="8566484" cy="414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60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A984-6773-AB70-F769-8F22835F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8745-0755-31A9-3267-885C7EC1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Host Possible in Class C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30D48-DF37-2630-7A64-41127A62864E}"/>
              </a:ext>
            </a:extLst>
          </p:cNvPr>
          <p:cNvSpPr txBox="1"/>
          <p:nvPr/>
        </p:nvSpPr>
        <p:spPr>
          <a:xfrm>
            <a:off x="529390" y="1187116"/>
            <a:ext cx="11248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C has: 8 Host bits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14CA3-A722-168C-B76A-0905F4380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405" y="1622051"/>
            <a:ext cx="5588167" cy="20031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7F361E-4B30-812C-044B-FFE1DF0E2C29}"/>
              </a:ext>
            </a:extLst>
          </p:cNvPr>
          <p:cNvSpPr txBox="1"/>
          <p:nvPr/>
        </p:nvSpPr>
        <p:spPr>
          <a:xfrm>
            <a:off x="727405" y="36907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Network address</a:t>
            </a:r>
          </a:p>
          <a:p>
            <a:r>
              <a:rPr lang="en-IN" dirty="0"/>
              <a:t>Broadcast address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7BBDBA-A323-DE20-E83B-FB11A97F1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" y="4402689"/>
            <a:ext cx="6882064" cy="227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73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8105-FE6D-C7B8-9640-38A2F527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30F6A-249F-AEE2-22B0-24BCF093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A6920-3482-D5FC-35F7-BBB45B89460C}"/>
              </a:ext>
            </a:extLst>
          </p:cNvPr>
          <p:cNvSpPr txBox="1"/>
          <p:nvPr/>
        </p:nvSpPr>
        <p:spPr>
          <a:xfrm>
            <a:off x="411480" y="1178817"/>
            <a:ext cx="103015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D is different. It is used for </a:t>
            </a:r>
            <a:r>
              <a:rPr lang="en-IN" b="1" dirty="0"/>
              <a:t>MULTICAST.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Range: </a:t>
            </a:r>
            <a:br>
              <a:rPr lang="en-IN" dirty="0"/>
            </a:br>
            <a:r>
              <a:rPr lang="en-IN" dirty="0"/>
              <a:t>224.0.0.0</a:t>
            </a:r>
          </a:p>
          <a:p>
            <a:r>
              <a:rPr lang="en-IN" dirty="0"/>
              <a:t>to</a:t>
            </a:r>
          </a:p>
          <a:p>
            <a:r>
              <a:rPr lang="en-IN" dirty="0"/>
              <a:t>239.255.255.255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 is </a:t>
            </a:r>
            <a:r>
              <a:rPr lang="en-IN" b="1" dirty="0"/>
              <a:t>not divided into the traditional network/host structure used by Classes A, B and C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For example, multicast allows one sender to communicate with a group of receivers.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Conceptually: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08C7CE-F8AB-BDCC-2F9C-28081E0AC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329" y="3817419"/>
            <a:ext cx="3979334" cy="1405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6981F4-EB10-5478-963C-8ADEA3574DC0}"/>
              </a:ext>
            </a:extLst>
          </p:cNvPr>
          <p:cNvSpPr txBox="1"/>
          <p:nvPr/>
        </p:nvSpPr>
        <p:spPr>
          <a:xfrm>
            <a:off x="411480" y="5672253"/>
            <a:ext cx="1136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Instead of sending three separate transmissions, multicast allows the sender to send to a multicast group.</a:t>
            </a:r>
          </a:p>
        </p:txBody>
      </p:sp>
    </p:spTree>
    <p:extLst>
      <p:ext uri="{BB962C8B-B14F-4D97-AF65-F5344CB8AC3E}">
        <p14:creationId xmlns:p14="http://schemas.microsoft.com/office/powerpoint/2010/main" val="135248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36CC8-754A-A7A0-D966-781C1A470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C256-DD8C-2295-7B2A-4B0BA996D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- 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7A288-9CEC-F223-37BF-39E8801CEA48}"/>
              </a:ext>
            </a:extLst>
          </p:cNvPr>
          <p:cNvSpPr txBox="1"/>
          <p:nvPr/>
        </p:nvSpPr>
        <p:spPr>
          <a:xfrm>
            <a:off x="411480" y="1178911"/>
            <a:ext cx="115078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E historically covers:</a:t>
            </a:r>
            <a:br>
              <a:rPr lang="en-IN" dirty="0"/>
            </a:br>
            <a:r>
              <a:rPr lang="en-IN" dirty="0"/>
              <a:t>240.0.0.0</a:t>
            </a:r>
          </a:p>
          <a:p>
            <a:r>
              <a:rPr lang="en-IN" dirty="0"/>
              <a:t>to</a:t>
            </a:r>
          </a:p>
          <a:p>
            <a:r>
              <a:rPr lang="en-IN" dirty="0"/>
              <a:t>255.255.255.255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 was reserved for: Experimental / reserved purposes.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It was not intended for ordinary host addressing.</a:t>
            </a:r>
          </a:p>
        </p:txBody>
      </p:sp>
    </p:spTree>
    <p:extLst>
      <p:ext uri="{BB962C8B-B14F-4D97-AF65-F5344CB8AC3E}">
        <p14:creationId xmlns:p14="http://schemas.microsoft.com/office/powerpoint/2010/main" val="3697648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F7DEF-D418-A3C2-CA12-F76F41DF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17E5-B506-0AC5-C865-C41AD20DD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Classful Addressing 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BD041B-CEA7-B45E-804A-A65DBC6AD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168073"/>
              </p:ext>
            </p:extLst>
          </p:nvPr>
        </p:nvGraphicFramePr>
        <p:xfrm>
          <a:off x="524042" y="1377392"/>
          <a:ext cx="895684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1368">
                  <a:extLst>
                    <a:ext uri="{9D8B030D-6E8A-4147-A177-3AD203B41FA5}">
                      <a16:colId xmlns:a16="http://schemas.microsoft.com/office/drawing/2014/main" val="512878694"/>
                    </a:ext>
                  </a:extLst>
                </a:gridCol>
                <a:gridCol w="1791368">
                  <a:extLst>
                    <a:ext uri="{9D8B030D-6E8A-4147-A177-3AD203B41FA5}">
                      <a16:colId xmlns:a16="http://schemas.microsoft.com/office/drawing/2014/main" val="1484045718"/>
                    </a:ext>
                  </a:extLst>
                </a:gridCol>
                <a:gridCol w="1791368">
                  <a:extLst>
                    <a:ext uri="{9D8B030D-6E8A-4147-A177-3AD203B41FA5}">
                      <a16:colId xmlns:a16="http://schemas.microsoft.com/office/drawing/2014/main" val="3482657375"/>
                    </a:ext>
                  </a:extLst>
                </a:gridCol>
                <a:gridCol w="1791368">
                  <a:extLst>
                    <a:ext uri="{9D8B030D-6E8A-4147-A177-3AD203B41FA5}">
                      <a16:colId xmlns:a16="http://schemas.microsoft.com/office/drawing/2014/main" val="1281656119"/>
                    </a:ext>
                  </a:extLst>
                </a:gridCol>
                <a:gridCol w="1791368">
                  <a:extLst>
                    <a:ext uri="{9D8B030D-6E8A-4147-A177-3AD203B41FA5}">
                      <a16:colId xmlns:a16="http://schemas.microsoft.com/office/drawing/2014/main" val="2655970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First Octet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Default Mask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Prefix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45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1–126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255.0.0.0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/8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Very large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26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B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128–191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255.255.0.0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/16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Medium-sized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83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192–223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255.255.255.0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/24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Smaller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886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224–239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Multicast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8019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240–255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Experimental/reserved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189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2565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2F8FD-A538-6220-85F5-2B7B7F37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25910-A0AC-B2E0-142B-A469ED00C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Practice Questions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95A29-B111-7139-B783-DED141208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41784"/>
            <a:ext cx="11146536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18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1E92-01FB-DC05-BCCF-B63C82B4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60C2E2-96EE-F510-6BFE-DF1E9F23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1922"/>
            <a:ext cx="9693140" cy="415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760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6F7F-95AE-FA77-5804-F7099A47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FE50F5-FCBF-4F07-8570-F96818A80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34302"/>
            <a:ext cx="8564170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2559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CA849-902D-34CF-2834-847914CC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F48FC-B27F-81BB-2481-54D635201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67" y="1396514"/>
            <a:ext cx="9223977" cy="371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495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C92D7-10C3-2652-2F4E-D458DD96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A46F14-8A9F-8B19-2778-3081292E0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76" y="1017740"/>
            <a:ext cx="10620396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945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1F4EB-B0FC-7F41-36B0-BE189907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1D2DC1-5E8F-F4ED-104B-B7ED2301D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41" y="1369464"/>
            <a:ext cx="9837007" cy="41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011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E32F-77D1-7DA4-3371-3289C1C6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2F470-37F5-8B1A-B20C-669545253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8462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89296-FBC0-83FD-BB8E-B8B60DFE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DF4F8-2353-BC16-BD54-B9AF47C1D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6117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A522-E6E9-E62E-4CC4-A8CA4D340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59D5C-50CF-6CEE-1255-E468266F7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5845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DECB5-8F1F-66F1-B37E-9AEA93CF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42A84-1B4B-9A3A-F385-226F4671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8486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A9CB-0251-A588-70C7-EF2F5377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CF1E-C219-0E98-0478-EB34D324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5704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6D08A-03EC-F3CD-13EB-D8E7FBFD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C192-9908-F7AA-2118-86B29D86C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4022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6E48-B77F-2935-E402-B1B66CE6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C4D4-FBF7-27C8-B1D9-7B610D147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00807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E884-9A6B-7E92-F07B-79A65B14D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D0B95-75CB-A691-88EE-49D23E1FA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8365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78AE6-1B01-FEF5-AD09-5386BE34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953E-2A62-F507-9ACC-3189B574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53173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66E7A-5598-6CAF-C072-256F2C30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C868-FFA1-33FB-E55D-0AA55999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3520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83C11-7C85-F805-4A1E-4B082180B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7A83-ACCE-5C33-753C-2EE6D8654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12677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800DF-5374-0F8B-7578-CE006AF99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704C-620F-9C16-5E04-1A9AB1F8A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80412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ED0-095B-EA29-F09A-78CCD5E6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4A8AE-4D30-FCCC-A896-57DA452B4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97073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1E38-3392-EB69-3DE3-E37CB95E3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DB6C-CAAA-2D8D-785B-8CA797C96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4602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A9F95-CD31-76CC-B6A1-F39C30D4A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7326-AB8A-3C3B-C55A-C85A953A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36182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7774A-A329-720E-9E23-310FDF1A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B584-B129-9901-7922-B0D4CC0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539416"/>
            <a:ext cx="11365992" cy="4374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573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8712</TotalTime>
  <Words>3531</Words>
  <Application>Microsoft Office PowerPoint</Application>
  <PresentationFormat>Widescreen</PresentationFormat>
  <Paragraphs>400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Calibri Light</vt:lpstr>
      <vt:lpstr>Courier New</vt:lpstr>
      <vt:lpstr>Office Theme</vt:lpstr>
      <vt:lpstr>Computer Networks</vt:lpstr>
      <vt:lpstr>Contents</vt:lpstr>
      <vt:lpstr>Where does the Network Layer come in?</vt:lpstr>
      <vt:lpstr>Network Layer Desing Issues / Responsibilities.</vt:lpstr>
      <vt:lpstr>Network Layer Desing Issues / Responsibilities.</vt:lpstr>
      <vt:lpstr>1. Logical Addressing</vt:lpstr>
      <vt:lpstr>2. Routing</vt:lpstr>
      <vt:lpstr>2. Routing</vt:lpstr>
      <vt:lpstr>3. Forwarding</vt:lpstr>
      <vt:lpstr>4. Internetworking</vt:lpstr>
      <vt:lpstr>5. Packet Switching / Store-and-forward</vt:lpstr>
      <vt:lpstr>5. Packet Switching / Store-and-forward</vt:lpstr>
      <vt:lpstr>6. Connectionless / Datagram Service</vt:lpstr>
      <vt:lpstr>6. Connectionless / Datagram Service</vt:lpstr>
      <vt:lpstr>7. Fragmentation and Reassembly</vt:lpstr>
      <vt:lpstr>9. Congestion Control / Traffic Management</vt:lpstr>
      <vt:lpstr>9. Congestion Control / Traffic Management</vt:lpstr>
      <vt:lpstr>IP Addressing</vt:lpstr>
      <vt:lpstr>IP Addressing</vt:lpstr>
      <vt:lpstr>IP Addressing</vt:lpstr>
      <vt:lpstr>IP Addressing</vt:lpstr>
      <vt:lpstr>IP Addressing</vt:lpstr>
      <vt:lpstr>IPv4 and IPV6</vt:lpstr>
      <vt:lpstr>PowerPoint Presentation</vt:lpstr>
      <vt:lpstr>PowerPoint Presentation</vt:lpstr>
      <vt:lpstr>Subnet Mask</vt:lpstr>
      <vt:lpstr>Network Address VS Host Address</vt:lpstr>
      <vt:lpstr>Classful Addressing</vt:lpstr>
      <vt:lpstr>Class - A</vt:lpstr>
      <vt:lpstr>Class - A</vt:lpstr>
      <vt:lpstr>Class - A</vt:lpstr>
      <vt:lpstr>Class – A - Why does Class A start with 0?</vt:lpstr>
      <vt:lpstr>Networks Possible in Class A</vt:lpstr>
      <vt:lpstr>Host Possible in Class A</vt:lpstr>
      <vt:lpstr>Class - B</vt:lpstr>
      <vt:lpstr>Class - B</vt:lpstr>
      <vt:lpstr>Class – B - Why does Class B start with 10?</vt:lpstr>
      <vt:lpstr>Networks Possible in Class B</vt:lpstr>
      <vt:lpstr>Host Possible in Class B</vt:lpstr>
      <vt:lpstr>Class - C</vt:lpstr>
      <vt:lpstr>Class - C</vt:lpstr>
      <vt:lpstr>Class – C - Why does Class C start with 110?</vt:lpstr>
      <vt:lpstr>Networks Possible in Class C</vt:lpstr>
      <vt:lpstr>Host Possible in Class C</vt:lpstr>
      <vt:lpstr>Class - D</vt:lpstr>
      <vt:lpstr>Class - E</vt:lpstr>
      <vt:lpstr>Classful Addressing </vt:lpstr>
      <vt:lpstr>Practice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76</cp:revision>
  <dcterms:created xsi:type="dcterms:W3CDTF">2026-06-17T09:11:57Z</dcterms:created>
  <dcterms:modified xsi:type="dcterms:W3CDTF">2026-09-03T04:45:17Z</dcterms:modified>
</cp:coreProperties>
</file>