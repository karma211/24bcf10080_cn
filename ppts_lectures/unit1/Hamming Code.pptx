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24" autoAdjust="0"/>
    <p:restoredTop sz="94660"/>
  </p:normalViewPr>
  <p:slideViewPr>
    <p:cSldViewPr snapToGrid="0">
      <p:cViewPr>
        <p:scale>
          <a:sx n="100" d="100"/>
          <a:sy n="100" d="100"/>
        </p:scale>
        <p:origin x="126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5773-B1AC-BC0E-CFD8-4D8378326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88C7D-66EE-1D8A-4E59-DA37206D5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8B305-8AAE-6408-0335-600D7C67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F6658-8A73-5FDD-D903-D5B6DECC8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3AE8-044E-2594-19B9-A2EFFB26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22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0AAA-3591-5CB3-CA38-0B15FD0F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7A47-66FD-7200-5F9F-E4722C3B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E5A29-9F33-4763-D6CC-DDF9A450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64AE5-7FFF-6F35-6FA7-CC13C8966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C672E-5444-8D6C-A191-7AB3E31A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6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8D7D-A2D8-4ED2-2457-87C7EF04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BDE51-42C7-939E-8158-BBB15B0DC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9974-ADC5-F478-65AE-525035E8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BDE1B-3991-267C-B57D-F09FBC42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D70E0-E8C5-FE6C-1082-AD198F5F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8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AB8B-BF28-D78B-8B2E-AF8C405D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1C8DB-F364-5FE7-3786-D2E718AB6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B8529-16C5-4862-445D-BCA158FF2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1D2EE-7F35-EA0E-446E-70351129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68F81-8363-08C7-9A29-B02D6C60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A3A1D-53FA-F79F-76AF-50D0E6E2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25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C700-1A94-ED42-6654-36AFDDEA5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49D24-82BD-561D-731C-B978A5C2E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13703-36AE-8B25-96C2-6B053BBF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F0F2F-A23B-3446-506F-EA273E18D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C03D5-B542-BC77-C3F0-B90C8C650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BA885-EDD8-757B-9C83-8663ED0C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23321-E356-172F-F9C1-2E4F8ECF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E630A-5836-0DD5-19D2-B7D0468C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42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3F3B-009D-9048-0C4A-B0770141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AC7D1-8137-78E9-FE2C-7CE55329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67DE1-333F-5A58-BFDF-F69E071C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C11F4-328F-A5F2-9B7F-3ECCF77D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46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73CE1-8F36-C471-5340-92AC2A84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2124E-82C7-7BA5-7C63-CE47FE99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7EF9A-892D-73B9-5D3C-A192C703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2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52E1-55FB-E2E3-11D7-7D7D38F7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A5A36-B408-BE9A-E420-3E677AE4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8B237-A081-F84C-CB67-2FA703064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ED944-F9BA-D403-B21F-7C643D29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28A2B-CCD3-BF38-F89E-00CF1603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CBA4A-2B5D-988B-7248-59BAD108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30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139A2-A4FF-84DD-23A3-2A811191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DEF9C-88E5-1F2B-D771-91A915D4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26960-36CE-5C16-012D-5B2A963DD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8B837-6FEF-2DFF-9E41-80680696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733FE-3B8C-CCE5-2BE2-B6382598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862F-77A3-9C3E-A9E3-389336B1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4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CA42-05B3-F5DE-F4B9-5B85D3D9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3643F-8CF0-0568-56E0-97BE91564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9D09C-7908-09C1-F350-445F4D5C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72A0A-DE65-25BB-CE57-4CCF5338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2590C-CCE6-75CB-32EC-CF312DE4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95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B5D9A-8D65-F470-85CD-21B7DD7DC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39A-62CF-C5E1-E9BA-96750D44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F1B21-C5B6-D96C-D3AC-75688394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1E39B-5055-032F-184A-1BE963A1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A89C7-DDDF-E115-1AC8-216E2F79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460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F9478-FBC1-5D4D-663F-DED90B3D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2703C-FC20-3BEE-4AA1-0B471C981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10751-60B3-3D1D-485D-5FC90223E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9D7C3-6485-4D92-9183-FCB08CFB2C40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D5DCC-8ED5-53C8-F87A-B0AB56B78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B1F8-DDD6-4E10-8B2B-A1508B282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59099-AEFE-4D53-875C-86877AE4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89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CD19-DAF8-902C-0B75-DF62FA75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1" y="194644"/>
            <a:ext cx="11618386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Hamming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E536-0A8B-B00C-581E-0AF212102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63" y="1100380"/>
            <a:ext cx="11618385" cy="5562975"/>
          </a:xfrm>
        </p:spPr>
        <p:txBody>
          <a:bodyPr/>
          <a:lstStyle/>
          <a:p>
            <a:r>
              <a:rPr lang="en-US" dirty="0"/>
              <a:t>It is an error detection and error correction code.</a:t>
            </a:r>
          </a:p>
          <a:p>
            <a:r>
              <a:rPr lang="en-US" dirty="0"/>
              <a:t>Data can be of any length.</a:t>
            </a:r>
          </a:p>
          <a:p>
            <a:r>
              <a:rPr lang="en-US" dirty="0"/>
              <a:t>No. of parity bit is decided by: 2^n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043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3554-48E9-08AA-B252-5A09E9FAA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7880-41D1-C1F5-BF4F-6B7E13A3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1" y="194644"/>
            <a:ext cx="11618386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Hamming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CB47C-7008-C35B-9211-67854A3EE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63" y="1100380"/>
            <a:ext cx="11618385" cy="5562975"/>
          </a:xfrm>
        </p:spPr>
        <p:txBody>
          <a:bodyPr/>
          <a:lstStyle/>
          <a:p>
            <a:r>
              <a:rPr lang="en-US" dirty="0"/>
              <a:t>Positions for parity bits are decided by 2^n, where n can be 0,1,2….n.</a:t>
            </a:r>
          </a:p>
          <a:p>
            <a:r>
              <a:rPr lang="en-US" dirty="0"/>
              <a:t>2^0 = 1</a:t>
            </a:r>
          </a:p>
          <a:p>
            <a:r>
              <a:rPr lang="en-US" dirty="0"/>
              <a:t>2^1 = 2</a:t>
            </a:r>
          </a:p>
          <a:p>
            <a:r>
              <a:rPr lang="en-US" dirty="0"/>
              <a:t>2^2 = 4</a:t>
            </a:r>
          </a:p>
          <a:p>
            <a:r>
              <a:rPr lang="en-US" dirty="0"/>
              <a:t>2^3 = 8 and so 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5B6B8-285E-E911-E41C-D2EB0917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32" y="4342402"/>
            <a:ext cx="7137153" cy="141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6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4BDC-80E4-EF74-04CF-C7CD4977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7182-8319-920D-2C13-D802915A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1" y="194644"/>
            <a:ext cx="11618386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Hamming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A434-71F1-8BA5-EAC0-6195093C1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63" y="1100380"/>
            <a:ext cx="11618385" cy="5562975"/>
          </a:xfrm>
        </p:spPr>
        <p:txBody>
          <a:bodyPr/>
          <a:lstStyle/>
          <a:p>
            <a:r>
              <a:rPr lang="en-US" dirty="0"/>
              <a:t>Parity Bits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2C1106-B6D9-CA0C-BCC3-68A482DBB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850218"/>
              </p:ext>
            </p:extLst>
          </p:nvPr>
        </p:nvGraphicFramePr>
        <p:xfrm>
          <a:off x="522515" y="1760220"/>
          <a:ext cx="304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56126912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86106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550509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64180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69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62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152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23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07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787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790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047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2F3B32-8C67-5368-5C28-91692219DE35}"/>
              </a:ext>
            </a:extLst>
          </p:cNvPr>
          <p:cNvSpPr txBox="1"/>
          <p:nvPr/>
        </p:nvSpPr>
        <p:spPr>
          <a:xfrm>
            <a:off x="4542971" y="1100380"/>
            <a:ext cx="72822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Use 7 bit hamming code for error detection and correction. Use Even parity.</a:t>
            </a:r>
          </a:p>
          <a:p>
            <a:r>
              <a:rPr lang="en-US" dirty="0"/>
              <a:t>Data: 1001 </a:t>
            </a:r>
          </a:p>
          <a:p>
            <a:endParaRPr lang="en-US" dirty="0"/>
          </a:p>
          <a:p>
            <a:r>
              <a:rPr lang="en-US" dirty="0"/>
              <a:t>Parity Bits = ? - &gt; 3 (as data bits are 4)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A62E43-09E0-0CD8-3559-378B0FAFA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2967"/>
              </p:ext>
            </p:extLst>
          </p:nvPr>
        </p:nvGraphicFramePr>
        <p:xfrm>
          <a:off x="5406411" y="2687320"/>
          <a:ext cx="63282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C198A5-2383-9DE2-E9FA-82E2345CED3F}"/>
              </a:ext>
            </a:extLst>
          </p:cNvPr>
          <p:cNvSpPr txBox="1"/>
          <p:nvPr/>
        </p:nvSpPr>
        <p:spPr>
          <a:xfrm>
            <a:off x="4267200" y="2873829"/>
            <a:ext cx="105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20F31-5094-3472-C2C5-1FD68238A1E3}"/>
              </a:ext>
            </a:extLst>
          </p:cNvPr>
          <p:cNvSpPr txBox="1"/>
          <p:nvPr/>
        </p:nvSpPr>
        <p:spPr>
          <a:xfrm>
            <a:off x="5936185" y="3630945"/>
            <a:ext cx="5798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how we will calculate the parity bits?</a:t>
            </a:r>
            <a:br>
              <a:rPr lang="en-US" dirty="0"/>
            </a:br>
            <a:r>
              <a:rPr lang="en-US" dirty="0"/>
              <a:t>P1 -&gt; D3 , D5 , D7</a:t>
            </a:r>
            <a:br>
              <a:rPr lang="en-US" dirty="0"/>
            </a:br>
            <a:r>
              <a:rPr lang="en-US" dirty="0"/>
              <a:t>P2 -&gt; D3, D6, D7</a:t>
            </a:r>
          </a:p>
          <a:p>
            <a:r>
              <a:rPr lang="en-US" dirty="0"/>
              <a:t>P3 -&gt; D5, D6, D7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88A4-BF1B-2653-EFF9-C09E15776D33}"/>
              </a:ext>
            </a:extLst>
          </p:cNvPr>
          <p:cNvSpPr txBox="1"/>
          <p:nvPr/>
        </p:nvSpPr>
        <p:spPr>
          <a:xfrm>
            <a:off x="4267199" y="5115923"/>
            <a:ext cx="105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340D4-8BF1-1A2E-938C-FA34A81DD57C}"/>
              </a:ext>
            </a:extLst>
          </p:cNvPr>
          <p:cNvSpPr txBox="1"/>
          <p:nvPr/>
        </p:nvSpPr>
        <p:spPr>
          <a:xfrm>
            <a:off x="5326742" y="5097780"/>
            <a:ext cx="579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Calculating parity bits: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09A95AB-C97C-8C14-9B9A-9A5FF0FA9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637510"/>
              </p:ext>
            </p:extLst>
          </p:nvPr>
        </p:nvGraphicFramePr>
        <p:xfrm>
          <a:off x="5326742" y="5684088"/>
          <a:ext cx="42238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54">
                  <a:extLst>
                    <a:ext uri="{9D8B030D-6E8A-4147-A177-3AD203B41FA5}">
                      <a16:colId xmlns:a16="http://schemas.microsoft.com/office/drawing/2014/main" val="827232544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4202957915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170799536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296646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1936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55CAC29-9C7F-2A5D-088B-88E9B6A78A5C}"/>
              </a:ext>
            </a:extLst>
          </p:cNvPr>
          <p:cNvSpPr txBox="1"/>
          <p:nvPr/>
        </p:nvSpPr>
        <p:spPr>
          <a:xfrm>
            <a:off x="9840686" y="5115923"/>
            <a:ext cx="2103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Since, D3, D5 &amp; D7 are already having even 1’s -&gt; that’s why P1 is 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32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3AD1-AECC-EC9E-7915-1B8575BD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2049-55BE-2C62-45F9-E7E641EC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1" y="194644"/>
            <a:ext cx="11618386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Hamming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5156-CCA1-76A1-1A80-8356339FD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63" y="1100380"/>
            <a:ext cx="11618385" cy="5562975"/>
          </a:xfrm>
        </p:spPr>
        <p:txBody>
          <a:bodyPr/>
          <a:lstStyle/>
          <a:p>
            <a:r>
              <a:rPr lang="en-US" dirty="0"/>
              <a:t>Parity Bits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6649AD-9413-3FEB-5E32-F59DC540B90D}"/>
              </a:ext>
            </a:extLst>
          </p:cNvPr>
          <p:cNvGraphicFramePr>
            <a:graphicFrameLocks noGrp="1"/>
          </p:cNvGraphicFramePr>
          <p:nvPr/>
        </p:nvGraphicFramePr>
        <p:xfrm>
          <a:off x="522515" y="1760220"/>
          <a:ext cx="304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56126912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86106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550509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64180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69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62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152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23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07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787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790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0479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E5BB741-3029-F112-106A-A8863D8FA30C}"/>
              </a:ext>
            </a:extLst>
          </p:cNvPr>
          <p:cNvSpPr txBox="1"/>
          <p:nvPr/>
        </p:nvSpPr>
        <p:spPr>
          <a:xfrm>
            <a:off x="4267199" y="1859218"/>
            <a:ext cx="105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96F74-73E9-95C5-3A0F-A0132C33BA1D}"/>
              </a:ext>
            </a:extLst>
          </p:cNvPr>
          <p:cNvSpPr txBox="1"/>
          <p:nvPr/>
        </p:nvSpPr>
        <p:spPr>
          <a:xfrm>
            <a:off x="4129313" y="5115923"/>
            <a:ext cx="105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C92DD5E-C1C0-DF82-B39F-ABFDFC252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109257"/>
              </p:ext>
            </p:extLst>
          </p:nvPr>
        </p:nvGraphicFramePr>
        <p:xfrm>
          <a:off x="5188856" y="3328222"/>
          <a:ext cx="42238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54">
                  <a:extLst>
                    <a:ext uri="{9D8B030D-6E8A-4147-A177-3AD203B41FA5}">
                      <a16:colId xmlns:a16="http://schemas.microsoft.com/office/drawing/2014/main" val="827232544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4202957915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170799536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296646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193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35AB2B-1028-F6B8-13D5-BCFF04A7E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903040"/>
              </p:ext>
            </p:extLst>
          </p:nvPr>
        </p:nvGraphicFramePr>
        <p:xfrm>
          <a:off x="5188856" y="1964428"/>
          <a:ext cx="42238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54">
                  <a:extLst>
                    <a:ext uri="{9D8B030D-6E8A-4147-A177-3AD203B41FA5}">
                      <a16:colId xmlns:a16="http://schemas.microsoft.com/office/drawing/2014/main" val="827232544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4202957915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170799536"/>
                    </a:ext>
                  </a:extLst>
                </a:gridCol>
                <a:gridCol w="1055954">
                  <a:extLst>
                    <a:ext uri="{9D8B030D-6E8A-4147-A177-3AD203B41FA5}">
                      <a16:colId xmlns:a16="http://schemas.microsoft.com/office/drawing/2014/main" val="296646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1936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0DE148E-FEE6-4CC9-341A-CE36BE0CF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087279"/>
              </p:ext>
            </p:extLst>
          </p:nvPr>
        </p:nvGraphicFramePr>
        <p:xfrm>
          <a:off x="4796968" y="440849"/>
          <a:ext cx="63282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9FB306D-DC3D-6D08-0834-A8A3A029A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799817"/>
              </p:ext>
            </p:extLst>
          </p:nvPr>
        </p:nvGraphicFramePr>
        <p:xfrm>
          <a:off x="5014684" y="4929749"/>
          <a:ext cx="63282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D792BC8-1A44-FED9-D77E-6DF5B1F38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9704"/>
              </p:ext>
            </p:extLst>
          </p:nvPr>
        </p:nvGraphicFramePr>
        <p:xfrm>
          <a:off x="5014684" y="6160436"/>
          <a:ext cx="63282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457A0022-65B1-2966-236E-08C549E19443}"/>
              </a:ext>
            </a:extLst>
          </p:cNvPr>
          <p:cNvSpPr txBox="1"/>
          <p:nvPr/>
        </p:nvSpPr>
        <p:spPr>
          <a:xfrm>
            <a:off x="2946397" y="6121822"/>
            <a:ext cx="22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Encoded Message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80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3929C-BC9D-5DC4-8BAD-E2A44795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3576-2739-DE06-5A0A-32ED55A8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1" y="194644"/>
            <a:ext cx="11618386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Hamming Code: Following Even Parity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E11F-83B4-389C-122C-187A51D0F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63" y="1100380"/>
            <a:ext cx="11618385" cy="5562975"/>
          </a:xfrm>
        </p:spPr>
        <p:txBody>
          <a:bodyPr/>
          <a:lstStyle/>
          <a:p>
            <a:r>
              <a:rPr lang="en-US" dirty="0"/>
              <a:t>Intentionally Creating Error</a:t>
            </a:r>
            <a:endParaRPr lang="en-IN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EB5D7EE-A1F9-FBF5-2D80-EB85E36BD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694786"/>
              </p:ext>
            </p:extLst>
          </p:nvPr>
        </p:nvGraphicFramePr>
        <p:xfrm>
          <a:off x="718455" y="1742077"/>
          <a:ext cx="63282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02B778-3C78-D033-FD1B-EFC937E9D613}"/>
              </a:ext>
            </a:extLst>
          </p:cNvPr>
          <p:cNvSpPr txBox="1"/>
          <p:nvPr/>
        </p:nvSpPr>
        <p:spPr>
          <a:xfrm>
            <a:off x="566054" y="2773038"/>
            <a:ext cx="22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Error Detection</a:t>
            </a:r>
            <a:endParaRPr lang="en-IN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C1E7F5B-093F-683D-A247-9B39037FD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858866"/>
              </p:ext>
            </p:extLst>
          </p:nvPr>
        </p:nvGraphicFramePr>
        <p:xfrm>
          <a:off x="718454" y="3344791"/>
          <a:ext cx="63282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6132187-5738-0445-95E1-87C845F8AA01}"/>
              </a:ext>
            </a:extLst>
          </p:cNvPr>
          <p:cNvSpPr txBox="1"/>
          <p:nvPr/>
        </p:nvSpPr>
        <p:spPr>
          <a:xfrm>
            <a:off x="566054" y="4288892"/>
            <a:ext cx="22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Calculate Parity Again</a:t>
            </a:r>
            <a:endParaRPr lang="en-IN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EEB66BA-781B-6572-70E0-740EA2819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881464"/>
              </p:ext>
            </p:extLst>
          </p:nvPr>
        </p:nvGraphicFramePr>
        <p:xfrm>
          <a:off x="566054" y="4890699"/>
          <a:ext cx="35705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629">
                  <a:extLst>
                    <a:ext uri="{9D8B030D-6E8A-4147-A177-3AD203B41FA5}">
                      <a16:colId xmlns:a16="http://schemas.microsoft.com/office/drawing/2014/main" val="827232544"/>
                    </a:ext>
                  </a:extLst>
                </a:gridCol>
                <a:gridCol w="892629">
                  <a:extLst>
                    <a:ext uri="{9D8B030D-6E8A-4147-A177-3AD203B41FA5}">
                      <a16:colId xmlns:a16="http://schemas.microsoft.com/office/drawing/2014/main" val="4202957915"/>
                    </a:ext>
                  </a:extLst>
                </a:gridCol>
                <a:gridCol w="892629">
                  <a:extLst>
                    <a:ext uri="{9D8B030D-6E8A-4147-A177-3AD203B41FA5}">
                      <a16:colId xmlns:a16="http://schemas.microsoft.com/office/drawing/2014/main" val="170799536"/>
                    </a:ext>
                  </a:extLst>
                </a:gridCol>
                <a:gridCol w="892629">
                  <a:extLst>
                    <a:ext uri="{9D8B030D-6E8A-4147-A177-3AD203B41FA5}">
                      <a16:colId xmlns:a16="http://schemas.microsoft.com/office/drawing/2014/main" val="296646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1936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593DDC6-BA1A-958B-64A7-4AE797D96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34703"/>
              </p:ext>
            </p:extLst>
          </p:nvPr>
        </p:nvGraphicFramePr>
        <p:xfrm>
          <a:off x="4651827" y="4895779"/>
          <a:ext cx="3403604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1">
                  <a:extLst>
                    <a:ext uri="{9D8B030D-6E8A-4147-A177-3AD203B41FA5}">
                      <a16:colId xmlns:a16="http://schemas.microsoft.com/office/drawing/2014/main" val="827232544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4202957915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170799536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2966460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1936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647B539-C0A2-B395-3514-81F05E7A2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403104"/>
              </p:ext>
            </p:extLst>
          </p:nvPr>
        </p:nvGraphicFramePr>
        <p:xfrm>
          <a:off x="8570688" y="4882690"/>
          <a:ext cx="34036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1">
                  <a:extLst>
                    <a:ext uri="{9D8B030D-6E8A-4147-A177-3AD203B41FA5}">
                      <a16:colId xmlns:a16="http://schemas.microsoft.com/office/drawing/2014/main" val="827232544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4202957915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170799536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296646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1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1936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1883EB7-FF36-BF67-C81A-BCC7DE09A37E}"/>
              </a:ext>
            </a:extLst>
          </p:cNvPr>
          <p:cNvSpPr txBox="1"/>
          <p:nvPr/>
        </p:nvSpPr>
        <p:spPr>
          <a:xfrm>
            <a:off x="4804226" y="5864854"/>
            <a:ext cx="224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 of 1’s are not even, hence P1 will become 1.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93ADE6-AE75-65BB-E481-1B565EF29704}"/>
              </a:ext>
            </a:extLst>
          </p:cNvPr>
          <p:cNvSpPr txBox="1"/>
          <p:nvPr/>
        </p:nvSpPr>
        <p:spPr>
          <a:xfrm>
            <a:off x="1230082" y="5689225"/>
            <a:ext cx="2242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block is following the even parity rule, hence this is correct</a:t>
            </a:r>
            <a:endParaRPr lang="en-IN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652FB2-925F-7B6A-3B12-FE1D9114346B}"/>
              </a:ext>
            </a:extLst>
          </p:cNvPr>
          <p:cNvSpPr txBox="1"/>
          <p:nvPr/>
        </p:nvSpPr>
        <p:spPr>
          <a:xfrm>
            <a:off x="8731048" y="5877911"/>
            <a:ext cx="224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 of 1’s are not even here as well, </a:t>
            </a:r>
            <a:br>
              <a:rPr lang="en-US" b="1" dirty="0"/>
            </a:br>
            <a:r>
              <a:rPr lang="en-US" b="1" dirty="0"/>
              <a:t>hence P4 will be 1.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4213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C0188-4FE4-760E-E3DC-BEC13360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F3B7-2112-462F-7262-35FBD99C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1" y="194644"/>
            <a:ext cx="11618386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Hamming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A7C7D-FBE5-E7DB-F543-EF55BFEF2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63" y="1100380"/>
            <a:ext cx="11618385" cy="5562975"/>
          </a:xfrm>
        </p:spPr>
        <p:txBody>
          <a:bodyPr/>
          <a:lstStyle/>
          <a:p>
            <a:r>
              <a:rPr lang="en-US" dirty="0"/>
              <a:t>Now write the parity bits separately: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4A628A-A187-61FF-571B-FAB3AE29A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241058"/>
              </p:ext>
            </p:extLst>
          </p:nvPr>
        </p:nvGraphicFramePr>
        <p:xfrm>
          <a:off x="740228" y="1808238"/>
          <a:ext cx="44268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619">
                  <a:extLst>
                    <a:ext uri="{9D8B030D-6E8A-4147-A177-3AD203B41FA5}">
                      <a16:colId xmlns:a16="http://schemas.microsoft.com/office/drawing/2014/main" val="1869178422"/>
                    </a:ext>
                  </a:extLst>
                </a:gridCol>
                <a:gridCol w="1475619">
                  <a:extLst>
                    <a:ext uri="{9D8B030D-6E8A-4147-A177-3AD203B41FA5}">
                      <a16:colId xmlns:a16="http://schemas.microsoft.com/office/drawing/2014/main" val="572052385"/>
                    </a:ext>
                  </a:extLst>
                </a:gridCol>
                <a:gridCol w="1475619">
                  <a:extLst>
                    <a:ext uri="{9D8B030D-6E8A-4147-A177-3AD203B41FA5}">
                      <a16:colId xmlns:a16="http://schemas.microsoft.com/office/drawing/2014/main" val="1728096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4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5588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8DF8E2-4B65-E3EB-F97B-52C9EADD7851}"/>
              </a:ext>
            </a:extLst>
          </p:cNvPr>
          <p:cNvSpPr txBox="1"/>
          <p:nvPr/>
        </p:nvSpPr>
        <p:spPr>
          <a:xfrm>
            <a:off x="740228" y="2917371"/>
            <a:ext cx="3497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Decimal of 1 1 0 =&gt; 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Means, there is a error in 6</a:t>
            </a:r>
            <a:r>
              <a:rPr lang="en-US" baseline="30000" dirty="0"/>
              <a:t>th</a:t>
            </a:r>
            <a:r>
              <a:rPr lang="en-US" dirty="0"/>
              <a:t> bit.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if 6</a:t>
            </a:r>
            <a:r>
              <a:rPr lang="en-US" baseline="30000" dirty="0"/>
              <a:t>th</a:t>
            </a:r>
            <a:r>
              <a:rPr lang="en-US" dirty="0"/>
              <a:t> bit is 0 then make it 1, or if it is 1 then make 0.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8A64E7-949A-51D2-3421-602E744F0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49684"/>
              </p:ext>
            </p:extLst>
          </p:nvPr>
        </p:nvGraphicFramePr>
        <p:xfrm>
          <a:off x="740228" y="4904172"/>
          <a:ext cx="63282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3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904033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DBBDA64-C1EF-3B29-A007-B0AAB804B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64303"/>
              </p:ext>
            </p:extLst>
          </p:nvPr>
        </p:nvGraphicFramePr>
        <p:xfrm>
          <a:off x="6376505" y="1808238"/>
          <a:ext cx="54487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386">
                  <a:extLst>
                    <a:ext uri="{9D8B030D-6E8A-4147-A177-3AD203B41FA5}">
                      <a16:colId xmlns:a16="http://schemas.microsoft.com/office/drawing/2014/main" val="1907079837"/>
                    </a:ext>
                  </a:extLst>
                </a:gridCol>
                <a:gridCol w="778386">
                  <a:extLst>
                    <a:ext uri="{9D8B030D-6E8A-4147-A177-3AD203B41FA5}">
                      <a16:colId xmlns:a16="http://schemas.microsoft.com/office/drawing/2014/main" val="1932004124"/>
                    </a:ext>
                  </a:extLst>
                </a:gridCol>
                <a:gridCol w="778386">
                  <a:extLst>
                    <a:ext uri="{9D8B030D-6E8A-4147-A177-3AD203B41FA5}">
                      <a16:colId xmlns:a16="http://schemas.microsoft.com/office/drawing/2014/main" val="2626586386"/>
                    </a:ext>
                  </a:extLst>
                </a:gridCol>
                <a:gridCol w="778386">
                  <a:extLst>
                    <a:ext uri="{9D8B030D-6E8A-4147-A177-3AD203B41FA5}">
                      <a16:colId xmlns:a16="http://schemas.microsoft.com/office/drawing/2014/main" val="1994399724"/>
                    </a:ext>
                  </a:extLst>
                </a:gridCol>
                <a:gridCol w="778386">
                  <a:extLst>
                    <a:ext uri="{9D8B030D-6E8A-4147-A177-3AD203B41FA5}">
                      <a16:colId xmlns:a16="http://schemas.microsoft.com/office/drawing/2014/main" val="2814921369"/>
                    </a:ext>
                  </a:extLst>
                </a:gridCol>
                <a:gridCol w="778386">
                  <a:extLst>
                    <a:ext uri="{9D8B030D-6E8A-4147-A177-3AD203B41FA5}">
                      <a16:colId xmlns:a16="http://schemas.microsoft.com/office/drawing/2014/main" val="1525625775"/>
                    </a:ext>
                  </a:extLst>
                </a:gridCol>
                <a:gridCol w="778386">
                  <a:extLst>
                    <a:ext uri="{9D8B030D-6E8A-4147-A177-3AD203B41FA5}">
                      <a16:colId xmlns:a16="http://schemas.microsoft.com/office/drawing/2014/main" val="3216596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4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003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4614FEC-D1BD-AC2C-F78F-F1F8CB80DC51}"/>
              </a:ext>
            </a:extLst>
          </p:cNvPr>
          <p:cNvSpPr txBox="1"/>
          <p:nvPr/>
        </p:nvSpPr>
        <p:spPr>
          <a:xfrm>
            <a:off x="6545943" y="2745516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Hence,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Error is detected and corrected as well.</a:t>
            </a:r>
            <a:br>
              <a:rPr lang="en-US" dirty="0"/>
            </a:br>
            <a:r>
              <a:rPr lang="en-US" dirty="0"/>
              <a:t>Data Received is: </a:t>
            </a:r>
            <a:r>
              <a:rPr lang="en-US" b="1" dirty="0"/>
              <a:t>1001100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4381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5787</TotalTime>
  <Words>526</Words>
  <Application>Microsoft Office PowerPoint</Application>
  <PresentationFormat>Widescreen</PresentationFormat>
  <Paragraphs>264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Hamming Code</vt:lpstr>
      <vt:lpstr>Hamming Code</vt:lpstr>
      <vt:lpstr>Hamming Code</vt:lpstr>
      <vt:lpstr>Hamming Code</vt:lpstr>
      <vt:lpstr>Hamming Code: Following Even Parity</vt:lpstr>
      <vt:lpstr>Hamming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7</cp:revision>
  <dcterms:created xsi:type="dcterms:W3CDTF">2026-07-31T09:44:26Z</dcterms:created>
  <dcterms:modified xsi:type="dcterms:W3CDTF">2026-08-05T04:24:35Z</dcterms:modified>
</cp:coreProperties>
</file>